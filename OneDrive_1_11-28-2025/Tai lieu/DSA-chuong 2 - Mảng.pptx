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2"/>
  </p:notesMasterIdLst>
  <p:handoutMasterIdLst>
    <p:handoutMasterId r:id="rId63"/>
  </p:handoutMasterIdLst>
  <p:sldIdLst>
    <p:sldId id="256" r:id="rId5"/>
    <p:sldId id="257" r:id="rId6"/>
    <p:sldId id="258" r:id="rId7"/>
    <p:sldId id="259" r:id="rId8"/>
    <p:sldId id="311" r:id="rId9"/>
    <p:sldId id="262" r:id="rId10"/>
    <p:sldId id="272" r:id="rId11"/>
    <p:sldId id="260" r:id="rId12"/>
    <p:sldId id="312" r:id="rId13"/>
    <p:sldId id="261" r:id="rId14"/>
    <p:sldId id="313" r:id="rId15"/>
    <p:sldId id="314" r:id="rId16"/>
    <p:sldId id="332" r:id="rId17"/>
    <p:sldId id="334" r:id="rId18"/>
    <p:sldId id="335" r:id="rId19"/>
    <p:sldId id="299" r:id="rId20"/>
    <p:sldId id="301" r:id="rId21"/>
    <p:sldId id="302" r:id="rId22"/>
    <p:sldId id="303" r:id="rId23"/>
    <p:sldId id="333" r:id="rId24"/>
    <p:sldId id="304" r:id="rId25"/>
    <p:sldId id="263" r:id="rId26"/>
    <p:sldId id="271" r:id="rId27"/>
    <p:sldId id="266" r:id="rId28"/>
    <p:sldId id="273" r:id="rId29"/>
    <p:sldId id="274" r:id="rId30"/>
    <p:sldId id="267" r:id="rId31"/>
    <p:sldId id="275" r:id="rId32"/>
    <p:sldId id="276" r:id="rId33"/>
    <p:sldId id="268" r:id="rId34"/>
    <p:sldId id="336" r:id="rId35"/>
    <p:sldId id="277" r:id="rId36"/>
    <p:sldId id="279" r:id="rId37"/>
    <p:sldId id="315" r:id="rId38"/>
    <p:sldId id="269" r:id="rId39"/>
    <p:sldId id="278" r:id="rId40"/>
    <p:sldId id="317" r:id="rId41"/>
    <p:sldId id="281" r:id="rId42"/>
    <p:sldId id="280" r:id="rId43"/>
    <p:sldId id="282" r:id="rId44"/>
    <p:sldId id="325" r:id="rId45"/>
    <p:sldId id="326" r:id="rId46"/>
    <p:sldId id="298" r:id="rId47"/>
    <p:sldId id="283" r:id="rId48"/>
    <p:sldId id="327" r:id="rId49"/>
    <p:sldId id="328" r:id="rId50"/>
    <p:sldId id="330" r:id="rId51"/>
    <p:sldId id="331" r:id="rId52"/>
    <p:sldId id="329" r:id="rId53"/>
    <p:sldId id="264" r:id="rId54"/>
    <p:sldId id="284" r:id="rId55"/>
    <p:sldId id="286" r:id="rId56"/>
    <p:sldId id="285" r:id="rId57"/>
    <p:sldId id="289" r:id="rId58"/>
    <p:sldId id="287" r:id="rId59"/>
    <p:sldId id="288" r:id="rId60"/>
    <p:sldId id="270"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5D54E4-1C39-0D56-23DF-3FAEF2770AE2}" v="6" dt="2025-11-06T14:16:14.266"/>
    <p1510:client id="{F4FC3BC3-B1F6-D44B-210F-DFF7C969C5DA}" v="9" dt="2025-11-07T06:52:14.0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 Thanh Trung 202414411" userId="S::trung.tt2414411@sis.hust.edu.vn::6b535a0f-4bb0-480e-bfc4-53f367fa9977" providerId="AD" clId="Web-{E15D54E4-1C39-0D56-23DF-3FAEF2770AE2}"/>
    <pc:docChg chg="modSld">
      <pc:chgData name="To Thanh Trung 202414411" userId="S::trung.tt2414411@sis.hust.edu.vn::6b535a0f-4bb0-480e-bfc4-53f367fa9977" providerId="AD" clId="Web-{E15D54E4-1C39-0D56-23DF-3FAEF2770AE2}" dt="2025-11-06T14:16:14.266" v="8" actId="20577"/>
      <pc:docMkLst>
        <pc:docMk/>
      </pc:docMkLst>
      <pc:sldChg chg="modSp">
        <pc:chgData name="To Thanh Trung 202414411" userId="S::trung.tt2414411@sis.hust.edu.vn::6b535a0f-4bb0-480e-bfc4-53f367fa9977" providerId="AD" clId="Web-{E15D54E4-1C39-0D56-23DF-3FAEF2770AE2}" dt="2025-11-06T14:12:11.711" v="7" actId="20577"/>
        <pc:sldMkLst>
          <pc:docMk/>
          <pc:sldMk cId="3590535042" sldId="282"/>
        </pc:sldMkLst>
        <pc:spChg chg="mod">
          <ac:chgData name="To Thanh Trung 202414411" userId="S::trung.tt2414411@sis.hust.edu.vn::6b535a0f-4bb0-480e-bfc4-53f367fa9977" providerId="AD" clId="Web-{E15D54E4-1C39-0D56-23DF-3FAEF2770AE2}" dt="2025-11-06T14:12:11.711" v="7" actId="20577"/>
          <ac:spMkLst>
            <pc:docMk/>
            <pc:sldMk cId="3590535042" sldId="282"/>
            <ac:spMk id="3" creationId="{00000000-0000-0000-0000-000000000000}"/>
          </ac:spMkLst>
        </pc:spChg>
      </pc:sldChg>
      <pc:sldChg chg="modSp">
        <pc:chgData name="To Thanh Trung 202414411" userId="S::trung.tt2414411@sis.hust.edu.vn::6b535a0f-4bb0-480e-bfc4-53f367fa9977" providerId="AD" clId="Web-{E15D54E4-1C39-0D56-23DF-3FAEF2770AE2}" dt="2025-11-06T14:12:11.649" v="6" actId="20577"/>
        <pc:sldMkLst>
          <pc:docMk/>
          <pc:sldMk cId="4109622709" sldId="327"/>
        </pc:sldMkLst>
        <pc:spChg chg="mod">
          <ac:chgData name="To Thanh Trung 202414411" userId="S::trung.tt2414411@sis.hust.edu.vn::6b535a0f-4bb0-480e-bfc4-53f367fa9977" providerId="AD" clId="Web-{E15D54E4-1C39-0D56-23DF-3FAEF2770AE2}" dt="2025-11-06T14:12:11.649" v="6" actId="20577"/>
          <ac:spMkLst>
            <pc:docMk/>
            <pc:sldMk cId="4109622709" sldId="327"/>
            <ac:spMk id="2" creationId="{0820B057-89C5-1C49-A86C-B66D0E27CD72}"/>
          </ac:spMkLst>
        </pc:spChg>
      </pc:sldChg>
      <pc:sldChg chg="modSp">
        <pc:chgData name="To Thanh Trung 202414411" userId="S::trung.tt2414411@sis.hust.edu.vn::6b535a0f-4bb0-480e-bfc4-53f367fa9977" providerId="AD" clId="Web-{E15D54E4-1C39-0D56-23DF-3FAEF2770AE2}" dt="2025-11-06T14:16:14.266" v="8" actId="20577"/>
        <pc:sldMkLst>
          <pc:docMk/>
          <pc:sldMk cId="2429023023" sldId="329"/>
        </pc:sldMkLst>
        <pc:spChg chg="mod">
          <ac:chgData name="To Thanh Trung 202414411" userId="S::trung.tt2414411@sis.hust.edu.vn::6b535a0f-4bb0-480e-bfc4-53f367fa9977" providerId="AD" clId="Web-{E15D54E4-1C39-0D56-23DF-3FAEF2770AE2}" dt="2025-11-06T14:16:14.266" v="8" actId="20577"/>
          <ac:spMkLst>
            <pc:docMk/>
            <pc:sldMk cId="2429023023" sldId="329"/>
            <ac:spMk id="8" creationId="{F0605698-5224-494C-9259-9287288A0325}"/>
          </ac:spMkLst>
        </pc:spChg>
      </pc:sldChg>
    </pc:docChg>
  </pc:docChgLst>
  <pc:docChgLst>
    <pc:chgData name="Vu Duy Vinh 20224204" userId="S::vinh.vd224204@sis.hust.edu.vn::8bad58d7-8fc0-4e7b-8d8a-4eec4e84094b" providerId="AD" clId="Web-{6FC6EBED-76D0-7B49-8185-94BA6001EBF7}"/>
    <pc:docChg chg="modSld">
      <pc:chgData name="Vu Duy Vinh 20224204" userId="S::vinh.vd224204@sis.hust.edu.vn::8bad58d7-8fc0-4e7b-8d8a-4eec4e84094b" providerId="AD" clId="Web-{6FC6EBED-76D0-7B49-8185-94BA6001EBF7}" dt="2025-10-29T15:20:24.378" v="34"/>
      <pc:docMkLst>
        <pc:docMk/>
      </pc:docMkLst>
      <pc:sldChg chg="modSp">
        <pc:chgData name="Vu Duy Vinh 20224204" userId="S::vinh.vd224204@sis.hust.edu.vn::8bad58d7-8fc0-4e7b-8d8a-4eec4e84094b" providerId="AD" clId="Web-{6FC6EBED-76D0-7B49-8185-94BA6001EBF7}" dt="2025-10-29T15:20:24.378" v="34"/>
        <pc:sldMkLst>
          <pc:docMk/>
          <pc:sldMk cId="1629485724" sldId="280"/>
        </pc:sldMkLst>
        <pc:graphicFrameChg chg="mod modGraphic">
          <ac:chgData name="Vu Duy Vinh 20224204" userId="S::vinh.vd224204@sis.hust.edu.vn::8bad58d7-8fc0-4e7b-8d8a-4eec4e84094b" providerId="AD" clId="Web-{6FC6EBED-76D0-7B49-8185-94BA6001EBF7}" dt="2025-10-29T15:20:24.378" v="34"/>
          <ac:graphicFrameMkLst>
            <pc:docMk/>
            <pc:sldMk cId="1629485724" sldId="280"/>
            <ac:graphicFrameMk id="18" creationId="{88DE3EB3-F0CD-8347-C941-C98C8D843E68}"/>
          </ac:graphicFrameMkLst>
        </pc:graphicFrameChg>
      </pc:sldChg>
      <pc:sldChg chg="modSp">
        <pc:chgData name="Vu Duy Vinh 20224204" userId="S::vinh.vd224204@sis.hust.edu.vn::8bad58d7-8fc0-4e7b-8d8a-4eec4e84094b" providerId="AD" clId="Web-{6FC6EBED-76D0-7B49-8185-94BA6001EBF7}" dt="2025-10-29T15:08:32.412" v="5"/>
        <pc:sldMkLst>
          <pc:docMk/>
          <pc:sldMk cId="3773056579" sldId="336"/>
        </pc:sldMkLst>
        <pc:graphicFrameChg chg="mod modGraphic">
          <ac:chgData name="Vu Duy Vinh 20224204" userId="S::vinh.vd224204@sis.hust.edu.vn::8bad58d7-8fc0-4e7b-8d8a-4eec4e84094b" providerId="AD" clId="Web-{6FC6EBED-76D0-7B49-8185-94BA6001EBF7}" dt="2025-10-29T15:08:32.412" v="5"/>
          <ac:graphicFrameMkLst>
            <pc:docMk/>
            <pc:sldMk cId="3773056579" sldId="336"/>
            <ac:graphicFrameMk id="9" creationId="{468E2558-C5CB-36D0-0FFB-98FC6BA4295A}"/>
          </ac:graphicFrameMkLst>
        </pc:graphicFrameChg>
      </pc:sldChg>
    </pc:docChg>
  </pc:docChgLst>
  <pc:docChgLst>
    <pc:chgData name="Dao Le Anh 202413979" userId="S::anh.dl2413979@sis.hust.edu.vn::eed2e688-c3fa-4f9c-b508-a76cb2111126" providerId="AD" clId="Web-{F4FC3BC3-B1F6-D44B-210F-DFF7C969C5DA}"/>
    <pc:docChg chg="modSld">
      <pc:chgData name="Dao Le Anh 202413979" userId="S::anh.dl2413979@sis.hust.edu.vn::eed2e688-c3fa-4f9c-b508-a76cb2111126" providerId="AD" clId="Web-{F4FC3BC3-B1F6-D44B-210F-DFF7C969C5DA}" dt="2025-11-07T06:52:13.430" v="4" actId="20577"/>
      <pc:docMkLst>
        <pc:docMk/>
      </pc:docMkLst>
      <pc:sldChg chg="modSp">
        <pc:chgData name="Dao Le Anh 202413979" userId="S::anh.dl2413979@sis.hust.edu.vn::eed2e688-c3fa-4f9c-b508-a76cb2111126" providerId="AD" clId="Web-{F4FC3BC3-B1F6-D44B-210F-DFF7C969C5DA}" dt="2025-11-07T05:47:00.988" v="3" actId="1076"/>
        <pc:sldMkLst>
          <pc:docMk/>
          <pc:sldMk cId="1629485724" sldId="280"/>
        </pc:sldMkLst>
        <pc:graphicFrameChg chg="modGraphic">
          <ac:chgData name="Dao Le Anh 202413979" userId="S::anh.dl2413979@sis.hust.edu.vn::eed2e688-c3fa-4f9c-b508-a76cb2111126" providerId="AD" clId="Web-{F4FC3BC3-B1F6-D44B-210F-DFF7C969C5DA}" dt="2025-11-07T05:46:58.051" v="2"/>
          <ac:graphicFrameMkLst>
            <pc:docMk/>
            <pc:sldMk cId="1629485724" sldId="280"/>
            <ac:graphicFrameMk id="7" creationId="{00000000-0000-0000-0000-000000000000}"/>
          </ac:graphicFrameMkLst>
        </pc:graphicFrameChg>
        <pc:graphicFrameChg chg="mod">
          <ac:chgData name="Dao Le Anh 202413979" userId="S::anh.dl2413979@sis.hust.edu.vn::eed2e688-c3fa-4f9c-b508-a76cb2111126" providerId="AD" clId="Web-{F4FC3BC3-B1F6-D44B-210F-DFF7C969C5DA}" dt="2025-11-07T05:47:00.988" v="3" actId="1076"/>
          <ac:graphicFrameMkLst>
            <pc:docMk/>
            <pc:sldMk cId="1629485724" sldId="280"/>
            <ac:graphicFrameMk id="18" creationId="{88DE3EB3-F0CD-8347-C941-C98C8D843E68}"/>
          </ac:graphicFrameMkLst>
        </pc:graphicFrameChg>
      </pc:sldChg>
      <pc:sldChg chg="modSp">
        <pc:chgData name="Dao Le Anh 202413979" userId="S::anh.dl2413979@sis.hust.edu.vn::eed2e688-c3fa-4f9c-b508-a76cb2111126" providerId="AD" clId="Web-{F4FC3BC3-B1F6-D44B-210F-DFF7C969C5DA}" dt="2025-11-07T06:52:13.430" v="4" actId="20577"/>
        <pc:sldMkLst>
          <pc:docMk/>
          <pc:sldMk cId="2429023023" sldId="329"/>
        </pc:sldMkLst>
        <pc:spChg chg="mod">
          <ac:chgData name="Dao Le Anh 202413979" userId="S::anh.dl2413979@sis.hust.edu.vn::eed2e688-c3fa-4f9c-b508-a76cb2111126" providerId="AD" clId="Web-{F4FC3BC3-B1F6-D44B-210F-DFF7C969C5DA}" dt="2025-11-07T06:52:13.430" v="4" actId="20577"/>
          <ac:spMkLst>
            <pc:docMk/>
            <pc:sldMk cId="2429023023" sldId="329"/>
            <ac:spMk id="8" creationId="{F0605698-5224-494C-9259-9287288A0325}"/>
          </ac:spMkLst>
        </pc:spChg>
      </pc:sldChg>
    </pc:docChg>
  </pc:docChgLst>
  <pc:docChgLst>
    <pc:chgData name="Pham Thanh Binh 202413992" userId="S::binh.pt2413992@sis.hust.edu.vn::8338178d-db23-4cb3-99c3-80ba59c384b1" providerId="AD" clId="Web-{DCDB0ADF-6768-09F6-7B35-C16E31FCA211}"/>
    <pc:docChg chg="sldOrd">
      <pc:chgData name="Pham Thanh Binh 202413992" userId="S::binh.pt2413992@sis.hust.edu.vn::8338178d-db23-4cb3-99c3-80ba59c384b1" providerId="AD" clId="Web-{DCDB0ADF-6768-09F6-7B35-C16E31FCA211}" dt="2025-10-29T15:08:55.951" v="2"/>
      <pc:docMkLst>
        <pc:docMk/>
      </pc:docMkLst>
      <pc:sldChg chg="ord">
        <pc:chgData name="Pham Thanh Binh 202413992" userId="S::binh.pt2413992@sis.hust.edu.vn::8338178d-db23-4cb3-99c3-80ba59c384b1" providerId="AD" clId="Web-{DCDB0ADF-6768-09F6-7B35-C16E31FCA211}" dt="2025-10-29T15:08:55.951" v="2"/>
        <pc:sldMkLst>
          <pc:docMk/>
          <pc:sldMk cId="902319761" sldId="283"/>
        </pc:sldMkLst>
      </pc:sldChg>
    </pc:docChg>
  </pc:docChgLst>
  <pc:docChgLst>
    <pc:chgData name="Can Tuyen Phong 20233571" userId="S::phong.ct233571@sis.hust.edu.vn::183076b7-201d-4aa6-91c4-6699e64fd07d" providerId="AD" clId="Web-{DE95EA85-22EC-FC9B-6F9D-8B8C7DDBE6E5}"/>
    <pc:docChg chg="modSld">
      <pc:chgData name="Can Tuyen Phong 20233571" userId="S::phong.ct233571@sis.hust.edu.vn::183076b7-201d-4aa6-91c4-6699e64fd07d" providerId="AD" clId="Web-{DE95EA85-22EC-FC9B-6F9D-8B8C7DDBE6E5}" dt="2025-10-28T15:25:35.420" v="0" actId="1076"/>
      <pc:docMkLst>
        <pc:docMk/>
      </pc:docMkLst>
      <pc:sldChg chg="modSp">
        <pc:chgData name="Can Tuyen Phong 20233571" userId="S::phong.ct233571@sis.hust.edu.vn::183076b7-201d-4aa6-91c4-6699e64fd07d" providerId="AD" clId="Web-{DE95EA85-22EC-FC9B-6F9D-8B8C7DDBE6E5}" dt="2025-10-28T15:25:35.420" v="0" actId="1076"/>
        <pc:sldMkLst>
          <pc:docMk/>
          <pc:sldMk cId="2335482955" sldId="331"/>
        </pc:sldMkLst>
        <pc:spChg chg="mod">
          <ac:chgData name="Can Tuyen Phong 20233571" userId="S::phong.ct233571@sis.hust.edu.vn::183076b7-201d-4aa6-91c4-6699e64fd07d" providerId="AD" clId="Web-{DE95EA85-22EC-FC9B-6F9D-8B8C7DDBE6E5}" dt="2025-10-28T15:25:35.420" v="0" actId="1076"/>
          <ac:spMkLst>
            <pc:docMk/>
            <pc:sldMk cId="2335482955" sldId="331"/>
            <ac:spMk id="7" creationId="{B6B08A2F-DB8E-874A-AD06-F83DD704DAE5}"/>
          </ac:spMkLst>
        </pc:spChg>
      </pc:sldChg>
    </pc:docChg>
  </pc:docChgLst>
  <pc:docChgLst>
    <pc:chgData name="Nguyen Xuan Huy 202414167" userId="S::huy.nx2414167@sis.hust.edu.vn::82962192-2393-458a-9b77-47fde75c97b1" providerId="AD" clId="Web-{34115AB7-C7F3-6FF4-B7EA-73A464B9987F}"/>
    <pc:docChg chg="modSld">
      <pc:chgData name="Nguyen Xuan Huy 202414167" userId="S::huy.nx2414167@sis.hust.edu.vn::82962192-2393-458a-9b77-47fde75c97b1" providerId="AD" clId="Web-{34115AB7-C7F3-6FF4-B7EA-73A464B9987F}" dt="2025-10-28T02:48:22.906" v="8" actId="20577"/>
      <pc:docMkLst>
        <pc:docMk/>
      </pc:docMkLst>
      <pc:sldChg chg="modSp">
        <pc:chgData name="Nguyen Xuan Huy 202414167" userId="S::huy.nx2414167@sis.hust.edu.vn::82962192-2393-458a-9b77-47fde75c97b1" providerId="AD" clId="Web-{34115AB7-C7F3-6FF4-B7EA-73A464B9987F}" dt="2025-10-28T02:48:22.906" v="8" actId="20577"/>
        <pc:sldMkLst>
          <pc:docMk/>
          <pc:sldMk cId="1906443308" sldId="259"/>
        </pc:sldMkLst>
        <pc:spChg chg="mod">
          <ac:chgData name="Nguyen Xuan Huy 202414167" userId="S::huy.nx2414167@sis.hust.edu.vn::82962192-2393-458a-9b77-47fde75c97b1" providerId="AD" clId="Web-{34115AB7-C7F3-6FF4-B7EA-73A464B9987F}" dt="2025-10-28T02:48:22.906" v="8" actId="20577"/>
          <ac:spMkLst>
            <pc:docMk/>
            <pc:sldMk cId="1906443308" sldId="259"/>
            <ac:spMk id="3" creationId="{00000000-0000-0000-0000-000000000000}"/>
          </ac:spMkLst>
        </pc:spChg>
        <pc:picChg chg="mod">
          <ac:chgData name="Nguyen Xuan Huy 202414167" userId="S::huy.nx2414167@sis.hust.edu.vn::82962192-2393-458a-9b77-47fde75c97b1" providerId="AD" clId="Web-{34115AB7-C7F3-6FF4-B7EA-73A464B9987F}" dt="2025-10-28T02:36:11.075" v="5" actId="1076"/>
          <ac:picMkLst>
            <pc:docMk/>
            <pc:sldMk cId="1906443308" sldId="259"/>
            <ac:picMk id="9" creationId="{00000000-0000-0000-0000-000000000000}"/>
          </ac:picMkLst>
        </pc:picChg>
      </pc:sldChg>
    </pc:docChg>
  </pc:docChgLst>
  <pc:docChgLst>
    <pc:chgData name="Vu Duy Vinh 20224204" userId="S::vinh.vd224204@sis.hust.edu.vn::8bad58d7-8fc0-4e7b-8d8a-4eec4e84094b" providerId="AD" clId="Web-{9610D6D8-7E3D-F508-5C42-A3B443C113F5}"/>
    <pc:docChg chg="modSld">
      <pc:chgData name="Vu Duy Vinh 20224204" userId="S::vinh.vd224204@sis.hust.edu.vn::8bad58d7-8fc0-4e7b-8d8a-4eec4e84094b" providerId="AD" clId="Web-{9610D6D8-7E3D-F508-5C42-A3B443C113F5}" dt="2025-10-29T15:06:53.582" v="13" actId="1076"/>
      <pc:docMkLst>
        <pc:docMk/>
      </pc:docMkLst>
      <pc:sldChg chg="modSp">
        <pc:chgData name="Vu Duy Vinh 20224204" userId="S::vinh.vd224204@sis.hust.edu.vn::8bad58d7-8fc0-4e7b-8d8a-4eec4e84094b" providerId="AD" clId="Web-{9610D6D8-7E3D-F508-5C42-A3B443C113F5}" dt="2025-10-29T14:24:43.711" v="2" actId="1076"/>
        <pc:sldMkLst>
          <pc:docMk/>
          <pc:sldMk cId="4289161586" sldId="266"/>
        </pc:sldMkLst>
        <pc:grpChg chg="mod">
          <ac:chgData name="Vu Duy Vinh 20224204" userId="S::vinh.vd224204@sis.hust.edu.vn::8bad58d7-8fc0-4e7b-8d8a-4eec4e84094b" providerId="AD" clId="Web-{9610D6D8-7E3D-F508-5C42-A3B443C113F5}" dt="2025-10-29T14:24:43.711" v="2" actId="1076"/>
          <ac:grpSpMkLst>
            <pc:docMk/>
            <pc:sldMk cId="4289161586" sldId="266"/>
            <ac:grpSpMk id="21" creationId="{E17A38E4-0491-6920-70FF-8AC282013CBC}"/>
          </ac:grpSpMkLst>
        </pc:grpChg>
      </pc:sldChg>
      <pc:sldChg chg="modSp">
        <pc:chgData name="Vu Duy Vinh 20224204" userId="S::vinh.vd224204@sis.hust.edu.vn::8bad58d7-8fc0-4e7b-8d8a-4eec4e84094b" providerId="AD" clId="Web-{9610D6D8-7E3D-F508-5C42-A3B443C113F5}" dt="2025-10-29T14:52:27.034" v="3" actId="1076"/>
        <pc:sldMkLst>
          <pc:docMk/>
          <pc:sldMk cId="1442513603" sldId="268"/>
        </pc:sldMkLst>
        <pc:grpChg chg="mod">
          <ac:chgData name="Vu Duy Vinh 20224204" userId="S::vinh.vd224204@sis.hust.edu.vn::8bad58d7-8fc0-4e7b-8d8a-4eec4e84094b" providerId="AD" clId="Web-{9610D6D8-7E3D-F508-5C42-A3B443C113F5}" dt="2025-10-29T14:52:27.034" v="3" actId="1076"/>
          <ac:grpSpMkLst>
            <pc:docMk/>
            <pc:sldMk cId="1442513603" sldId="268"/>
            <ac:grpSpMk id="60" creationId="{00000000-0000-0000-0000-000000000000}"/>
          </ac:grpSpMkLst>
        </pc:grpChg>
      </pc:sldChg>
      <pc:sldChg chg="modSp">
        <pc:chgData name="Vu Duy Vinh 20224204" userId="S::vinh.vd224204@sis.hust.edu.vn::8bad58d7-8fc0-4e7b-8d8a-4eec4e84094b" providerId="AD" clId="Web-{9610D6D8-7E3D-F508-5C42-A3B443C113F5}" dt="2025-10-29T15:06:53.582" v="13" actId="1076"/>
        <pc:sldMkLst>
          <pc:docMk/>
          <pc:sldMk cId="3773056579" sldId="336"/>
        </pc:sldMkLst>
        <pc:graphicFrameChg chg="mod modGraphic">
          <ac:chgData name="Vu Duy Vinh 20224204" userId="S::vinh.vd224204@sis.hust.edu.vn::8bad58d7-8fc0-4e7b-8d8a-4eec4e84094b" providerId="AD" clId="Web-{9610D6D8-7E3D-F508-5C42-A3B443C113F5}" dt="2025-10-29T15:06:53.582" v="13" actId="1076"/>
          <ac:graphicFrameMkLst>
            <pc:docMk/>
            <pc:sldMk cId="3773056579" sldId="336"/>
            <ac:graphicFrameMk id="9" creationId="{468E2558-C5CB-36D0-0FFB-98FC6BA4295A}"/>
          </ac:graphicFrameMkLst>
        </pc:graphicFrameChg>
      </pc:sldChg>
    </pc:docChg>
  </pc:docChgLst>
  <pc:docChgLst>
    <pc:chgData name="Nguyen Duc Bao Long 202414229" userId="S::long.ndb2414229@sis.hust.edu.vn::8fb7dd9c-1485-4385-96f4-c056391a68eb" providerId="AD" clId="Web-{AEAAF673-B685-2598-8190-2B9C0DD75B03}"/>
    <pc:docChg chg="modSld">
      <pc:chgData name="Nguyen Duc Bao Long 202414229" userId="S::long.ndb2414229@sis.hust.edu.vn::8fb7dd9c-1485-4385-96f4-c056391a68eb" providerId="AD" clId="Web-{AEAAF673-B685-2598-8190-2B9C0DD75B03}" dt="2025-10-20T16:08:23.034" v="0"/>
      <pc:docMkLst>
        <pc:docMk/>
      </pc:docMkLst>
      <pc:sldChg chg="modSp">
        <pc:chgData name="Nguyen Duc Bao Long 202414229" userId="S::long.ndb2414229@sis.hust.edu.vn::8fb7dd9c-1485-4385-96f4-c056391a68eb" providerId="AD" clId="Web-{AEAAF673-B685-2598-8190-2B9C0DD75B03}" dt="2025-10-20T16:08:23.034" v="0"/>
        <pc:sldMkLst>
          <pc:docMk/>
          <pc:sldMk cId="1442513603" sldId="268"/>
        </pc:sldMkLst>
        <pc:graphicFrameChg chg="modGraphic">
          <ac:chgData name="Nguyen Duc Bao Long 202414229" userId="S::long.ndb2414229@sis.hust.edu.vn::8fb7dd9c-1485-4385-96f4-c056391a68eb" providerId="AD" clId="Web-{AEAAF673-B685-2598-8190-2B9C0DD75B03}" dt="2025-10-20T16:08:23.034" v="0"/>
          <ac:graphicFrameMkLst>
            <pc:docMk/>
            <pc:sldMk cId="1442513603" sldId="268"/>
            <ac:graphicFrameMk id="7" creationId="{00000000-0000-0000-0000-000000000000}"/>
          </ac:graphicFrameMkLst>
        </pc:graphicFrameChg>
      </pc:sldChg>
    </pc:docChg>
  </pc:docChgLst>
  <pc:docChgLst>
    <pc:chgData name="Tran Van Tai 20233629" userId="S::tai.tv233629@sis.hust.edu.vn::bd3dd48b-c855-4dba-9cc5-3a6d5f230f60" providerId="AD" clId="Web-{527DA28F-44CA-4CD3-88B0-CF943A7B6F4F}"/>
    <pc:docChg chg="modSld">
      <pc:chgData name="Tran Van Tai 20233629" userId="S::tai.tv233629@sis.hust.edu.vn::bd3dd48b-c855-4dba-9cc5-3a6d5f230f60" providerId="AD" clId="Web-{527DA28F-44CA-4CD3-88B0-CF943A7B6F4F}" dt="2025-10-16T14:25:24.989" v="0" actId="14100"/>
      <pc:docMkLst>
        <pc:docMk/>
      </pc:docMkLst>
      <pc:sldChg chg="modSp">
        <pc:chgData name="Tran Van Tai 20233629" userId="S::tai.tv233629@sis.hust.edu.vn::bd3dd48b-c855-4dba-9cc5-3a6d5f230f60" providerId="AD" clId="Web-{527DA28F-44CA-4CD3-88B0-CF943A7B6F4F}" dt="2025-10-16T14:25:24.989" v="0" actId="14100"/>
        <pc:sldMkLst>
          <pc:docMk/>
          <pc:sldMk cId="4177400259" sldId="311"/>
        </pc:sldMkLst>
        <pc:spChg chg="mod">
          <ac:chgData name="Tran Van Tai 20233629" userId="S::tai.tv233629@sis.hust.edu.vn::bd3dd48b-c855-4dba-9cc5-3a6d5f230f60" providerId="AD" clId="Web-{527DA28F-44CA-4CD3-88B0-CF943A7B6F4F}" dt="2025-10-16T14:25:24.989" v="0" actId="14100"/>
          <ac:spMkLst>
            <pc:docMk/>
            <pc:sldMk cId="4177400259" sldId="311"/>
            <ac:spMk id="3" creationId="{C9557480-6B56-9845-88B3-A31EF8A00D9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9A8130D-73F2-FD4E-ADD1-56B4BD913E59}" type="datetimeFigureOut">
              <a:rPr lang="en-US" smtClean="0"/>
              <a:t>11/6/2025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506CA1D-6F44-574A-91AD-956FEE596085}" type="slidenum">
              <a:rPr lang="en-US" smtClean="0"/>
              <a:t>‹#›</a:t>
            </a:fld>
            <a:endParaRPr lang="en-US"/>
          </a:p>
        </p:txBody>
      </p:sp>
    </p:spTree>
    <p:extLst>
      <p:ext uri="{BB962C8B-B14F-4D97-AF65-F5344CB8AC3E}">
        <p14:creationId xmlns:p14="http://schemas.microsoft.com/office/powerpoint/2010/main" val="125164311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8-27T03:53:28.384"/>
    </inkml:context>
    <inkml:brush xml:id="br0">
      <inkml:brushProperty name="width" value="0.05" units="cm"/>
      <inkml:brushProperty name="height" value="0.05" units="cm"/>
    </inkml:brush>
  </inkml:definitions>
  <inkml:trace contextRef="#ctx0" brushRef="#br0">27 1 1839 0 0,'-3'28'160'0'0,"1"-10"-160"0"0,-1 3 0 0 0,2-6 0 0 0,-4-2 8592 0 0,-4-7-8224 0 0,6-20-1080 0 0,3 0 136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84B8A7-4190-7E43-A09C-E65391BF7D1A}" type="datetimeFigureOut">
              <a:rPr lang="en-US" smtClean="0"/>
              <a:t>11/6/2025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7F7BA9-BD23-364F-BA23-B1582B7D9A79}" type="slidenum">
              <a:rPr lang="en-US" smtClean="0"/>
              <a:t>‹#›</a:t>
            </a:fld>
            <a:endParaRPr lang="en-US"/>
          </a:p>
        </p:txBody>
      </p:sp>
    </p:spTree>
    <p:extLst>
      <p:ext uri="{BB962C8B-B14F-4D97-AF65-F5344CB8AC3E}">
        <p14:creationId xmlns:p14="http://schemas.microsoft.com/office/powerpoint/2010/main" val="342495885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sz="1200" err="1">
                <a:cs typeface="Times New Roman" panose="02020603050405020304" pitchFamily="18" charset="0"/>
              </a:rPr>
              <a:t>Từ</a:t>
            </a:r>
            <a:r>
              <a:rPr lang="en-US" altLang="en-US" sz="1200">
                <a:cs typeface="Times New Roman" panose="02020603050405020304" pitchFamily="18" charset="0"/>
              </a:rPr>
              <a:t> </a:t>
            </a:r>
            <a:r>
              <a:rPr lang="en-US" altLang="en-US" sz="1200" err="1">
                <a:cs typeface="Times New Roman" panose="02020603050405020304" pitchFamily="18" charset="0"/>
              </a:rPr>
              <a:t>việc</a:t>
            </a:r>
            <a:r>
              <a:rPr lang="en-US" altLang="en-US" sz="1200">
                <a:cs typeface="Times New Roman" panose="02020603050405020304" pitchFamily="18" charset="0"/>
              </a:rPr>
              <a:t> </a:t>
            </a:r>
            <a:r>
              <a:rPr lang="en-US" altLang="en-US" sz="1200" err="1">
                <a:cs typeface="Times New Roman" panose="02020603050405020304" pitchFamily="18" charset="0"/>
              </a:rPr>
              <a:t>khai</a:t>
            </a:r>
            <a:r>
              <a:rPr lang="en-US" altLang="en-US" sz="1200">
                <a:cs typeface="Times New Roman" panose="02020603050405020304" pitchFamily="18" charset="0"/>
              </a:rPr>
              <a:t> </a:t>
            </a:r>
            <a:r>
              <a:rPr lang="en-US" altLang="en-US" sz="1200" err="1">
                <a:cs typeface="Times New Roman" panose="02020603050405020304" pitchFamily="18" charset="0"/>
              </a:rPr>
              <a:t>báo</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như</a:t>
            </a:r>
            <a:r>
              <a:rPr lang="en-US" altLang="en-US" sz="1200">
                <a:cs typeface="Times New Roman" panose="02020603050405020304" pitchFamily="18" charset="0"/>
              </a:rPr>
              <a:t> </a:t>
            </a:r>
            <a:r>
              <a:rPr lang="en-US" altLang="en-US" sz="1200" err="1">
                <a:cs typeface="Times New Roman" panose="02020603050405020304" pitchFamily="18" charset="0"/>
              </a:rPr>
              <a:t>trên</a:t>
            </a:r>
            <a:r>
              <a:rPr lang="en-US" altLang="en-US" sz="1200">
                <a:cs typeface="Times New Roman" panose="02020603050405020304" pitchFamily="18" charset="0"/>
              </a:rPr>
              <a:t> ta </a:t>
            </a:r>
            <a:r>
              <a:rPr lang="en-US" altLang="en-US" sz="1200" err="1">
                <a:cs typeface="Times New Roman" panose="02020603050405020304" pitchFamily="18" charset="0"/>
              </a:rPr>
              <a:t>có</a:t>
            </a:r>
            <a:r>
              <a:rPr lang="en-US" altLang="en-US" sz="1200">
                <a:cs typeface="Times New Roman" panose="02020603050405020304" pitchFamily="18" charset="0"/>
              </a:rPr>
              <a:t> </a:t>
            </a:r>
            <a:r>
              <a:rPr lang="en-US" altLang="en-US" sz="1200" err="1">
                <a:cs typeface="Times New Roman" panose="02020603050405020304" pitchFamily="18" charset="0"/>
              </a:rPr>
              <a:t>thể</a:t>
            </a:r>
            <a:r>
              <a:rPr lang="en-US" altLang="en-US" sz="1200">
                <a:cs typeface="Times New Roman" panose="02020603050405020304" pitchFamily="18" charset="0"/>
              </a:rPr>
              <a:t> </a:t>
            </a:r>
            <a:r>
              <a:rPr lang="en-US" altLang="en-US" sz="1200" err="1">
                <a:cs typeface="Times New Roman" panose="02020603050405020304" pitchFamily="18" charset="0"/>
              </a:rPr>
              <a:t>dễ</a:t>
            </a:r>
            <a:r>
              <a:rPr lang="en-US" altLang="en-US" sz="1200">
                <a:cs typeface="Times New Roman" panose="02020603050405020304" pitchFamily="18" charset="0"/>
              </a:rPr>
              <a:t> </a:t>
            </a:r>
            <a:r>
              <a:rPr lang="en-US" altLang="en-US" sz="1200" err="1">
                <a:cs typeface="Times New Roman" panose="02020603050405020304" pitchFamily="18" charset="0"/>
              </a:rPr>
              <a:t>dàng</a:t>
            </a:r>
            <a:r>
              <a:rPr lang="en-US" altLang="en-US" sz="1200">
                <a:cs typeface="Times New Roman" panose="02020603050405020304" pitchFamily="18" charset="0"/>
              </a:rPr>
              <a:t> </a:t>
            </a:r>
            <a:r>
              <a:rPr lang="en-US" altLang="en-US" sz="1200" err="1">
                <a:cs typeface="Times New Roman" panose="02020603050405020304" pitchFamily="18" charset="0"/>
              </a:rPr>
              <a:t>suy</a:t>
            </a:r>
            <a:r>
              <a:rPr lang="en-US" altLang="en-US" sz="1200">
                <a:cs typeface="Times New Roman" panose="02020603050405020304" pitchFamily="18" charset="0"/>
              </a:rPr>
              <a:t> ra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hai</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của</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ba</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1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của</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2 </a:t>
            </a:r>
            <a:r>
              <a:rPr lang="en-US" altLang="en-US" sz="1200" err="1">
                <a:cs typeface="Times New Roman" panose="02020603050405020304" pitchFamily="18" charset="0"/>
              </a:rPr>
              <a:t>chiều</a:t>
            </a:r>
            <a:r>
              <a:rPr lang="en-US" altLang="en-US" sz="1200">
                <a:cs typeface="Times New Roman" panose="02020603050405020304" pitchFamily="18" charset="0"/>
              </a:rPr>
              <a:t>,</a:t>
            </a:r>
            <a:r>
              <a:rPr lang="en-US" altLang="en-US" sz="1200">
                <a:latin typeface="Times" pitchFamily="2" charset="0"/>
                <a:cs typeface="Times New Roman" panose="02020603050405020304" pitchFamily="18" charset="0"/>
              </a:rPr>
              <a:t>...</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N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1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của</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N-1 </a:t>
            </a:r>
            <a:r>
              <a:rPr lang="en-US" altLang="en-US" sz="1200" err="1">
                <a:cs typeface="Times New Roman" panose="02020603050405020304" pitchFamily="18" charset="0"/>
              </a:rPr>
              <a:t>chiều</a:t>
            </a:r>
            <a:r>
              <a:rPr lang="en-US" altLang="en-US" sz="1200">
                <a:cs typeface="Times New Roman" panose="02020603050405020304" pitchFamily="18" charset="0"/>
              </a:rPr>
              <a:t>. </a:t>
            </a:r>
            <a:endParaRPr lang="en-US" altLang="en-US" sz="1200"/>
          </a:p>
          <a:p>
            <a:r>
              <a:rPr lang="en-US" altLang="en-US" sz="5000" err="1"/>
              <a:t>Hoặc</a:t>
            </a:r>
            <a:r>
              <a:rPr lang="en-US" altLang="en-US" sz="5000"/>
              <a:t> </a:t>
            </a:r>
          </a:p>
          <a:p>
            <a:pPr lvl="1"/>
            <a:r>
              <a:rPr lang="en-US" altLang="en-US" sz="5000"/>
              <a:t>ARRAY:  an[N, L1, L2,..., Ln]  OF  datatype ; </a:t>
            </a:r>
            <a:r>
              <a:rPr lang="en-US" altLang="en-US" sz="5000">
                <a:sym typeface="Symbol" pitchFamily="2" charset="2"/>
              </a:rPr>
              <a:t></a:t>
            </a:r>
            <a:endParaRPr lang="en-US" altLang="en-US" sz="5000"/>
          </a:p>
          <a:p>
            <a:pPr lvl="1"/>
            <a:r>
              <a:rPr lang="en-US" altLang="en-US" sz="5000"/>
              <a:t>ARRAY:  an-1[N-1, L2,..., Ln]  OF  datatype ;  AND </a:t>
            </a:r>
            <a:br>
              <a:rPr lang="en-US" altLang="en-US" sz="5000"/>
            </a:br>
            <a:r>
              <a:rPr lang="en-US" altLang="en-US" sz="5000"/>
              <a:t>ARRAY:  an[1, L1]  OF  an-1 ; 	</a:t>
            </a:r>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5</a:t>
            </a:fld>
            <a:endParaRPr lang="en-US"/>
          </a:p>
        </p:txBody>
      </p:sp>
    </p:spTree>
    <p:extLst>
      <p:ext uri="{BB962C8B-B14F-4D97-AF65-F5344CB8AC3E}">
        <p14:creationId xmlns:p14="http://schemas.microsoft.com/office/powerpoint/2010/main" val="68705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err="1">
                <a:cs typeface="Times New Roman" panose="02020603050405020304" pitchFamily="18" charset="0"/>
              </a:rPr>
              <a:t>Với</a:t>
            </a:r>
            <a:r>
              <a:rPr lang="en-US" altLang="en-US" sz="1200">
                <a:cs typeface="Times New Roman" panose="02020603050405020304" pitchFamily="18" charset="0"/>
              </a:rPr>
              <a:t> </a:t>
            </a:r>
            <a:r>
              <a:rPr lang="en-US" altLang="en-US" sz="1200" err="1">
                <a:cs typeface="Times New Roman" panose="02020603050405020304" pitchFamily="18" charset="0"/>
              </a:rPr>
              <a:t>các</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hai</a:t>
            </a:r>
            <a:r>
              <a:rPr lang="en-US" altLang="en-US" sz="1200">
                <a:cs typeface="Times New Roman" panose="02020603050405020304" pitchFamily="18" charset="0"/>
              </a:rPr>
              <a:t> hay </a:t>
            </a:r>
            <a:r>
              <a:rPr lang="en-US" altLang="en-US" sz="1200" err="1">
                <a:cs typeface="Times New Roman" panose="02020603050405020304" pitchFamily="18" charset="0"/>
              </a:rPr>
              <a:t>nhiều</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hơn</a:t>
            </a:r>
            <a:r>
              <a:rPr lang="en-US" altLang="en-US" sz="1200">
                <a:cs typeface="Times New Roman" panose="02020603050405020304" pitchFamily="18" charset="0"/>
              </a:rPr>
              <a:t>, </a:t>
            </a:r>
            <a:r>
              <a:rPr lang="en-US" altLang="en-US" sz="1200" err="1">
                <a:cs typeface="Times New Roman" panose="02020603050405020304" pitchFamily="18" charset="0"/>
              </a:rPr>
              <a:t>cấu</a:t>
            </a:r>
            <a:r>
              <a:rPr lang="en-US" altLang="en-US" sz="1200">
                <a:cs typeface="Times New Roman" panose="02020603050405020304" pitchFamily="18" charset="0"/>
              </a:rPr>
              <a:t> </a:t>
            </a:r>
            <a:r>
              <a:rPr lang="en-US" altLang="en-US" sz="1200" err="1">
                <a:cs typeface="Times New Roman" panose="02020603050405020304" pitchFamily="18" charset="0"/>
              </a:rPr>
              <a:t>trúc</a:t>
            </a:r>
            <a:r>
              <a:rPr lang="en-US" altLang="en-US" sz="1200">
                <a:cs typeface="Times New Roman" panose="02020603050405020304" pitchFamily="18" charset="0"/>
              </a:rPr>
              <a:t>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và</a:t>
            </a:r>
            <a:r>
              <a:rPr lang="en-US" altLang="en-US" sz="1200">
                <a:cs typeface="Times New Roman" panose="02020603050405020304" pitchFamily="18" charset="0"/>
              </a:rPr>
              <a:t> </a:t>
            </a:r>
            <a:r>
              <a:rPr lang="en-US" altLang="en-US" sz="1200" err="1">
                <a:cs typeface="Times New Roman" panose="02020603050405020304" pitchFamily="18" charset="0"/>
              </a:rPr>
              <a:t>cấu</a:t>
            </a:r>
            <a:r>
              <a:rPr lang="en-US" altLang="en-US" sz="1200">
                <a:cs typeface="Times New Roman" panose="02020603050405020304" pitchFamily="18" charset="0"/>
              </a:rPr>
              <a:t> </a:t>
            </a:r>
            <a:r>
              <a:rPr lang="en-US" altLang="en-US" sz="1200" err="1">
                <a:cs typeface="Times New Roman" panose="02020603050405020304" pitchFamily="18" charset="0"/>
              </a:rPr>
              <a:t>trúc</a:t>
            </a:r>
            <a:r>
              <a:rPr lang="en-US" altLang="en-US" sz="1200">
                <a:cs typeface="Times New Roman" panose="02020603050405020304" pitchFamily="18" charset="0"/>
              </a:rPr>
              <a:t> </a:t>
            </a:r>
            <a:r>
              <a:rPr lang="en-US" altLang="en-US" sz="1200" err="1">
                <a:cs typeface="Times New Roman" panose="02020603050405020304" pitchFamily="18" charset="0"/>
              </a:rPr>
              <a:t>lưu</a:t>
            </a:r>
            <a:r>
              <a:rPr lang="en-US" altLang="en-US" sz="1200">
                <a:cs typeface="Times New Roman" panose="02020603050405020304" pitchFamily="18" charset="0"/>
              </a:rPr>
              <a:t> </a:t>
            </a:r>
            <a:r>
              <a:rPr lang="en-US" altLang="en-US" sz="1200" err="1">
                <a:cs typeface="Times New Roman" panose="02020603050405020304" pitchFamily="18" charset="0"/>
              </a:rPr>
              <a:t>trữ</a:t>
            </a:r>
            <a:r>
              <a:rPr lang="en-US" altLang="en-US" sz="1200">
                <a:cs typeface="Times New Roman" panose="02020603050405020304" pitchFamily="18" charset="0"/>
              </a:rPr>
              <a:t> </a:t>
            </a:r>
            <a:r>
              <a:rPr lang="en-US" altLang="en-US" sz="1200" err="1">
                <a:cs typeface="Times New Roman" panose="02020603050405020304" pitchFamily="18" charset="0"/>
              </a:rPr>
              <a:t>tuần</a:t>
            </a:r>
            <a:r>
              <a:rPr lang="en-US" altLang="en-US" sz="1200">
                <a:cs typeface="Times New Roman" panose="02020603050405020304" pitchFamily="18" charset="0"/>
              </a:rPr>
              <a:t> </a:t>
            </a:r>
            <a:r>
              <a:rPr lang="en-US" altLang="en-US" sz="1200" err="1">
                <a:cs typeface="Times New Roman" panose="02020603050405020304" pitchFamily="18" charset="0"/>
              </a:rPr>
              <a:t>tự</a:t>
            </a:r>
            <a:r>
              <a:rPr lang="en-US" altLang="en-US" sz="1200">
                <a:cs typeface="Times New Roman" panose="02020603050405020304" pitchFamily="18" charset="0"/>
              </a:rPr>
              <a:t> </a:t>
            </a:r>
            <a:r>
              <a:rPr lang="en-US" altLang="en-US" sz="1200" err="1">
                <a:cs typeface="Times New Roman" panose="02020603050405020304" pitchFamily="18" charset="0"/>
              </a:rPr>
              <a:t>có</a:t>
            </a:r>
            <a:r>
              <a:rPr lang="en-US" altLang="en-US" sz="1200">
                <a:cs typeface="Times New Roman" panose="02020603050405020304" pitchFamily="18" charset="0"/>
              </a:rPr>
              <a:t> </a:t>
            </a:r>
            <a:r>
              <a:rPr lang="en-US" altLang="en-US" sz="1200" err="1">
                <a:cs typeface="Times New Roman" panose="02020603050405020304" pitchFamily="18" charset="0"/>
              </a:rPr>
              <a:t>sự</a:t>
            </a:r>
            <a:r>
              <a:rPr lang="en-US" altLang="en-US" sz="1200">
                <a:cs typeface="Times New Roman" panose="02020603050405020304" pitchFamily="18" charset="0"/>
              </a:rPr>
              <a:t> </a:t>
            </a:r>
            <a:r>
              <a:rPr lang="en-US" altLang="en-US" sz="1200" err="1">
                <a:cs typeface="Times New Roman" panose="02020603050405020304" pitchFamily="18" charset="0"/>
              </a:rPr>
              <a:t>khác</a:t>
            </a:r>
            <a:r>
              <a:rPr lang="en-US" altLang="en-US" sz="1200">
                <a:cs typeface="Times New Roman" panose="02020603050405020304" pitchFamily="18" charset="0"/>
              </a:rPr>
              <a:t> </a:t>
            </a:r>
            <a:r>
              <a:rPr lang="en-US" altLang="en-US" sz="1200" err="1">
                <a:cs typeface="Times New Roman" panose="02020603050405020304" pitchFamily="18" charset="0"/>
              </a:rPr>
              <a:t>biệt</a:t>
            </a:r>
            <a:r>
              <a:rPr lang="en-US" altLang="en-US" sz="1200">
                <a:cs typeface="Times New Roman" panose="02020603050405020304" pitchFamily="18" charset="0"/>
              </a:rPr>
              <a:t> </a:t>
            </a:r>
            <a:r>
              <a:rPr lang="en-US" altLang="en-US" sz="1200" err="1">
                <a:cs typeface="Times New Roman" panose="02020603050405020304" pitchFamily="18" charset="0"/>
              </a:rPr>
              <a:t>đáng</a:t>
            </a:r>
            <a:r>
              <a:rPr lang="en-US" altLang="en-US" sz="1200">
                <a:cs typeface="Times New Roman" panose="02020603050405020304" pitchFamily="18" charset="0"/>
              </a:rPr>
              <a:t> </a:t>
            </a:r>
            <a:r>
              <a:rPr lang="en-US" altLang="en-US" sz="1200" err="1">
                <a:cs typeface="Times New Roman" panose="02020603050405020304" pitchFamily="18" charset="0"/>
              </a:rPr>
              <a:t>kể</a:t>
            </a:r>
            <a:r>
              <a:rPr lang="en-US" altLang="en-US" sz="1200">
                <a:cs typeface="Times New Roman" panose="02020603050405020304" pitchFamily="18" charset="0"/>
              </a:rPr>
              <a:t>. </a:t>
            </a:r>
            <a:r>
              <a:rPr lang="en-US" altLang="en-US" sz="1200" err="1">
                <a:cs typeface="Times New Roman" panose="02020603050405020304" pitchFamily="18" charset="0"/>
              </a:rPr>
              <a:t>Khi</a:t>
            </a:r>
            <a:r>
              <a:rPr lang="en-US" altLang="en-US" sz="1200">
                <a:cs typeface="Times New Roman" panose="02020603050405020304" pitchFamily="18" charset="0"/>
              </a:rPr>
              <a:t> CTDL </a:t>
            </a:r>
            <a:r>
              <a:rPr lang="en-US" altLang="en-US" sz="1200" err="1">
                <a:cs typeface="Times New Roman" panose="02020603050405020304" pitchFamily="18" charset="0"/>
              </a:rPr>
              <a:t>mảng</a:t>
            </a:r>
            <a:r>
              <a:rPr lang="en-US" altLang="en-US" sz="1200">
                <a:cs typeface="Times New Roman" panose="02020603050405020304" pitchFamily="18" charset="0"/>
              </a:rPr>
              <a:t> </a:t>
            </a:r>
            <a:r>
              <a:rPr lang="en-US" altLang="en-US" sz="1200" err="1">
                <a:cs typeface="Times New Roman" panose="02020603050405020304" pitchFamily="18" charset="0"/>
              </a:rPr>
              <a:t>là</a:t>
            </a:r>
            <a:r>
              <a:rPr lang="en-US" altLang="en-US" sz="1200">
                <a:cs typeface="Times New Roman" panose="02020603050405020304" pitchFamily="18" charset="0"/>
              </a:rPr>
              <a:t> </a:t>
            </a:r>
            <a:r>
              <a:rPr lang="en-US" altLang="en-US" sz="1200" err="1">
                <a:cs typeface="Times New Roman" panose="02020603050405020304" pitchFamily="18" charset="0"/>
              </a:rPr>
              <a:t>đa</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thì</a:t>
            </a:r>
            <a:r>
              <a:rPr lang="en-US" altLang="en-US" sz="1200">
                <a:cs typeface="Times New Roman" panose="02020603050405020304" pitchFamily="18" charset="0"/>
              </a:rPr>
              <a:t> </a:t>
            </a:r>
            <a:r>
              <a:rPr lang="en-US" altLang="en-US" sz="1200" err="1">
                <a:cs typeface="Times New Roman" panose="02020603050405020304" pitchFamily="18" charset="0"/>
              </a:rPr>
              <a:t>cấu</a:t>
            </a:r>
            <a:r>
              <a:rPr lang="en-US" altLang="en-US" sz="1200">
                <a:cs typeface="Times New Roman" panose="02020603050405020304" pitchFamily="18" charset="0"/>
              </a:rPr>
              <a:t> </a:t>
            </a:r>
            <a:r>
              <a:rPr lang="en-US" altLang="en-US" sz="1200" err="1">
                <a:cs typeface="Times New Roman" panose="02020603050405020304" pitchFamily="18" charset="0"/>
              </a:rPr>
              <a:t>trúc</a:t>
            </a:r>
            <a:r>
              <a:rPr lang="en-US" altLang="en-US" sz="1200">
                <a:cs typeface="Times New Roman" panose="02020603050405020304" pitchFamily="18" charset="0"/>
              </a:rPr>
              <a:t> </a:t>
            </a:r>
            <a:r>
              <a:rPr lang="en-US" altLang="en-US" sz="1200" err="1">
                <a:cs typeface="Times New Roman" panose="02020603050405020304" pitchFamily="18" charset="0"/>
              </a:rPr>
              <a:t>lưu</a:t>
            </a:r>
            <a:r>
              <a:rPr lang="en-US" altLang="en-US" sz="1200">
                <a:cs typeface="Times New Roman" panose="02020603050405020304" pitchFamily="18" charset="0"/>
              </a:rPr>
              <a:t> </a:t>
            </a:r>
            <a:r>
              <a:rPr lang="en-US" altLang="en-US" sz="1200" err="1">
                <a:cs typeface="Times New Roman" panose="02020603050405020304" pitchFamily="18" charset="0"/>
              </a:rPr>
              <a:t>trữ</a:t>
            </a:r>
            <a:r>
              <a:rPr lang="en-US" altLang="en-US" sz="1200">
                <a:cs typeface="Times New Roman" panose="02020603050405020304" pitchFamily="18" charset="0"/>
              </a:rPr>
              <a:t> </a:t>
            </a:r>
            <a:r>
              <a:rPr lang="en-US" altLang="en-US" sz="1200" err="1">
                <a:cs typeface="Times New Roman" panose="02020603050405020304" pitchFamily="18" charset="0"/>
              </a:rPr>
              <a:t>tuần</a:t>
            </a:r>
            <a:r>
              <a:rPr lang="en-US" altLang="en-US" sz="1200">
                <a:cs typeface="Times New Roman" panose="02020603050405020304" pitchFamily="18" charset="0"/>
              </a:rPr>
              <a:t> </a:t>
            </a:r>
            <a:r>
              <a:rPr lang="en-US" altLang="en-US" sz="1200" err="1">
                <a:cs typeface="Times New Roman" panose="02020603050405020304" pitchFamily="18" charset="0"/>
              </a:rPr>
              <a:t>tự</a:t>
            </a:r>
            <a:r>
              <a:rPr lang="en-US" altLang="en-US" sz="1200">
                <a:cs typeface="Times New Roman" panose="02020603050405020304" pitchFamily="18" charset="0"/>
              </a:rPr>
              <a:t> </a:t>
            </a:r>
            <a:r>
              <a:rPr lang="en-US" altLang="en-US" sz="1200" err="1">
                <a:cs typeface="Times New Roman" panose="02020603050405020304" pitchFamily="18" charset="0"/>
              </a:rPr>
              <a:t>chỉ</a:t>
            </a:r>
            <a:r>
              <a:rPr lang="en-US" altLang="en-US" sz="1200">
                <a:cs typeface="Times New Roman" panose="02020603050405020304" pitchFamily="18" charset="0"/>
              </a:rPr>
              <a:t> </a:t>
            </a:r>
            <a:r>
              <a:rPr lang="en-US" altLang="en-US" sz="1200" err="1">
                <a:cs typeface="Times New Roman" panose="02020603050405020304" pitchFamily="18" charset="0"/>
              </a:rPr>
              <a:t>có</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Do </a:t>
            </a:r>
            <a:r>
              <a:rPr lang="en-US" altLang="en-US" sz="1200" err="1">
                <a:cs typeface="Times New Roman" panose="02020603050405020304" pitchFamily="18" charset="0"/>
              </a:rPr>
              <a:t>đó</a:t>
            </a:r>
            <a:r>
              <a:rPr lang="en-US" altLang="en-US" sz="1200">
                <a:cs typeface="Times New Roman" panose="02020603050405020304" pitchFamily="18" charset="0"/>
              </a:rPr>
              <a:t>, </a:t>
            </a:r>
            <a:r>
              <a:rPr lang="en-US" altLang="en-US" sz="1200" err="1">
                <a:cs typeface="Times New Roman" panose="02020603050405020304" pitchFamily="18" charset="0"/>
              </a:rPr>
              <a:t>chúng</a:t>
            </a:r>
            <a:r>
              <a:rPr lang="en-US" altLang="en-US" sz="1200">
                <a:cs typeface="Times New Roman" panose="02020603050405020304" pitchFamily="18" charset="0"/>
              </a:rPr>
              <a:t> ta </a:t>
            </a:r>
            <a:r>
              <a:rPr lang="en-US" altLang="en-US" sz="1200" err="1">
                <a:cs typeface="Times New Roman" panose="02020603050405020304" pitchFamily="18" charset="0"/>
              </a:rPr>
              <a:t>cần</a:t>
            </a:r>
            <a:r>
              <a:rPr lang="en-US" altLang="en-US" sz="1200">
                <a:cs typeface="Times New Roman" panose="02020603050405020304" pitchFamily="18" charset="0"/>
              </a:rPr>
              <a:t> </a:t>
            </a:r>
            <a:r>
              <a:rPr lang="en-US" altLang="en-US" sz="1200" err="1">
                <a:cs typeface="Times New Roman" panose="02020603050405020304" pitchFamily="18" charset="0"/>
              </a:rPr>
              <a:t>phải</a:t>
            </a:r>
            <a:r>
              <a:rPr lang="en-US" altLang="en-US" sz="1200">
                <a:cs typeface="Times New Roman" panose="02020603050405020304" pitchFamily="18" charset="0"/>
              </a:rPr>
              <a:t> </a:t>
            </a:r>
            <a:r>
              <a:rPr lang="en-US" altLang="en-US" sz="1200" err="1">
                <a:cs typeface="Times New Roman" panose="02020603050405020304" pitchFamily="18" charset="0"/>
              </a:rPr>
              <a:t>có</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phương</a:t>
            </a:r>
            <a:r>
              <a:rPr lang="en-US" altLang="en-US" sz="1200">
                <a:cs typeface="Times New Roman" panose="02020603050405020304" pitchFamily="18" charset="0"/>
              </a:rPr>
              <a:t> </a:t>
            </a:r>
            <a:r>
              <a:rPr lang="en-US" altLang="en-US" sz="1200" err="1">
                <a:cs typeface="Times New Roman" panose="02020603050405020304" pitchFamily="18" charset="0"/>
              </a:rPr>
              <a:t>pháp</a:t>
            </a:r>
            <a:r>
              <a:rPr lang="en-US" altLang="en-US" sz="1200">
                <a:cs typeface="Times New Roman" panose="02020603050405020304" pitchFamily="18" charset="0"/>
              </a:rPr>
              <a:t> </a:t>
            </a:r>
            <a:r>
              <a:rPr lang="en-US" altLang="en-US" sz="1200" err="1">
                <a:cs typeface="Times New Roman" panose="02020603050405020304" pitchFamily="18" charset="0"/>
              </a:rPr>
              <a:t>để</a:t>
            </a:r>
            <a:r>
              <a:rPr lang="en-US" altLang="en-US" sz="1200">
                <a:cs typeface="Times New Roman" panose="02020603050405020304" pitchFamily="18" charset="0"/>
              </a:rPr>
              <a:t> </a:t>
            </a:r>
            <a:r>
              <a:rPr lang="en-US" altLang="en-US" sz="1200" err="1">
                <a:cs typeface="Times New Roman" panose="02020603050405020304" pitchFamily="18" charset="0"/>
              </a:rPr>
              <a:t>chuyển</a:t>
            </a:r>
            <a:r>
              <a:rPr lang="en-US" altLang="en-US" sz="1200">
                <a:cs typeface="Times New Roman" panose="02020603050405020304" pitchFamily="18" charset="0"/>
              </a:rPr>
              <a:t> </a:t>
            </a:r>
            <a:r>
              <a:rPr lang="en-US" altLang="en-US" sz="1200" err="1">
                <a:cs typeface="Times New Roman" panose="02020603050405020304" pitchFamily="18" charset="0"/>
              </a:rPr>
              <a:t>đổi</a:t>
            </a:r>
            <a:r>
              <a:rPr lang="en-US" altLang="en-US" sz="1200">
                <a:cs typeface="Times New Roman" panose="02020603050405020304" pitchFamily="18" charset="0"/>
              </a:rPr>
              <a:t> </a:t>
            </a:r>
            <a:r>
              <a:rPr lang="en-US" altLang="en-US" sz="1200" err="1">
                <a:cs typeface="Times New Roman" panose="02020603050405020304" pitchFamily="18" charset="0"/>
              </a:rPr>
              <a:t>từ</a:t>
            </a:r>
            <a:r>
              <a:rPr lang="en-US" altLang="en-US" sz="1200">
                <a:cs typeface="Times New Roman" panose="02020603050405020304" pitchFamily="18" charset="0"/>
              </a:rPr>
              <a:t> </a:t>
            </a:r>
            <a:r>
              <a:rPr lang="en-US" altLang="en-US" sz="1200" err="1">
                <a:cs typeface="Times New Roman" panose="02020603050405020304" pitchFamily="18" charset="0"/>
              </a:rPr>
              <a:t>cấu</a:t>
            </a:r>
            <a:r>
              <a:rPr lang="en-US" altLang="en-US" sz="1200">
                <a:cs typeface="Times New Roman" panose="02020603050405020304" pitchFamily="18" charset="0"/>
              </a:rPr>
              <a:t> </a:t>
            </a:r>
            <a:r>
              <a:rPr lang="en-US" altLang="en-US" sz="1200" err="1">
                <a:cs typeface="Times New Roman" panose="02020603050405020304" pitchFamily="18" charset="0"/>
              </a:rPr>
              <a:t>trúc</a:t>
            </a:r>
            <a:r>
              <a:rPr lang="en-US" altLang="en-US" sz="1200">
                <a:cs typeface="Times New Roman" panose="02020603050405020304" pitchFamily="18" charset="0"/>
              </a:rPr>
              <a:t> </a:t>
            </a:r>
            <a:r>
              <a:rPr lang="en-US" altLang="en-US" sz="1200" err="1">
                <a:cs typeface="Times New Roman" panose="02020603050405020304" pitchFamily="18" charset="0"/>
              </a:rPr>
              <a:t>đa</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sang </a:t>
            </a:r>
            <a:r>
              <a:rPr lang="en-US" altLang="en-US" sz="1200" err="1">
                <a:cs typeface="Times New Roman" panose="02020603050405020304" pitchFamily="18" charset="0"/>
              </a:rPr>
              <a:t>cấu</a:t>
            </a:r>
            <a:r>
              <a:rPr lang="en-US" altLang="en-US" sz="1200">
                <a:cs typeface="Times New Roman" panose="02020603050405020304" pitchFamily="18" charset="0"/>
              </a:rPr>
              <a:t> </a:t>
            </a:r>
            <a:r>
              <a:rPr lang="en-US" altLang="en-US" sz="1200" err="1">
                <a:cs typeface="Times New Roman" panose="02020603050405020304" pitchFamily="18" charset="0"/>
              </a:rPr>
              <a:t>trúc</a:t>
            </a:r>
            <a:r>
              <a:rPr lang="en-US" altLang="en-US" sz="1200">
                <a:cs typeface="Times New Roman" panose="02020603050405020304" pitchFamily="18" charset="0"/>
              </a:rPr>
              <a:t> </a:t>
            </a:r>
            <a:r>
              <a:rPr lang="en-US" altLang="en-US" sz="1200" err="1">
                <a:cs typeface="Times New Roman" panose="02020603050405020304" pitchFamily="18" charset="0"/>
              </a:rPr>
              <a:t>một</a:t>
            </a:r>
            <a:r>
              <a:rPr lang="en-US" altLang="en-US" sz="1200">
                <a:cs typeface="Times New Roman" panose="02020603050405020304" pitchFamily="18" charset="0"/>
              </a:rPr>
              <a:t> </a:t>
            </a:r>
            <a:r>
              <a:rPr lang="en-US" altLang="en-US" sz="1200" err="1">
                <a:cs typeface="Times New Roman" panose="02020603050405020304" pitchFamily="18" charset="0"/>
              </a:rPr>
              <a:t>chiều</a:t>
            </a:r>
            <a:r>
              <a:rPr lang="en-US" altLang="en-US" sz="1200">
                <a:cs typeface="Times New Roman" panose="02020603050405020304" pitchFamily="18" charset="0"/>
              </a:rPr>
              <a:t> </a:t>
            </a:r>
            <a:r>
              <a:rPr lang="en-US" altLang="en-US" sz="1200" err="1">
                <a:cs typeface="Times New Roman" panose="02020603050405020304" pitchFamily="18" charset="0"/>
              </a:rPr>
              <a:t>và</a:t>
            </a:r>
            <a:r>
              <a:rPr lang="en-US" altLang="en-US" sz="1200">
                <a:cs typeface="Times New Roman" panose="02020603050405020304" pitchFamily="18" charset="0"/>
              </a:rPr>
              <a:t> </a:t>
            </a:r>
            <a:r>
              <a:rPr lang="en-US" altLang="en-US" sz="1200" err="1">
                <a:cs typeface="Times New Roman" panose="02020603050405020304" pitchFamily="18" charset="0"/>
              </a:rPr>
              <a:t>ngược</a:t>
            </a:r>
            <a:r>
              <a:rPr lang="en-US" altLang="en-US" sz="1200">
                <a:cs typeface="Times New Roman" panose="02020603050405020304" pitchFamily="18" charset="0"/>
              </a:rPr>
              <a:t> </a:t>
            </a:r>
            <a:r>
              <a:rPr lang="en-US" altLang="en-US" sz="1200" err="1">
                <a:cs typeface="Times New Roman" panose="02020603050405020304" pitchFamily="18" charset="0"/>
              </a:rPr>
              <a:t>lại</a:t>
            </a:r>
            <a:r>
              <a:rPr lang="en-US" altLang="en-US" sz="1200">
                <a:cs typeface="Times New Roman" panose="02020603050405020304" pitchFamily="18" charset="0"/>
              </a:rPr>
              <a:t>. </a:t>
            </a:r>
            <a:endParaRPr lang="en-US"/>
          </a:p>
        </p:txBody>
      </p:sp>
      <p:sp>
        <p:nvSpPr>
          <p:cNvPr id="4" name="Slide Number Placeholder 3"/>
          <p:cNvSpPr>
            <a:spLocks noGrp="1"/>
          </p:cNvSpPr>
          <p:nvPr>
            <p:ph type="sldNum" sz="quarter" idx="5"/>
          </p:nvPr>
        </p:nvSpPr>
        <p:spPr/>
        <p:txBody>
          <a:bodyPr/>
          <a:lstStyle/>
          <a:p>
            <a:fld id="{C47F7BA9-BD23-364F-BA23-B1582B7D9A79}" type="slidenum">
              <a:rPr lang="en-US" smtClean="0"/>
              <a:t>16</a:t>
            </a:fld>
            <a:endParaRPr lang="en-US"/>
          </a:p>
        </p:txBody>
      </p:sp>
    </p:spTree>
    <p:extLst>
      <p:ext uri="{BB962C8B-B14F-4D97-AF65-F5344CB8AC3E}">
        <p14:creationId xmlns:p14="http://schemas.microsoft.com/office/powerpoint/2010/main" val="2693742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47F7BA9-BD23-364F-BA23-B1582B7D9A79}" type="slidenum">
              <a:rPr lang="en-US" smtClean="0"/>
              <a:t>24</a:t>
            </a:fld>
            <a:endParaRPr lang="en-US"/>
          </a:p>
        </p:txBody>
      </p:sp>
    </p:spTree>
    <p:extLst>
      <p:ext uri="{BB962C8B-B14F-4D97-AF65-F5344CB8AC3E}">
        <p14:creationId xmlns:p14="http://schemas.microsoft.com/office/powerpoint/2010/main" val="2794930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47F7BA9-BD23-364F-BA23-B1582B7D9A79}" type="slidenum">
              <a:rPr lang="en-US" smtClean="0"/>
              <a:t>26</a:t>
            </a:fld>
            <a:endParaRPr lang="en-US"/>
          </a:p>
        </p:txBody>
      </p:sp>
    </p:spTree>
    <p:extLst>
      <p:ext uri="{BB962C8B-B14F-4D97-AF65-F5344CB8AC3E}">
        <p14:creationId xmlns:p14="http://schemas.microsoft.com/office/powerpoint/2010/main" val="2705850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Coi</a:t>
            </a:r>
            <a:r>
              <a:rPr lang="en-US"/>
              <a:t> A[1] </a:t>
            </a:r>
            <a:r>
              <a:rPr lang="en-US" err="1"/>
              <a:t>là</a:t>
            </a:r>
            <a:r>
              <a:rPr lang="en-US" baseline="0"/>
              <a:t> </a:t>
            </a:r>
            <a:r>
              <a:rPr lang="en-US" baseline="0" err="1"/>
              <a:t>dãy</a:t>
            </a:r>
            <a:r>
              <a:rPr lang="en-US" baseline="0"/>
              <a:t> con </a:t>
            </a:r>
            <a:r>
              <a:rPr lang="en-US" baseline="0" err="1"/>
              <a:t>đã</a:t>
            </a:r>
            <a:r>
              <a:rPr lang="en-US" baseline="0"/>
              <a:t> </a:t>
            </a:r>
            <a:r>
              <a:rPr lang="en-US" baseline="0" err="1"/>
              <a:t>được</a:t>
            </a:r>
            <a:r>
              <a:rPr lang="en-US" baseline="0"/>
              <a:t> </a:t>
            </a:r>
            <a:r>
              <a:rPr lang="en-US" baseline="0" err="1"/>
              <a:t>sắp</a:t>
            </a:r>
            <a:r>
              <a:rPr lang="en-US" baseline="0"/>
              <a:t> </a:t>
            </a:r>
            <a:r>
              <a:rPr lang="en-US" baseline="0" err="1"/>
              <a:t>xếp</a:t>
            </a:r>
            <a:r>
              <a:rPr lang="en-US" baseline="0"/>
              <a:t>, A[2] </a:t>
            </a:r>
            <a:r>
              <a:rPr lang="en-US" baseline="0" err="1"/>
              <a:t>sẽ</a:t>
            </a:r>
            <a:r>
              <a:rPr lang="en-US" baseline="0"/>
              <a:t> </a:t>
            </a:r>
            <a:r>
              <a:rPr lang="en-US" baseline="0" err="1"/>
              <a:t>được</a:t>
            </a:r>
            <a:r>
              <a:rPr lang="en-US" baseline="0"/>
              <a:t> </a:t>
            </a:r>
            <a:r>
              <a:rPr lang="en-US" baseline="0" err="1"/>
              <a:t>xét</a:t>
            </a:r>
            <a:r>
              <a:rPr lang="en-US" baseline="0"/>
              <a:t> </a:t>
            </a:r>
            <a:r>
              <a:rPr lang="en-US" baseline="0" err="1"/>
              <a:t>tới</a:t>
            </a:r>
            <a:r>
              <a:rPr lang="en-US" baseline="0"/>
              <a:t>, </a:t>
            </a:r>
            <a:r>
              <a:rPr lang="en-US" baseline="0" err="1"/>
              <a:t>nếu</a:t>
            </a:r>
            <a:r>
              <a:rPr lang="en-US" baseline="0"/>
              <a:t> A[2] </a:t>
            </a:r>
            <a:r>
              <a:rPr lang="en-US" baseline="0" err="1"/>
              <a:t>nhỏ</a:t>
            </a:r>
            <a:r>
              <a:rPr lang="en-US" baseline="0"/>
              <a:t> </a:t>
            </a:r>
            <a:r>
              <a:rPr lang="en-US" baseline="0" err="1"/>
              <a:t>hơn</a:t>
            </a:r>
            <a:r>
              <a:rPr lang="en-US" baseline="0"/>
              <a:t> A[1] </a:t>
            </a:r>
            <a:r>
              <a:rPr lang="en-US" baseline="0" err="1"/>
              <a:t>thì</a:t>
            </a:r>
            <a:r>
              <a:rPr lang="en-US" baseline="0"/>
              <a:t> </a:t>
            </a:r>
            <a:r>
              <a:rPr lang="en-US" baseline="0" err="1"/>
              <a:t>đổi</a:t>
            </a:r>
            <a:r>
              <a:rPr lang="en-US" baseline="0"/>
              <a:t> </a:t>
            </a:r>
            <a:r>
              <a:rPr lang="en-US" baseline="0" err="1"/>
              <a:t>chỗ</a:t>
            </a:r>
            <a:r>
              <a:rPr lang="en-US" baseline="0"/>
              <a:t> </a:t>
            </a:r>
            <a:r>
              <a:rPr lang="en-US" baseline="0" err="1"/>
              <a:t>cho</a:t>
            </a:r>
            <a:r>
              <a:rPr lang="en-US" baseline="0"/>
              <a:t> A[1]. </a:t>
            </a:r>
            <a:r>
              <a:rPr lang="en-US" baseline="0" err="1"/>
              <a:t>Tạo</a:t>
            </a:r>
            <a:r>
              <a:rPr lang="en-US" baseline="0"/>
              <a:t> </a:t>
            </a:r>
            <a:r>
              <a:rPr lang="en-US" baseline="0" err="1"/>
              <a:t>thành</a:t>
            </a:r>
            <a:r>
              <a:rPr lang="en-US" baseline="0"/>
              <a:t> </a:t>
            </a:r>
            <a:r>
              <a:rPr lang="en-US" baseline="0" err="1"/>
              <a:t>dãy</a:t>
            </a:r>
            <a:r>
              <a:rPr lang="en-US" baseline="0"/>
              <a:t> con </a:t>
            </a:r>
            <a:r>
              <a:rPr lang="en-US" baseline="0" err="1"/>
              <a:t>mới</a:t>
            </a:r>
            <a:r>
              <a:rPr lang="en-US" baseline="0"/>
              <a:t> 2 </a:t>
            </a:r>
            <a:r>
              <a:rPr lang="en-US" baseline="0" err="1"/>
              <a:t>phần</a:t>
            </a:r>
            <a:r>
              <a:rPr lang="en-US" baseline="0"/>
              <a:t> </a:t>
            </a:r>
            <a:r>
              <a:rPr lang="en-US" baseline="0" err="1"/>
              <a:t>tử</a:t>
            </a:r>
            <a:r>
              <a:rPr lang="en-US" baseline="0"/>
              <a:t>, </a:t>
            </a:r>
            <a:r>
              <a:rPr lang="en-US" baseline="0" err="1"/>
              <a:t>lúc</a:t>
            </a:r>
            <a:r>
              <a:rPr lang="en-US" baseline="0"/>
              <a:t> </a:t>
            </a:r>
            <a:r>
              <a:rPr lang="en-US" baseline="0" err="1"/>
              <a:t>này</a:t>
            </a:r>
            <a:r>
              <a:rPr lang="en-US" baseline="0"/>
              <a:t> A[3] </a:t>
            </a:r>
            <a:r>
              <a:rPr lang="en-US" baseline="0" err="1"/>
              <a:t>được</a:t>
            </a:r>
            <a:r>
              <a:rPr lang="en-US" baseline="0"/>
              <a:t> </a:t>
            </a:r>
            <a:r>
              <a:rPr lang="en-US" baseline="0" err="1"/>
              <a:t>xét</a:t>
            </a:r>
            <a:r>
              <a:rPr lang="en-US" baseline="0"/>
              <a:t> </a:t>
            </a:r>
            <a:r>
              <a:rPr lang="en-US" baseline="0" err="1"/>
              <a:t>tới</a:t>
            </a:r>
            <a:r>
              <a:rPr lang="en-US" baseline="0"/>
              <a:t> so </a:t>
            </a:r>
            <a:r>
              <a:rPr lang="en-US" baseline="0" err="1"/>
              <a:t>sánh</a:t>
            </a:r>
            <a:r>
              <a:rPr lang="en-US" baseline="0"/>
              <a:t> </a:t>
            </a:r>
            <a:r>
              <a:rPr lang="en-US" baseline="0" err="1"/>
              <a:t>với</a:t>
            </a:r>
            <a:r>
              <a:rPr lang="en-US" baseline="0"/>
              <a:t> </a:t>
            </a:r>
            <a:r>
              <a:rPr lang="en-US" baseline="0" err="1"/>
              <a:t>các</a:t>
            </a:r>
            <a:r>
              <a:rPr lang="en-US" baseline="0"/>
              <a:t> </a:t>
            </a:r>
            <a:r>
              <a:rPr lang="en-US" baseline="0" err="1"/>
              <a:t>phần</a:t>
            </a:r>
            <a:r>
              <a:rPr lang="en-US" baseline="0"/>
              <a:t> </a:t>
            </a:r>
            <a:r>
              <a:rPr lang="en-US" baseline="0" err="1"/>
              <a:t>tử</a:t>
            </a:r>
            <a:r>
              <a:rPr lang="en-US" baseline="0"/>
              <a:t> </a:t>
            </a:r>
            <a:r>
              <a:rPr lang="en-US" baseline="0" err="1"/>
              <a:t>trong</a:t>
            </a:r>
            <a:r>
              <a:rPr lang="en-US" baseline="0"/>
              <a:t> </a:t>
            </a:r>
            <a:r>
              <a:rPr lang="en-US" baseline="0" err="1"/>
              <a:t>dãy</a:t>
            </a:r>
            <a:r>
              <a:rPr lang="en-US" baseline="0"/>
              <a:t> con </a:t>
            </a:r>
            <a:r>
              <a:rPr lang="en-US" baseline="0" err="1"/>
              <a:t>được</a:t>
            </a:r>
            <a:r>
              <a:rPr lang="en-US" baseline="0"/>
              <a:t> </a:t>
            </a:r>
            <a:r>
              <a:rPr lang="en-US" baseline="0" err="1"/>
              <a:t>sắp</a:t>
            </a:r>
            <a:r>
              <a:rPr lang="en-US" baseline="0"/>
              <a:t> </a:t>
            </a:r>
            <a:r>
              <a:rPr lang="en-US" baseline="0" err="1"/>
              <a:t>xếp</a:t>
            </a:r>
            <a:r>
              <a:rPr lang="en-US" baseline="0"/>
              <a:t>, </a:t>
            </a:r>
            <a:r>
              <a:rPr lang="en-US" baseline="0" err="1"/>
              <a:t>chèn</a:t>
            </a:r>
            <a:r>
              <a:rPr lang="en-US" baseline="0"/>
              <a:t> </a:t>
            </a:r>
            <a:r>
              <a:rPr lang="en-US" baseline="0" err="1"/>
              <a:t>nếu</a:t>
            </a:r>
            <a:r>
              <a:rPr lang="en-US" baseline="0"/>
              <a:t> </a:t>
            </a:r>
            <a:r>
              <a:rPr lang="en-US" baseline="0" err="1"/>
              <a:t>thỏa</a:t>
            </a:r>
            <a:r>
              <a:rPr lang="en-US" baseline="0"/>
              <a:t> </a:t>
            </a:r>
            <a:r>
              <a:rPr lang="en-US" baseline="0" err="1"/>
              <a:t>điều</a:t>
            </a:r>
            <a:r>
              <a:rPr lang="en-US" baseline="0"/>
              <a:t> </a:t>
            </a:r>
            <a:r>
              <a:rPr lang="en-US" baseline="0" err="1"/>
              <a:t>kiện</a:t>
            </a:r>
            <a:r>
              <a:rPr lang="en-US" baseline="0"/>
              <a:t> </a:t>
            </a:r>
            <a:r>
              <a:rPr lang="en-US" baseline="0" err="1"/>
              <a:t>nhỏ</a:t>
            </a:r>
            <a:r>
              <a:rPr lang="en-US" baseline="0"/>
              <a:t> </a:t>
            </a:r>
            <a:r>
              <a:rPr lang="en-US" baseline="0" err="1"/>
              <a:t>hơn</a:t>
            </a:r>
            <a:r>
              <a:rPr lang="en-US" baseline="0"/>
              <a:t> </a:t>
            </a:r>
            <a:r>
              <a:rPr lang="en-US" baseline="0" err="1"/>
              <a:t>các</a:t>
            </a:r>
            <a:r>
              <a:rPr lang="en-US" baseline="0"/>
              <a:t> </a:t>
            </a:r>
            <a:r>
              <a:rPr lang="en-US" baseline="0" err="1"/>
              <a:t>phần</a:t>
            </a:r>
            <a:r>
              <a:rPr lang="en-US" baseline="0"/>
              <a:t> </a:t>
            </a:r>
            <a:r>
              <a:rPr lang="en-US" baseline="0" err="1"/>
              <a:t>tử</a:t>
            </a:r>
            <a:r>
              <a:rPr lang="en-US" baseline="0"/>
              <a:t> </a:t>
            </a:r>
            <a:r>
              <a:rPr lang="en-US" baseline="0" err="1"/>
              <a:t>trong</a:t>
            </a:r>
            <a:r>
              <a:rPr lang="en-US" baseline="0"/>
              <a:t> </a:t>
            </a:r>
            <a:r>
              <a:rPr lang="en-US" baseline="0" err="1"/>
              <a:t>dãy</a:t>
            </a:r>
            <a:r>
              <a:rPr lang="en-US" baseline="0"/>
              <a:t>.     </a:t>
            </a:r>
            <a:endParaRPr lang="en-US"/>
          </a:p>
        </p:txBody>
      </p:sp>
      <p:sp>
        <p:nvSpPr>
          <p:cNvPr id="4" name="Slide Number Placeholder 3"/>
          <p:cNvSpPr>
            <a:spLocks noGrp="1"/>
          </p:cNvSpPr>
          <p:nvPr>
            <p:ph type="sldNum" sz="quarter" idx="10"/>
          </p:nvPr>
        </p:nvSpPr>
        <p:spPr/>
        <p:txBody>
          <a:bodyPr/>
          <a:lstStyle/>
          <a:p>
            <a:fld id="{C47F7BA9-BD23-364F-BA23-B1582B7D9A79}" type="slidenum">
              <a:rPr lang="en-US" smtClean="0"/>
              <a:t>27</a:t>
            </a:fld>
            <a:endParaRPr lang="en-US"/>
          </a:p>
        </p:txBody>
      </p:sp>
    </p:spTree>
    <p:extLst>
      <p:ext uri="{BB962C8B-B14F-4D97-AF65-F5344CB8AC3E}">
        <p14:creationId xmlns:p14="http://schemas.microsoft.com/office/powerpoint/2010/main" val="3330796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Duyệt</a:t>
            </a:r>
            <a:r>
              <a:rPr lang="en-US" baseline="0"/>
              <a:t> </a:t>
            </a:r>
            <a:r>
              <a:rPr lang="en-US" baseline="0" err="1"/>
              <a:t>từ</a:t>
            </a:r>
            <a:r>
              <a:rPr lang="en-US" baseline="0"/>
              <a:t> </a:t>
            </a:r>
            <a:r>
              <a:rPr lang="en-US" baseline="0" err="1"/>
              <a:t>dưới</a:t>
            </a:r>
            <a:r>
              <a:rPr lang="en-US" baseline="0"/>
              <a:t> </a:t>
            </a:r>
            <a:r>
              <a:rPr lang="en-US" baseline="0" err="1"/>
              <a:t>lên</a:t>
            </a:r>
            <a:r>
              <a:rPr lang="en-US" baseline="0"/>
              <a:t> </a:t>
            </a:r>
            <a:r>
              <a:rPr lang="en-US" baseline="0" err="1"/>
              <a:t>trên</a:t>
            </a:r>
            <a:r>
              <a:rPr lang="en-US" baseline="0"/>
              <a:t>, </a:t>
            </a:r>
            <a:endParaRPr lang="en-US"/>
          </a:p>
        </p:txBody>
      </p:sp>
      <p:sp>
        <p:nvSpPr>
          <p:cNvPr id="4" name="Slide Number Placeholder 3"/>
          <p:cNvSpPr>
            <a:spLocks noGrp="1"/>
          </p:cNvSpPr>
          <p:nvPr>
            <p:ph type="sldNum" sz="quarter" idx="10"/>
          </p:nvPr>
        </p:nvSpPr>
        <p:spPr/>
        <p:txBody>
          <a:bodyPr/>
          <a:lstStyle/>
          <a:p>
            <a:fld id="{C47F7BA9-BD23-364F-BA23-B1582B7D9A79}" type="slidenum">
              <a:rPr lang="en-US" smtClean="0"/>
              <a:t>30</a:t>
            </a:fld>
            <a:endParaRPr lang="en-US"/>
          </a:p>
        </p:txBody>
      </p:sp>
    </p:spTree>
    <p:extLst>
      <p:ext uri="{BB962C8B-B14F-4D97-AF65-F5344CB8AC3E}">
        <p14:creationId xmlns:p14="http://schemas.microsoft.com/office/powerpoint/2010/main" val="759737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Thực</a:t>
            </a:r>
            <a:r>
              <a:rPr lang="en-US" baseline="0"/>
              <a:t> </a:t>
            </a:r>
            <a:r>
              <a:rPr lang="en-US" baseline="0" err="1"/>
              <a:t>hiện</a:t>
            </a:r>
            <a:r>
              <a:rPr lang="en-US" baseline="0"/>
              <a:t> </a:t>
            </a:r>
            <a:r>
              <a:rPr lang="en-US" baseline="0" err="1"/>
              <a:t>hai</a:t>
            </a:r>
            <a:r>
              <a:rPr lang="en-US" baseline="0"/>
              <a:t> </a:t>
            </a:r>
            <a:r>
              <a:rPr lang="en-US" baseline="0" err="1"/>
              <a:t>phép</a:t>
            </a:r>
            <a:r>
              <a:rPr lang="en-US" baseline="0"/>
              <a:t> </a:t>
            </a:r>
            <a:r>
              <a:rPr lang="en-US" baseline="0" err="1"/>
              <a:t>tìm</a:t>
            </a:r>
            <a:r>
              <a:rPr lang="en-US" baseline="0"/>
              <a:t> </a:t>
            </a:r>
            <a:r>
              <a:rPr lang="en-US" baseline="0" err="1"/>
              <a:t>kiếm</a:t>
            </a:r>
            <a:r>
              <a:rPr lang="en-US" baseline="0"/>
              <a:t> </a:t>
            </a:r>
            <a:r>
              <a:rPr lang="en-US" baseline="0" err="1"/>
              <a:t>ngược</a:t>
            </a:r>
            <a:r>
              <a:rPr lang="en-US" baseline="0"/>
              <a:t> </a:t>
            </a:r>
            <a:r>
              <a:rPr lang="en-US" baseline="0" err="1"/>
              <a:t>chiều</a:t>
            </a:r>
            <a:r>
              <a:rPr lang="en-US" baseline="0"/>
              <a:t> </a:t>
            </a:r>
            <a:r>
              <a:rPr lang="en-US" baseline="0" err="1"/>
              <a:t>nhau</a:t>
            </a:r>
            <a:r>
              <a:rPr lang="en-US" baseline="0"/>
              <a:t>, </a:t>
            </a:r>
            <a:r>
              <a:rPr lang="en-US" baseline="0" err="1"/>
              <a:t>một</a:t>
            </a:r>
            <a:r>
              <a:rPr lang="en-US" baseline="0"/>
              <a:t> </a:t>
            </a:r>
            <a:r>
              <a:rPr lang="en-US" baseline="0" err="1"/>
              <a:t>phép</a:t>
            </a:r>
            <a:r>
              <a:rPr lang="en-US" baseline="0"/>
              <a:t> </a:t>
            </a:r>
            <a:r>
              <a:rPr lang="en-US" baseline="0" err="1"/>
              <a:t>tìm</a:t>
            </a:r>
            <a:r>
              <a:rPr lang="en-US" baseline="0"/>
              <a:t> </a:t>
            </a:r>
            <a:r>
              <a:rPr lang="en-US" baseline="0" err="1"/>
              <a:t>kiếm</a:t>
            </a:r>
            <a:r>
              <a:rPr lang="en-US" baseline="0"/>
              <a:t> </a:t>
            </a:r>
            <a:r>
              <a:rPr lang="en-US" baseline="0" err="1"/>
              <a:t>bắt</a:t>
            </a:r>
            <a:r>
              <a:rPr lang="en-US" baseline="0"/>
              <a:t> </a:t>
            </a:r>
            <a:r>
              <a:rPr lang="en-US" baseline="0" err="1"/>
              <a:t>đầu</a:t>
            </a:r>
            <a:r>
              <a:rPr lang="en-US" baseline="0"/>
              <a:t> </a:t>
            </a:r>
            <a:r>
              <a:rPr lang="en-US" baseline="0" err="1"/>
              <a:t>từ</a:t>
            </a:r>
            <a:r>
              <a:rPr lang="en-US" baseline="0"/>
              <a:t> </a:t>
            </a:r>
            <a:r>
              <a:rPr lang="en-US" baseline="0" err="1"/>
              <a:t>phần</a:t>
            </a:r>
            <a:r>
              <a:rPr lang="en-US" baseline="0"/>
              <a:t> </a:t>
            </a:r>
            <a:r>
              <a:rPr lang="en-US" baseline="0" err="1"/>
              <a:t>tử</a:t>
            </a:r>
            <a:r>
              <a:rPr lang="en-US" baseline="0"/>
              <a:t> </a:t>
            </a:r>
            <a:r>
              <a:rPr lang="en-US" baseline="0" err="1"/>
              <a:t>thứ</a:t>
            </a:r>
            <a:r>
              <a:rPr lang="en-US" baseline="0"/>
              <a:t> 2 </a:t>
            </a:r>
            <a:r>
              <a:rPr lang="en-US" baseline="0" err="1"/>
              <a:t>bên</a:t>
            </a:r>
            <a:r>
              <a:rPr lang="en-US" baseline="0"/>
              <a:t> </a:t>
            </a:r>
            <a:r>
              <a:rPr lang="en-US" baseline="0" err="1"/>
              <a:t>trái</a:t>
            </a:r>
            <a:r>
              <a:rPr lang="en-US" baseline="0"/>
              <a:t> (</a:t>
            </a:r>
            <a:r>
              <a:rPr lang="en-US" baseline="0" err="1"/>
              <a:t>vì</a:t>
            </a:r>
            <a:r>
              <a:rPr lang="en-US" baseline="0"/>
              <a:t> </a:t>
            </a:r>
            <a:r>
              <a:rPr lang="en-US" baseline="0" err="1"/>
              <a:t>phần</a:t>
            </a:r>
            <a:r>
              <a:rPr lang="en-US" baseline="0"/>
              <a:t> </a:t>
            </a:r>
            <a:r>
              <a:rPr lang="en-US" baseline="0" err="1"/>
              <a:t>tử</a:t>
            </a:r>
            <a:r>
              <a:rPr lang="en-US" baseline="0"/>
              <a:t> </a:t>
            </a:r>
            <a:r>
              <a:rPr lang="en-US" baseline="0" err="1"/>
              <a:t>thứ</a:t>
            </a:r>
            <a:r>
              <a:rPr lang="en-US" baseline="0"/>
              <a:t> </a:t>
            </a:r>
            <a:r>
              <a:rPr lang="en-US" baseline="0" err="1"/>
              <a:t>nhất</a:t>
            </a:r>
            <a:r>
              <a:rPr lang="en-US" baseline="0"/>
              <a:t> </a:t>
            </a:r>
            <a:r>
              <a:rPr lang="en-US" baseline="0" err="1"/>
              <a:t>đã</a:t>
            </a:r>
            <a:r>
              <a:rPr lang="en-US" baseline="0"/>
              <a:t> </a:t>
            </a:r>
            <a:r>
              <a:rPr lang="en-US" baseline="0" err="1"/>
              <a:t>chọn</a:t>
            </a:r>
            <a:r>
              <a:rPr lang="en-US" baseline="0"/>
              <a:t> </a:t>
            </a:r>
            <a:r>
              <a:rPr lang="en-US" baseline="0" err="1"/>
              <a:t>làm</a:t>
            </a:r>
            <a:r>
              <a:rPr lang="en-US" baseline="0"/>
              <a:t> </a:t>
            </a:r>
            <a:r>
              <a:rPr lang="en-US" baseline="0" err="1"/>
              <a:t>chốt</a:t>
            </a:r>
            <a:r>
              <a:rPr lang="en-US" baseline="0"/>
              <a:t>), </a:t>
            </a:r>
            <a:r>
              <a:rPr lang="en-US" baseline="0" err="1"/>
              <a:t>ghi</a:t>
            </a:r>
            <a:r>
              <a:rPr lang="en-US" baseline="0"/>
              <a:t> </a:t>
            </a:r>
            <a:r>
              <a:rPr lang="en-US" baseline="0" err="1"/>
              <a:t>nhận</a:t>
            </a:r>
            <a:r>
              <a:rPr lang="en-US" baseline="0"/>
              <a:t> </a:t>
            </a:r>
            <a:r>
              <a:rPr lang="en-US" baseline="0" err="1"/>
              <a:t>bởi</a:t>
            </a:r>
            <a:r>
              <a:rPr lang="en-US" baseline="0"/>
              <a:t> </a:t>
            </a:r>
            <a:r>
              <a:rPr lang="en-US" baseline="0" err="1"/>
              <a:t>biến</a:t>
            </a:r>
            <a:r>
              <a:rPr lang="en-US" baseline="0"/>
              <a:t> </a:t>
            </a:r>
            <a:r>
              <a:rPr lang="en-US" baseline="0" err="1"/>
              <a:t>chỉ</a:t>
            </a:r>
            <a:r>
              <a:rPr lang="en-US" baseline="0"/>
              <a:t> </a:t>
            </a:r>
            <a:r>
              <a:rPr lang="en-US" baseline="0" err="1"/>
              <a:t>số</a:t>
            </a:r>
            <a:r>
              <a:rPr lang="en-US" baseline="0"/>
              <a:t> </a:t>
            </a:r>
            <a:r>
              <a:rPr lang="en-US" baseline="0" err="1"/>
              <a:t>i</a:t>
            </a:r>
            <a:r>
              <a:rPr lang="en-US" baseline="0"/>
              <a:t>. </a:t>
            </a:r>
            <a:r>
              <a:rPr lang="en-US" baseline="0" err="1"/>
              <a:t>Phép</a:t>
            </a:r>
            <a:r>
              <a:rPr lang="en-US" baseline="0"/>
              <a:t> </a:t>
            </a:r>
            <a:r>
              <a:rPr lang="en-US" baseline="0" err="1"/>
              <a:t>tìm</a:t>
            </a:r>
            <a:r>
              <a:rPr lang="en-US" baseline="0"/>
              <a:t> </a:t>
            </a:r>
            <a:r>
              <a:rPr lang="en-US" baseline="0" err="1"/>
              <a:t>kiếm</a:t>
            </a:r>
            <a:r>
              <a:rPr lang="en-US" baseline="0"/>
              <a:t> </a:t>
            </a:r>
            <a:r>
              <a:rPr lang="en-US" baseline="0" err="1"/>
              <a:t>ngược</a:t>
            </a:r>
            <a:r>
              <a:rPr lang="en-US" baseline="0"/>
              <a:t> </a:t>
            </a:r>
            <a:r>
              <a:rPr lang="en-US" baseline="0" err="1"/>
              <a:t>lại</a:t>
            </a:r>
            <a:r>
              <a:rPr lang="en-US" baseline="0"/>
              <a:t> </a:t>
            </a:r>
            <a:r>
              <a:rPr lang="en-US" baseline="0" err="1"/>
              <a:t>bắt</a:t>
            </a:r>
            <a:r>
              <a:rPr lang="en-US" baseline="0"/>
              <a:t> </a:t>
            </a:r>
            <a:r>
              <a:rPr lang="en-US" baseline="0" err="1"/>
              <a:t>đầu</a:t>
            </a:r>
            <a:r>
              <a:rPr lang="en-US" baseline="0"/>
              <a:t> </a:t>
            </a:r>
            <a:r>
              <a:rPr lang="en-US" baseline="0" err="1"/>
              <a:t>từ</a:t>
            </a:r>
            <a:r>
              <a:rPr lang="en-US" baseline="0"/>
              <a:t> </a:t>
            </a:r>
            <a:r>
              <a:rPr lang="en-US" baseline="0" err="1"/>
              <a:t>phần</a:t>
            </a:r>
            <a:r>
              <a:rPr lang="en-US" baseline="0"/>
              <a:t> </a:t>
            </a:r>
            <a:r>
              <a:rPr lang="en-US" baseline="0" err="1"/>
              <a:t>tử</a:t>
            </a:r>
            <a:r>
              <a:rPr lang="en-US" baseline="0"/>
              <a:t> </a:t>
            </a:r>
            <a:r>
              <a:rPr lang="en-US" baseline="0" err="1"/>
              <a:t>ngoài</a:t>
            </a:r>
            <a:r>
              <a:rPr lang="en-US" baseline="0"/>
              <a:t> </a:t>
            </a:r>
            <a:r>
              <a:rPr lang="en-US" baseline="0" err="1"/>
              <a:t>cùng</a:t>
            </a:r>
            <a:r>
              <a:rPr lang="en-US" baseline="0"/>
              <a:t> </a:t>
            </a:r>
            <a:r>
              <a:rPr lang="en-US" baseline="0" err="1"/>
              <a:t>bên</a:t>
            </a:r>
            <a:r>
              <a:rPr lang="en-US" baseline="0"/>
              <a:t> </a:t>
            </a:r>
            <a:r>
              <a:rPr lang="en-US" baseline="0" err="1"/>
              <a:t>phải</a:t>
            </a:r>
            <a:r>
              <a:rPr lang="en-US" baseline="0"/>
              <a:t> </a:t>
            </a:r>
            <a:r>
              <a:rPr lang="en-US" baseline="0" err="1"/>
              <a:t>ghi</a:t>
            </a:r>
            <a:r>
              <a:rPr lang="en-US" baseline="0"/>
              <a:t> </a:t>
            </a:r>
            <a:r>
              <a:rPr lang="en-US" baseline="0" err="1"/>
              <a:t>nhận</a:t>
            </a:r>
            <a:r>
              <a:rPr lang="en-US" baseline="0"/>
              <a:t> </a:t>
            </a:r>
            <a:r>
              <a:rPr lang="en-US" baseline="0" err="1"/>
              <a:t>bởi</a:t>
            </a:r>
            <a:r>
              <a:rPr lang="en-US" baseline="0"/>
              <a:t> </a:t>
            </a:r>
            <a:r>
              <a:rPr lang="en-US" baseline="0" err="1"/>
              <a:t>biến</a:t>
            </a:r>
            <a:r>
              <a:rPr lang="en-US" baseline="0"/>
              <a:t> j. </a:t>
            </a:r>
            <a:r>
              <a:rPr lang="en-US" baseline="0" err="1"/>
              <a:t>Chọn</a:t>
            </a:r>
            <a:r>
              <a:rPr lang="en-US" baseline="0"/>
              <a:t> </a:t>
            </a:r>
            <a:r>
              <a:rPr lang="en-US" baseline="0" err="1"/>
              <a:t>chốt</a:t>
            </a:r>
            <a:r>
              <a:rPr lang="en-US" baseline="0"/>
              <a:t> pivot = A[k], </a:t>
            </a:r>
            <a:r>
              <a:rPr lang="en-US" baseline="0" err="1"/>
              <a:t>thường</a:t>
            </a:r>
            <a:r>
              <a:rPr lang="en-US" baseline="0"/>
              <a:t> </a:t>
            </a:r>
            <a:r>
              <a:rPr lang="en-US" baseline="0" err="1"/>
              <a:t>chọn</a:t>
            </a:r>
            <a:r>
              <a:rPr lang="en-US" baseline="0"/>
              <a:t> k = 1. </a:t>
            </a:r>
          </a:p>
          <a:p>
            <a:endParaRPr lang="en-US" baseline="0"/>
          </a:p>
          <a:p>
            <a:r>
              <a:rPr lang="en-US" baseline="0" err="1"/>
              <a:t>i</a:t>
            </a:r>
            <a:r>
              <a:rPr lang="en-US" baseline="0"/>
              <a:t> = 4, j = 12 </a:t>
            </a:r>
            <a:r>
              <a:rPr lang="en-US" baseline="0" err="1"/>
              <a:t>ứng</a:t>
            </a:r>
            <a:r>
              <a:rPr lang="en-US" baseline="0"/>
              <a:t> </a:t>
            </a:r>
            <a:r>
              <a:rPr lang="en-US" baseline="0" err="1"/>
              <a:t>với</a:t>
            </a:r>
            <a:r>
              <a:rPr lang="en-US" baseline="0"/>
              <a:t> </a:t>
            </a:r>
            <a:r>
              <a:rPr lang="en-US" baseline="0" err="1"/>
              <a:t>phần</a:t>
            </a:r>
            <a:r>
              <a:rPr lang="en-US" baseline="0"/>
              <a:t> </a:t>
            </a:r>
            <a:r>
              <a:rPr lang="en-US" baseline="0" err="1"/>
              <a:t>tử</a:t>
            </a:r>
            <a:r>
              <a:rPr lang="en-US" baseline="0"/>
              <a:t> </a:t>
            </a:r>
            <a:r>
              <a:rPr lang="en-US" baseline="0" err="1"/>
              <a:t>là</a:t>
            </a:r>
            <a:r>
              <a:rPr lang="en-US" baseline="0"/>
              <a:t> 84 </a:t>
            </a:r>
            <a:r>
              <a:rPr lang="en-US" baseline="0" err="1"/>
              <a:t>và</a:t>
            </a:r>
            <a:r>
              <a:rPr lang="en-US" baseline="0"/>
              <a:t> 68 -&gt; </a:t>
            </a:r>
            <a:r>
              <a:rPr lang="en-US" baseline="0" err="1"/>
              <a:t>đổi</a:t>
            </a:r>
            <a:r>
              <a:rPr lang="en-US" baseline="0"/>
              <a:t> </a:t>
            </a:r>
            <a:r>
              <a:rPr lang="en-US" baseline="0" err="1"/>
              <a:t>chỗ</a:t>
            </a:r>
            <a:r>
              <a:rPr lang="en-US" baseline="0"/>
              <a:t>. </a:t>
            </a:r>
            <a:r>
              <a:rPr lang="en-US" baseline="0" err="1"/>
              <a:t>Điều</a:t>
            </a:r>
            <a:r>
              <a:rPr lang="en-US" baseline="0"/>
              <a:t> </a:t>
            </a:r>
            <a:r>
              <a:rPr lang="en-US" baseline="0" err="1"/>
              <a:t>kiện</a:t>
            </a:r>
            <a:r>
              <a:rPr lang="en-US" baseline="0"/>
              <a:t> </a:t>
            </a:r>
            <a:r>
              <a:rPr lang="en-US" baseline="0" err="1"/>
              <a:t>đổi</a:t>
            </a:r>
            <a:r>
              <a:rPr lang="en-US" baseline="0"/>
              <a:t> </a:t>
            </a:r>
            <a:r>
              <a:rPr lang="en-US" baseline="0" err="1"/>
              <a:t>chỗ</a:t>
            </a:r>
            <a:r>
              <a:rPr lang="en-US" baseline="0"/>
              <a:t> </a:t>
            </a:r>
            <a:r>
              <a:rPr lang="en-US" baseline="0" err="1"/>
              <a:t>là</a:t>
            </a:r>
            <a:r>
              <a:rPr lang="en-US" baseline="0"/>
              <a:t> </a:t>
            </a:r>
            <a:r>
              <a:rPr lang="en-US" baseline="0" err="1"/>
              <a:t>i</a:t>
            </a:r>
            <a:r>
              <a:rPr lang="en-US" baseline="0"/>
              <a:t>&lt;j </a:t>
            </a:r>
            <a:r>
              <a:rPr lang="en-US" baseline="0" err="1"/>
              <a:t>và</a:t>
            </a:r>
            <a:r>
              <a:rPr lang="en-US" baseline="0"/>
              <a:t> A[</a:t>
            </a:r>
            <a:r>
              <a:rPr lang="en-US" baseline="0" err="1"/>
              <a:t>i</a:t>
            </a:r>
            <a:r>
              <a:rPr lang="en-US" baseline="0"/>
              <a:t>] &gt; </a:t>
            </a:r>
            <a:r>
              <a:rPr lang="en-US" baseline="0" err="1"/>
              <a:t>chốt</a:t>
            </a:r>
            <a:r>
              <a:rPr lang="en-US" baseline="0"/>
              <a:t> &gt; A[j] . </a:t>
            </a:r>
            <a:r>
              <a:rPr lang="en-US" baseline="0" err="1"/>
              <a:t>Nếu</a:t>
            </a:r>
            <a:r>
              <a:rPr lang="en-US" baseline="0"/>
              <a:t> </a:t>
            </a:r>
            <a:r>
              <a:rPr lang="en-US" baseline="0" err="1"/>
              <a:t>i</a:t>
            </a:r>
            <a:r>
              <a:rPr lang="en-US" baseline="0"/>
              <a:t>&gt;j  </a:t>
            </a:r>
            <a:r>
              <a:rPr lang="en-US" baseline="0" err="1"/>
              <a:t>đổi</a:t>
            </a:r>
            <a:r>
              <a:rPr lang="en-US" baseline="0"/>
              <a:t> </a:t>
            </a:r>
            <a:r>
              <a:rPr lang="en-US" baseline="0" err="1"/>
              <a:t>chỗ</a:t>
            </a:r>
            <a:r>
              <a:rPr lang="en-US" baseline="0"/>
              <a:t> A[k] </a:t>
            </a:r>
            <a:r>
              <a:rPr lang="en-US" baseline="0" err="1"/>
              <a:t>cho</a:t>
            </a:r>
            <a:r>
              <a:rPr lang="en-US" baseline="0"/>
              <a:t> A[j] </a:t>
            </a:r>
            <a:r>
              <a:rPr lang="en-US" baseline="0" err="1"/>
              <a:t>gán</a:t>
            </a:r>
            <a:r>
              <a:rPr lang="en-US" baseline="0"/>
              <a:t> k = j.</a:t>
            </a:r>
          </a:p>
        </p:txBody>
      </p:sp>
      <p:sp>
        <p:nvSpPr>
          <p:cNvPr id="4" name="Slide Number Placeholder 3"/>
          <p:cNvSpPr>
            <a:spLocks noGrp="1"/>
          </p:cNvSpPr>
          <p:nvPr>
            <p:ph type="sldNum" sz="quarter" idx="10"/>
          </p:nvPr>
        </p:nvSpPr>
        <p:spPr/>
        <p:txBody>
          <a:bodyPr/>
          <a:lstStyle/>
          <a:p>
            <a:fld id="{C47F7BA9-BD23-364F-BA23-B1582B7D9A79}" type="slidenum">
              <a:rPr lang="en-US" smtClean="0"/>
              <a:t>39</a:t>
            </a:fld>
            <a:endParaRPr lang="en-US"/>
          </a:p>
        </p:txBody>
      </p:sp>
    </p:spTree>
    <p:extLst>
      <p:ext uri="{BB962C8B-B14F-4D97-AF65-F5344CB8AC3E}">
        <p14:creationId xmlns:p14="http://schemas.microsoft.com/office/powerpoint/2010/main" val="3632740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T(n) = 2T(n/2) + nC2  </a:t>
            </a:r>
            <a:r>
              <a:rPr lang="en-US" err="1"/>
              <a:t>nếu</a:t>
            </a:r>
            <a:r>
              <a:rPr lang="en-US" baseline="0"/>
              <a:t> n &gt;1.  do </a:t>
            </a:r>
            <a:r>
              <a:rPr lang="en-US" baseline="0" err="1"/>
              <a:t>đó</a:t>
            </a:r>
            <a:r>
              <a:rPr lang="en-US" baseline="0"/>
              <a:t> T(n) = </a:t>
            </a:r>
            <a:r>
              <a:rPr lang="en-US" baseline="0" err="1"/>
              <a:t>nlog</a:t>
            </a:r>
            <a:r>
              <a:rPr lang="en-US" baseline="0"/>
              <a:t>(n)</a:t>
            </a:r>
            <a:endParaRPr lang="en-US"/>
          </a:p>
        </p:txBody>
      </p:sp>
      <p:sp>
        <p:nvSpPr>
          <p:cNvPr id="4" name="Slide Number Placeholder 3"/>
          <p:cNvSpPr>
            <a:spLocks noGrp="1"/>
          </p:cNvSpPr>
          <p:nvPr>
            <p:ph type="sldNum" sz="quarter" idx="10"/>
          </p:nvPr>
        </p:nvSpPr>
        <p:spPr/>
        <p:txBody>
          <a:bodyPr/>
          <a:lstStyle/>
          <a:p>
            <a:fld id="{C47F7BA9-BD23-364F-BA23-B1582B7D9A79}" type="slidenum">
              <a:rPr lang="en-US" smtClean="0"/>
              <a:t>40</a:t>
            </a:fld>
            <a:endParaRPr lang="en-US"/>
          </a:p>
        </p:txBody>
      </p:sp>
    </p:spTree>
    <p:extLst>
      <p:ext uri="{BB962C8B-B14F-4D97-AF65-F5344CB8AC3E}">
        <p14:creationId xmlns:p14="http://schemas.microsoft.com/office/powerpoint/2010/main" val="84773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Nếu</a:t>
            </a:r>
            <a:r>
              <a:rPr lang="en-US" baseline="0"/>
              <a:t> X = A[m] </a:t>
            </a:r>
            <a:r>
              <a:rPr lang="en-US" baseline="0" err="1"/>
              <a:t>thì</a:t>
            </a:r>
            <a:r>
              <a:rPr lang="en-US" baseline="0"/>
              <a:t> T(n) = O(1)</a:t>
            </a:r>
          </a:p>
          <a:p>
            <a:endParaRPr lang="en-US" baseline="0"/>
          </a:p>
          <a:p>
            <a:r>
              <a:rPr lang="en-US" baseline="0" err="1"/>
              <a:t>Nếu</a:t>
            </a:r>
            <a:r>
              <a:rPr lang="en-US" baseline="0"/>
              <a:t> X &lt; </a:t>
            </a:r>
            <a:r>
              <a:rPr lang="en-US" baseline="0" err="1"/>
              <a:t>hoặc</a:t>
            </a:r>
            <a:r>
              <a:rPr lang="en-US" baseline="0"/>
              <a:t> &gt; A[m] </a:t>
            </a:r>
            <a:r>
              <a:rPr lang="en-US" baseline="0" err="1"/>
              <a:t>thì</a:t>
            </a:r>
            <a:r>
              <a:rPr lang="en-US" baseline="0"/>
              <a:t> </a:t>
            </a:r>
            <a:r>
              <a:rPr lang="en-US" baseline="0" err="1"/>
              <a:t>sao</a:t>
            </a:r>
            <a:r>
              <a:rPr lang="en-US" baseline="0"/>
              <a:t> </a:t>
            </a:r>
            <a:r>
              <a:rPr lang="en-US" baseline="0" err="1"/>
              <a:t>mõi</a:t>
            </a:r>
            <a:r>
              <a:rPr lang="en-US" baseline="0"/>
              <a:t> </a:t>
            </a:r>
            <a:r>
              <a:rPr lang="en-US" baseline="0" err="1"/>
              <a:t>phép</a:t>
            </a:r>
            <a:r>
              <a:rPr lang="en-US" baseline="0"/>
              <a:t> so </a:t>
            </a:r>
            <a:r>
              <a:rPr lang="en-US" baseline="0" err="1"/>
              <a:t>sánh</a:t>
            </a:r>
            <a:r>
              <a:rPr lang="en-US" baseline="0"/>
              <a:t> </a:t>
            </a:r>
            <a:r>
              <a:rPr lang="en-US" baseline="0" err="1"/>
              <a:t>số</a:t>
            </a:r>
            <a:r>
              <a:rPr lang="en-US" baseline="0"/>
              <a:t> </a:t>
            </a:r>
            <a:r>
              <a:rPr lang="en-US" baseline="0" err="1"/>
              <a:t>lần</a:t>
            </a:r>
            <a:r>
              <a:rPr lang="en-US" baseline="0"/>
              <a:t> </a:t>
            </a:r>
            <a:r>
              <a:rPr lang="en-US" baseline="0" err="1"/>
              <a:t>tìm</a:t>
            </a:r>
            <a:r>
              <a:rPr lang="en-US" baseline="0"/>
              <a:t> </a:t>
            </a:r>
            <a:r>
              <a:rPr lang="en-US" baseline="0" err="1"/>
              <a:t>kiếm</a:t>
            </a:r>
            <a:r>
              <a:rPr lang="en-US" baseline="0"/>
              <a:t> </a:t>
            </a:r>
            <a:r>
              <a:rPr lang="en-US" baseline="0" err="1"/>
              <a:t>giảm</a:t>
            </a:r>
            <a:r>
              <a:rPr lang="en-US" baseline="0"/>
              <a:t> </a:t>
            </a:r>
            <a:r>
              <a:rPr lang="en-US" baseline="0" err="1"/>
              <a:t>đi</a:t>
            </a:r>
            <a:r>
              <a:rPr lang="en-US" baseline="0"/>
              <a:t> </a:t>
            </a:r>
            <a:r>
              <a:rPr lang="en-US" baseline="0" err="1"/>
              <a:t>một</a:t>
            </a:r>
            <a:r>
              <a:rPr lang="en-US" baseline="0"/>
              <a:t> </a:t>
            </a:r>
            <a:r>
              <a:rPr lang="en-US" baseline="0" err="1"/>
              <a:t>nửa</a:t>
            </a:r>
            <a:r>
              <a:rPr lang="en-US" baseline="0"/>
              <a:t>. </a:t>
            </a:r>
            <a:endParaRPr lang="en-US"/>
          </a:p>
        </p:txBody>
      </p:sp>
      <p:sp>
        <p:nvSpPr>
          <p:cNvPr id="4" name="Slide Number Placeholder 3"/>
          <p:cNvSpPr>
            <a:spLocks noGrp="1"/>
          </p:cNvSpPr>
          <p:nvPr>
            <p:ph type="sldNum" sz="quarter" idx="10"/>
          </p:nvPr>
        </p:nvSpPr>
        <p:spPr/>
        <p:txBody>
          <a:bodyPr/>
          <a:lstStyle/>
          <a:p>
            <a:fld id="{C47F7BA9-BD23-364F-BA23-B1582B7D9A79}" type="slidenum">
              <a:rPr lang="en-US" smtClean="0"/>
              <a:t>53</a:t>
            </a:fld>
            <a:endParaRPr lang="en-US"/>
          </a:p>
        </p:txBody>
      </p:sp>
    </p:spTree>
    <p:extLst>
      <p:ext uri="{BB962C8B-B14F-4D97-AF65-F5344CB8AC3E}">
        <p14:creationId xmlns:p14="http://schemas.microsoft.com/office/powerpoint/2010/main" val="7177523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Bố trí Tùy chỉnh">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503551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257781427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155187"/>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331314222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93437336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4249450036"/>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Tree>
    <p:extLst>
      <p:ext uri="{BB962C8B-B14F-4D97-AF65-F5344CB8AC3E}">
        <p14:creationId xmlns:p14="http://schemas.microsoft.com/office/powerpoint/2010/main" val="77391056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2301394799"/>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826502484"/>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168485588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Tree>
    <p:extLst>
      <p:ext uri="{BB962C8B-B14F-4D97-AF65-F5344CB8AC3E}">
        <p14:creationId xmlns:p14="http://schemas.microsoft.com/office/powerpoint/2010/main" val="927156252"/>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F08F515-62EF-DE45-9E05-883F1744AD72}" type="datetime1">
              <a:rPr lang="en-US" smtClean="0"/>
              <a:t>11/6/2025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is-IS"/>
              <a:t>Cấu trúc dữ liệu và giải thuật</a:t>
            </a:r>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A7BC09B-FE30-A349-B1D2-5A364F511F98}" type="slidenum">
              <a:rPr lang="en-US" smtClean="0"/>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Tree>
    <p:extLst>
      <p:ext uri="{BB962C8B-B14F-4D97-AF65-F5344CB8AC3E}">
        <p14:creationId xmlns:p14="http://schemas.microsoft.com/office/powerpoint/2010/main" val="212171821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vi-VN"/>
              <a:t>Bấm để sửa kiểu tiêu đề Bản cái</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a:p>
        </p:txBody>
      </p:sp>
      <p:sp>
        <p:nvSpPr>
          <p:cNvPr id="4" name="Date Placeholder 3"/>
          <p:cNvSpPr>
            <a:spLocks noGrp="1"/>
          </p:cNvSpPr>
          <p:nvPr>
            <p:ph type="dt" sz="half" idx="10"/>
          </p:nvPr>
        </p:nvSpPr>
        <p:spPr/>
        <p:txBody>
          <a:bodyPr/>
          <a:lstStyle/>
          <a:p>
            <a:fld id="{1F08F515-62EF-DE45-9E05-883F1744AD72}"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657953670"/>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3338653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vi-VN"/>
              <a:t>Bấm để sửa kiểu tiêu đề Bản cái</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1F08F515-62EF-DE45-9E05-883F1744AD72}"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98346167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a:p>
        </p:txBody>
      </p:sp>
      <p:sp>
        <p:nvSpPr>
          <p:cNvPr id="3" name="Date Placeholder 2"/>
          <p:cNvSpPr>
            <a:spLocks noGrp="1"/>
          </p:cNvSpPr>
          <p:nvPr>
            <p:ph type="dt" sz="half" idx="10"/>
          </p:nvPr>
        </p:nvSpPr>
        <p:spPr/>
        <p:txBody>
          <a:bodyPr/>
          <a:lstStyle/>
          <a:p>
            <a:fld id="{1F08F515-62EF-DE45-9E05-883F1744AD72}" type="datetime1">
              <a:rPr lang="en-US" smtClean="0"/>
              <a:t>11/6/2025</a:t>
            </a:fld>
            <a:endParaRPr lang="en-US"/>
          </a:p>
        </p:txBody>
      </p:sp>
      <p:sp>
        <p:nvSpPr>
          <p:cNvPr id="4" name="Footer Placeholder 3"/>
          <p:cNvSpPr>
            <a:spLocks noGrp="1"/>
          </p:cNvSpPr>
          <p:nvPr>
            <p:ph type="ftr" sz="quarter" idx="11"/>
          </p:nvPr>
        </p:nvSpPr>
        <p:spPr/>
        <p:txBody>
          <a:bodyPr/>
          <a:lstStyle/>
          <a:p>
            <a:r>
              <a:rPr lang="is-IS"/>
              <a:t>Cấu trúc dữ liệu và giải thuật</a:t>
            </a:r>
            <a:endParaRPr lang="en-US"/>
          </a:p>
        </p:txBody>
      </p:sp>
      <p:sp>
        <p:nvSpPr>
          <p:cNvPr id="5" name="Slide Number Placeholder 4"/>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851782376"/>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Date Placeholder 4"/>
          <p:cNvSpPr>
            <a:spLocks noGrp="1"/>
          </p:cNvSpPr>
          <p:nvPr>
            <p:ph type="dt" sz="half" idx="10"/>
          </p:nvPr>
        </p:nvSpPr>
        <p:spPr/>
        <p:txBody>
          <a:bodyPr/>
          <a:lstStyle/>
          <a:p>
            <a:fld id="{1F08F515-62EF-DE45-9E05-883F1744AD72}" type="datetime1">
              <a:rPr lang="en-US" smtClean="0"/>
              <a:t>11/6/2025</a:t>
            </a:fld>
            <a:endParaRPr lang="en-US"/>
          </a:p>
        </p:txBody>
      </p:sp>
      <p:sp>
        <p:nvSpPr>
          <p:cNvPr id="6" name="Footer Placeholder 5"/>
          <p:cNvSpPr>
            <a:spLocks noGrp="1"/>
          </p:cNvSpPr>
          <p:nvPr>
            <p:ph type="ftr" sz="quarter" idx="11"/>
          </p:nvPr>
        </p:nvSpPr>
        <p:spPr/>
        <p:txBody>
          <a:bodyPr/>
          <a:lstStyle/>
          <a:p>
            <a:r>
              <a:rPr lang="is-IS"/>
              <a:t>Cấu trúc dữ liệu và giải thuật</a:t>
            </a:r>
            <a:endParaRPr lang="en-US"/>
          </a:p>
        </p:txBody>
      </p:sp>
      <p:sp>
        <p:nvSpPr>
          <p:cNvPr id="7" name="Slide Number Placeholder 6"/>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1792317750"/>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8F515-62EF-DE45-9E05-883F1744AD72}" type="datetime1">
              <a:rPr lang="en-US" smtClean="0"/>
              <a:t>11/6/2025</a:t>
            </a:fld>
            <a:endParaRPr lang="en-US"/>
          </a:p>
        </p:txBody>
      </p:sp>
      <p:sp>
        <p:nvSpPr>
          <p:cNvPr id="3" name="Footer Placeholder 2"/>
          <p:cNvSpPr>
            <a:spLocks noGrp="1"/>
          </p:cNvSpPr>
          <p:nvPr>
            <p:ph type="ftr" sz="quarter" idx="11"/>
          </p:nvPr>
        </p:nvSpPr>
        <p:spPr/>
        <p:txBody>
          <a:bodyPr/>
          <a:lstStyle/>
          <a:p>
            <a:r>
              <a:rPr lang="is-IS"/>
              <a:t>Cấu trúc dữ liệu và giải thuật</a:t>
            </a:r>
            <a:endParaRPr lang="en-US"/>
          </a:p>
        </p:txBody>
      </p:sp>
      <p:sp>
        <p:nvSpPr>
          <p:cNvPr id="4" name="Slide Number Placeholder 3"/>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1727959788"/>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2F7F248-853C-9E42-AF88-3580ABB22B8C}" type="datetime1">
              <a:rPr lang="en-US" smtClean="0"/>
              <a:t>11/6/2025</a:t>
            </a:fld>
            <a:endParaRPr lang="en-US"/>
          </a:p>
        </p:txBody>
      </p:sp>
      <p:sp>
        <p:nvSpPr>
          <p:cNvPr id="8" name="Footer Placeholder 7"/>
          <p:cNvSpPr>
            <a:spLocks noGrp="1"/>
          </p:cNvSpPr>
          <p:nvPr>
            <p:ph type="ftr" sz="quarter" idx="11"/>
          </p:nvPr>
        </p:nvSpPr>
        <p:spPr/>
        <p:txBody>
          <a:bodyPr/>
          <a:lstStyle/>
          <a:p>
            <a:r>
              <a:rPr lang="is-IS"/>
              <a:t>Cấu trúc dữ liệu và giải thuật</a:t>
            </a:r>
            <a:endParaRPr lang="en-US"/>
          </a:p>
        </p:txBody>
      </p:sp>
      <p:sp>
        <p:nvSpPr>
          <p:cNvPr id="9" name="Slide Number Placeholder 8"/>
          <p:cNvSpPr>
            <a:spLocks noGrp="1"/>
          </p:cNvSpPr>
          <p:nvPr>
            <p:ph type="sldNum" sz="quarter" idx="12"/>
          </p:nvPr>
        </p:nvSpPr>
        <p:spPr/>
        <p:txBody>
          <a:bodyPr/>
          <a:lstStyle/>
          <a:p>
            <a:fld id="{BA7BC09B-FE30-A349-B1D2-5A364F511F98}" type="slidenum">
              <a:rPr lang="en-US" smtClean="0"/>
              <a:t>‹#›</a:t>
            </a:fld>
            <a:endParaRPr lang="en-US"/>
          </a:p>
        </p:txBody>
      </p:sp>
    </p:spTree>
    <p:extLst>
      <p:ext uri="{BB962C8B-B14F-4D97-AF65-F5344CB8AC3E}">
        <p14:creationId xmlns:p14="http://schemas.microsoft.com/office/powerpoint/2010/main" val="1141233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8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03611" y="2563714"/>
            <a:ext cx="6851650" cy="1730571"/>
          </a:xfrm>
          <a:prstGeom prst="rect">
            <a:avLst/>
          </a:prstGeom>
        </p:spPr>
        <p:txBody>
          <a:bodyPr/>
          <a:lstStyle/>
          <a:p>
            <a:r>
              <a:rPr lang="en-US" b="1"/>
              <a:t>Chương 2: CẤU TRÚC MẢNG (ARRAYS) </a:t>
            </a:r>
          </a:p>
        </p:txBody>
      </p:sp>
      <p:sp>
        <p:nvSpPr>
          <p:cNvPr id="4" name="Date Placeholder 3"/>
          <p:cNvSpPr>
            <a:spLocks noGrp="1"/>
          </p:cNvSpPr>
          <p:nvPr>
            <p:ph type="dt" sz="half" idx="4294967295"/>
          </p:nvPr>
        </p:nvSpPr>
        <p:spPr>
          <a:xfrm>
            <a:off x="0" y="6565900"/>
            <a:ext cx="2057400" cy="365125"/>
          </a:xfrm>
          <a:prstGeom prst="rect">
            <a:avLst/>
          </a:prstGeom>
        </p:spPr>
        <p:txBody>
          <a:bodyPr/>
          <a:lstStyle/>
          <a:p>
            <a:fld id="{CAA914AB-0A56-C849-A2FF-9AE29B3DB91D}" type="datetime1">
              <a:rPr lang="en-US" smtClean="0"/>
              <a:t>11/6/2025</a:t>
            </a:fld>
            <a:endParaRPr lang="en-US"/>
          </a:p>
        </p:txBody>
      </p:sp>
      <p:sp>
        <p:nvSpPr>
          <p:cNvPr id="5" name="Footer Placeholder 4"/>
          <p:cNvSpPr>
            <a:spLocks noGrp="1"/>
          </p:cNvSpPr>
          <p:nvPr>
            <p:ph type="ftr" sz="quarter" idx="4294967295"/>
          </p:nvPr>
        </p:nvSpPr>
        <p:spPr>
          <a:xfrm>
            <a:off x="0" y="6565900"/>
            <a:ext cx="3086100" cy="365125"/>
          </a:xfrm>
          <a:prstGeom prst="rect">
            <a:avLst/>
          </a:prstGeom>
        </p:spPr>
        <p:txBody>
          <a:bodyPr/>
          <a:lstStyle/>
          <a:p>
            <a:r>
              <a:rPr lang="is-IS"/>
              <a:t>Cấu trúc dữ liệu và giải thuật</a:t>
            </a:r>
            <a:endParaRPr lang="en-US"/>
          </a:p>
        </p:txBody>
      </p:sp>
      <p:sp>
        <p:nvSpPr>
          <p:cNvPr id="6" name="Slide Number Placeholder 5"/>
          <p:cNvSpPr>
            <a:spLocks noGrp="1"/>
          </p:cNvSpPr>
          <p:nvPr>
            <p:ph type="sldNum" sz="quarter" idx="4294967295"/>
          </p:nvPr>
        </p:nvSpPr>
        <p:spPr>
          <a:xfrm>
            <a:off x="7086600" y="6572250"/>
            <a:ext cx="2057400" cy="365125"/>
          </a:xfrm>
          <a:prstGeom prst="rect">
            <a:avLst/>
          </a:prstGeom>
        </p:spPr>
        <p:txBody>
          <a:bodyPr/>
          <a:lstStyle/>
          <a:p>
            <a:fld id="{BA7BC09B-FE30-A349-B1D2-5A364F511F98}" type="slidenum">
              <a:rPr lang="en-US" smtClean="0"/>
              <a:t>1</a:t>
            </a:fld>
            <a:endParaRPr lang="en-US"/>
          </a:p>
        </p:txBody>
      </p:sp>
    </p:spTree>
    <p:extLst>
      <p:ext uri="{BB962C8B-B14F-4D97-AF65-F5344CB8AC3E}">
        <p14:creationId xmlns:p14="http://schemas.microsoft.com/office/powerpoint/2010/main" val="200804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a:t>
            </a:fld>
            <a:endParaRPr lang="en-US"/>
          </a:p>
        </p:txBody>
      </p:sp>
      <p:sp>
        <p:nvSpPr>
          <p:cNvPr id="2" name="Title 1"/>
          <p:cNvSpPr>
            <a:spLocks noGrp="1"/>
          </p:cNvSpPr>
          <p:nvPr>
            <p:ph type="title"/>
          </p:nvPr>
        </p:nvSpPr>
        <p:spPr/>
        <p:txBody>
          <a:bodyPr/>
          <a:lstStyle/>
          <a:p>
            <a:r>
              <a:rPr lang="en-US" err="1"/>
              <a:t>Định</a:t>
            </a:r>
            <a:r>
              <a:rPr lang="en-US"/>
              <a:t> </a:t>
            </a:r>
            <a:r>
              <a:rPr lang="en-US" err="1"/>
              <a:t>nghĩa</a:t>
            </a:r>
            <a:endParaRPr lang="en-US"/>
          </a:p>
        </p:txBody>
      </p:sp>
      <p:sp>
        <p:nvSpPr>
          <p:cNvPr id="3" name="Content Placeholder 2"/>
          <p:cNvSpPr>
            <a:spLocks noGrp="1"/>
          </p:cNvSpPr>
          <p:nvPr>
            <p:ph type="body" sz="quarter" idx="13"/>
          </p:nvPr>
        </p:nvSpPr>
        <p:spPr/>
        <p:txBody>
          <a:bodyPr/>
          <a:lstStyle/>
          <a:p>
            <a:r>
              <a:rPr lang="en-US" err="1"/>
              <a:t>Mảng</a:t>
            </a:r>
            <a:r>
              <a:rPr lang="en-US"/>
              <a:t> </a:t>
            </a:r>
            <a:r>
              <a:rPr lang="en-US" err="1"/>
              <a:t>là</a:t>
            </a:r>
            <a:r>
              <a:rPr lang="en-US"/>
              <a:t> </a:t>
            </a:r>
            <a:r>
              <a:rPr lang="en-US" err="1"/>
              <a:t>tập</a:t>
            </a:r>
            <a:r>
              <a:rPr lang="en-US"/>
              <a:t> </a:t>
            </a:r>
            <a:r>
              <a:rPr lang="en-US" err="1"/>
              <a:t>hợp</a:t>
            </a:r>
            <a:r>
              <a:rPr lang="en-US"/>
              <a:t> </a:t>
            </a:r>
            <a:r>
              <a:rPr lang="en-US" err="1"/>
              <a:t>có</a:t>
            </a:r>
            <a:r>
              <a:rPr lang="en-US"/>
              <a:t> </a:t>
            </a:r>
            <a:r>
              <a:rPr lang="en-US" err="1"/>
              <a:t>thứ</a:t>
            </a:r>
            <a:r>
              <a:rPr lang="en-US"/>
              <a:t> </a:t>
            </a:r>
            <a:r>
              <a:rPr lang="en-US" err="1"/>
              <a:t>tự</a:t>
            </a:r>
            <a:r>
              <a:rPr lang="en-US"/>
              <a:t> </a:t>
            </a:r>
            <a:r>
              <a:rPr lang="en-US" err="1"/>
              <a:t>bao</a:t>
            </a:r>
            <a:r>
              <a:rPr lang="en-US"/>
              <a:t> </a:t>
            </a:r>
            <a:r>
              <a:rPr lang="en-US" err="1"/>
              <a:t>gồm</a:t>
            </a:r>
            <a:r>
              <a:rPr lang="en-US"/>
              <a:t> </a:t>
            </a:r>
            <a:r>
              <a:rPr lang="en-US" err="1"/>
              <a:t>một</a:t>
            </a:r>
            <a:r>
              <a:rPr lang="en-US"/>
              <a:t> </a:t>
            </a:r>
            <a:r>
              <a:rPr lang="en-US" err="1"/>
              <a:t>số</a:t>
            </a:r>
            <a:r>
              <a:rPr lang="en-US"/>
              <a:t> </a:t>
            </a:r>
            <a:r>
              <a:rPr lang="en-US" err="1"/>
              <a:t>xác</a:t>
            </a:r>
            <a:r>
              <a:rPr lang="en-US"/>
              <a:t> </a:t>
            </a:r>
            <a:r>
              <a:rPr lang="en-US" err="1"/>
              <a:t>định</a:t>
            </a:r>
            <a:r>
              <a:rPr lang="en-US"/>
              <a:t> </a:t>
            </a:r>
            <a:r>
              <a:rPr lang="en-US">
                <a:solidFill>
                  <a:srgbClr val="FF0000"/>
                </a:solidFill>
              </a:rPr>
              <a:t>n </a:t>
            </a:r>
            <a:r>
              <a:rPr lang="en-US" err="1"/>
              <a:t>phần</a:t>
            </a:r>
            <a:r>
              <a:rPr lang="en-US"/>
              <a:t> </a:t>
            </a:r>
            <a:r>
              <a:rPr lang="en-US" err="1"/>
              <a:t>tử</a:t>
            </a:r>
            <a:r>
              <a:rPr lang="en-US"/>
              <a:t> </a:t>
            </a:r>
            <a:r>
              <a:rPr lang="en-US" err="1"/>
              <a:t>được</a:t>
            </a:r>
            <a:r>
              <a:rPr lang="en-US"/>
              <a:t> </a:t>
            </a:r>
            <a:r>
              <a:rPr lang="en-US" err="1"/>
              <a:t>gọi</a:t>
            </a:r>
            <a:r>
              <a:rPr lang="en-US"/>
              <a:t> </a:t>
            </a:r>
            <a:r>
              <a:rPr lang="en-US" err="1"/>
              <a:t>là</a:t>
            </a:r>
            <a:r>
              <a:rPr lang="en-US"/>
              <a:t> </a:t>
            </a:r>
            <a:r>
              <a:rPr lang="en-US" err="1">
                <a:solidFill>
                  <a:srgbClr val="FF0000"/>
                </a:solidFill>
              </a:rPr>
              <a:t>độ</a:t>
            </a:r>
            <a:r>
              <a:rPr lang="en-US">
                <a:solidFill>
                  <a:srgbClr val="FF0000"/>
                </a:solidFill>
              </a:rPr>
              <a:t> </a:t>
            </a:r>
            <a:r>
              <a:rPr lang="en-US" err="1">
                <a:solidFill>
                  <a:srgbClr val="FF0000"/>
                </a:solidFill>
              </a:rPr>
              <a:t>dài</a:t>
            </a:r>
            <a:r>
              <a:rPr lang="en-US">
                <a:solidFill>
                  <a:srgbClr val="FF0000"/>
                </a:solidFill>
              </a:rPr>
              <a:t> hay </a:t>
            </a:r>
            <a:r>
              <a:rPr lang="en-US" err="1">
                <a:solidFill>
                  <a:srgbClr val="FF0000"/>
                </a:solidFill>
              </a:rPr>
              <a:t>kích</a:t>
            </a:r>
            <a:r>
              <a:rPr lang="en-US">
                <a:solidFill>
                  <a:srgbClr val="FF0000"/>
                </a:solidFill>
              </a:rPr>
              <a:t> </a:t>
            </a:r>
            <a:r>
              <a:rPr lang="en-US" err="1">
                <a:solidFill>
                  <a:srgbClr val="FF0000"/>
                </a:solidFill>
              </a:rPr>
              <a:t>thước</a:t>
            </a:r>
            <a:r>
              <a:rPr lang="en-US">
                <a:solidFill>
                  <a:srgbClr val="FF0000"/>
                </a:solidFill>
              </a:rPr>
              <a:t> </a:t>
            </a:r>
            <a:r>
              <a:rPr lang="en-US" err="1"/>
              <a:t>của</a:t>
            </a:r>
            <a:r>
              <a:rPr lang="en-US"/>
              <a:t> </a:t>
            </a:r>
            <a:r>
              <a:rPr lang="en-US" err="1"/>
              <a:t>mảng</a:t>
            </a:r>
            <a:r>
              <a:rPr lang="en-US"/>
              <a:t>. </a:t>
            </a:r>
          </a:p>
          <a:p>
            <a:r>
              <a:rPr lang="en-US" err="1"/>
              <a:t>Mỗi</a:t>
            </a:r>
            <a:r>
              <a:rPr lang="en-US"/>
              <a:t> </a:t>
            </a:r>
            <a:r>
              <a:rPr lang="en-US" err="1"/>
              <a:t>phần</a:t>
            </a:r>
            <a:r>
              <a:rPr lang="en-US"/>
              <a:t> </a:t>
            </a:r>
            <a:r>
              <a:rPr lang="en-US" err="1"/>
              <a:t>tử</a:t>
            </a:r>
            <a:r>
              <a:rPr lang="en-US"/>
              <a:t> </a:t>
            </a:r>
            <a:r>
              <a:rPr lang="en-US" err="1"/>
              <a:t>mảng</a:t>
            </a:r>
            <a:r>
              <a:rPr lang="en-US"/>
              <a:t> </a:t>
            </a:r>
            <a:r>
              <a:rPr lang="en-US" err="1"/>
              <a:t>được</a:t>
            </a:r>
            <a:r>
              <a:rPr lang="en-US"/>
              <a:t> </a:t>
            </a:r>
            <a:r>
              <a:rPr lang="en-US" err="1"/>
              <a:t>đặc</a:t>
            </a:r>
            <a:r>
              <a:rPr lang="en-US"/>
              <a:t> </a:t>
            </a:r>
            <a:r>
              <a:rPr lang="en-US" err="1"/>
              <a:t>trưng</a:t>
            </a:r>
            <a:r>
              <a:rPr lang="en-US"/>
              <a:t> </a:t>
            </a:r>
            <a:r>
              <a:rPr lang="en-US" err="1"/>
              <a:t>bởi</a:t>
            </a:r>
            <a:r>
              <a:rPr lang="en-US"/>
              <a:t> </a:t>
            </a:r>
            <a:r>
              <a:rPr lang="en-US" err="1"/>
              <a:t>chỉ</a:t>
            </a:r>
            <a:r>
              <a:rPr lang="en-US"/>
              <a:t> </a:t>
            </a:r>
            <a:r>
              <a:rPr lang="en-US" err="1"/>
              <a:t>số</a:t>
            </a:r>
            <a:r>
              <a:rPr lang="en-US"/>
              <a:t> </a:t>
            </a:r>
            <a:r>
              <a:rPr lang="en-US">
                <a:solidFill>
                  <a:srgbClr val="FF0000"/>
                </a:solidFill>
              </a:rPr>
              <a:t>index</a:t>
            </a:r>
            <a:r>
              <a:rPr lang="en-US"/>
              <a:t> </a:t>
            </a:r>
            <a:r>
              <a:rPr lang="en-US" err="1"/>
              <a:t>thể</a:t>
            </a:r>
            <a:r>
              <a:rPr lang="en-US"/>
              <a:t> </a:t>
            </a:r>
            <a:r>
              <a:rPr lang="en-US" err="1"/>
              <a:t>hiện</a:t>
            </a:r>
            <a:r>
              <a:rPr lang="en-US"/>
              <a:t> </a:t>
            </a:r>
            <a:r>
              <a:rPr lang="en-US" err="1">
                <a:solidFill>
                  <a:srgbClr val="FF0000"/>
                </a:solidFill>
              </a:rPr>
              <a:t>số</a:t>
            </a:r>
            <a:r>
              <a:rPr lang="en-US">
                <a:solidFill>
                  <a:srgbClr val="FF0000"/>
                </a:solidFill>
              </a:rPr>
              <a:t> </a:t>
            </a:r>
            <a:r>
              <a:rPr lang="en-US" err="1">
                <a:solidFill>
                  <a:srgbClr val="FF0000"/>
                </a:solidFill>
              </a:rPr>
              <a:t>thứ</a:t>
            </a:r>
            <a:r>
              <a:rPr lang="en-US">
                <a:solidFill>
                  <a:srgbClr val="FF0000"/>
                </a:solidFill>
              </a:rPr>
              <a:t> </a:t>
            </a:r>
            <a:r>
              <a:rPr lang="en-US" err="1">
                <a:solidFill>
                  <a:srgbClr val="FF0000"/>
                </a:solidFill>
              </a:rPr>
              <a:t>tự</a:t>
            </a:r>
            <a:r>
              <a:rPr lang="en-US">
                <a:solidFill>
                  <a:srgbClr val="FF0000"/>
                </a:solidFill>
              </a:rPr>
              <a:t> </a:t>
            </a:r>
            <a:r>
              <a:rPr lang="en-US" err="1"/>
              <a:t>phần</a:t>
            </a:r>
            <a:r>
              <a:rPr lang="en-US"/>
              <a:t> </a:t>
            </a:r>
            <a:r>
              <a:rPr lang="en-US" err="1"/>
              <a:t>tử</a:t>
            </a:r>
            <a:r>
              <a:rPr lang="en-US"/>
              <a:t> </a:t>
            </a:r>
            <a:r>
              <a:rPr lang="en-US" err="1"/>
              <a:t>đó</a:t>
            </a:r>
            <a:r>
              <a:rPr lang="en-US"/>
              <a:t> </a:t>
            </a:r>
            <a:r>
              <a:rPr lang="en-US" err="1"/>
              <a:t>trong</a:t>
            </a:r>
            <a:r>
              <a:rPr lang="en-US"/>
              <a:t> </a:t>
            </a:r>
            <a:r>
              <a:rPr lang="en-US" err="1"/>
              <a:t>mảng</a:t>
            </a:r>
            <a:r>
              <a:rPr lang="en-US"/>
              <a:t> </a:t>
            </a:r>
          </a:p>
        </p:txBody>
      </p:sp>
    </p:spTree>
    <p:extLst>
      <p:ext uri="{BB962C8B-B14F-4D97-AF65-F5344CB8AC3E}">
        <p14:creationId xmlns:p14="http://schemas.microsoft.com/office/powerpoint/2010/main" val="3249173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a:t>
            </a:fld>
            <a:endParaRPr lang="en-US"/>
          </a:p>
        </p:txBody>
      </p:sp>
      <p:sp>
        <p:nvSpPr>
          <p:cNvPr id="2" name="Title 1"/>
          <p:cNvSpPr>
            <a:spLocks noGrp="1"/>
          </p:cNvSpPr>
          <p:nvPr>
            <p:ph type="title"/>
          </p:nvPr>
        </p:nvSpPr>
        <p:spPr/>
        <p:txBody>
          <a:bodyPr/>
          <a:lstStyle/>
          <a:p>
            <a:r>
              <a:rPr lang="en-US" err="1"/>
              <a:t>Định</a:t>
            </a:r>
            <a:r>
              <a:rPr lang="en-US"/>
              <a:t> </a:t>
            </a:r>
            <a:r>
              <a:rPr lang="en-US" err="1"/>
              <a:t>nghĩa</a:t>
            </a:r>
            <a:endParaRPr lang="en-US"/>
          </a:p>
        </p:txBody>
      </p:sp>
      <p:sp>
        <p:nvSpPr>
          <p:cNvPr id="3" name="Content Placeholder 2"/>
          <p:cNvSpPr>
            <a:spLocks noGrp="1"/>
          </p:cNvSpPr>
          <p:nvPr>
            <p:ph type="body" sz="quarter" idx="13"/>
          </p:nvPr>
        </p:nvSpPr>
        <p:spPr/>
        <p:txBody>
          <a:bodyPr>
            <a:normAutofit/>
          </a:bodyPr>
          <a:lstStyle/>
          <a:p>
            <a:r>
              <a:rPr lang="en-US" err="1"/>
              <a:t>Các</a:t>
            </a:r>
            <a:r>
              <a:rPr lang="en-US"/>
              <a:t> </a:t>
            </a:r>
            <a:r>
              <a:rPr lang="en-US" err="1"/>
              <a:t>thao</a:t>
            </a:r>
            <a:r>
              <a:rPr lang="en-US"/>
              <a:t> </a:t>
            </a:r>
            <a:r>
              <a:rPr lang="en-US" err="1"/>
              <a:t>tác</a:t>
            </a:r>
            <a:r>
              <a:rPr lang="en-US"/>
              <a:t> </a:t>
            </a:r>
            <a:r>
              <a:rPr lang="en-US" err="1"/>
              <a:t>với</a:t>
            </a:r>
            <a:r>
              <a:rPr lang="en-US"/>
              <a:t> </a:t>
            </a:r>
            <a:r>
              <a:rPr lang="en-US" err="1"/>
              <a:t>mảng</a:t>
            </a:r>
            <a:endParaRPr lang="en-US"/>
          </a:p>
          <a:p>
            <a:pPr lvl="1"/>
            <a:r>
              <a:rPr lang="en-US" err="1"/>
              <a:t>Tạo</a:t>
            </a:r>
            <a:r>
              <a:rPr lang="en-US"/>
              <a:t> </a:t>
            </a:r>
            <a:r>
              <a:rPr lang="en-US" err="1"/>
              <a:t>lập</a:t>
            </a:r>
            <a:r>
              <a:rPr lang="en-US"/>
              <a:t> </a:t>
            </a:r>
            <a:r>
              <a:rPr lang="en-US" err="1"/>
              <a:t>một</a:t>
            </a:r>
            <a:r>
              <a:rPr lang="en-US"/>
              <a:t> </a:t>
            </a:r>
            <a:r>
              <a:rPr lang="en-US" err="1"/>
              <a:t>mảng</a:t>
            </a:r>
            <a:endParaRPr lang="en-US"/>
          </a:p>
          <a:p>
            <a:pPr lvl="1"/>
            <a:r>
              <a:rPr lang="en-US" err="1"/>
              <a:t>Duyện</a:t>
            </a:r>
            <a:r>
              <a:rPr lang="en-US"/>
              <a:t> </a:t>
            </a:r>
            <a:r>
              <a:rPr lang="en-US" err="1"/>
              <a:t>các</a:t>
            </a:r>
            <a:r>
              <a:rPr lang="en-US"/>
              <a:t> </a:t>
            </a:r>
            <a:r>
              <a:rPr lang="en-US" err="1"/>
              <a:t>phần</a:t>
            </a:r>
            <a:r>
              <a:rPr lang="en-US"/>
              <a:t> </a:t>
            </a:r>
            <a:r>
              <a:rPr lang="en-US" err="1"/>
              <a:t>tử</a:t>
            </a:r>
            <a:r>
              <a:rPr lang="en-US"/>
              <a:t> </a:t>
            </a:r>
            <a:r>
              <a:rPr lang="en-US" err="1"/>
              <a:t>của</a:t>
            </a:r>
            <a:r>
              <a:rPr lang="en-US"/>
              <a:t> </a:t>
            </a:r>
            <a:r>
              <a:rPr lang="en-US" err="1"/>
              <a:t>mảng</a:t>
            </a:r>
            <a:endParaRPr lang="en-US"/>
          </a:p>
          <a:p>
            <a:pPr lvl="1"/>
            <a:r>
              <a:rPr lang="en-US" err="1"/>
              <a:t>Tìm</a:t>
            </a:r>
            <a:r>
              <a:rPr lang="en-US"/>
              <a:t> </a:t>
            </a:r>
            <a:r>
              <a:rPr lang="en-US" err="1"/>
              <a:t>kiếm</a:t>
            </a:r>
            <a:r>
              <a:rPr lang="en-US"/>
              <a:t> </a:t>
            </a:r>
            <a:r>
              <a:rPr lang="en-US" err="1"/>
              <a:t>một</a:t>
            </a:r>
            <a:r>
              <a:rPr lang="en-US"/>
              <a:t> </a:t>
            </a:r>
            <a:r>
              <a:rPr lang="en-US" err="1"/>
              <a:t>phần</a:t>
            </a:r>
            <a:r>
              <a:rPr lang="en-US"/>
              <a:t> </a:t>
            </a:r>
            <a:r>
              <a:rPr lang="en-US" err="1"/>
              <a:t>tử</a:t>
            </a:r>
            <a:r>
              <a:rPr lang="en-US"/>
              <a:t> </a:t>
            </a:r>
            <a:r>
              <a:rPr lang="en-US" err="1"/>
              <a:t>của</a:t>
            </a:r>
            <a:r>
              <a:rPr lang="en-US"/>
              <a:t> </a:t>
            </a:r>
            <a:r>
              <a:rPr lang="en-US" err="1"/>
              <a:t>mảng</a:t>
            </a:r>
            <a:endParaRPr lang="en-US"/>
          </a:p>
          <a:p>
            <a:pPr lvl="1"/>
            <a:r>
              <a:rPr lang="en-US" err="1"/>
              <a:t>Sắp</a:t>
            </a:r>
            <a:r>
              <a:rPr lang="en-US"/>
              <a:t> </a:t>
            </a:r>
            <a:r>
              <a:rPr lang="en-US" err="1"/>
              <a:t>xếp</a:t>
            </a:r>
            <a:r>
              <a:rPr lang="en-US"/>
              <a:t> </a:t>
            </a:r>
            <a:r>
              <a:rPr lang="en-US" err="1"/>
              <a:t>các</a:t>
            </a:r>
            <a:r>
              <a:rPr lang="en-US"/>
              <a:t> </a:t>
            </a:r>
            <a:r>
              <a:rPr lang="en-US" err="1"/>
              <a:t>phần</a:t>
            </a:r>
            <a:r>
              <a:rPr lang="en-US"/>
              <a:t> </a:t>
            </a:r>
            <a:r>
              <a:rPr lang="en-US" err="1"/>
              <a:t>tử</a:t>
            </a:r>
            <a:r>
              <a:rPr lang="en-US"/>
              <a:t> </a:t>
            </a:r>
            <a:r>
              <a:rPr lang="en-US" err="1"/>
              <a:t>trong</a:t>
            </a:r>
            <a:r>
              <a:rPr lang="en-US"/>
              <a:t> </a:t>
            </a:r>
            <a:r>
              <a:rPr lang="en-US" err="1"/>
              <a:t>mảng</a:t>
            </a:r>
            <a:r>
              <a:rPr lang="en-US"/>
              <a:t> </a:t>
            </a:r>
            <a:r>
              <a:rPr lang="en-US" err="1"/>
              <a:t>theo</a:t>
            </a:r>
            <a:r>
              <a:rPr lang="en-US"/>
              <a:t> </a:t>
            </a:r>
            <a:r>
              <a:rPr lang="en-US" err="1"/>
              <a:t>một</a:t>
            </a:r>
            <a:r>
              <a:rPr lang="en-US"/>
              <a:t> </a:t>
            </a:r>
            <a:r>
              <a:rPr lang="en-US" err="1"/>
              <a:t>thứ</a:t>
            </a:r>
            <a:r>
              <a:rPr lang="en-US"/>
              <a:t> </a:t>
            </a:r>
            <a:r>
              <a:rPr lang="en-US" err="1"/>
              <a:t>tự</a:t>
            </a:r>
            <a:r>
              <a:rPr lang="en-US"/>
              <a:t> </a:t>
            </a:r>
            <a:r>
              <a:rPr lang="en-US" err="1"/>
              <a:t>ấn</a:t>
            </a:r>
            <a:r>
              <a:rPr lang="en-US"/>
              <a:t> </a:t>
            </a:r>
            <a:r>
              <a:rPr lang="en-US" err="1"/>
              <a:t>định</a:t>
            </a:r>
            <a:endParaRPr lang="en-US"/>
          </a:p>
          <a:p>
            <a:r>
              <a:rPr lang="en-US" err="1"/>
              <a:t>Đặc</a:t>
            </a:r>
            <a:r>
              <a:rPr lang="en-US"/>
              <a:t> </a:t>
            </a:r>
            <a:r>
              <a:rPr lang="en-US" err="1"/>
              <a:t>điểm</a:t>
            </a:r>
            <a:r>
              <a:rPr lang="en-US"/>
              <a:t>:</a:t>
            </a:r>
          </a:p>
          <a:p>
            <a:pPr lvl="1"/>
            <a:r>
              <a:rPr lang="en-US" err="1"/>
              <a:t>Mảng</a:t>
            </a:r>
            <a:r>
              <a:rPr lang="en-US"/>
              <a:t> </a:t>
            </a:r>
            <a:r>
              <a:rPr lang="en-US" err="1"/>
              <a:t>tĩnh</a:t>
            </a:r>
            <a:r>
              <a:rPr lang="en-US"/>
              <a:t>: </a:t>
            </a:r>
            <a:r>
              <a:rPr lang="en-US" err="1"/>
              <a:t>Độ</a:t>
            </a:r>
            <a:r>
              <a:rPr lang="en-US"/>
              <a:t> </a:t>
            </a:r>
            <a:r>
              <a:rPr lang="en-US" err="1"/>
              <a:t>dài</a:t>
            </a:r>
            <a:r>
              <a:rPr lang="en-US"/>
              <a:t> </a:t>
            </a:r>
            <a:r>
              <a:rPr lang="en-US" err="1"/>
              <a:t>mảng</a:t>
            </a:r>
            <a:r>
              <a:rPr lang="en-US"/>
              <a:t> </a:t>
            </a:r>
            <a:r>
              <a:rPr lang="en-US" err="1"/>
              <a:t>cố</a:t>
            </a:r>
            <a:r>
              <a:rPr lang="en-US"/>
              <a:t> </a:t>
            </a:r>
            <a:r>
              <a:rPr lang="en-US" err="1"/>
              <a:t>định</a:t>
            </a:r>
            <a:r>
              <a:rPr lang="en-US"/>
              <a:t>, </a:t>
            </a:r>
            <a:r>
              <a:rPr lang="en-US" err="1"/>
              <a:t>không</a:t>
            </a:r>
            <a:r>
              <a:rPr lang="en-US"/>
              <a:t> </a:t>
            </a:r>
            <a:r>
              <a:rPr lang="en-US" err="1"/>
              <a:t>thay</a:t>
            </a:r>
            <a:r>
              <a:rPr lang="en-US"/>
              <a:t> </a:t>
            </a:r>
            <a:r>
              <a:rPr lang="en-US" err="1"/>
              <a:t>đổi</a:t>
            </a:r>
            <a:r>
              <a:rPr lang="en-US"/>
              <a:t> </a:t>
            </a:r>
            <a:r>
              <a:rPr lang="en-US" err="1"/>
              <a:t>được</a:t>
            </a:r>
            <a:r>
              <a:rPr lang="en-US"/>
              <a:t> </a:t>
            </a:r>
            <a:r>
              <a:rPr lang="en-US" err="1"/>
              <a:t>chiều</a:t>
            </a:r>
            <a:r>
              <a:rPr lang="en-US"/>
              <a:t> </a:t>
            </a:r>
            <a:r>
              <a:rPr lang="en-US" err="1"/>
              <a:t>dài</a:t>
            </a:r>
            <a:endParaRPr lang="en-US"/>
          </a:p>
          <a:p>
            <a:pPr lvl="1"/>
            <a:r>
              <a:rPr lang="en-US"/>
              <a:t>Vector </a:t>
            </a:r>
            <a:r>
              <a:rPr lang="en-US" err="1"/>
              <a:t>là</a:t>
            </a:r>
            <a:r>
              <a:rPr lang="en-US"/>
              <a:t> </a:t>
            </a:r>
            <a:r>
              <a:rPr lang="en-US" err="1"/>
              <a:t>mảng</a:t>
            </a:r>
            <a:r>
              <a:rPr lang="en-US"/>
              <a:t> </a:t>
            </a:r>
            <a:r>
              <a:rPr lang="en-US" err="1"/>
              <a:t>một</a:t>
            </a:r>
            <a:r>
              <a:rPr lang="en-US"/>
              <a:t> </a:t>
            </a:r>
            <a:r>
              <a:rPr lang="en-US" err="1"/>
              <a:t>chiều</a:t>
            </a:r>
            <a:r>
              <a:rPr lang="en-US"/>
              <a:t> : A[</a:t>
            </a:r>
            <a:r>
              <a:rPr lang="en-US" err="1"/>
              <a:t>i</a:t>
            </a:r>
            <a:r>
              <a:rPr lang="en-US"/>
              <a:t>], </a:t>
            </a:r>
            <a:r>
              <a:rPr lang="en-US" err="1"/>
              <a:t>một</a:t>
            </a:r>
            <a:r>
              <a:rPr lang="en-US"/>
              <a:t> </a:t>
            </a:r>
            <a:r>
              <a:rPr lang="en-US" err="1"/>
              <a:t>chỉ</a:t>
            </a:r>
            <a:r>
              <a:rPr lang="en-US"/>
              <a:t> </a:t>
            </a:r>
            <a:r>
              <a:rPr lang="en-US" err="1"/>
              <a:t>số</a:t>
            </a:r>
            <a:r>
              <a:rPr lang="en-US"/>
              <a:t> </a:t>
            </a:r>
            <a:r>
              <a:rPr lang="en-US" err="1"/>
              <a:t>i</a:t>
            </a:r>
            <a:endParaRPr lang="en-US"/>
          </a:p>
          <a:p>
            <a:pPr lvl="1"/>
            <a:r>
              <a:rPr lang="en-US"/>
              <a:t>Ma </a:t>
            </a:r>
            <a:r>
              <a:rPr lang="en-US" err="1"/>
              <a:t>trận</a:t>
            </a:r>
            <a:r>
              <a:rPr lang="en-US"/>
              <a:t> </a:t>
            </a:r>
            <a:r>
              <a:rPr lang="en-US" err="1"/>
              <a:t>là</a:t>
            </a:r>
            <a:r>
              <a:rPr lang="en-US"/>
              <a:t> </a:t>
            </a:r>
            <a:r>
              <a:rPr lang="en-US" err="1"/>
              <a:t>mảng</a:t>
            </a:r>
            <a:r>
              <a:rPr lang="en-US"/>
              <a:t> </a:t>
            </a:r>
            <a:r>
              <a:rPr lang="en-US" err="1"/>
              <a:t>nhiều</a:t>
            </a:r>
            <a:r>
              <a:rPr lang="en-US"/>
              <a:t> </a:t>
            </a:r>
            <a:r>
              <a:rPr lang="en-US" err="1"/>
              <a:t>chiều</a:t>
            </a:r>
            <a:r>
              <a:rPr lang="en-US"/>
              <a:t>: A[</a:t>
            </a:r>
            <a:r>
              <a:rPr lang="en-US" err="1"/>
              <a:t>i,j,k</a:t>
            </a:r>
            <a:r>
              <a:rPr lang="en-US"/>
              <a:t>…], </a:t>
            </a:r>
            <a:r>
              <a:rPr lang="en-US" err="1"/>
              <a:t>nhiều</a:t>
            </a:r>
            <a:r>
              <a:rPr lang="en-US"/>
              <a:t> </a:t>
            </a:r>
            <a:r>
              <a:rPr lang="en-US" err="1"/>
              <a:t>chỉ</a:t>
            </a:r>
            <a:r>
              <a:rPr lang="en-US"/>
              <a:t> </a:t>
            </a:r>
            <a:r>
              <a:rPr lang="en-US" err="1"/>
              <a:t>số</a:t>
            </a:r>
            <a:endParaRPr lang="en-US"/>
          </a:p>
          <a:p>
            <a:endParaRPr lang="en-US"/>
          </a:p>
        </p:txBody>
      </p:sp>
    </p:spTree>
    <p:extLst>
      <p:ext uri="{BB962C8B-B14F-4D97-AF65-F5344CB8AC3E}">
        <p14:creationId xmlns:p14="http://schemas.microsoft.com/office/powerpoint/2010/main" val="649214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4</a:t>
            </a:fld>
            <a:endParaRPr lang="en-US"/>
          </a:p>
        </p:txBody>
      </p:sp>
      <p:sp>
        <p:nvSpPr>
          <p:cNvPr id="2" name="Title 1"/>
          <p:cNvSpPr>
            <a:spLocks noGrp="1"/>
          </p:cNvSpPr>
          <p:nvPr>
            <p:ph type="title"/>
          </p:nvPr>
        </p:nvSpPr>
        <p:spPr/>
        <p:txBody>
          <a:bodyPr/>
          <a:lstStyle/>
          <a:p>
            <a:r>
              <a:rPr lang="en-US" err="1"/>
              <a:t>Cấu</a:t>
            </a:r>
            <a:r>
              <a:rPr lang="en-US"/>
              <a:t> </a:t>
            </a:r>
            <a:r>
              <a:rPr lang="en-US" err="1"/>
              <a:t>trúc</a:t>
            </a:r>
            <a:r>
              <a:rPr lang="en-US"/>
              <a:t> </a:t>
            </a:r>
            <a:r>
              <a:rPr lang="en-US" err="1"/>
              <a:t>lưu</a:t>
            </a:r>
            <a:r>
              <a:rPr lang="en-US"/>
              <a:t> </a:t>
            </a:r>
            <a:r>
              <a:rPr lang="en-US" err="1"/>
              <a:t>trữ</a:t>
            </a:r>
            <a:r>
              <a:rPr lang="en-US"/>
              <a:t> </a:t>
            </a:r>
            <a:r>
              <a:rPr lang="en-US" err="1"/>
              <a:t>của</a:t>
            </a:r>
            <a:r>
              <a:rPr lang="en-US"/>
              <a:t> </a:t>
            </a:r>
            <a:r>
              <a:rPr lang="en-US" err="1"/>
              <a:t>mảng</a:t>
            </a:r>
            <a:endParaRPr lang="en-US"/>
          </a:p>
        </p:txBody>
      </p:sp>
      <p:sp>
        <p:nvSpPr>
          <p:cNvPr id="3" name="Content Placeholder 2"/>
          <p:cNvSpPr>
            <a:spLocks noGrp="1"/>
          </p:cNvSpPr>
          <p:nvPr>
            <p:ph type="body" sz="quarter" idx="13"/>
          </p:nvPr>
        </p:nvSpPr>
        <p:spPr/>
        <p:txBody>
          <a:bodyPr lIns="91440" tIns="45720" rIns="91440" bIns="45720" anchor="t">
            <a:normAutofit/>
          </a:bodyPr>
          <a:lstStyle/>
          <a:p>
            <a:r>
              <a:rPr lang="en-US" err="1">
                <a:latin typeface="Lato"/>
                <a:ea typeface="Lato"/>
                <a:cs typeface="Lato"/>
              </a:rPr>
              <a:t>Bộ</a:t>
            </a:r>
            <a:r>
              <a:rPr lang="en-US">
                <a:latin typeface="Lato"/>
                <a:ea typeface="Lato"/>
                <a:cs typeface="Lato"/>
              </a:rPr>
              <a:t> </a:t>
            </a:r>
            <a:r>
              <a:rPr lang="en-US" err="1">
                <a:latin typeface="Lato"/>
                <a:ea typeface="Lato"/>
                <a:cs typeface="Lato"/>
              </a:rPr>
              <a:t>nhớ</a:t>
            </a:r>
            <a:r>
              <a:rPr lang="en-US">
                <a:latin typeface="Lato"/>
                <a:ea typeface="Lato"/>
                <a:cs typeface="Lato"/>
              </a:rPr>
              <a:t> </a:t>
            </a:r>
            <a:r>
              <a:rPr lang="en-US" err="1">
                <a:latin typeface="Lato"/>
                <a:ea typeface="Lato"/>
                <a:cs typeface="Lato"/>
              </a:rPr>
              <a:t>máy</a:t>
            </a:r>
            <a:r>
              <a:rPr lang="en-US">
                <a:latin typeface="Lato"/>
                <a:ea typeface="Lato"/>
                <a:cs typeface="Lato"/>
              </a:rPr>
              <a:t> </a:t>
            </a:r>
            <a:r>
              <a:rPr lang="en-US" err="1">
                <a:latin typeface="Lato"/>
                <a:ea typeface="Lato"/>
                <a:cs typeface="Lato"/>
              </a:rPr>
              <a:t>tính</a:t>
            </a:r>
            <a:r>
              <a:rPr lang="en-US">
                <a:latin typeface="Lato"/>
                <a:ea typeface="Lato"/>
                <a:cs typeface="Lato"/>
              </a:rPr>
              <a:t> </a:t>
            </a:r>
            <a:r>
              <a:rPr lang="en-US" err="1">
                <a:latin typeface="Lato"/>
                <a:ea typeface="Lato"/>
                <a:cs typeface="Lato"/>
              </a:rPr>
              <a:t>là</a:t>
            </a:r>
            <a:r>
              <a:rPr lang="en-US">
                <a:latin typeface="Lato"/>
                <a:ea typeface="Lato"/>
                <a:cs typeface="Lato"/>
              </a:rPr>
              <a:t> </a:t>
            </a:r>
            <a:r>
              <a:rPr lang="en-US" err="1">
                <a:latin typeface="Lato"/>
                <a:ea typeface="Lato"/>
                <a:cs typeface="Lato"/>
              </a:rPr>
              <a:t>mảng</a:t>
            </a:r>
            <a:r>
              <a:rPr lang="en-US">
                <a:latin typeface="Lato"/>
                <a:ea typeface="Lato"/>
                <a:cs typeface="Lato"/>
              </a:rPr>
              <a:t> </a:t>
            </a:r>
            <a:r>
              <a:rPr lang="en-US" err="1">
                <a:latin typeface="Lato"/>
                <a:ea typeface="Lato"/>
                <a:cs typeface="Lato"/>
              </a:rPr>
              <a:t>của</a:t>
            </a:r>
            <a:r>
              <a:rPr lang="en-US">
                <a:latin typeface="Lato"/>
                <a:ea typeface="Lato"/>
                <a:cs typeface="Lato"/>
              </a:rPr>
              <a:t> </a:t>
            </a:r>
            <a:r>
              <a:rPr lang="en-US" err="1">
                <a:latin typeface="Lato"/>
                <a:ea typeface="Lato"/>
                <a:cs typeface="Lato"/>
              </a:rPr>
              <a:t>các</a:t>
            </a:r>
            <a:r>
              <a:rPr lang="en-US">
                <a:latin typeface="Lato"/>
                <a:ea typeface="Lato"/>
                <a:cs typeface="Lato"/>
              </a:rPr>
              <a:t> ô </a:t>
            </a:r>
            <a:r>
              <a:rPr lang="en-US" err="1">
                <a:latin typeface="Lato"/>
                <a:ea typeface="Lato"/>
                <a:cs typeface="Lato"/>
              </a:rPr>
              <a:t>nhớ</a:t>
            </a:r>
            <a:r>
              <a:rPr lang="en-US">
                <a:latin typeface="Lato"/>
                <a:ea typeface="Lato"/>
                <a:cs typeface="Lato"/>
              </a:rPr>
              <a:t> </a:t>
            </a:r>
            <a:r>
              <a:rPr lang="en-US" err="1">
                <a:latin typeface="Lato"/>
                <a:ea typeface="Lato"/>
                <a:cs typeface="Lato"/>
              </a:rPr>
              <a:t>được</a:t>
            </a:r>
            <a:r>
              <a:rPr lang="en-US">
                <a:latin typeface="Lato"/>
                <a:ea typeface="Lato"/>
                <a:cs typeface="Lato"/>
              </a:rPr>
              <a:t> </a:t>
            </a:r>
            <a:r>
              <a:rPr lang="en-US" err="1">
                <a:latin typeface="Lato"/>
                <a:ea typeface="Lato"/>
                <a:cs typeface="Lato"/>
              </a:rPr>
              <a:t>đánh</a:t>
            </a:r>
            <a:r>
              <a:rPr lang="en-US">
                <a:latin typeface="Lato"/>
                <a:ea typeface="Lato"/>
                <a:cs typeface="Lato"/>
              </a:rPr>
              <a:t> </a:t>
            </a:r>
            <a:r>
              <a:rPr lang="en-US" err="1">
                <a:latin typeface="Lato"/>
                <a:ea typeface="Lato"/>
                <a:cs typeface="Lato"/>
              </a:rPr>
              <a:t>số</a:t>
            </a:r>
            <a:r>
              <a:rPr lang="en-US">
                <a:latin typeface="Lato"/>
                <a:ea typeface="Lato"/>
                <a:cs typeface="Lato"/>
              </a:rPr>
              <a:t> </a:t>
            </a:r>
            <a:r>
              <a:rPr lang="en-US" err="1">
                <a:latin typeface="Lato"/>
                <a:ea typeface="Lato"/>
                <a:cs typeface="Lato"/>
              </a:rPr>
              <a:t>kế</a:t>
            </a:r>
            <a:r>
              <a:rPr lang="en-US">
                <a:latin typeface="Lato"/>
                <a:ea typeface="Lato"/>
                <a:cs typeface="Lato"/>
              </a:rPr>
              <a:t> </a:t>
            </a:r>
            <a:r>
              <a:rPr lang="en-US" err="1">
                <a:latin typeface="Lato"/>
                <a:ea typeface="Lato"/>
                <a:cs typeface="Lato"/>
              </a:rPr>
              <a:t>tiếp</a:t>
            </a:r>
            <a:r>
              <a:rPr lang="en-US">
                <a:latin typeface="Lato"/>
                <a:ea typeface="Lato"/>
                <a:cs typeface="Lato"/>
              </a:rPr>
              <a:t> </a:t>
            </a:r>
            <a:r>
              <a:rPr lang="en-US" err="1">
                <a:latin typeface="Lato"/>
                <a:ea typeface="Lato"/>
                <a:cs typeface="Lato"/>
              </a:rPr>
              <a:t>nhau</a:t>
            </a:r>
            <a:r>
              <a:rPr lang="en-US">
                <a:latin typeface="Lato"/>
                <a:ea typeface="Lato"/>
                <a:cs typeface="Lato"/>
              </a:rPr>
              <a:t>. </a:t>
            </a:r>
            <a:r>
              <a:rPr lang="en-US" err="1">
                <a:latin typeface="Lato"/>
                <a:ea typeface="Lato"/>
                <a:cs typeface="Lato"/>
              </a:rPr>
              <a:t>Số</a:t>
            </a:r>
            <a:r>
              <a:rPr lang="en-US">
                <a:latin typeface="Lato"/>
                <a:ea typeface="Lato"/>
                <a:cs typeface="Lato"/>
              </a:rPr>
              <a:t> </a:t>
            </a:r>
            <a:r>
              <a:rPr lang="en-US" err="1">
                <a:latin typeface="Lato"/>
                <a:ea typeface="Lato"/>
                <a:cs typeface="Lato"/>
              </a:rPr>
              <a:t>thứ</a:t>
            </a:r>
            <a:r>
              <a:rPr lang="en-US">
                <a:latin typeface="Lato"/>
                <a:ea typeface="Lato"/>
                <a:cs typeface="Lato"/>
              </a:rPr>
              <a:t> </a:t>
            </a:r>
            <a:r>
              <a:rPr lang="en-US" err="1">
                <a:latin typeface="Lato"/>
                <a:ea typeface="Lato"/>
                <a:cs typeface="Lato"/>
              </a:rPr>
              <a:t>tự</a:t>
            </a:r>
            <a:r>
              <a:rPr lang="en-US">
                <a:latin typeface="Lato"/>
                <a:ea typeface="Lato"/>
                <a:cs typeface="Lato"/>
              </a:rPr>
              <a:t> </a:t>
            </a:r>
            <a:r>
              <a:rPr lang="en-US" err="1">
                <a:latin typeface="Lato"/>
                <a:ea typeface="Lato"/>
                <a:cs typeface="Lato"/>
              </a:rPr>
              <a:t>của</a:t>
            </a:r>
            <a:r>
              <a:rPr lang="en-US">
                <a:latin typeface="Lato"/>
                <a:ea typeface="Lato"/>
                <a:cs typeface="Lato"/>
              </a:rPr>
              <a:t> </a:t>
            </a:r>
            <a:r>
              <a:rPr lang="en-US" err="1">
                <a:latin typeface="Lato"/>
                <a:ea typeface="Lato"/>
                <a:cs typeface="Lato"/>
              </a:rPr>
              <a:t>các</a:t>
            </a:r>
            <a:r>
              <a:rPr lang="en-US">
                <a:latin typeface="Lato"/>
                <a:ea typeface="Lato"/>
                <a:cs typeface="Lato"/>
              </a:rPr>
              <a:t> ô </a:t>
            </a:r>
            <a:r>
              <a:rPr lang="en-US" err="1">
                <a:latin typeface="Lato"/>
                <a:ea typeface="Lato"/>
                <a:cs typeface="Lato"/>
              </a:rPr>
              <a:t>nhớ</a:t>
            </a:r>
            <a:r>
              <a:rPr lang="en-US">
                <a:latin typeface="Lato"/>
                <a:ea typeface="Lato"/>
                <a:cs typeface="Lato"/>
              </a:rPr>
              <a:t> </a:t>
            </a:r>
            <a:r>
              <a:rPr lang="en-US" err="1">
                <a:latin typeface="Lato"/>
                <a:ea typeface="Lato"/>
                <a:cs typeface="Lato"/>
              </a:rPr>
              <a:t>được</a:t>
            </a:r>
            <a:r>
              <a:rPr lang="en-US">
                <a:latin typeface="Lato"/>
                <a:ea typeface="Lato"/>
                <a:cs typeface="Lato"/>
              </a:rPr>
              <a:t> </a:t>
            </a:r>
            <a:r>
              <a:rPr lang="en-US" err="1">
                <a:latin typeface="Lato"/>
                <a:ea typeface="Lato"/>
                <a:cs typeface="Lato"/>
              </a:rPr>
              <a:t>gọi</a:t>
            </a:r>
            <a:r>
              <a:rPr lang="en-US">
                <a:latin typeface="Lato"/>
                <a:ea typeface="Lato"/>
                <a:cs typeface="Lato"/>
              </a:rPr>
              <a:t> </a:t>
            </a:r>
            <a:r>
              <a:rPr lang="en-US" err="1">
                <a:latin typeface="Lato"/>
                <a:ea typeface="Lato"/>
                <a:cs typeface="Lato"/>
              </a:rPr>
              <a:t>là</a:t>
            </a:r>
            <a:r>
              <a:rPr lang="en-US">
                <a:latin typeface="Lato"/>
                <a:ea typeface="Lato"/>
                <a:cs typeface="Lato"/>
              </a:rPr>
              <a:t> </a:t>
            </a:r>
            <a:r>
              <a:rPr lang="en-US" err="1">
                <a:latin typeface="Lato"/>
                <a:ea typeface="Lato"/>
                <a:cs typeface="Lato"/>
              </a:rPr>
              <a:t>địa</a:t>
            </a:r>
            <a:r>
              <a:rPr lang="en-US">
                <a:latin typeface="Lato"/>
                <a:ea typeface="Lato"/>
                <a:cs typeface="Lato"/>
              </a:rPr>
              <a:t> </a:t>
            </a:r>
            <a:r>
              <a:rPr lang="en-US" err="1">
                <a:latin typeface="Lato"/>
                <a:ea typeface="Lato"/>
                <a:cs typeface="Lato"/>
              </a:rPr>
              <a:t>chỉ</a:t>
            </a:r>
            <a:r>
              <a:rPr lang="en-US">
                <a:latin typeface="Lato"/>
                <a:ea typeface="Lato"/>
                <a:cs typeface="Lato"/>
              </a:rPr>
              <a:t>.</a:t>
            </a:r>
          </a:p>
          <a:p>
            <a:r>
              <a:rPr lang="en-US">
                <a:latin typeface="Lato"/>
                <a:ea typeface="Lato"/>
                <a:cs typeface="Lato"/>
              </a:rPr>
              <a:t>Ô </a:t>
            </a:r>
            <a:r>
              <a:rPr lang="en-US" err="1">
                <a:latin typeface="Lato"/>
                <a:ea typeface="Lato"/>
                <a:cs typeface="Lato"/>
              </a:rPr>
              <a:t>nhớ</a:t>
            </a:r>
            <a:r>
              <a:rPr lang="en-US">
                <a:latin typeface="Lato"/>
                <a:ea typeface="Lato"/>
                <a:cs typeface="Lato"/>
              </a:rPr>
              <a:t> </a:t>
            </a:r>
            <a:r>
              <a:rPr lang="en-US" err="1">
                <a:latin typeface="Lato"/>
                <a:ea typeface="Lato"/>
                <a:cs typeface="Lato"/>
              </a:rPr>
              <a:t>được</a:t>
            </a:r>
            <a:r>
              <a:rPr lang="en-US">
                <a:latin typeface="Lato"/>
                <a:ea typeface="Lato"/>
                <a:cs typeface="Lato"/>
              </a:rPr>
              <a:t> </a:t>
            </a:r>
            <a:r>
              <a:rPr lang="en-US" err="1">
                <a:latin typeface="Lato"/>
                <a:ea typeface="Lato"/>
                <a:cs typeface="Lato"/>
              </a:rPr>
              <a:t>đánh</a:t>
            </a:r>
            <a:r>
              <a:rPr lang="en-US">
                <a:latin typeface="Lato"/>
                <a:ea typeface="Lato"/>
                <a:cs typeface="Lato"/>
              </a:rPr>
              <a:t> </a:t>
            </a:r>
            <a:r>
              <a:rPr lang="en-US" err="1">
                <a:latin typeface="Lato"/>
                <a:ea typeface="Lato"/>
                <a:cs typeface="Lato"/>
              </a:rPr>
              <a:t>địa</a:t>
            </a:r>
            <a:r>
              <a:rPr lang="en-US">
                <a:latin typeface="Lato"/>
                <a:ea typeface="Lato"/>
                <a:cs typeface="Lato"/>
              </a:rPr>
              <a:t> </a:t>
            </a:r>
            <a:r>
              <a:rPr lang="en-US" err="1">
                <a:latin typeface="Lato"/>
                <a:ea typeface="Lato"/>
                <a:cs typeface="Lato"/>
              </a:rPr>
              <a:t>chỉ</a:t>
            </a:r>
            <a:r>
              <a:rPr lang="en-US">
                <a:latin typeface="Lato"/>
                <a:ea typeface="Lato"/>
                <a:cs typeface="Lato"/>
              </a:rPr>
              <a:t> </a:t>
            </a:r>
            <a:r>
              <a:rPr lang="en-US" err="1">
                <a:latin typeface="Lato"/>
                <a:ea typeface="Lato"/>
                <a:cs typeface="Lato"/>
              </a:rPr>
              <a:t>được</a:t>
            </a:r>
            <a:r>
              <a:rPr lang="en-US">
                <a:latin typeface="Lato"/>
                <a:ea typeface="Lato"/>
                <a:cs typeface="Lato"/>
              </a:rPr>
              <a:t> </a:t>
            </a:r>
            <a:r>
              <a:rPr lang="en-US" err="1">
                <a:latin typeface="Lato"/>
                <a:ea typeface="Lato"/>
                <a:cs typeface="Lato"/>
              </a:rPr>
              <a:t>gọi</a:t>
            </a:r>
            <a:r>
              <a:rPr lang="en-US">
                <a:latin typeface="Lato"/>
                <a:ea typeface="Lato"/>
                <a:cs typeface="Lato"/>
              </a:rPr>
              <a:t> </a:t>
            </a:r>
            <a:r>
              <a:rPr lang="en-US" err="1">
                <a:latin typeface="Lato"/>
                <a:ea typeface="Lato"/>
                <a:cs typeface="Lato"/>
              </a:rPr>
              <a:t>là</a:t>
            </a:r>
            <a:r>
              <a:rPr lang="en-US">
                <a:latin typeface="Lato"/>
                <a:ea typeface="Lato"/>
                <a:cs typeface="Lato"/>
              </a:rPr>
              <a:t> </a:t>
            </a:r>
            <a:r>
              <a:rPr lang="en-US" err="1">
                <a:latin typeface="Lato"/>
                <a:ea typeface="Lato"/>
                <a:cs typeface="Lato"/>
              </a:rPr>
              <a:t>phần</a:t>
            </a:r>
            <a:r>
              <a:rPr lang="en-US">
                <a:latin typeface="Lato"/>
                <a:ea typeface="Lato"/>
                <a:cs typeface="Lato"/>
              </a:rPr>
              <a:t> </a:t>
            </a:r>
            <a:r>
              <a:rPr lang="en-US" err="1">
                <a:latin typeface="Lato"/>
                <a:ea typeface="Lato"/>
                <a:cs typeface="Lato"/>
              </a:rPr>
              <a:t>tử</a:t>
            </a:r>
            <a:r>
              <a:rPr lang="en-US">
                <a:latin typeface="Lato"/>
                <a:ea typeface="Lato"/>
                <a:cs typeface="Lato"/>
              </a:rPr>
              <a:t> </a:t>
            </a:r>
            <a:r>
              <a:rPr lang="en-US" err="1">
                <a:latin typeface="Lato"/>
                <a:ea typeface="Lato"/>
                <a:cs typeface="Lato"/>
              </a:rPr>
              <a:t>nhớ</a:t>
            </a:r>
            <a:r>
              <a:rPr lang="en-US">
                <a:latin typeface="Lato"/>
                <a:ea typeface="Lato"/>
                <a:cs typeface="Lato"/>
              </a:rPr>
              <a:t> </a:t>
            </a:r>
            <a:r>
              <a:rPr lang="en-US" err="1">
                <a:latin typeface="Lato"/>
                <a:ea typeface="Lato"/>
                <a:cs typeface="Lato"/>
              </a:rPr>
              <a:t>cơ</a:t>
            </a:r>
            <a:r>
              <a:rPr lang="en-US">
                <a:latin typeface="Lato"/>
                <a:ea typeface="Lato"/>
                <a:cs typeface="Lato"/>
              </a:rPr>
              <a:t> </a:t>
            </a:r>
            <a:r>
              <a:rPr lang="en-US" err="1">
                <a:latin typeface="Lato"/>
                <a:ea typeface="Lato"/>
                <a:cs typeface="Lato"/>
              </a:rPr>
              <a:t>sở</a:t>
            </a:r>
            <a:r>
              <a:rPr lang="en-US">
                <a:latin typeface="Lato"/>
                <a:ea typeface="Lato"/>
                <a:cs typeface="Lato"/>
              </a:rPr>
              <a:t> = </a:t>
            </a:r>
            <a:r>
              <a:rPr lang="en-US" b="1" err="1">
                <a:solidFill>
                  <a:srgbClr val="FF0000"/>
                </a:solidFill>
                <a:latin typeface="Lato"/>
                <a:ea typeface="Lato"/>
                <a:cs typeface="Lato"/>
              </a:rPr>
              <a:t>từ</a:t>
            </a:r>
            <a:r>
              <a:rPr lang="en-US" b="1">
                <a:solidFill>
                  <a:srgbClr val="FF0000"/>
                </a:solidFill>
                <a:latin typeface="Lato"/>
                <a:ea typeface="Lato"/>
                <a:cs typeface="Lato"/>
              </a:rPr>
              <a:t> </a:t>
            </a:r>
            <a:r>
              <a:rPr lang="en-US" b="1" err="1">
                <a:solidFill>
                  <a:srgbClr val="FF0000"/>
                </a:solidFill>
                <a:latin typeface="Lato"/>
                <a:ea typeface="Lato"/>
                <a:cs typeface="Lato"/>
              </a:rPr>
              <a:t>máy</a:t>
            </a:r>
            <a:r>
              <a:rPr lang="en-US" b="1">
                <a:solidFill>
                  <a:srgbClr val="FF0000"/>
                </a:solidFill>
                <a:latin typeface="Lato"/>
                <a:ea typeface="Lato"/>
                <a:cs typeface="Lato"/>
              </a:rPr>
              <a:t>.  </a:t>
            </a:r>
            <a:r>
              <a:rPr lang="en-US" err="1">
                <a:latin typeface="Lato"/>
                <a:ea typeface="Lato"/>
                <a:cs typeface="Lato"/>
              </a:rPr>
              <a:t>Phần</a:t>
            </a:r>
            <a:r>
              <a:rPr lang="en-US">
                <a:latin typeface="Lato"/>
                <a:ea typeface="Lato"/>
                <a:cs typeface="Lato"/>
              </a:rPr>
              <a:t> </a:t>
            </a:r>
            <a:r>
              <a:rPr lang="en-US" err="1">
                <a:latin typeface="Lato"/>
                <a:ea typeface="Lato"/>
                <a:cs typeface="Lato"/>
              </a:rPr>
              <a:t>tử</a:t>
            </a:r>
            <a:r>
              <a:rPr lang="en-US">
                <a:latin typeface="Lato"/>
                <a:ea typeface="Lato"/>
                <a:cs typeface="Lato"/>
              </a:rPr>
              <a:t> </a:t>
            </a:r>
            <a:r>
              <a:rPr lang="en-US" err="1">
                <a:latin typeface="Lato"/>
                <a:ea typeface="Lato"/>
                <a:cs typeface="Lato"/>
              </a:rPr>
              <a:t>dữ</a:t>
            </a:r>
            <a:r>
              <a:rPr lang="en-US">
                <a:latin typeface="Lato"/>
                <a:ea typeface="Lato"/>
                <a:cs typeface="Lato"/>
              </a:rPr>
              <a:t> </a:t>
            </a:r>
            <a:r>
              <a:rPr lang="en-US" err="1">
                <a:latin typeface="Lato"/>
                <a:ea typeface="Lato"/>
                <a:cs typeface="Lato"/>
              </a:rPr>
              <a:t>liệu</a:t>
            </a:r>
            <a:r>
              <a:rPr lang="en-US">
                <a:latin typeface="Lato"/>
                <a:ea typeface="Lato"/>
                <a:cs typeface="Lato"/>
              </a:rPr>
              <a:t> </a:t>
            </a:r>
            <a:r>
              <a:rPr lang="en-US" err="1">
                <a:latin typeface="Lato"/>
                <a:ea typeface="Lato"/>
                <a:cs typeface="Lato"/>
              </a:rPr>
              <a:t>được</a:t>
            </a:r>
            <a:r>
              <a:rPr lang="en-US">
                <a:latin typeface="Lato"/>
                <a:ea typeface="Lato"/>
                <a:cs typeface="Lato"/>
              </a:rPr>
              <a:t> </a:t>
            </a:r>
            <a:r>
              <a:rPr lang="en-US" err="1">
                <a:latin typeface="Lato"/>
                <a:ea typeface="Lato"/>
                <a:cs typeface="Lato"/>
              </a:rPr>
              <a:t>lưu</a:t>
            </a:r>
            <a:r>
              <a:rPr lang="en-US">
                <a:latin typeface="Lato"/>
                <a:ea typeface="Lato"/>
                <a:cs typeface="Lato"/>
              </a:rPr>
              <a:t> </a:t>
            </a:r>
            <a:r>
              <a:rPr lang="en-US" err="1">
                <a:latin typeface="Lato"/>
                <a:ea typeface="Lato"/>
                <a:cs typeface="Lato"/>
              </a:rPr>
              <a:t>trong</a:t>
            </a:r>
            <a:r>
              <a:rPr lang="en-US">
                <a:latin typeface="Lato"/>
                <a:ea typeface="Lato"/>
                <a:cs typeface="Lato"/>
              </a:rPr>
              <a:t> ô </a:t>
            </a:r>
            <a:r>
              <a:rPr lang="en-US" err="1">
                <a:latin typeface="Lato"/>
                <a:ea typeface="Lato"/>
                <a:cs typeface="Lato"/>
              </a:rPr>
              <a:t>nhớ</a:t>
            </a:r>
            <a:r>
              <a:rPr lang="en-US">
                <a:latin typeface="Lato"/>
                <a:ea typeface="Lato"/>
                <a:cs typeface="Lato"/>
              </a:rPr>
              <a:t> </a:t>
            </a:r>
            <a:r>
              <a:rPr lang="en-US" err="1">
                <a:latin typeface="Lato"/>
                <a:ea typeface="Lato"/>
                <a:cs typeface="Lato"/>
              </a:rPr>
              <a:t>chứa</a:t>
            </a:r>
            <a:r>
              <a:rPr lang="en-US">
                <a:latin typeface="Lato"/>
                <a:ea typeface="Lato"/>
                <a:cs typeface="Lato"/>
              </a:rPr>
              <a:t> </a:t>
            </a:r>
            <a:r>
              <a:rPr lang="en-US" err="1">
                <a:latin typeface="Lato"/>
                <a:ea typeface="Lato"/>
                <a:cs typeface="Lato"/>
              </a:rPr>
              <a:t>một</a:t>
            </a:r>
            <a:r>
              <a:rPr lang="en-US">
                <a:latin typeface="Lato"/>
                <a:ea typeface="Lato"/>
                <a:cs typeface="Lato"/>
              </a:rPr>
              <a:t> </a:t>
            </a:r>
            <a:r>
              <a:rPr lang="en-US" err="1">
                <a:latin typeface="Lato"/>
                <a:ea typeface="Lato"/>
                <a:cs typeface="Lato"/>
              </a:rPr>
              <a:t>hoặc</a:t>
            </a:r>
            <a:r>
              <a:rPr lang="en-US">
                <a:latin typeface="Lato"/>
                <a:ea typeface="Lato"/>
                <a:cs typeface="Lato"/>
              </a:rPr>
              <a:t> </a:t>
            </a:r>
            <a:r>
              <a:rPr lang="en-US" err="1">
                <a:latin typeface="Lato"/>
                <a:ea typeface="Lato"/>
                <a:cs typeface="Lato"/>
              </a:rPr>
              <a:t>nhiều</a:t>
            </a:r>
            <a:r>
              <a:rPr lang="en-US">
                <a:latin typeface="Lato"/>
                <a:ea typeface="Lato"/>
                <a:cs typeface="Lato"/>
              </a:rPr>
              <a:t> </a:t>
            </a:r>
            <a:r>
              <a:rPr lang="en-US" err="1">
                <a:latin typeface="Lato"/>
                <a:ea typeface="Lato"/>
                <a:cs typeface="Lato"/>
              </a:rPr>
              <a:t>từ</a:t>
            </a:r>
            <a:r>
              <a:rPr lang="en-US">
                <a:latin typeface="Lato"/>
                <a:ea typeface="Lato"/>
                <a:cs typeface="Lato"/>
              </a:rPr>
              <a:t> </a:t>
            </a:r>
            <a:r>
              <a:rPr lang="en-US" err="1">
                <a:latin typeface="Lato"/>
                <a:ea typeface="Lato"/>
                <a:cs typeface="Lato"/>
              </a:rPr>
              <a:t>máy</a:t>
            </a:r>
            <a:r>
              <a:rPr lang="en-US">
                <a:latin typeface="Lato"/>
                <a:ea typeface="Lato"/>
                <a:cs typeface="Lato"/>
              </a:rPr>
              <a:t> </a:t>
            </a:r>
          </a:p>
          <a:p>
            <a:r>
              <a:rPr lang="en-US" err="1">
                <a:latin typeface="Lato"/>
                <a:ea typeface="Lato"/>
                <a:cs typeface="Lato"/>
              </a:rPr>
              <a:t>Truy</a:t>
            </a:r>
            <a:r>
              <a:rPr lang="en-US">
                <a:latin typeface="Lato"/>
                <a:ea typeface="Lato"/>
                <a:cs typeface="Lato"/>
              </a:rPr>
              <a:t> </a:t>
            </a:r>
            <a:r>
              <a:rPr lang="en-US" err="1">
                <a:latin typeface="Lato"/>
                <a:ea typeface="Lato"/>
                <a:cs typeface="Lato"/>
              </a:rPr>
              <a:t>cập</a:t>
            </a:r>
            <a:r>
              <a:rPr lang="en-US">
                <a:latin typeface="Lato"/>
                <a:ea typeface="Lato"/>
                <a:cs typeface="Lato"/>
              </a:rPr>
              <a:t> </a:t>
            </a:r>
            <a:r>
              <a:rPr lang="en-US" err="1">
                <a:latin typeface="Lato"/>
                <a:ea typeface="Lato"/>
                <a:cs typeface="Lato"/>
              </a:rPr>
              <a:t>vào</a:t>
            </a:r>
            <a:r>
              <a:rPr lang="en-US">
                <a:latin typeface="Lato"/>
                <a:ea typeface="Lato"/>
                <a:cs typeface="Lato"/>
              </a:rPr>
              <a:t> ô </a:t>
            </a:r>
            <a:r>
              <a:rPr lang="en-US" err="1">
                <a:latin typeface="Lato"/>
                <a:ea typeface="Lato"/>
                <a:cs typeface="Lato"/>
              </a:rPr>
              <a:t>nhớ</a:t>
            </a:r>
            <a:r>
              <a:rPr lang="en-US">
                <a:latin typeface="Lato"/>
                <a:ea typeface="Lato"/>
                <a:cs typeface="Lato"/>
              </a:rPr>
              <a:t> </a:t>
            </a:r>
            <a:r>
              <a:rPr lang="en-US" err="1">
                <a:latin typeface="Lato"/>
                <a:ea typeface="Lato"/>
                <a:cs typeface="Lato"/>
              </a:rPr>
              <a:t>đó</a:t>
            </a:r>
            <a:r>
              <a:rPr lang="en-US">
                <a:latin typeface="Lato"/>
                <a:ea typeface="Lato"/>
                <a:cs typeface="Lato"/>
              </a:rPr>
              <a:t> </a:t>
            </a:r>
            <a:r>
              <a:rPr lang="en-US" err="1">
                <a:latin typeface="Lato"/>
                <a:ea typeface="Lato"/>
                <a:cs typeface="Lato"/>
              </a:rPr>
              <a:t>được</a:t>
            </a:r>
            <a:r>
              <a:rPr lang="en-US">
                <a:latin typeface="Lato"/>
                <a:ea typeface="Lato"/>
                <a:cs typeface="Lato"/>
              </a:rPr>
              <a:t> </a:t>
            </a:r>
            <a:r>
              <a:rPr lang="en-US" err="1">
                <a:latin typeface="Lato"/>
                <a:ea typeface="Lato"/>
                <a:cs typeface="Lato"/>
              </a:rPr>
              <a:t>xác</a:t>
            </a:r>
            <a:r>
              <a:rPr lang="en-US">
                <a:latin typeface="Lato"/>
                <a:ea typeface="Lato"/>
                <a:cs typeface="Lato"/>
              </a:rPr>
              <a:t> </a:t>
            </a:r>
            <a:r>
              <a:rPr lang="en-US" err="1">
                <a:latin typeface="Lato"/>
                <a:ea typeface="Lato"/>
                <a:cs typeface="Lato"/>
              </a:rPr>
              <a:t>định</a:t>
            </a:r>
            <a:r>
              <a:rPr lang="en-US">
                <a:latin typeface="Lato"/>
                <a:ea typeface="Lato"/>
                <a:cs typeface="Lato"/>
              </a:rPr>
              <a:t> </a:t>
            </a:r>
            <a:r>
              <a:rPr lang="en-US" err="1">
                <a:latin typeface="Lato"/>
                <a:ea typeface="Lato"/>
                <a:cs typeface="Lato"/>
              </a:rPr>
              <a:t>bởi</a:t>
            </a:r>
            <a:r>
              <a:rPr lang="en-US">
                <a:latin typeface="Lato"/>
                <a:ea typeface="Lato"/>
                <a:cs typeface="Lato"/>
              </a:rPr>
              <a:t> </a:t>
            </a:r>
            <a:r>
              <a:rPr lang="en-US" err="1">
                <a:latin typeface="Lato"/>
                <a:ea typeface="Lato"/>
                <a:cs typeface="Lato"/>
              </a:rPr>
              <a:t>địa</a:t>
            </a:r>
            <a:r>
              <a:rPr lang="en-US">
                <a:latin typeface="Lato"/>
                <a:ea typeface="Lato"/>
                <a:cs typeface="Lato"/>
              </a:rPr>
              <a:t> </a:t>
            </a:r>
            <a:r>
              <a:rPr lang="en-US" err="1">
                <a:latin typeface="Lato"/>
                <a:ea typeface="Lato"/>
                <a:cs typeface="Lato"/>
              </a:rPr>
              <a:t>chỉ</a:t>
            </a:r>
            <a:r>
              <a:rPr lang="en-US">
                <a:latin typeface="Lato"/>
                <a:ea typeface="Lato"/>
                <a:cs typeface="Lato"/>
              </a:rPr>
              <a:t> </a:t>
            </a:r>
            <a:r>
              <a:rPr lang="en-US" err="1">
                <a:latin typeface="Lato"/>
                <a:ea typeface="Lato"/>
                <a:cs typeface="Lato"/>
              </a:rPr>
              <a:t>của</a:t>
            </a:r>
            <a:r>
              <a:rPr lang="en-US">
                <a:latin typeface="Lato"/>
                <a:ea typeface="Lato"/>
                <a:cs typeface="Lato"/>
              </a:rPr>
              <a:t> </a:t>
            </a:r>
            <a:r>
              <a:rPr lang="en-US" err="1">
                <a:solidFill>
                  <a:srgbClr val="FF0000"/>
                </a:solidFill>
                <a:latin typeface="Lato"/>
                <a:ea typeface="Lato"/>
                <a:cs typeface="Lato"/>
              </a:rPr>
              <a:t>từ</a:t>
            </a:r>
            <a:r>
              <a:rPr lang="en-US">
                <a:solidFill>
                  <a:srgbClr val="FF0000"/>
                </a:solidFill>
                <a:latin typeface="Lato"/>
                <a:ea typeface="Lato"/>
                <a:cs typeface="Lato"/>
              </a:rPr>
              <a:t> </a:t>
            </a:r>
            <a:r>
              <a:rPr lang="en-US" err="1">
                <a:solidFill>
                  <a:srgbClr val="FF0000"/>
                </a:solidFill>
                <a:latin typeface="Lato"/>
                <a:ea typeface="Lato"/>
                <a:cs typeface="Lato"/>
              </a:rPr>
              <a:t>máy</a:t>
            </a:r>
            <a:r>
              <a:rPr lang="en-US">
                <a:solidFill>
                  <a:srgbClr val="FF0000"/>
                </a:solidFill>
                <a:latin typeface="Lato"/>
                <a:ea typeface="Lato"/>
                <a:cs typeface="Lato"/>
              </a:rPr>
              <a:t> </a:t>
            </a:r>
            <a:r>
              <a:rPr lang="en-US" err="1">
                <a:latin typeface="Lato"/>
                <a:ea typeface="Lato"/>
                <a:cs typeface="Lato"/>
              </a:rPr>
              <a:t>đầu</a:t>
            </a:r>
            <a:r>
              <a:rPr lang="en-US">
                <a:latin typeface="Lato"/>
                <a:ea typeface="Lato"/>
                <a:cs typeface="Lato"/>
              </a:rPr>
              <a:t> </a:t>
            </a:r>
            <a:r>
              <a:rPr lang="en-US" err="1">
                <a:latin typeface="Lato"/>
                <a:ea typeface="Lato"/>
                <a:cs typeface="Lato"/>
              </a:rPr>
              <a:t>tiên</a:t>
            </a:r>
            <a:r>
              <a:rPr lang="en-US">
                <a:latin typeface="Lato"/>
                <a:ea typeface="Lato"/>
                <a:cs typeface="Lato"/>
              </a:rPr>
              <a:t> </a:t>
            </a:r>
            <a:r>
              <a:rPr lang="en-US" err="1">
                <a:latin typeface="Lato"/>
                <a:ea typeface="Lato"/>
                <a:cs typeface="Lato"/>
              </a:rPr>
              <a:t>tạo</a:t>
            </a:r>
            <a:r>
              <a:rPr lang="en-US">
                <a:latin typeface="Lato"/>
                <a:ea typeface="Lato"/>
                <a:cs typeface="Lato"/>
              </a:rPr>
              <a:t> </a:t>
            </a:r>
            <a:r>
              <a:rPr lang="en-US" err="1">
                <a:latin typeface="Lato"/>
                <a:ea typeface="Lato"/>
                <a:cs typeface="Lato"/>
              </a:rPr>
              <a:t>nên</a:t>
            </a:r>
            <a:r>
              <a:rPr lang="en-US">
                <a:latin typeface="Lato"/>
                <a:ea typeface="Lato"/>
                <a:cs typeface="Lato"/>
              </a:rPr>
              <a:t> ô </a:t>
            </a:r>
            <a:r>
              <a:rPr lang="en-US" err="1">
                <a:latin typeface="Lato"/>
                <a:ea typeface="Lato"/>
                <a:cs typeface="Lato"/>
              </a:rPr>
              <a:t>nhớ</a:t>
            </a:r>
            <a:r>
              <a:rPr lang="en-US">
                <a:latin typeface="Lato"/>
                <a:ea typeface="Lato"/>
                <a:cs typeface="Lato"/>
              </a:rPr>
              <a:t> </a:t>
            </a:r>
            <a:r>
              <a:rPr lang="en-US" err="1">
                <a:latin typeface="Lato"/>
                <a:ea typeface="Lato"/>
                <a:cs typeface="Lato"/>
              </a:rPr>
              <a:t>đó</a:t>
            </a:r>
            <a:r>
              <a:rPr lang="en-US">
                <a:latin typeface="Lato"/>
                <a:ea typeface="Lato"/>
                <a:cs typeface="Lato"/>
              </a:rPr>
              <a:t> </a:t>
            </a: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0602" y="1445720"/>
            <a:ext cx="2288150" cy="4168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650" y="4406442"/>
            <a:ext cx="7007060" cy="2072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6443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07C0D29-0528-B24A-BD10-9AE029E2C98D}"/>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47DF7F8D-FEA9-8C49-972B-E03B97D83EE0}"/>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B1E3C12A-CB03-8941-B779-D6350B5AC254}"/>
              </a:ext>
            </a:extLst>
          </p:cNvPr>
          <p:cNvSpPr>
            <a:spLocks noGrp="1"/>
          </p:cNvSpPr>
          <p:nvPr>
            <p:ph type="sldNum" sz="quarter" idx="12"/>
          </p:nvPr>
        </p:nvSpPr>
        <p:spPr/>
        <p:txBody>
          <a:bodyPr/>
          <a:lstStyle/>
          <a:p>
            <a:fld id="{BA7BC09B-FE30-A349-B1D2-5A364F511F98}" type="slidenum">
              <a:rPr lang="en-US" smtClean="0"/>
              <a:t>5</a:t>
            </a:fld>
            <a:endParaRPr lang="en-US"/>
          </a:p>
        </p:txBody>
      </p:sp>
      <p:sp>
        <p:nvSpPr>
          <p:cNvPr id="2" name="Title 1">
            <a:extLst>
              <a:ext uri="{FF2B5EF4-FFF2-40B4-BE49-F238E27FC236}">
                <a16:creationId xmlns:a16="http://schemas.microsoft.com/office/drawing/2014/main" id="{B341ECC3-AC1F-714E-863B-FE75123F793E}"/>
              </a:ext>
            </a:extLst>
          </p:cNvPr>
          <p:cNvSpPr>
            <a:spLocks noGrp="1"/>
          </p:cNvSpPr>
          <p:nvPr>
            <p:ph type="title"/>
          </p:nvPr>
        </p:nvSpPr>
        <p:spPr/>
        <p:txBody>
          <a:bodyPr/>
          <a:lstStyle/>
          <a:p>
            <a:r>
              <a:rPr lang="en-US" err="1"/>
              <a:t>Khai</a:t>
            </a:r>
            <a:r>
              <a:rPr lang="en-US"/>
              <a:t> </a:t>
            </a:r>
            <a:r>
              <a:rPr lang="en-US" err="1"/>
              <a:t>báo</a:t>
            </a:r>
            <a:r>
              <a:rPr lang="en-US"/>
              <a:t> </a:t>
            </a:r>
            <a:r>
              <a:rPr lang="en-US" err="1"/>
              <a:t>mảng</a:t>
            </a:r>
            <a:endParaRPr lang="en-US"/>
          </a:p>
        </p:txBody>
      </p:sp>
      <p:sp>
        <p:nvSpPr>
          <p:cNvPr id="3" name="Content Placeholder 2">
            <a:extLst>
              <a:ext uri="{FF2B5EF4-FFF2-40B4-BE49-F238E27FC236}">
                <a16:creationId xmlns:a16="http://schemas.microsoft.com/office/drawing/2014/main" id="{C9557480-6B56-9845-88B3-A31EF8A00D96}"/>
              </a:ext>
            </a:extLst>
          </p:cNvPr>
          <p:cNvSpPr>
            <a:spLocks noGrp="1"/>
          </p:cNvSpPr>
          <p:nvPr>
            <p:ph type="body" sz="quarter" idx="13"/>
          </p:nvPr>
        </p:nvSpPr>
        <p:spPr>
          <a:xfrm>
            <a:off x="234950" y="963168"/>
            <a:ext cx="8694694" cy="5410859"/>
          </a:xfrm>
        </p:spPr>
        <p:txBody>
          <a:bodyPr>
            <a:noAutofit/>
          </a:bodyPr>
          <a:lstStyle/>
          <a:p>
            <a:pPr>
              <a:lnSpc>
                <a:spcPct val="90000"/>
              </a:lnSpc>
            </a:pPr>
            <a:r>
              <a:rPr lang="en-US" altLang="en-US" sz="2400" err="1"/>
              <a:t>Khai</a:t>
            </a:r>
            <a:r>
              <a:rPr lang="en-US" altLang="en-US" sz="2400"/>
              <a:t> </a:t>
            </a:r>
            <a:r>
              <a:rPr lang="en-US" altLang="en-US" sz="2400" err="1"/>
              <a:t>báo</a:t>
            </a:r>
            <a:r>
              <a:rPr lang="en-US" altLang="en-US" sz="2400"/>
              <a:t> </a:t>
            </a:r>
            <a:r>
              <a:rPr lang="en-US" altLang="en-US" sz="2400" err="1"/>
              <a:t>mảng</a:t>
            </a:r>
            <a:r>
              <a:rPr lang="en-US" altLang="en-US" sz="2400"/>
              <a:t> 1 </a:t>
            </a:r>
            <a:r>
              <a:rPr lang="en-US" altLang="en-US" sz="2400" err="1"/>
              <a:t>chiều</a:t>
            </a:r>
            <a:r>
              <a:rPr lang="en-US" altLang="en-US" sz="2400"/>
              <a:t>: </a:t>
            </a:r>
          </a:p>
          <a:p>
            <a:pPr lvl="1">
              <a:lnSpc>
                <a:spcPct val="90000"/>
              </a:lnSpc>
            </a:pPr>
            <a:r>
              <a:rPr lang="en-US" altLang="en-US" sz="2400"/>
              <a:t>ARRAY: vector [1, N] OF  integer ;</a:t>
            </a:r>
          </a:p>
          <a:p>
            <a:pPr>
              <a:lnSpc>
                <a:spcPct val="90000"/>
              </a:lnSpc>
            </a:pPr>
            <a:r>
              <a:rPr lang="en-US" altLang="en-US" sz="2400" err="1"/>
              <a:t>Khai</a:t>
            </a:r>
            <a:r>
              <a:rPr lang="en-US" altLang="en-US" sz="2400"/>
              <a:t> </a:t>
            </a:r>
            <a:r>
              <a:rPr lang="en-US" altLang="en-US" sz="2400" err="1"/>
              <a:t>báo</a:t>
            </a:r>
            <a:r>
              <a:rPr lang="en-US" altLang="en-US" sz="2400"/>
              <a:t> </a:t>
            </a:r>
            <a:r>
              <a:rPr lang="en-US" altLang="en-US" sz="2400" err="1"/>
              <a:t>mảng</a:t>
            </a:r>
            <a:r>
              <a:rPr lang="en-US" altLang="en-US" sz="2400"/>
              <a:t> </a:t>
            </a:r>
            <a:r>
              <a:rPr lang="en-US" altLang="en-US" sz="2400" err="1"/>
              <a:t>hai</a:t>
            </a:r>
            <a:r>
              <a:rPr lang="en-US" altLang="en-US" sz="2400"/>
              <a:t> </a:t>
            </a:r>
            <a:r>
              <a:rPr lang="en-US" altLang="en-US" sz="2400" err="1"/>
              <a:t>chiều</a:t>
            </a:r>
            <a:r>
              <a:rPr lang="en-US" altLang="en-US" sz="2400"/>
              <a:t>: </a:t>
            </a:r>
          </a:p>
          <a:p>
            <a:pPr lvl="1">
              <a:lnSpc>
                <a:spcPct val="90000"/>
              </a:lnSpc>
            </a:pPr>
            <a:r>
              <a:rPr lang="en-US" altLang="en-US" sz="2400"/>
              <a:t>ARRAY: </a:t>
            </a:r>
            <a:r>
              <a:rPr lang="en-US" altLang="en-US" sz="2400" err="1"/>
              <a:t>matran</a:t>
            </a:r>
            <a:r>
              <a:rPr lang="en-US" altLang="en-US" sz="2400"/>
              <a:t>[2, M, N] OF integer; hay </a:t>
            </a:r>
            <a:r>
              <a:rPr lang="en-US" altLang="en-US" sz="2400" err="1"/>
              <a:t>tương</a:t>
            </a:r>
            <a:r>
              <a:rPr lang="en-US" altLang="en-US" sz="2400"/>
              <a:t> </a:t>
            </a:r>
            <a:r>
              <a:rPr lang="en-US" altLang="en-US" sz="2400" err="1"/>
              <a:t>đương</a:t>
            </a:r>
            <a:r>
              <a:rPr lang="en-US" altLang="en-US" sz="2400"/>
              <a:t> </a:t>
            </a:r>
          </a:p>
          <a:p>
            <a:pPr lvl="1">
              <a:lnSpc>
                <a:spcPct val="90000"/>
              </a:lnSpc>
            </a:pPr>
            <a:r>
              <a:rPr lang="en-US" altLang="en-US" sz="2400"/>
              <a:t>ARRAY: </a:t>
            </a:r>
            <a:r>
              <a:rPr lang="en-US" altLang="en-US" sz="2400" err="1"/>
              <a:t>matran</a:t>
            </a:r>
            <a:r>
              <a:rPr lang="en-US" altLang="en-US" sz="2400"/>
              <a:t>[1, M] OF vector;</a:t>
            </a:r>
          </a:p>
          <a:p>
            <a:pPr>
              <a:lnSpc>
                <a:spcPct val="90000"/>
              </a:lnSpc>
            </a:pPr>
            <a:r>
              <a:rPr lang="en-US" altLang="en-US" sz="2400" err="1"/>
              <a:t>Khai</a:t>
            </a:r>
            <a:r>
              <a:rPr lang="en-US" altLang="en-US" sz="2400"/>
              <a:t> </a:t>
            </a:r>
            <a:r>
              <a:rPr lang="en-US" altLang="en-US" sz="2400" err="1"/>
              <a:t>báo</a:t>
            </a:r>
            <a:r>
              <a:rPr lang="en-US" altLang="en-US" sz="2400"/>
              <a:t> </a:t>
            </a:r>
            <a:r>
              <a:rPr lang="en-US" altLang="en-US" sz="2400" err="1"/>
              <a:t>mảng</a:t>
            </a:r>
            <a:r>
              <a:rPr lang="en-US" altLang="en-US" sz="2400"/>
              <a:t> N </a:t>
            </a:r>
            <a:r>
              <a:rPr lang="en-US" altLang="en-US" sz="2400" err="1"/>
              <a:t>chiều</a:t>
            </a:r>
            <a:r>
              <a:rPr lang="en-US" altLang="en-US" sz="2400"/>
              <a:t>: </a:t>
            </a:r>
          </a:p>
          <a:p>
            <a:pPr lvl="1">
              <a:lnSpc>
                <a:spcPct val="90000"/>
              </a:lnSpc>
            </a:pPr>
            <a:r>
              <a:rPr lang="en-US" altLang="en-US" sz="2400"/>
              <a:t>ARRAY : a[N, L1, L2,..., Ln]  OF  integer;</a:t>
            </a:r>
          </a:p>
          <a:p>
            <a:r>
              <a:rPr lang="en-US" altLang="en-US" sz="2400" err="1"/>
              <a:t>Trong</a:t>
            </a:r>
            <a:r>
              <a:rPr lang="en-US" altLang="en-US" sz="2400"/>
              <a:t> C/C++, </a:t>
            </a:r>
            <a:r>
              <a:rPr lang="en-US" altLang="en-US" sz="2400" err="1"/>
              <a:t>các</a:t>
            </a:r>
            <a:r>
              <a:rPr lang="en-US" altLang="en-US" sz="2400"/>
              <a:t> </a:t>
            </a:r>
            <a:r>
              <a:rPr lang="en-US" altLang="en-US" sz="2400" err="1"/>
              <a:t>mảng</a:t>
            </a:r>
            <a:r>
              <a:rPr lang="en-US" altLang="en-US" sz="2400"/>
              <a:t> </a:t>
            </a:r>
            <a:r>
              <a:rPr lang="en-US" altLang="en-US" sz="2400" err="1"/>
              <a:t>trên</a:t>
            </a:r>
            <a:r>
              <a:rPr lang="en-US" altLang="en-US" sz="2400"/>
              <a:t> </a:t>
            </a:r>
            <a:r>
              <a:rPr lang="en-US" altLang="en-US" sz="2400" err="1"/>
              <a:t>được</a:t>
            </a:r>
            <a:r>
              <a:rPr lang="en-US" altLang="en-US" sz="2400"/>
              <a:t> </a:t>
            </a:r>
            <a:r>
              <a:rPr lang="en-US" altLang="en-US" sz="2400" err="1"/>
              <a:t>khai</a:t>
            </a:r>
            <a:r>
              <a:rPr lang="en-US" altLang="en-US" sz="2400"/>
              <a:t> </a:t>
            </a:r>
            <a:r>
              <a:rPr lang="en-US" altLang="en-US" sz="2400" err="1"/>
              <a:t>báo</a:t>
            </a:r>
            <a:r>
              <a:rPr lang="en-US" altLang="en-US" sz="2400"/>
              <a:t> </a:t>
            </a:r>
            <a:r>
              <a:rPr lang="en-US" altLang="en-US" sz="2400" err="1"/>
              <a:t>như</a:t>
            </a:r>
            <a:r>
              <a:rPr lang="en-US" altLang="en-US" sz="2400"/>
              <a:t> </a:t>
            </a:r>
            <a:r>
              <a:rPr lang="en-US" altLang="en-US" sz="2400" err="1"/>
              <a:t>sau</a:t>
            </a:r>
            <a:r>
              <a:rPr lang="en-US" altLang="en-US" sz="2400"/>
              <a:t>:</a:t>
            </a:r>
          </a:p>
          <a:p>
            <a:pPr lvl="1"/>
            <a:r>
              <a:rPr lang="en-US" altLang="en-US" sz="2400"/>
              <a:t>int vector [0..N-1] ; </a:t>
            </a:r>
          </a:p>
          <a:p>
            <a:pPr lvl="1"/>
            <a:r>
              <a:rPr lang="en-US" altLang="en-US" sz="2400"/>
              <a:t>int </a:t>
            </a:r>
            <a:r>
              <a:rPr lang="en-US" altLang="en-US" sz="2400" err="1"/>
              <a:t>matran</a:t>
            </a:r>
            <a:r>
              <a:rPr lang="en-US" altLang="en-US" sz="2400"/>
              <a:t> [0..M-1][0..N-1] ; hay </a:t>
            </a:r>
          </a:p>
          <a:p>
            <a:pPr lvl="1"/>
            <a:r>
              <a:rPr lang="en-US" altLang="en-US" sz="2400"/>
              <a:t>vector </a:t>
            </a:r>
            <a:r>
              <a:rPr lang="en-US" altLang="en-US" sz="2400" err="1"/>
              <a:t>matran</a:t>
            </a:r>
            <a:r>
              <a:rPr lang="en-US" altLang="en-US" sz="2400"/>
              <a:t> [0..M-1];</a:t>
            </a:r>
          </a:p>
          <a:p>
            <a:r>
              <a:rPr lang="en-US" altLang="en-US" sz="2400" err="1"/>
              <a:t>Lưu</a:t>
            </a:r>
            <a:r>
              <a:rPr lang="en-US" altLang="en-US" sz="2400"/>
              <a:t> </a:t>
            </a:r>
            <a:r>
              <a:rPr lang="en-US" altLang="en-US" sz="2400" err="1"/>
              <a:t>ý</a:t>
            </a:r>
            <a:r>
              <a:rPr lang="en-US" altLang="en-US" sz="2400"/>
              <a:t> </a:t>
            </a:r>
            <a:r>
              <a:rPr lang="en-US" altLang="en-US" sz="2400" err="1"/>
              <a:t>trong</a:t>
            </a:r>
            <a:r>
              <a:rPr lang="en-US" altLang="en-US" sz="2400"/>
              <a:t> C/C++ </a:t>
            </a:r>
            <a:r>
              <a:rPr lang="en-US" altLang="en-US" sz="2400" err="1"/>
              <a:t>quy</a:t>
            </a:r>
            <a:r>
              <a:rPr lang="en-US" altLang="en-US" sz="2400"/>
              <a:t> </a:t>
            </a:r>
            <a:r>
              <a:rPr lang="en-US" altLang="en-US" sz="2400" err="1"/>
              <a:t>ước</a:t>
            </a:r>
            <a:r>
              <a:rPr lang="en-US" altLang="en-US" sz="2400"/>
              <a:t>:</a:t>
            </a:r>
          </a:p>
          <a:p>
            <a:pPr lvl="1"/>
            <a:r>
              <a:rPr lang="en-US" altLang="en-US" sz="2400" err="1"/>
              <a:t>Kích</a:t>
            </a:r>
            <a:r>
              <a:rPr lang="en-US" altLang="en-US" sz="2400"/>
              <a:t> </a:t>
            </a:r>
            <a:r>
              <a:rPr lang="en-US" altLang="en-US" sz="2400" err="1"/>
              <a:t>thước</a:t>
            </a:r>
            <a:r>
              <a:rPr lang="en-US" altLang="en-US" sz="2400"/>
              <a:t> </a:t>
            </a:r>
            <a:r>
              <a:rPr lang="en-US" altLang="en-US" sz="2400" err="1"/>
              <a:t>mỗi</a:t>
            </a:r>
            <a:r>
              <a:rPr lang="en-US" altLang="en-US" sz="2400"/>
              <a:t> </a:t>
            </a:r>
            <a:r>
              <a:rPr lang="en-US" altLang="en-US" sz="2400" err="1"/>
              <a:t>chiều</a:t>
            </a:r>
            <a:r>
              <a:rPr lang="en-US" altLang="en-US" sz="2400"/>
              <a:t> = </a:t>
            </a:r>
            <a:r>
              <a:rPr lang="en-US" altLang="en-US" sz="2400" err="1"/>
              <a:t>chỉ</a:t>
            </a:r>
            <a:r>
              <a:rPr lang="en-US" altLang="en-US" sz="2400"/>
              <a:t> </a:t>
            </a:r>
            <a:r>
              <a:rPr lang="en-US" altLang="en-US" sz="2400" err="1"/>
              <a:t>số</a:t>
            </a:r>
            <a:r>
              <a:rPr lang="en-US" altLang="en-US" sz="2400"/>
              <a:t> </a:t>
            </a:r>
            <a:r>
              <a:rPr lang="en-US" altLang="en-US" sz="2400" err="1"/>
              <a:t>trên</a:t>
            </a:r>
            <a:r>
              <a:rPr lang="en-US" altLang="en-US" sz="2400"/>
              <a:t> + 1</a:t>
            </a:r>
          </a:p>
          <a:p>
            <a:pPr lvl="1" algn="just">
              <a:lnSpc>
                <a:spcPct val="90000"/>
              </a:lnSpc>
            </a:pPr>
            <a:endParaRPr lang="en-US" sz="2400"/>
          </a:p>
        </p:txBody>
      </p:sp>
    </p:spTree>
    <p:extLst>
      <p:ext uri="{BB962C8B-B14F-4D97-AF65-F5344CB8AC3E}">
        <p14:creationId xmlns:p14="http://schemas.microsoft.com/office/powerpoint/2010/main" val="4177400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8CF92E8-93D1-4246-9203-88234E64793C}" type="datetime1">
              <a:rPr lang="en-US" smtClean="0"/>
              <a:t>11/6/2025</a:t>
            </a:fld>
            <a:endParaRPr lang="en-US"/>
          </a:p>
        </p:txBody>
      </p:sp>
      <p:sp>
        <p:nvSpPr>
          <p:cNvPr id="6" name="Footer Placeholder 5"/>
          <p:cNvSpPr>
            <a:spLocks noGrp="1"/>
          </p:cNvSpPr>
          <p:nvPr>
            <p:ph type="ftr" sz="quarter" idx="11"/>
          </p:nvPr>
        </p:nvSpPr>
        <p:spPr/>
        <p:txBody>
          <a:bodyPr/>
          <a:lstStyle/>
          <a:p>
            <a:r>
              <a:rPr lang="is-IS"/>
              <a:t>Cấu trúc dữ liệu và giải thuật</a:t>
            </a:r>
            <a:endParaRPr lang="en-US"/>
          </a:p>
        </p:txBody>
      </p:sp>
      <p:sp>
        <p:nvSpPr>
          <p:cNvPr id="7" name="Slide Number Placeholder 6"/>
          <p:cNvSpPr>
            <a:spLocks noGrp="1"/>
          </p:cNvSpPr>
          <p:nvPr>
            <p:ph type="sldNum" sz="quarter" idx="12"/>
          </p:nvPr>
        </p:nvSpPr>
        <p:spPr/>
        <p:txBody>
          <a:bodyPr/>
          <a:lstStyle/>
          <a:p>
            <a:fld id="{BA7BC09B-FE30-A349-B1D2-5A364F511F98}" type="slidenum">
              <a:rPr lang="en-US" smtClean="0"/>
              <a:t>6</a:t>
            </a:fld>
            <a:endParaRPr lang="en-US"/>
          </a:p>
        </p:txBody>
      </p:sp>
      <p:sp>
        <p:nvSpPr>
          <p:cNvPr id="8" name="Title 7"/>
          <p:cNvSpPr>
            <a:spLocks noGrp="1"/>
          </p:cNvSpPr>
          <p:nvPr>
            <p:ph type="title"/>
          </p:nvPr>
        </p:nvSpPr>
        <p:spPr/>
        <p:txBody>
          <a:bodyPr/>
          <a:lstStyle/>
          <a:p>
            <a:r>
              <a:rPr lang="en-US" err="1"/>
              <a:t>Cách</a:t>
            </a:r>
            <a:r>
              <a:rPr lang="en-US"/>
              <a:t> </a:t>
            </a:r>
            <a:r>
              <a:rPr lang="en-US" err="1"/>
              <a:t>xác</a:t>
            </a:r>
            <a:r>
              <a:rPr lang="en-US"/>
              <a:t> </a:t>
            </a:r>
            <a:r>
              <a:rPr lang="en-US" err="1"/>
              <a:t>định</a:t>
            </a:r>
            <a:r>
              <a:rPr lang="en-US"/>
              <a:t> </a:t>
            </a:r>
            <a:r>
              <a:rPr lang="en-US" err="1"/>
              <a:t>địa</a:t>
            </a:r>
            <a:r>
              <a:rPr lang="en-US"/>
              <a:t> </a:t>
            </a:r>
            <a:r>
              <a:rPr lang="en-US" err="1"/>
              <a:t>chỉ</a:t>
            </a:r>
            <a:endParaRPr lang="en-US"/>
          </a:p>
        </p:txBody>
      </p:sp>
      <p:sp>
        <p:nvSpPr>
          <p:cNvPr id="9" name="Content Placeholder 8"/>
          <p:cNvSpPr>
            <a:spLocks noGrp="1"/>
          </p:cNvSpPr>
          <p:nvPr>
            <p:ph type="body" sz="quarter" idx="13"/>
          </p:nvPr>
        </p:nvSpPr>
        <p:spPr/>
        <p:txBody>
          <a:bodyPr>
            <a:normAutofit/>
          </a:bodyPr>
          <a:lstStyle/>
          <a:p>
            <a:r>
              <a:rPr lang="en-US" err="1"/>
              <a:t>Địa</a:t>
            </a:r>
            <a:r>
              <a:rPr lang="en-US"/>
              <a:t> </a:t>
            </a:r>
            <a:r>
              <a:rPr lang="en-US" err="1"/>
              <a:t>chỉ</a:t>
            </a:r>
            <a:r>
              <a:rPr lang="en-US"/>
              <a:t> </a:t>
            </a:r>
            <a:r>
              <a:rPr lang="en-US" err="1"/>
              <a:t>máy</a:t>
            </a:r>
            <a:r>
              <a:rPr lang="en-US"/>
              <a:t> </a:t>
            </a:r>
            <a:r>
              <a:rPr lang="en-US" err="1"/>
              <a:t>tính</a:t>
            </a:r>
            <a:r>
              <a:rPr lang="en-US"/>
              <a:t> (computer address): </a:t>
            </a:r>
            <a:r>
              <a:rPr lang="en-US" err="1"/>
              <a:t>dựa</a:t>
            </a:r>
            <a:r>
              <a:rPr lang="en-US"/>
              <a:t> </a:t>
            </a:r>
            <a:r>
              <a:rPr lang="en-US" err="1"/>
              <a:t>vào</a:t>
            </a:r>
            <a:r>
              <a:rPr lang="en-US"/>
              <a:t> </a:t>
            </a:r>
            <a:r>
              <a:rPr lang="en-US" err="1"/>
              <a:t>những</a:t>
            </a:r>
            <a:r>
              <a:rPr lang="en-US"/>
              <a:t> </a:t>
            </a:r>
            <a:r>
              <a:rPr lang="en-US" err="1"/>
              <a:t>đặc</a:t>
            </a:r>
            <a:r>
              <a:rPr lang="en-US"/>
              <a:t> </a:t>
            </a:r>
            <a:r>
              <a:rPr lang="en-US" err="1"/>
              <a:t>tả</a:t>
            </a:r>
            <a:r>
              <a:rPr lang="en-US"/>
              <a:t> </a:t>
            </a:r>
            <a:r>
              <a:rPr lang="en-US" err="1"/>
              <a:t>dữ</a:t>
            </a:r>
            <a:r>
              <a:rPr lang="en-US"/>
              <a:t> </a:t>
            </a:r>
            <a:r>
              <a:rPr lang="en-US" err="1"/>
              <a:t>liệu</a:t>
            </a:r>
            <a:r>
              <a:rPr lang="en-US"/>
              <a:t> </a:t>
            </a:r>
            <a:r>
              <a:rPr lang="en-US" err="1"/>
              <a:t>để</a:t>
            </a:r>
            <a:r>
              <a:rPr lang="en-US"/>
              <a:t> </a:t>
            </a:r>
            <a:r>
              <a:rPr lang="en-US" err="1"/>
              <a:t>tính</a:t>
            </a:r>
            <a:r>
              <a:rPr lang="en-US"/>
              <a:t> </a:t>
            </a:r>
            <a:r>
              <a:rPr lang="en-US" err="1"/>
              <a:t>trực</a:t>
            </a:r>
            <a:r>
              <a:rPr lang="en-US"/>
              <a:t> </a:t>
            </a:r>
            <a:r>
              <a:rPr lang="en-US" err="1"/>
              <a:t>tiếp</a:t>
            </a:r>
            <a:r>
              <a:rPr lang="en-US"/>
              <a:t> </a:t>
            </a:r>
            <a:r>
              <a:rPr lang="en-US" err="1"/>
              <a:t>ra</a:t>
            </a:r>
            <a:r>
              <a:rPr lang="en-US"/>
              <a:t> </a:t>
            </a:r>
            <a:r>
              <a:rPr lang="en-US" err="1"/>
              <a:t>địa</a:t>
            </a:r>
            <a:r>
              <a:rPr lang="en-US"/>
              <a:t> </a:t>
            </a:r>
            <a:r>
              <a:rPr lang="en-US" err="1"/>
              <a:t>chỉ</a:t>
            </a:r>
            <a:r>
              <a:rPr lang="en-US"/>
              <a:t> </a:t>
            </a:r>
          </a:p>
          <a:p>
            <a:pPr lvl="1"/>
            <a:r>
              <a:rPr lang="en-US" err="1"/>
              <a:t>Sử</a:t>
            </a:r>
            <a:r>
              <a:rPr lang="en-US"/>
              <a:t> </a:t>
            </a:r>
            <a:r>
              <a:rPr lang="en-US" err="1"/>
              <a:t>dụng</a:t>
            </a:r>
            <a:r>
              <a:rPr lang="en-US"/>
              <a:t> </a:t>
            </a:r>
            <a:r>
              <a:rPr lang="en-US" err="1"/>
              <a:t>trong</a:t>
            </a:r>
            <a:r>
              <a:rPr lang="en-US"/>
              <a:t> </a:t>
            </a:r>
            <a:r>
              <a:rPr lang="en-US" err="1"/>
              <a:t>chương</a:t>
            </a:r>
            <a:r>
              <a:rPr lang="en-US"/>
              <a:t> </a:t>
            </a:r>
            <a:r>
              <a:rPr lang="en-US" err="1"/>
              <a:t>trình</a:t>
            </a:r>
            <a:r>
              <a:rPr lang="en-US"/>
              <a:t> </a:t>
            </a:r>
            <a:r>
              <a:rPr lang="en-US" err="1"/>
              <a:t>dịch</a:t>
            </a:r>
            <a:r>
              <a:rPr lang="en-US"/>
              <a:t> </a:t>
            </a:r>
            <a:r>
              <a:rPr lang="en-US" err="1"/>
              <a:t>để</a:t>
            </a:r>
            <a:r>
              <a:rPr lang="en-US"/>
              <a:t> </a:t>
            </a:r>
            <a:r>
              <a:rPr lang="en-US" err="1"/>
              <a:t>xác</a:t>
            </a:r>
            <a:r>
              <a:rPr lang="en-US"/>
              <a:t> </a:t>
            </a:r>
            <a:r>
              <a:rPr lang="en-US" err="1"/>
              <a:t>định</a:t>
            </a:r>
            <a:r>
              <a:rPr lang="en-US"/>
              <a:t> </a:t>
            </a:r>
            <a:r>
              <a:rPr lang="en-US" err="1"/>
              <a:t>địa</a:t>
            </a:r>
            <a:r>
              <a:rPr lang="en-US"/>
              <a:t> </a:t>
            </a:r>
            <a:r>
              <a:rPr lang="en-US" err="1"/>
              <a:t>chỉ</a:t>
            </a:r>
            <a:r>
              <a:rPr lang="en-US"/>
              <a:t> </a:t>
            </a:r>
            <a:r>
              <a:rPr lang="en-US" err="1"/>
              <a:t>phần</a:t>
            </a:r>
            <a:r>
              <a:rPr lang="en-US"/>
              <a:t> </a:t>
            </a:r>
            <a:r>
              <a:rPr lang="en-US" err="1"/>
              <a:t>tử</a:t>
            </a:r>
            <a:r>
              <a:rPr lang="en-US"/>
              <a:t> </a:t>
            </a:r>
            <a:r>
              <a:rPr lang="en-US" err="1"/>
              <a:t>mảng</a:t>
            </a:r>
            <a:r>
              <a:rPr lang="en-US"/>
              <a:t>, </a:t>
            </a:r>
            <a:r>
              <a:rPr lang="en-US" err="1"/>
              <a:t>địa</a:t>
            </a:r>
            <a:r>
              <a:rPr lang="en-US"/>
              <a:t> </a:t>
            </a:r>
            <a:r>
              <a:rPr lang="en-US" err="1"/>
              <a:t>chỉ</a:t>
            </a:r>
            <a:r>
              <a:rPr lang="en-US"/>
              <a:t> </a:t>
            </a:r>
            <a:r>
              <a:rPr lang="en-US" err="1"/>
              <a:t>lệnh</a:t>
            </a:r>
            <a:endParaRPr lang="en-US"/>
          </a:p>
          <a:p>
            <a:r>
              <a:rPr lang="en-US" err="1"/>
              <a:t>Địa</a:t>
            </a:r>
            <a:r>
              <a:rPr lang="en-US"/>
              <a:t> </a:t>
            </a:r>
            <a:r>
              <a:rPr lang="en-US" err="1"/>
              <a:t>chỉ</a:t>
            </a:r>
            <a:r>
              <a:rPr lang="en-US"/>
              <a:t> con </a:t>
            </a:r>
            <a:r>
              <a:rPr lang="en-US" err="1"/>
              <a:t>trỏ</a:t>
            </a:r>
            <a:r>
              <a:rPr lang="en-US"/>
              <a:t> (pointer) </a:t>
            </a:r>
            <a:r>
              <a:rPr lang="en-US" err="1"/>
              <a:t>hoặc</a:t>
            </a:r>
            <a:r>
              <a:rPr lang="en-US"/>
              <a:t> </a:t>
            </a:r>
            <a:r>
              <a:rPr lang="en-US" err="1"/>
              <a:t>liên</a:t>
            </a:r>
            <a:r>
              <a:rPr lang="en-US"/>
              <a:t> </a:t>
            </a:r>
            <a:r>
              <a:rPr lang="en-US" err="1"/>
              <a:t>kết</a:t>
            </a:r>
            <a:r>
              <a:rPr lang="en-US"/>
              <a:t> (link): </a:t>
            </a:r>
            <a:r>
              <a:rPr lang="en-US" err="1"/>
              <a:t>lưu</a:t>
            </a:r>
            <a:r>
              <a:rPr lang="en-US"/>
              <a:t> </a:t>
            </a:r>
            <a:r>
              <a:rPr lang="en-US" err="1"/>
              <a:t>trữ</a:t>
            </a:r>
            <a:r>
              <a:rPr lang="en-US"/>
              <a:t> </a:t>
            </a:r>
            <a:r>
              <a:rPr lang="en-US" err="1"/>
              <a:t>địa</a:t>
            </a:r>
            <a:r>
              <a:rPr lang="en-US"/>
              <a:t> </a:t>
            </a:r>
            <a:r>
              <a:rPr lang="en-US" err="1"/>
              <a:t>chỉ</a:t>
            </a:r>
            <a:r>
              <a:rPr lang="en-US"/>
              <a:t> </a:t>
            </a:r>
            <a:r>
              <a:rPr lang="en-US" err="1"/>
              <a:t>cần</a:t>
            </a:r>
            <a:r>
              <a:rPr lang="en-US"/>
              <a:t> </a:t>
            </a:r>
            <a:r>
              <a:rPr lang="en-US" err="1"/>
              <a:t>thiết</a:t>
            </a:r>
            <a:r>
              <a:rPr lang="en-US"/>
              <a:t> </a:t>
            </a:r>
            <a:r>
              <a:rPr lang="en-US" err="1"/>
              <a:t>ở</a:t>
            </a:r>
            <a:r>
              <a:rPr lang="en-US"/>
              <a:t> </a:t>
            </a:r>
            <a:r>
              <a:rPr lang="en-US" err="1"/>
              <a:t>một</a:t>
            </a:r>
            <a:r>
              <a:rPr lang="en-US"/>
              <a:t> </a:t>
            </a:r>
            <a:r>
              <a:rPr lang="en-US" err="1"/>
              <a:t>chỗ</a:t>
            </a:r>
            <a:r>
              <a:rPr lang="en-US"/>
              <a:t> </a:t>
            </a:r>
            <a:r>
              <a:rPr lang="en-US" err="1"/>
              <a:t>quy</a:t>
            </a:r>
            <a:r>
              <a:rPr lang="en-US"/>
              <a:t> </a:t>
            </a:r>
            <a:r>
              <a:rPr lang="en-US" err="1"/>
              <a:t>định</a:t>
            </a:r>
            <a:r>
              <a:rPr lang="en-US"/>
              <a:t> </a:t>
            </a:r>
            <a:r>
              <a:rPr lang="en-US" err="1"/>
              <a:t>ví</a:t>
            </a:r>
            <a:r>
              <a:rPr lang="en-US"/>
              <a:t> </a:t>
            </a:r>
            <a:r>
              <a:rPr lang="en-US" err="1"/>
              <a:t>dụ</a:t>
            </a:r>
            <a:r>
              <a:rPr lang="en-US"/>
              <a:t> </a:t>
            </a:r>
            <a:r>
              <a:rPr lang="en-US" err="1"/>
              <a:t>thanh</a:t>
            </a:r>
            <a:r>
              <a:rPr lang="en-US"/>
              <a:t> </a:t>
            </a:r>
            <a:r>
              <a:rPr lang="en-US" err="1"/>
              <a:t>ghi</a:t>
            </a:r>
            <a:r>
              <a:rPr lang="en-US"/>
              <a:t> </a:t>
            </a:r>
            <a:r>
              <a:rPr lang="en-US" err="1"/>
              <a:t>địa</a:t>
            </a:r>
            <a:r>
              <a:rPr lang="en-US"/>
              <a:t> </a:t>
            </a:r>
            <a:r>
              <a:rPr lang="en-US" err="1"/>
              <a:t>chỉ</a:t>
            </a:r>
            <a:r>
              <a:rPr lang="en-US"/>
              <a:t>. </a:t>
            </a:r>
          </a:p>
          <a:p>
            <a:pPr lvl="1"/>
            <a:r>
              <a:rPr lang="en-US" err="1"/>
              <a:t>Sử</a:t>
            </a:r>
            <a:r>
              <a:rPr lang="en-US"/>
              <a:t> </a:t>
            </a:r>
            <a:r>
              <a:rPr lang="en-US" err="1"/>
              <a:t>dụng</a:t>
            </a:r>
            <a:r>
              <a:rPr lang="en-US"/>
              <a:t> </a:t>
            </a:r>
            <a:r>
              <a:rPr lang="en-US" err="1"/>
              <a:t>để</a:t>
            </a:r>
            <a:r>
              <a:rPr lang="en-US"/>
              <a:t> </a:t>
            </a:r>
            <a:r>
              <a:rPr lang="en-US" err="1"/>
              <a:t>xác</a:t>
            </a:r>
            <a:r>
              <a:rPr lang="en-US"/>
              <a:t> </a:t>
            </a:r>
            <a:r>
              <a:rPr lang="en-US" err="1"/>
              <a:t>định</a:t>
            </a:r>
            <a:r>
              <a:rPr lang="en-US"/>
              <a:t> </a:t>
            </a:r>
            <a:r>
              <a:rPr lang="en-US" err="1"/>
              <a:t>địa</a:t>
            </a:r>
            <a:r>
              <a:rPr lang="en-US"/>
              <a:t> </a:t>
            </a:r>
            <a:r>
              <a:rPr lang="en-US" err="1"/>
              <a:t>chỉ</a:t>
            </a:r>
            <a:r>
              <a:rPr lang="en-US"/>
              <a:t> quay </a:t>
            </a:r>
            <a:r>
              <a:rPr lang="en-US" err="1"/>
              <a:t>lui</a:t>
            </a:r>
            <a:r>
              <a:rPr lang="en-US"/>
              <a:t> </a:t>
            </a:r>
            <a:r>
              <a:rPr lang="en-US" err="1"/>
              <a:t>của</a:t>
            </a:r>
            <a:r>
              <a:rPr lang="en-US"/>
              <a:t> CT con </a:t>
            </a:r>
            <a:r>
              <a:rPr lang="en-US" err="1"/>
              <a:t>trở</a:t>
            </a:r>
            <a:r>
              <a:rPr lang="en-US"/>
              <a:t> </a:t>
            </a:r>
            <a:r>
              <a:rPr lang="en-US" err="1"/>
              <a:t>về</a:t>
            </a:r>
            <a:r>
              <a:rPr lang="en-US"/>
              <a:t> CT </a:t>
            </a:r>
            <a:r>
              <a:rPr lang="en-US" err="1"/>
              <a:t>chính</a:t>
            </a:r>
            <a:r>
              <a:rPr lang="en-US"/>
              <a:t> </a:t>
            </a:r>
          </a:p>
        </p:txBody>
      </p:sp>
    </p:spTree>
    <p:extLst>
      <p:ext uri="{BB962C8B-B14F-4D97-AF65-F5344CB8AC3E}">
        <p14:creationId xmlns:p14="http://schemas.microsoft.com/office/powerpoint/2010/main" val="11860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7</a:t>
            </a:fld>
            <a:endParaRPr lang="en-US"/>
          </a:p>
        </p:txBody>
      </p:sp>
      <p:sp>
        <p:nvSpPr>
          <p:cNvPr id="2" name="Title 1"/>
          <p:cNvSpPr>
            <a:spLocks noGrp="1"/>
          </p:cNvSpPr>
          <p:nvPr>
            <p:ph type="title"/>
          </p:nvPr>
        </p:nvSpPr>
        <p:spPr/>
        <p:txBody>
          <a:bodyPr/>
          <a:lstStyle/>
          <a:p>
            <a:r>
              <a:rPr lang="en-US" err="1"/>
              <a:t>Đặt</a:t>
            </a:r>
            <a:r>
              <a:rPr lang="en-US"/>
              <a:t> </a:t>
            </a:r>
            <a:r>
              <a:rPr lang="en-US" err="1"/>
              <a:t>điều</a:t>
            </a:r>
            <a:r>
              <a:rPr lang="en-US"/>
              <a:t> </a:t>
            </a:r>
            <a:r>
              <a:rPr lang="en-US" err="1"/>
              <a:t>kiện</a:t>
            </a:r>
            <a:r>
              <a:rPr lang="en-US"/>
              <a:t> </a:t>
            </a:r>
            <a:r>
              <a:rPr lang="en-US" err="1"/>
              <a:t>bài</a:t>
            </a:r>
            <a:r>
              <a:rPr lang="en-US"/>
              <a:t> </a:t>
            </a:r>
            <a:r>
              <a:rPr lang="en-US" err="1"/>
              <a:t>toán</a:t>
            </a:r>
            <a:endParaRPr lang="en-US"/>
          </a:p>
        </p:txBody>
      </p:sp>
      <p:sp>
        <p:nvSpPr>
          <p:cNvPr id="3" name="Content Placeholder 2"/>
          <p:cNvSpPr>
            <a:spLocks noGrp="1"/>
          </p:cNvSpPr>
          <p:nvPr>
            <p:ph type="body" sz="quarter" idx="13"/>
          </p:nvPr>
        </p:nvSpPr>
        <p:spPr/>
        <p:txBody>
          <a:bodyPr/>
          <a:lstStyle/>
          <a:p>
            <a:r>
              <a:rPr lang="en-US" err="1"/>
              <a:t>Lưu</a:t>
            </a:r>
            <a:r>
              <a:rPr lang="en-US"/>
              <a:t> </a:t>
            </a:r>
            <a:r>
              <a:rPr lang="en-US" err="1"/>
              <a:t>trữ</a:t>
            </a:r>
            <a:r>
              <a:rPr lang="en-US"/>
              <a:t> </a:t>
            </a:r>
            <a:r>
              <a:rPr lang="en-US" err="1"/>
              <a:t>kế</a:t>
            </a:r>
            <a:r>
              <a:rPr lang="en-US"/>
              <a:t> </a:t>
            </a:r>
            <a:r>
              <a:rPr lang="en-US" err="1"/>
              <a:t>tiếp</a:t>
            </a:r>
            <a:r>
              <a:rPr lang="en-US"/>
              <a:t> </a:t>
            </a:r>
            <a:r>
              <a:rPr lang="en-US" err="1"/>
              <a:t>mảng</a:t>
            </a:r>
            <a:r>
              <a:rPr lang="en-US"/>
              <a:t> 1 </a:t>
            </a:r>
            <a:r>
              <a:rPr lang="en-US" err="1"/>
              <a:t>chiều</a:t>
            </a:r>
            <a:r>
              <a:rPr lang="en-US"/>
              <a:t> </a:t>
            </a:r>
            <a:r>
              <a:rPr lang="en-US" err="1"/>
              <a:t>hoặc</a:t>
            </a:r>
            <a:r>
              <a:rPr lang="en-US"/>
              <a:t> 2 </a:t>
            </a:r>
            <a:r>
              <a:rPr lang="en-US" err="1"/>
              <a:t>chiều</a:t>
            </a:r>
            <a:endParaRPr lang="en-US"/>
          </a:p>
          <a:p>
            <a:r>
              <a:rPr lang="en-US" err="1"/>
              <a:t>Mỗi</a:t>
            </a:r>
            <a:r>
              <a:rPr lang="en-US"/>
              <a:t> </a:t>
            </a:r>
            <a:r>
              <a:rPr lang="en-US" err="1"/>
              <a:t>phần</a:t>
            </a:r>
            <a:r>
              <a:rPr lang="en-US"/>
              <a:t> </a:t>
            </a:r>
            <a:r>
              <a:rPr lang="en-US" err="1"/>
              <a:t>tử</a:t>
            </a:r>
            <a:r>
              <a:rPr lang="en-US"/>
              <a:t> </a:t>
            </a:r>
            <a:r>
              <a:rPr lang="en-US" err="1"/>
              <a:t>mảng</a:t>
            </a:r>
            <a:r>
              <a:rPr lang="en-US"/>
              <a:t> </a:t>
            </a:r>
            <a:r>
              <a:rPr lang="en-US" err="1"/>
              <a:t>chiếm</a:t>
            </a:r>
            <a:r>
              <a:rPr lang="en-US"/>
              <a:t> 1 ô </a:t>
            </a:r>
            <a:r>
              <a:rPr lang="en-US" err="1"/>
              <a:t>tử</a:t>
            </a:r>
            <a:r>
              <a:rPr lang="en-US"/>
              <a:t> </a:t>
            </a:r>
            <a:r>
              <a:rPr lang="en-US" err="1"/>
              <a:t>nhớ</a:t>
            </a:r>
            <a:r>
              <a:rPr lang="en-US"/>
              <a:t> bao </a:t>
            </a:r>
            <a:r>
              <a:rPr lang="en-US" err="1"/>
              <a:t>gồm</a:t>
            </a:r>
            <a:r>
              <a:rPr lang="en-US"/>
              <a:t> </a:t>
            </a:r>
            <a:r>
              <a:rPr lang="en-US">
                <a:solidFill>
                  <a:srgbClr val="FF0000"/>
                </a:solidFill>
              </a:rPr>
              <a:t>w </a:t>
            </a:r>
            <a:r>
              <a:rPr lang="en-US" err="1">
                <a:solidFill>
                  <a:srgbClr val="FF0000"/>
                </a:solidFill>
              </a:rPr>
              <a:t>từ</a:t>
            </a:r>
            <a:r>
              <a:rPr lang="en-US">
                <a:solidFill>
                  <a:srgbClr val="FF0000"/>
                </a:solidFill>
              </a:rPr>
              <a:t> </a:t>
            </a:r>
            <a:r>
              <a:rPr lang="en-US" err="1">
                <a:solidFill>
                  <a:srgbClr val="FF0000"/>
                </a:solidFill>
              </a:rPr>
              <a:t>máy</a:t>
            </a:r>
            <a:r>
              <a:rPr lang="en-US">
                <a:solidFill>
                  <a:srgbClr val="FF0000"/>
                </a:solidFill>
              </a:rPr>
              <a:t> </a:t>
            </a:r>
          </a:p>
          <a:p>
            <a:r>
              <a:rPr lang="en-US" err="1"/>
              <a:t>Nếu</a:t>
            </a:r>
            <a:r>
              <a:rPr lang="en-US"/>
              <a:t> </a:t>
            </a:r>
            <a:r>
              <a:rPr lang="en-US" err="1"/>
              <a:t>mảng</a:t>
            </a:r>
            <a:r>
              <a:rPr lang="en-US"/>
              <a:t> </a:t>
            </a:r>
            <a:r>
              <a:rPr lang="en-US">
                <a:solidFill>
                  <a:srgbClr val="0000FF"/>
                </a:solidFill>
              </a:rPr>
              <a:t>A</a:t>
            </a:r>
            <a:r>
              <a:rPr lang="en-US"/>
              <a:t> </a:t>
            </a:r>
            <a:r>
              <a:rPr lang="en-US" err="1"/>
              <a:t>có</a:t>
            </a:r>
            <a:r>
              <a:rPr lang="en-US"/>
              <a:t> </a:t>
            </a:r>
            <a:r>
              <a:rPr lang="en-US">
                <a:solidFill>
                  <a:srgbClr val="FF0000"/>
                </a:solidFill>
              </a:rPr>
              <a:t>n</a:t>
            </a:r>
            <a:r>
              <a:rPr lang="en-US"/>
              <a:t> </a:t>
            </a:r>
            <a:r>
              <a:rPr lang="en-US" err="1"/>
              <a:t>phần</a:t>
            </a:r>
            <a:r>
              <a:rPr lang="en-US"/>
              <a:t> </a:t>
            </a:r>
            <a:r>
              <a:rPr lang="en-US" err="1"/>
              <a:t>tử</a:t>
            </a:r>
            <a:r>
              <a:rPr lang="en-US"/>
              <a:t> </a:t>
            </a:r>
            <a:r>
              <a:rPr lang="en-US" err="1"/>
              <a:t>thì</a:t>
            </a:r>
            <a:r>
              <a:rPr lang="en-US"/>
              <a:t> </a:t>
            </a:r>
            <a:r>
              <a:rPr lang="en-US" err="1"/>
              <a:t>cần</a:t>
            </a:r>
            <a:r>
              <a:rPr lang="en-US"/>
              <a:t> </a:t>
            </a:r>
            <a:r>
              <a:rPr lang="en-US">
                <a:solidFill>
                  <a:srgbClr val="FF0000"/>
                </a:solidFill>
              </a:rPr>
              <a:t>n*w</a:t>
            </a:r>
            <a:r>
              <a:rPr lang="en-US"/>
              <a:t> </a:t>
            </a:r>
            <a:r>
              <a:rPr lang="en-US" err="1"/>
              <a:t>từ</a:t>
            </a:r>
            <a:r>
              <a:rPr lang="en-US"/>
              <a:t> </a:t>
            </a:r>
            <a:r>
              <a:rPr lang="en-US" err="1"/>
              <a:t>máy</a:t>
            </a:r>
            <a:r>
              <a:rPr lang="en-US"/>
              <a:t> </a:t>
            </a:r>
            <a:r>
              <a:rPr lang="en-US" err="1"/>
              <a:t>liên</a:t>
            </a:r>
            <a:r>
              <a:rPr lang="en-US"/>
              <a:t> </a:t>
            </a:r>
            <a:r>
              <a:rPr lang="en-US" err="1"/>
              <a:t>tiếp</a:t>
            </a:r>
            <a:r>
              <a:rPr lang="en-US"/>
              <a:t> </a:t>
            </a:r>
            <a:r>
              <a:rPr lang="en-US" err="1"/>
              <a:t>để</a:t>
            </a:r>
            <a:r>
              <a:rPr lang="en-US"/>
              <a:t> </a:t>
            </a:r>
            <a:r>
              <a:rPr lang="en-US" err="1"/>
              <a:t>lưu</a:t>
            </a:r>
            <a:r>
              <a:rPr lang="en-US"/>
              <a:t> </a:t>
            </a:r>
            <a:r>
              <a:rPr lang="en-US" err="1"/>
              <a:t>trữ</a:t>
            </a:r>
            <a:r>
              <a:rPr lang="en-US"/>
              <a:t> </a:t>
            </a:r>
          </a:p>
          <a:p>
            <a:r>
              <a:rPr lang="en-US" err="1"/>
              <a:t>Gọi</a:t>
            </a:r>
            <a:r>
              <a:rPr lang="en-US"/>
              <a:t> </a:t>
            </a:r>
            <a:r>
              <a:rPr lang="en-US">
                <a:solidFill>
                  <a:srgbClr val="0000FF"/>
                </a:solidFill>
              </a:rPr>
              <a:t>V</a:t>
            </a:r>
            <a:r>
              <a:rPr lang="en-US"/>
              <a:t> </a:t>
            </a:r>
            <a:r>
              <a:rPr lang="en-US" err="1"/>
              <a:t>là</a:t>
            </a:r>
            <a:r>
              <a:rPr lang="en-US"/>
              <a:t> vector </a:t>
            </a:r>
            <a:r>
              <a:rPr lang="en-US" err="1"/>
              <a:t>chứa</a:t>
            </a:r>
            <a:r>
              <a:rPr lang="en-US"/>
              <a:t> </a:t>
            </a:r>
            <a:r>
              <a:rPr lang="en-US" err="1"/>
              <a:t>địa</a:t>
            </a:r>
            <a:r>
              <a:rPr lang="en-US"/>
              <a:t> </a:t>
            </a:r>
            <a:r>
              <a:rPr lang="en-US" err="1"/>
              <a:t>chỉ</a:t>
            </a:r>
            <a:r>
              <a:rPr lang="en-US"/>
              <a:t> </a:t>
            </a:r>
            <a:r>
              <a:rPr lang="en-US" err="1"/>
              <a:t>của</a:t>
            </a:r>
            <a:r>
              <a:rPr lang="en-US"/>
              <a:t> </a:t>
            </a:r>
            <a:r>
              <a:rPr lang="en-US" err="1"/>
              <a:t>các</a:t>
            </a:r>
            <a:r>
              <a:rPr lang="en-US"/>
              <a:t> </a:t>
            </a:r>
            <a:r>
              <a:rPr lang="en-US" err="1"/>
              <a:t>phần</a:t>
            </a:r>
            <a:r>
              <a:rPr lang="en-US"/>
              <a:t> </a:t>
            </a:r>
            <a:r>
              <a:rPr lang="en-US" err="1"/>
              <a:t>tử</a:t>
            </a:r>
            <a:r>
              <a:rPr lang="en-US"/>
              <a:t> </a:t>
            </a:r>
            <a:r>
              <a:rPr lang="en-US" err="1"/>
              <a:t>mảng</a:t>
            </a:r>
            <a:r>
              <a:rPr lang="en-US"/>
              <a:t> </a:t>
            </a:r>
            <a:r>
              <a:rPr lang="en-US">
                <a:solidFill>
                  <a:srgbClr val="0000FF"/>
                </a:solidFill>
              </a:rPr>
              <a:t>A</a:t>
            </a:r>
          </a:p>
        </p:txBody>
      </p:sp>
    </p:spTree>
    <p:extLst>
      <p:ext uri="{BB962C8B-B14F-4D97-AF65-F5344CB8AC3E}">
        <p14:creationId xmlns:p14="http://schemas.microsoft.com/office/powerpoint/2010/main" val="314225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8</a:t>
            </a:fld>
            <a:endParaRPr lang="en-US"/>
          </a:p>
        </p:txBody>
      </p:sp>
      <p:sp>
        <p:nvSpPr>
          <p:cNvPr id="2" name="Title 1"/>
          <p:cNvSpPr>
            <a:spLocks noGrp="1"/>
          </p:cNvSpPr>
          <p:nvPr>
            <p:ph type="title"/>
          </p:nvPr>
        </p:nvSpPr>
        <p:spPr/>
        <p:txBody>
          <a:bodyPr>
            <a:normAutofit fontScale="90000"/>
          </a:bodyPr>
          <a:lstStyle/>
          <a:p>
            <a:r>
              <a:rPr lang="en-US" err="1"/>
              <a:t>Lưu</a:t>
            </a:r>
            <a:r>
              <a:rPr lang="en-US"/>
              <a:t> </a:t>
            </a:r>
            <a:r>
              <a:rPr lang="en-US" err="1"/>
              <a:t>trữ</a:t>
            </a:r>
            <a:r>
              <a:rPr lang="en-US"/>
              <a:t> </a:t>
            </a:r>
            <a:r>
              <a:rPr lang="en-US" err="1"/>
              <a:t>kế</a:t>
            </a:r>
            <a:r>
              <a:rPr lang="en-US"/>
              <a:t> </a:t>
            </a:r>
            <a:r>
              <a:rPr lang="en-US" err="1"/>
              <a:t>tiếp</a:t>
            </a:r>
            <a:r>
              <a:rPr lang="en-US"/>
              <a:t> </a:t>
            </a:r>
            <a:r>
              <a:rPr lang="en-US" err="1"/>
              <a:t>đối</a:t>
            </a:r>
            <a:r>
              <a:rPr lang="en-US"/>
              <a:t> </a:t>
            </a:r>
            <a:r>
              <a:rPr lang="en-US" err="1"/>
              <a:t>với</a:t>
            </a:r>
            <a:r>
              <a:rPr lang="en-US"/>
              <a:t> </a:t>
            </a:r>
            <a:r>
              <a:rPr lang="en-US" err="1"/>
              <a:t>mảng</a:t>
            </a:r>
            <a:r>
              <a:rPr lang="en-US"/>
              <a:t> 1 </a:t>
            </a:r>
            <a:r>
              <a:rPr lang="en-US" err="1"/>
              <a:t>chiều</a:t>
            </a:r>
            <a:br>
              <a:rPr lang="en-US"/>
            </a:br>
            <a:r>
              <a:rPr lang="en-US"/>
              <a:t>(sequential storage allocation)</a:t>
            </a:r>
          </a:p>
        </p:txBody>
      </p:sp>
      <p:sp>
        <p:nvSpPr>
          <p:cNvPr id="3" name="Content Placeholder 2"/>
          <p:cNvSpPr>
            <a:spLocks noGrp="1"/>
          </p:cNvSpPr>
          <p:nvPr>
            <p:ph type="body" sz="quarter" idx="13"/>
          </p:nvPr>
        </p:nvSpPr>
        <p:spPr/>
        <p:txBody>
          <a:bodyPr/>
          <a:lstStyle/>
          <a:p>
            <a:r>
              <a:rPr lang="en-US" err="1"/>
              <a:t>Mảng</a:t>
            </a:r>
            <a:r>
              <a:rPr lang="en-US"/>
              <a:t> </a:t>
            </a:r>
            <a:r>
              <a:rPr lang="en-US" err="1"/>
              <a:t>được</a:t>
            </a:r>
            <a:r>
              <a:rPr lang="en-US"/>
              <a:t> </a:t>
            </a:r>
            <a:r>
              <a:rPr lang="en-US" err="1"/>
              <a:t>lưu</a:t>
            </a:r>
            <a:r>
              <a:rPr lang="en-US"/>
              <a:t> </a:t>
            </a:r>
            <a:r>
              <a:rPr lang="en-US" err="1"/>
              <a:t>trữ</a:t>
            </a:r>
            <a:r>
              <a:rPr lang="en-US"/>
              <a:t> </a:t>
            </a:r>
            <a:r>
              <a:rPr lang="en-US" err="1"/>
              <a:t>dưới</a:t>
            </a:r>
            <a:r>
              <a:rPr lang="en-US"/>
              <a:t> </a:t>
            </a:r>
            <a:r>
              <a:rPr lang="en-US" err="1"/>
              <a:t>dạng</a:t>
            </a:r>
            <a:r>
              <a:rPr lang="en-US"/>
              <a:t> vector : </a:t>
            </a:r>
            <a:r>
              <a:rPr lang="en-US" err="1"/>
              <a:t>là</a:t>
            </a:r>
            <a:r>
              <a:rPr lang="en-US"/>
              <a:t> </a:t>
            </a:r>
            <a:r>
              <a:rPr lang="en-US" err="1"/>
              <a:t>một</a:t>
            </a:r>
            <a:r>
              <a:rPr lang="en-US"/>
              <a:t> </a:t>
            </a:r>
            <a:r>
              <a:rPr lang="en-US" err="1"/>
              <a:t>dãy</a:t>
            </a:r>
            <a:r>
              <a:rPr lang="en-US"/>
              <a:t> </a:t>
            </a:r>
            <a:r>
              <a:rPr lang="en-US" err="1"/>
              <a:t>các</a:t>
            </a:r>
            <a:r>
              <a:rPr lang="en-US"/>
              <a:t> </a:t>
            </a:r>
            <a:r>
              <a:rPr lang="en-US" err="1"/>
              <a:t>từ</a:t>
            </a:r>
            <a:r>
              <a:rPr lang="en-US"/>
              <a:t> </a:t>
            </a:r>
            <a:r>
              <a:rPr lang="en-US" err="1"/>
              <a:t>máy</a:t>
            </a:r>
            <a:r>
              <a:rPr lang="en-US"/>
              <a:t> </a:t>
            </a:r>
            <a:r>
              <a:rPr lang="en-US" err="1"/>
              <a:t>kế</a:t>
            </a:r>
            <a:r>
              <a:rPr lang="en-US"/>
              <a:t> </a:t>
            </a:r>
            <a:r>
              <a:rPr lang="en-US" err="1"/>
              <a:t>tiếp</a:t>
            </a:r>
            <a:r>
              <a:rPr lang="en-US"/>
              <a:t> </a:t>
            </a:r>
            <a:r>
              <a:rPr lang="en-US" err="1"/>
              <a:t>nhau</a:t>
            </a:r>
            <a:endParaRPr lang="en-US"/>
          </a:p>
          <a:p>
            <a:r>
              <a:rPr lang="en-US" err="1"/>
              <a:t>Địa</a:t>
            </a:r>
            <a:r>
              <a:rPr lang="en-US"/>
              <a:t> </a:t>
            </a:r>
            <a:r>
              <a:rPr lang="en-US" err="1"/>
              <a:t>chỉ</a:t>
            </a:r>
            <a:r>
              <a:rPr lang="en-US"/>
              <a:t> </a:t>
            </a:r>
            <a:r>
              <a:rPr lang="en-US" err="1"/>
              <a:t>của</a:t>
            </a:r>
            <a:r>
              <a:rPr lang="en-US"/>
              <a:t> </a:t>
            </a:r>
            <a:r>
              <a:rPr lang="en-US" err="1"/>
              <a:t>phần</a:t>
            </a:r>
            <a:r>
              <a:rPr lang="en-US"/>
              <a:t> </a:t>
            </a:r>
            <a:r>
              <a:rPr lang="en-US" err="1"/>
              <a:t>tử</a:t>
            </a:r>
            <a:r>
              <a:rPr lang="en-US"/>
              <a:t> A[</a:t>
            </a:r>
            <a:r>
              <a:rPr lang="en-US" err="1"/>
              <a:t>i</a:t>
            </a:r>
            <a:r>
              <a:rPr lang="en-US"/>
              <a:t>] </a:t>
            </a:r>
            <a:r>
              <a:rPr lang="en-US" err="1"/>
              <a:t>xác</a:t>
            </a:r>
            <a:r>
              <a:rPr lang="en-US"/>
              <a:t> </a:t>
            </a:r>
            <a:r>
              <a:rPr lang="en-US" err="1"/>
              <a:t>định</a:t>
            </a:r>
            <a:r>
              <a:rPr lang="en-US"/>
              <a:t> </a:t>
            </a:r>
            <a:r>
              <a:rPr lang="en-US" err="1"/>
              <a:t>như</a:t>
            </a:r>
            <a:r>
              <a:rPr lang="en-US"/>
              <a:t> </a:t>
            </a:r>
            <a:r>
              <a:rPr lang="en-US" err="1"/>
              <a:t>sau</a:t>
            </a:r>
            <a:r>
              <a:rPr lang="en-US"/>
              <a:t> </a:t>
            </a:r>
          </a:p>
          <a:p>
            <a:r>
              <a:rPr lang="en-US" err="1">
                <a:solidFill>
                  <a:srgbClr val="FF0000"/>
                </a:solidFill>
              </a:rPr>
              <a:t>Addr</a:t>
            </a:r>
            <a:r>
              <a:rPr lang="en-US">
                <a:solidFill>
                  <a:srgbClr val="FF0000"/>
                </a:solidFill>
              </a:rPr>
              <a:t>(A[</a:t>
            </a:r>
            <a:r>
              <a:rPr lang="en-US" err="1">
                <a:solidFill>
                  <a:srgbClr val="FF0000"/>
                </a:solidFill>
              </a:rPr>
              <a:t>i</a:t>
            </a:r>
            <a:r>
              <a:rPr lang="en-US">
                <a:solidFill>
                  <a:srgbClr val="FF0000"/>
                </a:solidFill>
              </a:rPr>
              <a:t>]) = L</a:t>
            </a:r>
            <a:r>
              <a:rPr lang="en-US" baseline="-25000">
                <a:solidFill>
                  <a:srgbClr val="FF0000"/>
                </a:solidFill>
              </a:rPr>
              <a:t>0</a:t>
            </a:r>
            <a:r>
              <a:rPr lang="en-US">
                <a:solidFill>
                  <a:srgbClr val="FF0000"/>
                </a:solidFill>
              </a:rPr>
              <a:t> + w*(i-1) </a:t>
            </a:r>
            <a:r>
              <a:rPr lang="en-US" err="1">
                <a:solidFill>
                  <a:srgbClr val="FF0000"/>
                </a:solidFill>
              </a:rPr>
              <a:t>với</a:t>
            </a:r>
            <a:r>
              <a:rPr lang="en-US">
                <a:solidFill>
                  <a:srgbClr val="FF0000"/>
                </a:solidFill>
              </a:rPr>
              <a:t> 1 &lt;= </a:t>
            </a:r>
            <a:r>
              <a:rPr lang="en-US" err="1">
                <a:solidFill>
                  <a:srgbClr val="FF0000"/>
                </a:solidFill>
              </a:rPr>
              <a:t>i</a:t>
            </a:r>
            <a:r>
              <a:rPr lang="en-US">
                <a:solidFill>
                  <a:srgbClr val="FF0000"/>
                </a:solidFill>
              </a:rPr>
              <a:t> &lt;=n</a:t>
            </a: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581568346"/>
              </p:ext>
            </p:extLst>
          </p:nvPr>
        </p:nvGraphicFramePr>
        <p:xfrm>
          <a:off x="1291887" y="4083699"/>
          <a:ext cx="6096000" cy="741680"/>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370840">
                <a:tc>
                  <a:txBody>
                    <a:bodyPr/>
                    <a:lstStyle/>
                    <a:p>
                      <a:r>
                        <a:rPr lang="en-US"/>
                        <a:t>V[1]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r>
                        <a:rPr lang="en-US"/>
                        <a:t>A[1]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A[n]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15" name="Group 14"/>
          <p:cNvGrpSpPr/>
          <p:nvPr/>
        </p:nvGrpSpPr>
        <p:grpSpPr>
          <a:xfrm>
            <a:off x="937624" y="4464432"/>
            <a:ext cx="2477168" cy="1211807"/>
            <a:chOff x="1022684" y="3769628"/>
            <a:chExt cx="2477168" cy="1211807"/>
          </a:xfrm>
        </p:grpSpPr>
        <p:cxnSp>
          <p:nvCxnSpPr>
            <p:cNvPr id="9" name="Straight Arrow Connector 8"/>
            <p:cNvCxnSpPr/>
            <p:nvPr/>
          </p:nvCxnSpPr>
          <p:spPr>
            <a:xfrm flipV="1">
              <a:off x="1657684" y="4277893"/>
              <a:ext cx="0" cy="30747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40182" y="4612103"/>
              <a:ext cx="408786" cy="369332"/>
            </a:xfrm>
            <a:prstGeom prst="rect">
              <a:avLst/>
            </a:prstGeom>
            <a:noFill/>
          </p:spPr>
          <p:txBody>
            <a:bodyPr wrap="square" rtlCol="0">
              <a:spAutoFit/>
            </a:bodyPr>
            <a:lstStyle/>
            <a:p>
              <a:r>
                <a:rPr lang="en-US"/>
                <a:t>L</a:t>
              </a:r>
              <a:r>
                <a:rPr lang="en-US" baseline="-25000"/>
                <a:t>0</a:t>
              </a:r>
            </a:p>
          </p:txBody>
        </p:sp>
        <p:cxnSp>
          <p:nvCxnSpPr>
            <p:cNvPr id="12" name="Straight Arrow Connector 11"/>
            <p:cNvCxnSpPr/>
            <p:nvPr/>
          </p:nvCxnSpPr>
          <p:spPr>
            <a:xfrm>
              <a:off x="2590800" y="4277893"/>
              <a:ext cx="630989"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8547" y="4277893"/>
              <a:ext cx="751305" cy="369332"/>
            </a:xfrm>
            <a:prstGeom prst="rect">
              <a:avLst/>
            </a:prstGeom>
            <a:noFill/>
          </p:spPr>
          <p:txBody>
            <a:bodyPr wrap="square" rtlCol="0">
              <a:spAutoFit/>
            </a:bodyPr>
            <a:lstStyle/>
            <a:p>
              <a:r>
                <a:rPr lang="en-US"/>
                <a:t>w</a:t>
              </a:r>
            </a:p>
          </p:txBody>
        </p:sp>
        <p:sp>
          <p:nvSpPr>
            <p:cNvPr id="14" name="TextBox 13"/>
            <p:cNvSpPr txBox="1"/>
            <p:nvPr/>
          </p:nvSpPr>
          <p:spPr>
            <a:xfrm>
              <a:off x="1022684" y="3769628"/>
              <a:ext cx="708526" cy="369332"/>
            </a:xfrm>
            <a:prstGeom prst="rect">
              <a:avLst/>
            </a:prstGeom>
            <a:noFill/>
          </p:spPr>
          <p:txBody>
            <a:bodyPr wrap="square" rtlCol="0">
              <a:spAutoFit/>
            </a:bodyPr>
            <a:lstStyle/>
            <a:p>
              <a:r>
                <a:rPr lang="en-US"/>
                <a:t>V</a:t>
              </a:r>
            </a:p>
          </p:txBody>
        </p:sp>
      </p:grpSp>
    </p:spTree>
    <p:extLst>
      <p:ext uri="{BB962C8B-B14F-4D97-AF65-F5344CB8AC3E}">
        <p14:creationId xmlns:p14="http://schemas.microsoft.com/office/powerpoint/2010/main" val="2568474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A0B4B8-7922-684A-A52C-DCB5B897494D}"/>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6B2FA339-C0DC-274B-9B78-B0976BB2D7E0}"/>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CD377431-AE47-5D47-B88B-495B706652BA}"/>
              </a:ext>
            </a:extLst>
          </p:cNvPr>
          <p:cNvSpPr>
            <a:spLocks noGrp="1"/>
          </p:cNvSpPr>
          <p:nvPr>
            <p:ph type="sldNum" sz="quarter" idx="12"/>
          </p:nvPr>
        </p:nvSpPr>
        <p:spPr/>
        <p:txBody>
          <a:bodyPr/>
          <a:lstStyle/>
          <a:p>
            <a:fld id="{BA7BC09B-FE30-A349-B1D2-5A364F511F98}" type="slidenum">
              <a:rPr lang="en-US" smtClean="0"/>
              <a:t>9</a:t>
            </a:fld>
            <a:endParaRPr lang="en-US"/>
          </a:p>
        </p:txBody>
      </p:sp>
      <p:sp>
        <p:nvSpPr>
          <p:cNvPr id="2" name="Title 1">
            <a:extLst>
              <a:ext uri="{FF2B5EF4-FFF2-40B4-BE49-F238E27FC236}">
                <a16:creationId xmlns:a16="http://schemas.microsoft.com/office/drawing/2014/main" id="{0F3EA75D-4295-2E4F-BF9E-E305EC24DB78}"/>
              </a:ext>
            </a:extLst>
          </p:cNvPr>
          <p:cNvSpPr>
            <a:spLocks noGrp="1"/>
          </p:cNvSpPr>
          <p:nvPr>
            <p:ph type="title"/>
          </p:nvPr>
        </p:nvSpPr>
        <p:spPr/>
        <p:txBody>
          <a:bodyPr/>
          <a:lstStyle/>
          <a:p>
            <a:r>
              <a:rPr lang="en-US" err="1"/>
              <a:t>Lưu</a:t>
            </a:r>
            <a:r>
              <a:rPr lang="en-US"/>
              <a:t> </a:t>
            </a:r>
            <a:r>
              <a:rPr lang="en-US" err="1"/>
              <a:t>trữ</a:t>
            </a:r>
            <a:r>
              <a:rPr lang="en-US"/>
              <a:t> </a:t>
            </a:r>
            <a:r>
              <a:rPr lang="en-US" err="1"/>
              <a:t>kế</a:t>
            </a:r>
            <a:r>
              <a:rPr lang="en-US"/>
              <a:t> </a:t>
            </a:r>
            <a:r>
              <a:rPr lang="en-US" err="1"/>
              <a:t>tiếp</a:t>
            </a:r>
            <a:r>
              <a:rPr lang="en-US"/>
              <a:t> </a:t>
            </a:r>
            <a:r>
              <a:rPr lang="en-US" err="1"/>
              <a:t>với</a:t>
            </a:r>
            <a:r>
              <a:rPr lang="en-US"/>
              <a:t> </a:t>
            </a:r>
            <a:r>
              <a:rPr lang="en-US" err="1"/>
              <a:t>mảng</a:t>
            </a:r>
            <a:r>
              <a:rPr lang="en-US"/>
              <a:t> 1 </a:t>
            </a:r>
            <a:r>
              <a:rPr lang="en-US" err="1"/>
              <a:t>chiều</a:t>
            </a:r>
            <a:endParaRPr lang="en-US"/>
          </a:p>
        </p:txBody>
      </p:sp>
      <p:sp>
        <p:nvSpPr>
          <p:cNvPr id="3" name="Content Placeholder 2">
            <a:extLst>
              <a:ext uri="{FF2B5EF4-FFF2-40B4-BE49-F238E27FC236}">
                <a16:creationId xmlns:a16="http://schemas.microsoft.com/office/drawing/2014/main" id="{0E416D25-F445-8E46-8B86-49FA8830396A}"/>
              </a:ext>
            </a:extLst>
          </p:cNvPr>
          <p:cNvSpPr>
            <a:spLocks noGrp="1"/>
          </p:cNvSpPr>
          <p:nvPr>
            <p:ph type="body" sz="quarter" idx="13"/>
          </p:nvPr>
        </p:nvSpPr>
        <p:spPr/>
        <p:txBody>
          <a:bodyPr/>
          <a:lstStyle/>
          <a:p>
            <a:r>
              <a:rPr lang="en-US" altLang="en-US" sz="2600"/>
              <a:t>L</a:t>
            </a:r>
            <a:r>
              <a:rPr lang="en-US" altLang="en-US" sz="2600" baseline="-25000"/>
              <a:t>0 </a:t>
            </a:r>
            <a:r>
              <a:rPr lang="en-US" altLang="en-US" sz="2600" err="1"/>
              <a:t>là</a:t>
            </a:r>
            <a:r>
              <a:rPr lang="en-US" altLang="en-US" sz="2600"/>
              <a:t> </a:t>
            </a:r>
            <a:r>
              <a:rPr lang="en-US" altLang="en-US" sz="2600" err="1"/>
              <a:t>địa</a:t>
            </a:r>
            <a:r>
              <a:rPr lang="en-US" altLang="en-US" sz="2600"/>
              <a:t> </a:t>
            </a:r>
            <a:r>
              <a:rPr lang="en-US" altLang="en-US" sz="2600" err="1"/>
              <a:t>chỉ</a:t>
            </a:r>
            <a:r>
              <a:rPr lang="en-US" altLang="en-US" sz="2600"/>
              <a:t> </a:t>
            </a:r>
            <a:r>
              <a:rPr lang="en-US" altLang="en-US" sz="2600" err="1"/>
              <a:t>bắt</a:t>
            </a:r>
            <a:r>
              <a:rPr lang="en-US" altLang="en-US" sz="2600"/>
              <a:t> </a:t>
            </a:r>
            <a:r>
              <a:rPr lang="en-US" altLang="en-US" sz="2600" err="1"/>
              <a:t>đầu</a:t>
            </a:r>
            <a:r>
              <a:rPr lang="en-US" altLang="en-US" sz="2600"/>
              <a:t> </a:t>
            </a:r>
            <a:r>
              <a:rPr lang="en-US" altLang="en-US" sz="2600" err="1"/>
              <a:t>của</a:t>
            </a:r>
            <a:r>
              <a:rPr lang="en-US" altLang="en-US" sz="2600"/>
              <a:t> </a:t>
            </a:r>
            <a:r>
              <a:rPr lang="en-US" altLang="en-US" sz="2600" err="1"/>
              <a:t>cấu</a:t>
            </a:r>
            <a:r>
              <a:rPr lang="en-US" altLang="en-US" sz="2600"/>
              <a:t> </a:t>
            </a:r>
            <a:r>
              <a:rPr lang="en-US" altLang="en-US" sz="2600" err="1"/>
              <a:t>trúc</a:t>
            </a:r>
            <a:r>
              <a:rPr lang="en-US" altLang="en-US" sz="2600"/>
              <a:t> </a:t>
            </a:r>
            <a:r>
              <a:rPr lang="en-US" altLang="en-US" sz="2600" err="1"/>
              <a:t>lưu</a:t>
            </a:r>
            <a:r>
              <a:rPr lang="en-US" altLang="en-US" sz="2600"/>
              <a:t> </a:t>
            </a:r>
            <a:r>
              <a:rPr lang="en-US" altLang="en-US" sz="2600" err="1"/>
              <a:t>trữ</a:t>
            </a:r>
            <a:r>
              <a:rPr lang="en-US" altLang="en-US" sz="2600"/>
              <a:t>, </a:t>
            </a:r>
            <a:r>
              <a:rPr lang="en-US" altLang="en-US" sz="2600" err="1"/>
              <a:t>cũng</a:t>
            </a:r>
            <a:r>
              <a:rPr lang="en-US" altLang="en-US" sz="2600"/>
              <a:t> </a:t>
            </a:r>
            <a:r>
              <a:rPr lang="en-US" altLang="en-US" sz="2600" err="1"/>
              <a:t>là</a:t>
            </a:r>
            <a:r>
              <a:rPr lang="en-US" altLang="en-US" sz="2600"/>
              <a:t> </a:t>
            </a:r>
            <a:r>
              <a:rPr lang="en-US" altLang="en-US" sz="2600" err="1"/>
              <a:t>địa</a:t>
            </a:r>
            <a:r>
              <a:rPr lang="en-US" altLang="en-US" sz="2600"/>
              <a:t> </a:t>
            </a:r>
            <a:r>
              <a:rPr lang="en-US" altLang="en-US" sz="2600" err="1"/>
              <a:t>chỉ</a:t>
            </a:r>
            <a:r>
              <a:rPr lang="en-US" altLang="en-US" sz="2600"/>
              <a:t> </a:t>
            </a:r>
            <a:r>
              <a:rPr lang="en-US" altLang="en-US" sz="2600" err="1"/>
              <a:t>của</a:t>
            </a:r>
            <a:r>
              <a:rPr lang="en-US" altLang="en-US" sz="2600"/>
              <a:t> </a:t>
            </a:r>
            <a:r>
              <a:rPr lang="en-US" altLang="en-US" sz="2600" err="1"/>
              <a:t>ô</a:t>
            </a:r>
            <a:r>
              <a:rPr lang="en-US" altLang="en-US" sz="2600"/>
              <a:t> </a:t>
            </a:r>
            <a:r>
              <a:rPr lang="en-US" altLang="en-US" sz="2600" err="1"/>
              <a:t>nhớ</a:t>
            </a:r>
            <a:r>
              <a:rPr lang="en-US" altLang="en-US" sz="2600"/>
              <a:t> </a:t>
            </a:r>
            <a:r>
              <a:rPr lang="en-US" altLang="en-US" sz="2600" err="1"/>
              <a:t>chứa</a:t>
            </a:r>
            <a:r>
              <a:rPr lang="en-US" altLang="en-US" sz="2600"/>
              <a:t> </a:t>
            </a:r>
            <a:r>
              <a:rPr lang="en-US" altLang="en-US" sz="2600" err="1"/>
              <a:t>phần</a:t>
            </a:r>
            <a:r>
              <a:rPr lang="en-US" altLang="en-US" sz="2600"/>
              <a:t> </a:t>
            </a:r>
            <a:r>
              <a:rPr lang="en-US" altLang="en-US" sz="2600" err="1"/>
              <a:t>tử</a:t>
            </a:r>
            <a:r>
              <a:rPr lang="en-US" altLang="en-US" sz="2600"/>
              <a:t> </a:t>
            </a:r>
            <a:r>
              <a:rPr lang="en-US" altLang="en-US" sz="2600" err="1"/>
              <a:t>đầu</a:t>
            </a:r>
            <a:r>
              <a:rPr lang="en-US" altLang="en-US" sz="2600"/>
              <a:t> </a:t>
            </a:r>
            <a:r>
              <a:rPr lang="en-US" altLang="en-US" sz="2600" err="1"/>
              <a:t>tiên</a:t>
            </a:r>
            <a:r>
              <a:rPr lang="en-US" altLang="en-US" sz="2600"/>
              <a:t>. </a:t>
            </a:r>
          </a:p>
          <a:p>
            <a:r>
              <a:rPr lang="en-US" altLang="en-US" sz="2600" err="1"/>
              <a:t>Kích</a:t>
            </a:r>
            <a:r>
              <a:rPr lang="en-US" altLang="en-US" sz="2600"/>
              <a:t> </a:t>
            </a:r>
            <a:r>
              <a:rPr lang="en-US" altLang="en-US" sz="2600" err="1"/>
              <a:t>thước</a:t>
            </a:r>
            <a:r>
              <a:rPr lang="en-US" altLang="en-US" sz="2600"/>
              <a:t> </a:t>
            </a:r>
            <a:r>
              <a:rPr lang="en-US" altLang="en-US" sz="2600" err="1"/>
              <a:t>mỗi</a:t>
            </a:r>
            <a:r>
              <a:rPr lang="en-US" altLang="en-US" sz="2600"/>
              <a:t> </a:t>
            </a:r>
            <a:r>
              <a:rPr lang="en-US" altLang="en-US" sz="2600" err="1"/>
              <a:t>ô</a:t>
            </a:r>
            <a:r>
              <a:rPr lang="en-US" altLang="en-US" sz="2600"/>
              <a:t> </a:t>
            </a:r>
            <a:r>
              <a:rPr lang="en-US" altLang="en-US" sz="2600" err="1"/>
              <a:t>nhớ</a:t>
            </a:r>
            <a:r>
              <a:rPr lang="en-US" altLang="en-US" sz="2600"/>
              <a:t> </a:t>
            </a:r>
            <a:r>
              <a:rPr lang="en-US" altLang="en-US" sz="2600" err="1"/>
              <a:t>là</a:t>
            </a:r>
            <a:r>
              <a:rPr lang="en-US" altLang="en-US" sz="2600"/>
              <a:t> </a:t>
            </a:r>
            <a:r>
              <a:rPr lang="en-US" altLang="en-US" sz="2600" err="1"/>
              <a:t>như</a:t>
            </a:r>
            <a:r>
              <a:rPr lang="en-US" altLang="en-US" sz="2600"/>
              <a:t> </a:t>
            </a:r>
            <a:r>
              <a:rPr lang="en-US" altLang="en-US" sz="2600" err="1"/>
              <a:t>nhau</a:t>
            </a:r>
            <a:r>
              <a:rPr lang="en-US" altLang="en-US" sz="2600"/>
              <a:t>, </a:t>
            </a:r>
            <a:r>
              <a:rPr lang="en-US" altLang="en-US" sz="2600" err="1"/>
              <a:t>là</a:t>
            </a:r>
            <a:r>
              <a:rPr lang="en-US" altLang="en-US" sz="2600"/>
              <a:t> </a:t>
            </a:r>
            <a:r>
              <a:rPr lang="en-US" altLang="en-US" sz="2600" err="1"/>
              <a:t>một</a:t>
            </a:r>
            <a:r>
              <a:rPr lang="en-US" altLang="en-US" sz="2600"/>
              <a:t> </a:t>
            </a:r>
            <a:r>
              <a:rPr lang="en-US" altLang="en-US" sz="2600" err="1"/>
              <a:t>hằng</a:t>
            </a:r>
            <a:r>
              <a:rPr lang="en-US" altLang="en-US" sz="2600"/>
              <a:t> </a:t>
            </a:r>
            <a:r>
              <a:rPr lang="en-US" altLang="en-US" sz="2600" err="1"/>
              <a:t>số</a:t>
            </a:r>
            <a:r>
              <a:rPr lang="en-US" altLang="en-US" sz="2600"/>
              <a:t> </a:t>
            </a:r>
            <a:r>
              <a:rPr lang="en-US" altLang="en-US" sz="2600" err="1"/>
              <a:t>cố</a:t>
            </a:r>
            <a:r>
              <a:rPr lang="en-US" altLang="en-US" sz="2600"/>
              <a:t> </a:t>
            </a:r>
            <a:r>
              <a:rPr lang="en-US" altLang="en-US" sz="2600" err="1"/>
              <a:t>định</a:t>
            </a:r>
            <a:r>
              <a:rPr lang="en-US" altLang="en-US" sz="2600"/>
              <a:t> </a:t>
            </a:r>
            <a:r>
              <a:rPr lang="en-US" altLang="en-US" sz="2600" err="1"/>
              <a:t>được</a:t>
            </a:r>
            <a:r>
              <a:rPr lang="en-US" altLang="en-US" sz="2600"/>
              <a:t> </a:t>
            </a:r>
            <a:r>
              <a:rPr lang="en-US" altLang="en-US" sz="2600" err="1"/>
              <a:t>kí</a:t>
            </a:r>
            <a:r>
              <a:rPr lang="en-US" altLang="en-US" sz="2600"/>
              <a:t> </a:t>
            </a:r>
            <a:r>
              <a:rPr lang="en-US" altLang="en-US" sz="2600" err="1"/>
              <a:t>hiệu</a:t>
            </a:r>
            <a:r>
              <a:rPr lang="en-US" altLang="en-US" sz="2600"/>
              <a:t> </a:t>
            </a:r>
            <a:r>
              <a:rPr lang="en-US" altLang="en-US" sz="2600" err="1"/>
              <a:t>là</a:t>
            </a:r>
            <a:r>
              <a:rPr lang="en-US" altLang="en-US" sz="2600"/>
              <a:t>  w (</a:t>
            </a:r>
            <a:r>
              <a:rPr lang="en-US" altLang="en-US" sz="2600" err="1"/>
              <a:t>đơn</a:t>
            </a:r>
            <a:r>
              <a:rPr lang="en-US" altLang="en-US" sz="2600"/>
              <a:t> </a:t>
            </a:r>
            <a:r>
              <a:rPr lang="en-US" altLang="en-US" sz="2600" err="1"/>
              <a:t>vị</a:t>
            </a:r>
            <a:r>
              <a:rPr lang="en-US" altLang="en-US" sz="2600"/>
              <a:t> </a:t>
            </a:r>
            <a:r>
              <a:rPr lang="en-US" altLang="en-US" sz="2600" err="1"/>
              <a:t>tính</a:t>
            </a:r>
            <a:r>
              <a:rPr lang="en-US" altLang="en-US" sz="2600"/>
              <a:t> </a:t>
            </a:r>
            <a:r>
              <a:rPr lang="en-US" altLang="en-US" sz="2600" err="1"/>
              <a:t>thường</a:t>
            </a:r>
            <a:r>
              <a:rPr lang="en-US" altLang="en-US" sz="2600"/>
              <a:t> </a:t>
            </a:r>
            <a:r>
              <a:rPr lang="en-US" altLang="en-US" sz="2600" err="1"/>
              <a:t>là</a:t>
            </a:r>
            <a:r>
              <a:rPr lang="en-US" altLang="en-US" sz="2600"/>
              <a:t> byte). </a:t>
            </a:r>
          </a:p>
          <a:p>
            <a:r>
              <a:rPr lang="en-US" altLang="en-US" sz="2600" err="1"/>
              <a:t>Hàm</a:t>
            </a:r>
            <a:r>
              <a:rPr lang="en-US" altLang="en-US" sz="2600"/>
              <a:t> </a:t>
            </a:r>
            <a:r>
              <a:rPr lang="en-US" altLang="en-US" sz="2600" err="1"/>
              <a:t>địa</a:t>
            </a:r>
            <a:r>
              <a:rPr lang="en-US" altLang="en-US" sz="2600"/>
              <a:t> </a:t>
            </a:r>
            <a:r>
              <a:rPr lang="en-US" altLang="en-US" sz="2600" err="1"/>
              <a:t>chỉ</a:t>
            </a:r>
            <a:r>
              <a:rPr lang="en-US" altLang="en-US" sz="2600"/>
              <a:t>:</a:t>
            </a:r>
            <a:r>
              <a:rPr lang="en-US" altLang="en-US" sz="2400"/>
              <a:t>	f</a:t>
            </a:r>
            <a:r>
              <a:rPr lang="en-US" altLang="en-US" sz="2400" baseline="-25000"/>
              <a:t>i</a:t>
            </a:r>
            <a:r>
              <a:rPr lang="en-US" altLang="en-US" sz="2400"/>
              <a:t> = w * (i-1) (address function)</a:t>
            </a:r>
            <a:endParaRPr lang="en-US" altLang="en-US" sz="2400">
              <a:cs typeface="Times New Roman" panose="02020603050405020304" pitchFamily="18" charset="0"/>
            </a:endParaRPr>
          </a:p>
          <a:p>
            <a:r>
              <a:rPr lang="en-US" err="1">
                <a:solidFill>
                  <a:srgbClr val="FF0000"/>
                </a:solidFill>
              </a:rPr>
              <a:t>Addr</a:t>
            </a:r>
            <a:r>
              <a:rPr lang="en-US">
                <a:solidFill>
                  <a:srgbClr val="FF0000"/>
                </a:solidFill>
              </a:rPr>
              <a:t>(A[</a:t>
            </a:r>
            <a:r>
              <a:rPr lang="en-US" err="1">
                <a:solidFill>
                  <a:srgbClr val="FF0000"/>
                </a:solidFill>
              </a:rPr>
              <a:t>i</a:t>
            </a:r>
            <a:r>
              <a:rPr lang="en-US">
                <a:solidFill>
                  <a:srgbClr val="FF0000"/>
                </a:solidFill>
              </a:rPr>
              <a:t>]) = </a:t>
            </a:r>
            <a:r>
              <a:rPr lang="en-US" altLang="en-US"/>
              <a:t> </a:t>
            </a:r>
            <a:r>
              <a:rPr lang="en-US" altLang="en-US">
                <a:solidFill>
                  <a:srgbClr val="FF0000"/>
                </a:solidFill>
              </a:rPr>
              <a:t>f</a:t>
            </a:r>
            <a:r>
              <a:rPr lang="en-US" altLang="en-US" baseline="-25000">
                <a:solidFill>
                  <a:srgbClr val="FF0000"/>
                </a:solidFill>
              </a:rPr>
              <a:t>i </a:t>
            </a:r>
            <a:r>
              <a:rPr lang="en-US" altLang="en-US" err="1">
                <a:solidFill>
                  <a:srgbClr val="FF0000"/>
                </a:solidFill>
              </a:rPr>
              <a:t>nếu</a:t>
            </a:r>
            <a:r>
              <a:rPr lang="en-US" altLang="en-US">
                <a:solidFill>
                  <a:srgbClr val="FF0000"/>
                </a:solidFill>
              </a:rPr>
              <a:t> L</a:t>
            </a:r>
            <a:r>
              <a:rPr lang="en-US" altLang="en-US" baseline="-25000">
                <a:solidFill>
                  <a:srgbClr val="FF0000"/>
                </a:solidFill>
              </a:rPr>
              <a:t>0</a:t>
            </a:r>
            <a:r>
              <a:rPr lang="en-US" altLang="en-US">
                <a:solidFill>
                  <a:srgbClr val="FF0000"/>
                </a:solidFill>
              </a:rPr>
              <a:t> = 0</a:t>
            </a:r>
            <a:endParaRPr lang="en-US">
              <a:solidFill>
                <a:srgbClr val="FF0000"/>
              </a:solidFill>
            </a:endParaRPr>
          </a:p>
          <a:p>
            <a:endParaRPr lang="en-US"/>
          </a:p>
        </p:txBody>
      </p:sp>
    </p:spTree>
    <p:extLst>
      <p:ext uri="{BB962C8B-B14F-4D97-AF65-F5344CB8AC3E}">
        <p14:creationId xmlns:p14="http://schemas.microsoft.com/office/powerpoint/2010/main" val="2596520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10</a:t>
            </a:fld>
            <a:endParaRPr lang="en-US"/>
          </a:p>
        </p:txBody>
      </p:sp>
      <p:sp>
        <p:nvSpPr>
          <p:cNvPr id="2" name="Title 1"/>
          <p:cNvSpPr>
            <a:spLocks noGrp="1"/>
          </p:cNvSpPr>
          <p:nvPr>
            <p:ph type="title"/>
          </p:nvPr>
        </p:nvSpPr>
        <p:spPr/>
        <p:txBody>
          <a:bodyPr/>
          <a:lstStyle/>
          <a:p>
            <a:r>
              <a:rPr lang="en-US" err="1"/>
              <a:t>Lưu</a:t>
            </a:r>
            <a:r>
              <a:rPr lang="en-US"/>
              <a:t> </a:t>
            </a:r>
            <a:r>
              <a:rPr lang="en-US" err="1"/>
              <a:t>trữ</a:t>
            </a:r>
            <a:r>
              <a:rPr lang="en-US"/>
              <a:t> </a:t>
            </a:r>
            <a:r>
              <a:rPr lang="en-US" err="1"/>
              <a:t>kế</a:t>
            </a:r>
            <a:r>
              <a:rPr lang="en-US"/>
              <a:t> </a:t>
            </a:r>
            <a:r>
              <a:rPr lang="en-US" err="1"/>
              <a:t>tiếp</a:t>
            </a:r>
            <a:r>
              <a:rPr lang="en-US"/>
              <a:t> </a:t>
            </a:r>
            <a:r>
              <a:rPr lang="en-US" err="1"/>
              <a:t>mảng</a:t>
            </a:r>
            <a:r>
              <a:rPr lang="en-US"/>
              <a:t> </a:t>
            </a:r>
            <a:r>
              <a:rPr lang="en-US" err="1"/>
              <a:t>hai</a:t>
            </a:r>
            <a:r>
              <a:rPr lang="en-US"/>
              <a:t> </a:t>
            </a:r>
            <a:r>
              <a:rPr lang="en-US" err="1"/>
              <a:t>chiều</a:t>
            </a:r>
            <a:endParaRPr lang="en-US"/>
          </a:p>
        </p:txBody>
      </p:sp>
      <p:sp>
        <p:nvSpPr>
          <p:cNvPr id="3" name="Content Placeholder 2"/>
          <p:cNvSpPr>
            <a:spLocks noGrp="1"/>
          </p:cNvSpPr>
          <p:nvPr>
            <p:ph type="body" sz="quarter" idx="13"/>
          </p:nvPr>
        </p:nvSpPr>
        <p:spPr/>
        <p:txBody>
          <a:bodyPr>
            <a:normAutofit/>
          </a:bodyPr>
          <a:lstStyle/>
          <a:p>
            <a:r>
              <a:rPr lang="en-US" err="1"/>
              <a:t>Mảng</a:t>
            </a:r>
            <a:r>
              <a:rPr lang="en-US"/>
              <a:t> </a:t>
            </a:r>
            <a:r>
              <a:rPr lang="en-US" err="1"/>
              <a:t>hai</a:t>
            </a:r>
            <a:r>
              <a:rPr lang="en-US"/>
              <a:t> </a:t>
            </a:r>
            <a:r>
              <a:rPr lang="en-US" err="1"/>
              <a:t>chiều</a:t>
            </a:r>
            <a:r>
              <a:rPr lang="en-US"/>
              <a:t> hay ma </a:t>
            </a:r>
            <a:r>
              <a:rPr lang="en-US" err="1"/>
              <a:t>trận</a:t>
            </a:r>
            <a:r>
              <a:rPr lang="en-US"/>
              <a:t> </a:t>
            </a:r>
            <a:r>
              <a:rPr lang="en-US" err="1"/>
              <a:t>cũng</a:t>
            </a:r>
            <a:r>
              <a:rPr lang="en-US"/>
              <a:t> </a:t>
            </a:r>
            <a:r>
              <a:rPr lang="en-US" err="1"/>
              <a:t>được</a:t>
            </a:r>
            <a:r>
              <a:rPr lang="en-US"/>
              <a:t> </a:t>
            </a:r>
            <a:r>
              <a:rPr lang="en-US" err="1"/>
              <a:t>thực</a:t>
            </a:r>
            <a:r>
              <a:rPr lang="en-US"/>
              <a:t> </a:t>
            </a:r>
            <a:r>
              <a:rPr lang="en-US" err="1"/>
              <a:t>hiện</a:t>
            </a:r>
            <a:r>
              <a:rPr lang="en-US"/>
              <a:t> </a:t>
            </a:r>
            <a:r>
              <a:rPr lang="en-US" err="1"/>
              <a:t>bởi</a:t>
            </a:r>
            <a:r>
              <a:rPr lang="en-US"/>
              <a:t> vector </a:t>
            </a:r>
            <a:r>
              <a:rPr lang="en-US" err="1"/>
              <a:t>lưu</a:t>
            </a:r>
            <a:r>
              <a:rPr lang="en-US"/>
              <a:t> </a:t>
            </a:r>
            <a:r>
              <a:rPr lang="en-US" err="1"/>
              <a:t>trữ</a:t>
            </a:r>
            <a:endParaRPr lang="en-US"/>
          </a:p>
          <a:p>
            <a:r>
              <a:rPr lang="en-US" err="1"/>
              <a:t>Ví</a:t>
            </a:r>
            <a:r>
              <a:rPr lang="en-US"/>
              <a:t> </a:t>
            </a:r>
            <a:r>
              <a:rPr lang="en-US" err="1"/>
              <a:t>dụ</a:t>
            </a:r>
            <a:r>
              <a:rPr lang="en-US"/>
              <a:t> </a:t>
            </a:r>
            <a:r>
              <a:rPr lang="en-US" err="1"/>
              <a:t>xác</a:t>
            </a:r>
            <a:r>
              <a:rPr lang="en-US"/>
              <a:t> </a:t>
            </a:r>
            <a:r>
              <a:rPr lang="en-US" err="1"/>
              <a:t>định</a:t>
            </a:r>
            <a:r>
              <a:rPr lang="en-US"/>
              <a:t> </a:t>
            </a:r>
            <a:r>
              <a:rPr lang="en-US" err="1"/>
              <a:t>địa</a:t>
            </a:r>
            <a:r>
              <a:rPr lang="en-US"/>
              <a:t> </a:t>
            </a:r>
            <a:r>
              <a:rPr lang="en-US" err="1"/>
              <a:t>chỉ</a:t>
            </a:r>
            <a:r>
              <a:rPr lang="en-US"/>
              <a:t> </a:t>
            </a:r>
            <a:r>
              <a:rPr lang="en-US" err="1"/>
              <a:t>mảng</a:t>
            </a:r>
            <a:r>
              <a:rPr lang="en-US"/>
              <a:t> B </a:t>
            </a:r>
            <a:r>
              <a:rPr lang="en-US" err="1"/>
              <a:t>hai</a:t>
            </a:r>
            <a:r>
              <a:rPr lang="en-US"/>
              <a:t> </a:t>
            </a:r>
            <a:r>
              <a:rPr lang="en-US" err="1"/>
              <a:t>chiều</a:t>
            </a:r>
            <a:r>
              <a:rPr lang="en-US"/>
              <a:t> </a:t>
            </a:r>
            <a:r>
              <a:rPr lang="en-US" err="1"/>
              <a:t>có</a:t>
            </a:r>
            <a:r>
              <a:rPr lang="en-US"/>
              <a:t> 3 </a:t>
            </a:r>
            <a:r>
              <a:rPr lang="en-US" err="1"/>
              <a:t>hàng</a:t>
            </a:r>
            <a:r>
              <a:rPr lang="en-US"/>
              <a:t> , 4 </a:t>
            </a:r>
            <a:r>
              <a:rPr lang="en-US" err="1"/>
              <a:t>cột</a:t>
            </a:r>
            <a:r>
              <a:rPr lang="en-US"/>
              <a:t> </a:t>
            </a:r>
          </a:p>
        </p:txBody>
      </p:sp>
      <p:graphicFrame>
        <p:nvGraphicFramePr>
          <p:cNvPr id="7" name="Table 6"/>
          <p:cNvGraphicFramePr>
            <a:graphicFrameLocks noGrp="1"/>
          </p:cNvGraphicFramePr>
          <p:nvPr>
            <p:extLst>
              <p:ext uri="{D42A27DB-BD31-4B8C-83A1-F6EECF244321}">
                <p14:modId xmlns:p14="http://schemas.microsoft.com/office/powerpoint/2010/main" val="2651791348"/>
              </p:ext>
            </p:extLst>
          </p:nvPr>
        </p:nvGraphicFramePr>
        <p:xfrm>
          <a:off x="604253" y="2941053"/>
          <a:ext cx="7470134" cy="741680"/>
        </p:xfrm>
        <a:graphic>
          <a:graphicData uri="http://schemas.openxmlformats.org/drawingml/2006/table">
            <a:tbl>
              <a:tblPr firstRow="1" bandRow="1">
                <a:tableStyleId>{2D5ABB26-0587-4C30-8999-92F81FD0307C}</a:tableStyleId>
              </a:tblPr>
              <a:tblGrid>
                <a:gridCol w="628467">
                  <a:extLst>
                    <a:ext uri="{9D8B030D-6E8A-4147-A177-3AD203B41FA5}">
                      <a16:colId xmlns:a16="http://schemas.microsoft.com/office/drawing/2014/main" val="20000"/>
                    </a:ext>
                  </a:extLst>
                </a:gridCol>
                <a:gridCol w="628467">
                  <a:extLst>
                    <a:ext uri="{9D8B030D-6E8A-4147-A177-3AD203B41FA5}">
                      <a16:colId xmlns:a16="http://schemas.microsoft.com/office/drawing/2014/main" val="20001"/>
                    </a:ext>
                  </a:extLst>
                </a:gridCol>
                <a:gridCol w="647284">
                  <a:extLst>
                    <a:ext uri="{9D8B030D-6E8A-4147-A177-3AD203B41FA5}">
                      <a16:colId xmlns:a16="http://schemas.microsoft.com/office/drawing/2014/main" val="20002"/>
                    </a:ext>
                  </a:extLst>
                </a:gridCol>
                <a:gridCol w="579544">
                  <a:extLst>
                    <a:ext uri="{9D8B030D-6E8A-4147-A177-3AD203B41FA5}">
                      <a16:colId xmlns:a16="http://schemas.microsoft.com/office/drawing/2014/main" val="20003"/>
                    </a:ext>
                  </a:extLst>
                </a:gridCol>
                <a:gridCol w="662336">
                  <a:extLst>
                    <a:ext uri="{9D8B030D-6E8A-4147-A177-3AD203B41FA5}">
                      <a16:colId xmlns:a16="http://schemas.microsoft.com/office/drawing/2014/main" val="20004"/>
                    </a:ext>
                  </a:extLst>
                </a:gridCol>
                <a:gridCol w="593343">
                  <a:extLst>
                    <a:ext uri="{9D8B030D-6E8A-4147-A177-3AD203B41FA5}">
                      <a16:colId xmlns:a16="http://schemas.microsoft.com/office/drawing/2014/main" val="20005"/>
                    </a:ext>
                  </a:extLst>
                </a:gridCol>
                <a:gridCol w="551947">
                  <a:extLst>
                    <a:ext uri="{9D8B030D-6E8A-4147-A177-3AD203B41FA5}">
                      <a16:colId xmlns:a16="http://schemas.microsoft.com/office/drawing/2014/main" val="20006"/>
                    </a:ext>
                  </a:extLst>
                </a:gridCol>
                <a:gridCol w="551947">
                  <a:extLst>
                    <a:ext uri="{9D8B030D-6E8A-4147-A177-3AD203B41FA5}">
                      <a16:colId xmlns:a16="http://schemas.microsoft.com/office/drawing/2014/main" val="20007"/>
                    </a:ext>
                  </a:extLst>
                </a:gridCol>
                <a:gridCol w="597883">
                  <a:extLst>
                    <a:ext uri="{9D8B030D-6E8A-4147-A177-3AD203B41FA5}">
                      <a16:colId xmlns:a16="http://schemas.microsoft.com/office/drawing/2014/main" val="20008"/>
                    </a:ext>
                  </a:extLst>
                </a:gridCol>
                <a:gridCol w="628467">
                  <a:extLst>
                    <a:ext uri="{9D8B030D-6E8A-4147-A177-3AD203B41FA5}">
                      <a16:colId xmlns:a16="http://schemas.microsoft.com/office/drawing/2014/main" val="20009"/>
                    </a:ext>
                  </a:extLst>
                </a:gridCol>
                <a:gridCol w="567476">
                  <a:extLst>
                    <a:ext uri="{9D8B030D-6E8A-4147-A177-3AD203B41FA5}">
                      <a16:colId xmlns:a16="http://schemas.microsoft.com/office/drawing/2014/main" val="20010"/>
                    </a:ext>
                  </a:extLst>
                </a:gridCol>
                <a:gridCol w="832973">
                  <a:extLst>
                    <a:ext uri="{9D8B030D-6E8A-4147-A177-3AD203B41FA5}">
                      <a16:colId xmlns:a16="http://schemas.microsoft.com/office/drawing/2014/main" val="20011"/>
                    </a:ext>
                  </a:extLst>
                </a:gridCol>
              </a:tblGrid>
              <a:tr h="370840">
                <a:tc>
                  <a:txBody>
                    <a:bodyPr/>
                    <a:lstStyle/>
                    <a:p>
                      <a:r>
                        <a:rPr lang="en-US"/>
                        <a:t>B11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B12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B13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B14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B21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B22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B23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B24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r>
                        <a:rPr lang="en-US"/>
                        <a:t>V[1]</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V[5]</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V[9]</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V[12]</a:t>
                      </a:r>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pSp>
        <p:nvGrpSpPr>
          <p:cNvPr id="34" name="Group 33"/>
          <p:cNvGrpSpPr/>
          <p:nvPr/>
        </p:nvGrpSpPr>
        <p:grpSpPr>
          <a:xfrm>
            <a:off x="574982" y="3815348"/>
            <a:ext cx="7499405" cy="482170"/>
            <a:chOff x="574982" y="3815348"/>
            <a:chExt cx="7499405" cy="482170"/>
          </a:xfrm>
        </p:grpSpPr>
        <p:cxnSp>
          <p:nvCxnSpPr>
            <p:cNvPr id="23" name="Straight Arrow Connector 22"/>
            <p:cNvCxnSpPr/>
            <p:nvPr/>
          </p:nvCxnSpPr>
          <p:spPr>
            <a:xfrm>
              <a:off x="574982" y="3815348"/>
              <a:ext cx="2519947"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p:nvPr/>
          </p:nvCxnSpPr>
          <p:spPr>
            <a:xfrm>
              <a:off x="3094929" y="3815348"/>
              <a:ext cx="2305913"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5507789" y="3815348"/>
              <a:ext cx="2566598"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74982" y="3928186"/>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hàng</a:t>
              </a:r>
              <a:r>
                <a:rPr lang="en-US"/>
                <a:t> 1</a:t>
              </a:r>
            </a:p>
          </p:txBody>
        </p:sp>
        <p:sp>
          <p:nvSpPr>
            <p:cNvPr id="32" name="TextBox 31"/>
            <p:cNvSpPr txBox="1"/>
            <p:nvPr/>
          </p:nvSpPr>
          <p:spPr>
            <a:xfrm>
              <a:off x="3093453" y="3928186"/>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hàng</a:t>
              </a:r>
              <a:r>
                <a:rPr lang="en-US"/>
                <a:t> 2</a:t>
              </a:r>
            </a:p>
          </p:txBody>
        </p:sp>
        <p:sp>
          <p:nvSpPr>
            <p:cNvPr id="33" name="TextBox 32"/>
            <p:cNvSpPr txBox="1"/>
            <p:nvPr/>
          </p:nvSpPr>
          <p:spPr>
            <a:xfrm>
              <a:off x="5507789" y="3919802"/>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hàng</a:t>
              </a:r>
              <a:r>
                <a:rPr lang="en-US"/>
                <a:t> 3</a:t>
              </a:r>
            </a:p>
          </p:txBody>
        </p:sp>
      </p:grpSp>
      <p:graphicFrame>
        <p:nvGraphicFramePr>
          <p:cNvPr id="35" name="Table 34"/>
          <p:cNvGraphicFramePr>
            <a:graphicFrameLocks noGrp="1"/>
          </p:cNvGraphicFramePr>
          <p:nvPr>
            <p:extLst>
              <p:ext uri="{D42A27DB-BD31-4B8C-83A1-F6EECF244321}">
                <p14:modId xmlns:p14="http://schemas.microsoft.com/office/powerpoint/2010/main" val="2415320195"/>
              </p:ext>
            </p:extLst>
          </p:nvPr>
        </p:nvGraphicFramePr>
        <p:xfrm>
          <a:off x="785923" y="4806702"/>
          <a:ext cx="7698859" cy="741680"/>
        </p:xfrm>
        <a:graphic>
          <a:graphicData uri="http://schemas.openxmlformats.org/drawingml/2006/table">
            <a:tbl>
              <a:tblPr firstRow="1" bandRow="1">
                <a:tableStyleId>{2D5ABB26-0587-4C30-8999-92F81FD0307C}</a:tableStyleId>
              </a:tblPr>
              <a:tblGrid>
                <a:gridCol w="647710">
                  <a:extLst>
                    <a:ext uri="{9D8B030D-6E8A-4147-A177-3AD203B41FA5}">
                      <a16:colId xmlns:a16="http://schemas.microsoft.com/office/drawing/2014/main" val="20000"/>
                    </a:ext>
                  </a:extLst>
                </a:gridCol>
                <a:gridCol w="647710">
                  <a:extLst>
                    <a:ext uri="{9D8B030D-6E8A-4147-A177-3AD203B41FA5}">
                      <a16:colId xmlns:a16="http://schemas.microsoft.com/office/drawing/2014/main" val="20001"/>
                    </a:ext>
                  </a:extLst>
                </a:gridCol>
                <a:gridCol w="667103">
                  <a:extLst>
                    <a:ext uri="{9D8B030D-6E8A-4147-A177-3AD203B41FA5}">
                      <a16:colId xmlns:a16="http://schemas.microsoft.com/office/drawing/2014/main" val="20002"/>
                    </a:ext>
                  </a:extLst>
                </a:gridCol>
                <a:gridCol w="597289">
                  <a:extLst>
                    <a:ext uri="{9D8B030D-6E8A-4147-A177-3AD203B41FA5}">
                      <a16:colId xmlns:a16="http://schemas.microsoft.com/office/drawing/2014/main" val="20003"/>
                    </a:ext>
                  </a:extLst>
                </a:gridCol>
                <a:gridCol w="682616">
                  <a:extLst>
                    <a:ext uri="{9D8B030D-6E8A-4147-A177-3AD203B41FA5}">
                      <a16:colId xmlns:a16="http://schemas.microsoft.com/office/drawing/2014/main" val="20004"/>
                    </a:ext>
                  </a:extLst>
                </a:gridCol>
                <a:gridCol w="611510">
                  <a:extLst>
                    <a:ext uri="{9D8B030D-6E8A-4147-A177-3AD203B41FA5}">
                      <a16:colId xmlns:a16="http://schemas.microsoft.com/office/drawing/2014/main" val="20005"/>
                    </a:ext>
                  </a:extLst>
                </a:gridCol>
                <a:gridCol w="599173">
                  <a:extLst>
                    <a:ext uri="{9D8B030D-6E8A-4147-A177-3AD203B41FA5}">
                      <a16:colId xmlns:a16="http://schemas.microsoft.com/office/drawing/2014/main" val="20006"/>
                    </a:ext>
                  </a:extLst>
                </a:gridCol>
                <a:gridCol w="578665">
                  <a:extLst>
                    <a:ext uri="{9D8B030D-6E8A-4147-A177-3AD203B41FA5}">
                      <a16:colId xmlns:a16="http://schemas.microsoft.com/office/drawing/2014/main" val="20007"/>
                    </a:ext>
                  </a:extLst>
                </a:gridCol>
                <a:gridCol w="576045">
                  <a:extLst>
                    <a:ext uri="{9D8B030D-6E8A-4147-A177-3AD203B41FA5}">
                      <a16:colId xmlns:a16="http://schemas.microsoft.com/office/drawing/2014/main" val="20008"/>
                    </a:ext>
                  </a:extLst>
                </a:gridCol>
                <a:gridCol w="705285">
                  <a:extLst>
                    <a:ext uri="{9D8B030D-6E8A-4147-A177-3AD203B41FA5}">
                      <a16:colId xmlns:a16="http://schemas.microsoft.com/office/drawing/2014/main" val="20009"/>
                    </a:ext>
                  </a:extLst>
                </a:gridCol>
                <a:gridCol w="661331">
                  <a:extLst>
                    <a:ext uri="{9D8B030D-6E8A-4147-A177-3AD203B41FA5}">
                      <a16:colId xmlns:a16="http://schemas.microsoft.com/office/drawing/2014/main" val="20010"/>
                    </a:ext>
                  </a:extLst>
                </a:gridCol>
                <a:gridCol w="724422">
                  <a:extLst>
                    <a:ext uri="{9D8B030D-6E8A-4147-A177-3AD203B41FA5}">
                      <a16:colId xmlns:a16="http://schemas.microsoft.com/office/drawing/2014/main" val="20011"/>
                    </a:ext>
                  </a:extLst>
                </a:gridCol>
              </a:tblGrid>
              <a:tr h="370840">
                <a:tc>
                  <a:txBody>
                    <a:bodyPr/>
                    <a:lstStyle/>
                    <a:p>
                      <a:r>
                        <a:rPr lang="en-US"/>
                        <a:t>B11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B21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B12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B22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B13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B23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B14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B24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B34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r>
                        <a:rPr lang="en-US"/>
                        <a:t>V[1]</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V[4]</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V[7]</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V[10]</a:t>
                      </a:r>
                    </a:p>
                  </a:txBody>
                  <a:tcPr>
                    <a:lnL w="12700" cap="flat" cmpd="sng" algn="ctr">
                      <a:solidFill>
                        <a:scrgbClr r="0" g="0" b="0"/>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V[12]</a:t>
                      </a:r>
                    </a:p>
                  </a:txBody>
                  <a:tcPr>
                    <a:lnL w="12700" cap="flat" cmpd="sng" algn="ctr">
                      <a:no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pSp>
        <p:nvGrpSpPr>
          <p:cNvPr id="36" name="Group 35"/>
          <p:cNvGrpSpPr/>
          <p:nvPr/>
        </p:nvGrpSpPr>
        <p:grpSpPr>
          <a:xfrm>
            <a:off x="785924" y="5559169"/>
            <a:ext cx="6082631" cy="578162"/>
            <a:chOff x="604253" y="3311494"/>
            <a:chExt cx="6082631" cy="578162"/>
          </a:xfrm>
        </p:grpSpPr>
        <p:cxnSp>
          <p:nvCxnSpPr>
            <p:cNvPr id="37" name="Straight Arrow Connector 36"/>
            <p:cNvCxnSpPr/>
            <p:nvPr/>
          </p:nvCxnSpPr>
          <p:spPr>
            <a:xfrm>
              <a:off x="604253" y="3334572"/>
              <a:ext cx="1804876"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2705908" y="3334572"/>
              <a:ext cx="1684421"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4463855" y="3311494"/>
              <a:ext cx="1724526"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4253" y="3520324"/>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cột</a:t>
              </a:r>
              <a:r>
                <a:rPr lang="en-US"/>
                <a:t> 1</a:t>
              </a:r>
            </a:p>
          </p:txBody>
        </p:sp>
        <p:sp>
          <p:nvSpPr>
            <p:cNvPr id="41" name="TextBox 40"/>
            <p:cNvSpPr txBox="1"/>
            <p:nvPr/>
          </p:nvSpPr>
          <p:spPr>
            <a:xfrm>
              <a:off x="2409129" y="3511781"/>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cột</a:t>
              </a:r>
              <a:r>
                <a:rPr lang="en-US"/>
                <a:t> 2</a:t>
              </a:r>
            </a:p>
          </p:txBody>
        </p:sp>
        <p:sp>
          <p:nvSpPr>
            <p:cNvPr id="42" name="TextBox 41"/>
            <p:cNvSpPr txBox="1"/>
            <p:nvPr/>
          </p:nvSpPr>
          <p:spPr>
            <a:xfrm>
              <a:off x="4320813" y="3511781"/>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cột</a:t>
              </a:r>
              <a:r>
                <a:rPr lang="en-US"/>
                <a:t> 3</a:t>
              </a:r>
            </a:p>
          </p:txBody>
        </p:sp>
      </p:grpSp>
      <p:cxnSp>
        <p:nvCxnSpPr>
          <p:cNvPr id="49" name="Straight Arrow Connector 48"/>
          <p:cNvCxnSpPr/>
          <p:nvPr/>
        </p:nvCxnSpPr>
        <p:spPr>
          <a:xfrm>
            <a:off x="6433881" y="5559169"/>
            <a:ext cx="1906197" cy="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165376" y="5735733"/>
            <a:ext cx="2366071" cy="369332"/>
          </a:xfrm>
          <a:prstGeom prst="rect">
            <a:avLst/>
          </a:prstGeom>
          <a:noFill/>
        </p:spPr>
        <p:txBody>
          <a:bodyPr wrap="square" rtlCol="0">
            <a:spAutoFit/>
          </a:bodyPr>
          <a:lstStyle/>
          <a:p>
            <a:r>
              <a:rPr lang="en-US" err="1"/>
              <a:t>Phần</a:t>
            </a:r>
            <a:r>
              <a:rPr lang="en-US"/>
              <a:t> </a:t>
            </a:r>
            <a:r>
              <a:rPr lang="en-US" err="1"/>
              <a:t>tử</a:t>
            </a:r>
            <a:r>
              <a:rPr lang="en-US"/>
              <a:t> </a:t>
            </a:r>
            <a:r>
              <a:rPr lang="en-US" err="1"/>
              <a:t>cột</a:t>
            </a:r>
            <a:r>
              <a:rPr lang="en-US"/>
              <a:t> 4</a:t>
            </a:r>
          </a:p>
        </p:txBody>
      </p:sp>
      <p:sp>
        <p:nvSpPr>
          <p:cNvPr id="8" name="TextBox 7">
            <a:extLst>
              <a:ext uri="{FF2B5EF4-FFF2-40B4-BE49-F238E27FC236}">
                <a16:creationId xmlns:a16="http://schemas.microsoft.com/office/drawing/2014/main" id="{C6BED5BD-69E7-43C9-AF54-288826DCCA27}"/>
              </a:ext>
            </a:extLst>
          </p:cNvPr>
          <p:cNvSpPr txBox="1"/>
          <p:nvPr/>
        </p:nvSpPr>
        <p:spPr>
          <a:xfrm>
            <a:off x="457200" y="2602449"/>
            <a:ext cx="3705447" cy="369332"/>
          </a:xfrm>
          <a:prstGeom prst="rect">
            <a:avLst/>
          </a:prstGeom>
          <a:noFill/>
        </p:spPr>
        <p:txBody>
          <a:bodyPr wrap="square" rtlCol="0">
            <a:spAutoFit/>
          </a:bodyPr>
          <a:lstStyle/>
          <a:p>
            <a:r>
              <a:rPr lang="en-US" err="1"/>
              <a:t>Lưu</a:t>
            </a:r>
            <a:r>
              <a:rPr lang="en-US"/>
              <a:t> </a:t>
            </a:r>
            <a:r>
              <a:rPr lang="en-US" err="1"/>
              <a:t>trữ</a:t>
            </a:r>
            <a:r>
              <a:rPr lang="en-US"/>
              <a:t> </a:t>
            </a:r>
            <a:r>
              <a:rPr lang="en-US" err="1"/>
              <a:t>ưu</a:t>
            </a:r>
            <a:r>
              <a:rPr lang="en-US"/>
              <a:t> </a:t>
            </a:r>
            <a:r>
              <a:rPr lang="en-US" err="1"/>
              <a:t>tiên</a:t>
            </a:r>
            <a:r>
              <a:rPr lang="en-US"/>
              <a:t> </a:t>
            </a:r>
            <a:r>
              <a:rPr lang="en-US" err="1"/>
              <a:t>theo</a:t>
            </a:r>
            <a:r>
              <a:rPr lang="en-US"/>
              <a:t> </a:t>
            </a:r>
            <a:r>
              <a:rPr lang="en-US" err="1"/>
              <a:t>hàng</a:t>
            </a:r>
            <a:r>
              <a:rPr lang="en-US"/>
              <a:t> </a:t>
            </a:r>
          </a:p>
        </p:txBody>
      </p:sp>
      <p:sp>
        <p:nvSpPr>
          <p:cNvPr id="9" name="TextBox 8">
            <a:extLst>
              <a:ext uri="{FF2B5EF4-FFF2-40B4-BE49-F238E27FC236}">
                <a16:creationId xmlns:a16="http://schemas.microsoft.com/office/drawing/2014/main" id="{3303E305-E646-4C14-B25A-1FDB8031F2DB}"/>
              </a:ext>
            </a:extLst>
          </p:cNvPr>
          <p:cNvSpPr txBox="1"/>
          <p:nvPr/>
        </p:nvSpPr>
        <p:spPr>
          <a:xfrm>
            <a:off x="503375" y="4484532"/>
            <a:ext cx="3125972" cy="369332"/>
          </a:xfrm>
          <a:prstGeom prst="rect">
            <a:avLst/>
          </a:prstGeom>
          <a:noFill/>
        </p:spPr>
        <p:txBody>
          <a:bodyPr wrap="square" rtlCol="0">
            <a:spAutoFit/>
          </a:bodyPr>
          <a:lstStyle/>
          <a:p>
            <a:r>
              <a:rPr lang="en-US" err="1"/>
              <a:t>Lưu</a:t>
            </a:r>
            <a:r>
              <a:rPr lang="en-US"/>
              <a:t> </a:t>
            </a:r>
            <a:r>
              <a:rPr lang="en-US" err="1"/>
              <a:t>trữ</a:t>
            </a:r>
            <a:r>
              <a:rPr lang="en-US"/>
              <a:t> </a:t>
            </a:r>
            <a:r>
              <a:rPr lang="en-US" err="1"/>
              <a:t>ưu</a:t>
            </a:r>
            <a:r>
              <a:rPr lang="en-US"/>
              <a:t> </a:t>
            </a:r>
            <a:r>
              <a:rPr lang="en-US" err="1"/>
              <a:t>tiên</a:t>
            </a:r>
            <a:r>
              <a:rPr lang="en-US"/>
              <a:t> </a:t>
            </a:r>
            <a:r>
              <a:rPr lang="en-US" err="1"/>
              <a:t>theo</a:t>
            </a:r>
            <a:r>
              <a:rPr lang="en-US"/>
              <a:t> </a:t>
            </a:r>
            <a:r>
              <a:rPr lang="en-US" err="1"/>
              <a:t>cột</a:t>
            </a:r>
            <a:r>
              <a:rPr lang="en-US"/>
              <a:t> </a:t>
            </a:r>
          </a:p>
        </p:txBody>
      </p:sp>
    </p:spTree>
    <p:extLst>
      <p:ext uri="{BB962C8B-B14F-4D97-AF65-F5344CB8AC3E}">
        <p14:creationId xmlns:p14="http://schemas.microsoft.com/office/powerpoint/2010/main" val="2979757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5B39AE9-35E0-B546-B23D-BE613B457E91}"/>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B8E094F5-1FD6-C643-9837-73A281DC0B66}"/>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D2A970D4-B1E9-4446-96F2-1C15D61C7465}"/>
              </a:ext>
            </a:extLst>
          </p:cNvPr>
          <p:cNvSpPr>
            <a:spLocks noGrp="1"/>
          </p:cNvSpPr>
          <p:nvPr>
            <p:ph type="sldNum" sz="quarter" idx="12"/>
          </p:nvPr>
        </p:nvSpPr>
        <p:spPr/>
        <p:txBody>
          <a:bodyPr/>
          <a:lstStyle/>
          <a:p>
            <a:fld id="{BA7BC09B-FE30-A349-B1D2-5A364F511F98}" type="slidenum">
              <a:rPr lang="en-US" smtClean="0"/>
              <a:t>11</a:t>
            </a:fld>
            <a:endParaRPr lang="en-US"/>
          </a:p>
        </p:txBody>
      </p:sp>
      <p:sp>
        <p:nvSpPr>
          <p:cNvPr id="2" name="Title 1">
            <a:extLst>
              <a:ext uri="{FF2B5EF4-FFF2-40B4-BE49-F238E27FC236}">
                <a16:creationId xmlns:a16="http://schemas.microsoft.com/office/drawing/2014/main" id="{C5591762-6EE5-FB44-BA99-19C1EC39F719}"/>
              </a:ext>
            </a:extLst>
          </p:cNvPr>
          <p:cNvSpPr>
            <a:spLocks noGrp="1"/>
          </p:cNvSpPr>
          <p:nvPr>
            <p:ph type="title"/>
          </p:nvPr>
        </p:nvSpPr>
        <p:spPr/>
        <p:txBody>
          <a:bodyPr/>
          <a:lstStyle/>
          <a:p>
            <a:r>
              <a:rPr lang="en-US" err="1"/>
              <a:t>Cài</a:t>
            </a:r>
            <a:r>
              <a:rPr lang="en-US"/>
              <a:t> </a:t>
            </a:r>
            <a:r>
              <a:rPr lang="en-US" err="1"/>
              <a:t>đặt</a:t>
            </a:r>
            <a:r>
              <a:rPr lang="en-US"/>
              <a:t> </a:t>
            </a:r>
            <a:r>
              <a:rPr lang="en-US" err="1"/>
              <a:t>mảng</a:t>
            </a:r>
            <a:r>
              <a:rPr lang="en-US"/>
              <a:t> 1 </a:t>
            </a:r>
            <a:r>
              <a:rPr lang="en-US" err="1"/>
              <a:t>chiều</a:t>
            </a:r>
            <a:endParaRPr lang="en-US"/>
          </a:p>
        </p:txBody>
      </p:sp>
      <p:sp>
        <p:nvSpPr>
          <p:cNvPr id="3" name="Content Placeholder 2">
            <a:extLst>
              <a:ext uri="{FF2B5EF4-FFF2-40B4-BE49-F238E27FC236}">
                <a16:creationId xmlns:a16="http://schemas.microsoft.com/office/drawing/2014/main" id="{08984C72-BF41-F545-BACD-9CB12B5B3611}"/>
              </a:ext>
            </a:extLst>
          </p:cNvPr>
          <p:cNvSpPr>
            <a:spLocks noGrp="1"/>
          </p:cNvSpPr>
          <p:nvPr>
            <p:ph type="body" sz="quarter" idx="13"/>
          </p:nvPr>
        </p:nvSpPr>
        <p:spPr>
          <a:xfrm>
            <a:off x="234823" y="859856"/>
            <a:ext cx="8674100" cy="5132832"/>
          </a:xfrm>
        </p:spPr>
        <p:txBody>
          <a:bodyPr>
            <a:normAutofit fontScale="85000" lnSpcReduction="20000"/>
          </a:bodyPr>
          <a:lstStyle/>
          <a:p>
            <a:r>
              <a:rPr lang="en-US" altLang="en-US" sz="2600">
                <a:latin typeface="+mj-lt"/>
                <a:cs typeface="Times New Roman" panose="02020603050405020304" pitchFamily="18" charset="0"/>
              </a:rPr>
              <a:t>ARRAY : a</a:t>
            </a:r>
            <a:r>
              <a:rPr lang="en-US" altLang="en-US" sz="2600" baseline="-30000">
                <a:latin typeface="+mj-lt"/>
                <a:cs typeface="Times New Roman" panose="02020603050405020304" pitchFamily="18" charset="0"/>
              </a:rPr>
              <a:t>1</a:t>
            </a:r>
            <a:r>
              <a:rPr lang="en-US" altLang="en-US" sz="2600">
                <a:latin typeface="+mj-lt"/>
                <a:cs typeface="Times New Roman" panose="02020603050405020304" pitchFamily="18" charset="0"/>
              </a:rPr>
              <a:t>[1, N] OF </a:t>
            </a:r>
            <a:r>
              <a:rPr lang="en-US" altLang="en-US" sz="2600" i="1">
                <a:latin typeface="+mj-lt"/>
                <a:cs typeface="Times New Roman" panose="02020603050405020304" pitchFamily="18" charset="0"/>
              </a:rPr>
              <a:t>datatype</a:t>
            </a:r>
            <a:r>
              <a:rPr lang="en-US" altLang="en-US" sz="2600">
                <a:latin typeface="+mj-lt"/>
                <a:cs typeface="Times New Roman" panose="02020603050405020304" pitchFamily="18" charset="0"/>
              </a:rPr>
              <a:t> ;</a:t>
            </a:r>
          </a:p>
          <a:p>
            <a:r>
              <a:rPr lang="en-US" altLang="en-US" sz="2600" err="1">
                <a:latin typeface="+mj-lt"/>
                <a:cs typeface="Times New Roman" panose="02020603050405020304" pitchFamily="18" charset="0"/>
              </a:rPr>
              <a:t>Xác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định</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đặc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trưng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cấu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trúc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lưu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trữ</a:t>
            </a:r>
            <a:r>
              <a:rPr lang="en-US" altLang="en-US" sz="2600">
                <a:latin typeface="+mj-lt"/>
                <a:cs typeface="Times New Roman" panose="02020603050405020304" pitchFamily="18" charset="0"/>
              </a:rPr>
              <a:t>:</a:t>
            </a:r>
          </a:p>
          <a:p>
            <a:pPr lvl="1" algn="just">
              <a:lnSpc>
                <a:spcPct val="115000"/>
              </a:lnSpc>
            </a:pPr>
            <a:r>
              <a:rPr lang="en-US" altLang="en-US" sz="2600" err="1">
                <a:latin typeface="+mj-lt"/>
                <a:cs typeface="Times New Roman" panose="02020603050405020304" pitchFamily="18" charset="0"/>
              </a:rPr>
              <a:t>Số</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ô</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nhớ</a:t>
            </a:r>
            <a:r>
              <a:rPr lang="en-US" altLang="en-US" sz="2600">
                <a:latin typeface="+mj-lt"/>
                <a:cs typeface="Times New Roman" panose="02020603050405020304" pitchFamily="18" charset="0"/>
              </a:rPr>
              <a:t> : </a:t>
            </a:r>
            <a:r>
              <a:rPr lang="en-US" altLang="en-US" sz="2600" err="1">
                <a:latin typeface="+mj-lt"/>
                <a:cs typeface="Times New Roman" panose="02020603050405020304" pitchFamily="18" charset="0"/>
              </a:rPr>
              <a:t>bằng</a:t>
            </a:r>
            <a:r>
              <a:rPr lang="en-US" altLang="en-US" sz="2600">
                <a:latin typeface="+mj-lt"/>
                <a:cs typeface="Times New Roman" panose="02020603050405020304" pitchFamily="18" charset="0"/>
              </a:rPr>
              <a:t> N, </a:t>
            </a:r>
            <a:r>
              <a:rPr lang="en-US" altLang="en-US" sz="2600" err="1">
                <a:latin typeface="+mj-lt"/>
                <a:cs typeface="Times New Roman" panose="02020603050405020304" pitchFamily="18" charset="0"/>
              </a:rPr>
              <a:t>là</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số</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mảng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tức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là</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kích</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thước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mảng</a:t>
            </a:r>
            <a:endParaRPr lang="en-US" altLang="en-US" sz="2600">
              <a:latin typeface="+mj-lt"/>
              <a:cs typeface="Times New Roman" panose="02020603050405020304" pitchFamily="18" charset="0"/>
            </a:endParaRPr>
          </a:p>
          <a:p>
            <a:pPr lvl="1" algn="just">
              <a:lnSpc>
                <a:spcPct val="115000"/>
              </a:lnSpc>
            </a:pPr>
            <a:r>
              <a:rPr lang="en-US" altLang="en-US" sz="2600" err="1">
                <a:latin typeface="+mj-lt"/>
                <a:cs typeface="Times New Roman" panose="02020603050405020304" pitchFamily="18" charset="0"/>
              </a:rPr>
              <a:t>Kích</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thước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mỗi</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ô</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nhớ</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là</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hằng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số</a:t>
            </a:r>
            <a:r>
              <a:rPr lang="en-US" altLang="en-US" sz="2600">
                <a:latin typeface="+mj-lt"/>
                <a:cs typeface="Times New Roman" panose="02020603050405020304" pitchFamily="18" charset="0"/>
              </a:rPr>
              <a:t> c </a:t>
            </a:r>
            <a:r>
              <a:rPr lang="en-US" altLang="en-US" sz="2600" err="1">
                <a:latin typeface="+mj-lt"/>
                <a:cs typeface="Times New Roman" panose="02020603050405020304" pitchFamily="18" charset="0"/>
              </a:rPr>
              <a:t>cố</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định</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mà</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bằng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kích</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thước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kiểu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dữ</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liệu</a:t>
            </a:r>
            <a:r>
              <a:rPr lang="en-US" altLang="en-US" sz="2600">
                <a:latin typeface="+mj-lt"/>
                <a:cs typeface="Times New Roman" panose="02020603050405020304" pitchFamily="18" charset="0"/>
              </a:rPr>
              <a:t> datatype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mỗi</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mảng</a:t>
            </a:r>
            <a:r>
              <a:rPr lang="en-US" altLang="en-US" sz="2600">
                <a:latin typeface="+mj-lt"/>
                <a:cs typeface="Times New Roman" panose="02020603050405020304" pitchFamily="18" charset="0"/>
              </a:rPr>
              <a:t>. </a:t>
            </a:r>
          </a:p>
          <a:p>
            <a:pPr lvl="1" algn="just">
              <a:lnSpc>
                <a:spcPct val="115000"/>
              </a:lnSpc>
            </a:pPr>
            <a:r>
              <a:rPr lang="en-US" altLang="en-US" sz="2600" err="1">
                <a:latin typeface="+mj-lt"/>
                <a:cs typeface="Times New Roman" panose="02020603050405020304" pitchFamily="18" charset="0"/>
              </a:rPr>
              <a:t>Cần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dành</a:t>
            </a:r>
            <a:r>
              <a:rPr lang="en-US" altLang="en-US" sz="2600">
                <a:latin typeface="+mj-lt"/>
                <a:cs typeface="Times New Roman" panose="02020603050405020304" pitchFamily="18" charset="0"/>
              </a:rPr>
              <a:t> ra </a:t>
            </a:r>
            <a:r>
              <a:rPr lang="en-US" altLang="en-US" sz="2600" err="1">
                <a:latin typeface="+mj-lt"/>
                <a:cs typeface="Times New Roman" panose="02020603050405020304" pitchFamily="18" charset="0"/>
              </a:rPr>
              <a:t>một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khối</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nhớ</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liên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tục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có</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kích</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thước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có</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địa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chỉ</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đầu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tiên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là</a:t>
            </a:r>
            <a:r>
              <a:rPr lang="en-US" altLang="en-US" sz="2600">
                <a:latin typeface="+mj-lt"/>
                <a:cs typeface="Times New Roman" panose="02020603050405020304" pitchFamily="18" charset="0"/>
              </a:rPr>
              <a:t> A0 </a:t>
            </a:r>
            <a:r>
              <a:rPr lang="en-US" altLang="en-US" sz="2600" err="1">
                <a:latin typeface="+mj-lt"/>
                <a:cs typeface="Times New Roman" panose="02020603050405020304" pitchFamily="18" charset="0"/>
              </a:rPr>
              <a:t>để</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lưu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trữ</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cho</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mảng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này</a:t>
            </a:r>
            <a:r>
              <a:rPr lang="en-US" altLang="en-US" sz="2600">
                <a:latin typeface="+mj-lt"/>
                <a:cs typeface="Times New Roman" panose="02020603050405020304" pitchFamily="18" charset="0"/>
              </a:rPr>
              <a:t>.</a:t>
            </a:r>
          </a:p>
          <a:p>
            <a:pPr algn="just">
              <a:lnSpc>
                <a:spcPct val="90000"/>
              </a:lnSpc>
            </a:pPr>
            <a:r>
              <a:rPr lang="en-US" altLang="en-US" sz="2600" err="1">
                <a:latin typeface="+mj-lt"/>
                <a:cs typeface="Times New Roman" panose="02020603050405020304" pitchFamily="18" charset="0"/>
              </a:rPr>
              <a:t>Bố</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tử</a:t>
            </a:r>
            <a:r>
              <a:rPr lang="en-US" altLang="en-US" sz="2600">
                <a:latin typeface="+mj-lt"/>
                <a:cs typeface="Times New Roman" panose="02020603050405020304" pitchFamily="18" charset="0"/>
              </a:rPr>
              <a:t>:</a:t>
            </a:r>
          </a:p>
          <a:p>
            <a:pPr lvl="1" algn="just">
              <a:lnSpc>
                <a:spcPct val="90000"/>
              </a:lnSpc>
            </a:pPr>
            <a:r>
              <a:rPr lang="en-US" altLang="en-US" sz="2600">
                <a:latin typeface="+mj-lt"/>
                <a:cs typeface="Times New Roman" panose="02020603050405020304" pitchFamily="18" charset="0"/>
              </a:rPr>
              <a:t>Theo </a:t>
            </a:r>
            <a:r>
              <a:rPr lang="en-US" altLang="en-US" sz="2600" err="1">
                <a:latin typeface="+mj-lt"/>
                <a:cs typeface="Times New Roman" panose="02020603050405020304" pitchFamily="18" charset="0"/>
              </a:rPr>
              <a:t>thứ</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tự</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ưu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tiên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hàng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trong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phương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pháp</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này</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mảng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sẽ</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được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bố</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lượt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theo</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từng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hàng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hết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hàng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nọ</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đến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hàng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kia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theo</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thứ</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tự</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hàng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từ</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trên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xuống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dưới</a:t>
            </a:r>
            <a:r>
              <a:rPr lang="en-US" altLang="en-US" sz="2600">
                <a:latin typeface="+mj-lt"/>
                <a:cs typeface="Times New Roman" panose="02020603050405020304" pitchFamily="18" charset="0"/>
              </a:rPr>
              <a:t>. </a:t>
            </a:r>
          </a:p>
          <a:p>
            <a:pPr lvl="1" algn="just">
              <a:lnSpc>
                <a:spcPct val="90000"/>
              </a:lnSpc>
            </a:pPr>
            <a:r>
              <a:rPr lang="en-US" altLang="en-US" sz="2600">
                <a:latin typeface="+mj-lt"/>
                <a:cs typeface="Times New Roman" panose="02020603050405020304" pitchFamily="18" charset="0"/>
              </a:rPr>
              <a:t>Theo </a:t>
            </a:r>
            <a:r>
              <a:rPr lang="en-US" altLang="en-US" sz="2600" err="1">
                <a:latin typeface="+mj-lt"/>
                <a:cs typeface="Times New Roman" panose="02020603050405020304" pitchFamily="18" charset="0"/>
              </a:rPr>
              <a:t>thứ</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tự</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ưu</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tiên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trong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phương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pháp</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này</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phần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của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mảng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lại</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được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bố</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trí</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theo</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từng</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hết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nọ</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đến</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kia</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theo</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thứ</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tự</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các</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cột</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từ</a:t>
            </a:r>
            <a:r>
              <a:rPr lang="en-US" altLang="en-US" sz="2600">
                <a:latin typeface="+mj-lt"/>
                <a:cs typeface="Times New Roman" panose="02020603050405020304" pitchFamily="18" charset="0"/>
              </a:rPr>
              <a:t> </a:t>
            </a:r>
            <a:r>
              <a:rPr lang="en-US" altLang="en-US" sz="2600" err="1">
                <a:latin typeface="+mj-lt"/>
                <a:cs typeface="Times New Roman" panose="02020603050405020304" pitchFamily="18" charset="0"/>
              </a:rPr>
              <a:t>trái</a:t>
            </a:r>
            <a:r>
              <a:rPr lang="en-US" altLang="en-US" sz="2600">
                <a:latin typeface="+mj-lt"/>
                <a:cs typeface="Times New Roman" panose="02020603050405020304" pitchFamily="18" charset="0"/>
              </a:rPr>
              <a:t> sang </a:t>
            </a:r>
            <a:r>
              <a:rPr lang="en-US" altLang="en-US" sz="2600" err="1">
                <a:latin typeface="+mj-lt"/>
                <a:cs typeface="Times New Roman" panose="02020603050405020304" pitchFamily="18" charset="0"/>
              </a:rPr>
              <a:t>phải</a:t>
            </a:r>
            <a:endParaRPr lang="en-US" altLang="en-US" sz="2600">
              <a:latin typeface="+mj-lt"/>
              <a:cs typeface="Times New Roman" panose="02020603050405020304" pitchFamily="18" charset="0"/>
            </a:endParaRPr>
          </a:p>
          <a:p>
            <a:endParaRPr lang="en-US"/>
          </a:p>
        </p:txBody>
      </p:sp>
      <p:grpSp>
        <p:nvGrpSpPr>
          <p:cNvPr id="7" name="Group 20">
            <a:extLst>
              <a:ext uri="{FF2B5EF4-FFF2-40B4-BE49-F238E27FC236}">
                <a16:creationId xmlns:a16="http://schemas.microsoft.com/office/drawing/2014/main" id="{27B85950-41C4-9B4B-86BB-EBFFC4BC82E4}"/>
              </a:ext>
            </a:extLst>
          </p:cNvPr>
          <p:cNvGrpSpPr>
            <a:grpSpLocks/>
          </p:cNvGrpSpPr>
          <p:nvPr/>
        </p:nvGrpSpPr>
        <p:grpSpPr bwMode="auto">
          <a:xfrm>
            <a:off x="922336" y="5510088"/>
            <a:ext cx="7205663" cy="1244600"/>
            <a:chOff x="768" y="3120"/>
            <a:chExt cx="4539" cy="784"/>
          </a:xfrm>
        </p:grpSpPr>
        <p:sp>
          <p:nvSpPr>
            <p:cNvPr id="8" name="Text Box 5">
              <a:extLst>
                <a:ext uri="{FF2B5EF4-FFF2-40B4-BE49-F238E27FC236}">
                  <a16:creationId xmlns:a16="http://schemas.microsoft.com/office/drawing/2014/main" id="{E52ADBFA-C603-3F4B-BCAF-27892DDF3851}"/>
                </a:ext>
              </a:extLst>
            </p:cNvPr>
            <p:cNvSpPr txBox="1">
              <a:spLocks noChangeArrowheads="1"/>
            </p:cNvSpPr>
            <p:nvPr/>
          </p:nvSpPr>
          <p:spPr bwMode="auto">
            <a:xfrm>
              <a:off x="1152" y="3264"/>
              <a:ext cx="472"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[1]</a:t>
              </a:r>
            </a:p>
          </p:txBody>
        </p:sp>
        <p:sp>
          <p:nvSpPr>
            <p:cNvPr id="9" name="Text Box 6">
              <a:extLst>
                <a:ext uri="{FF2B5EF4-FFF2-40B4-BE49-F238E27FC236}">
                  <a16:creationId xmlns:a16="http://schemas.microsoft.com/office/drawing/2014/main" id="{64A81E96-827B-B84C-AFCB-954D6A231DD2}"/>
                </a:ext>
              </a:extLst>
            </p:cNvPr>
            <p:cNvSpPr txBox="1">
              <a:spLocks noChangeArrowheads="1"/>
            </p:cNvSpPr>
            <p:nvPr/>
          </p:nvSpPr>
          <p:spPr bwMode="auto">
            <a:xfrm>
              <a:off x="1624" y="3264"/>
              <a:ext cx="467"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[2]</a:t>
              </a:r>
            </a:p>
          </p:txBody>
        </p:sp>
        <p:sp>
          <p:nvSpPr>
            <p:cNvPr id="10" name="Text Box 7">
              <a:extLst>
                <a:ext uri="{FF2B5EF4-FFF2-40B4-BE49-F238E27FC236}">
                  <a16:creationId xmlns:a16="http://schemas.microsoft.com/office/drawing/2014/main" id="{43E7D1C4-BA72-3A46-B272-E82468339AF6}"/>
                </a:ext>
              </a:extLst>
            </p:cNvPr>
            <p:cNvSpPr txBox="1">
              <a:spLocks noChangeArrowheads="1"/>
            </p:cNvSpPr>
            <p:nvPr/>
          </p:nvSpPr>
          <p:spPr bwMode="auto">
            <a:xfrm>
              <a:off x="2088" y="3264"/>
              <a:ext cx="462"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t>
              </a:r>
            </a:p>
          </p:txBody>
        </p:sp>
        <p:sp>
          <p:nvSpPr>
            <p:cNvPr id="11" name="Text Box 8">
              <a:extLst>
                <a:ext uri="{FF2B5EF4-FFF2-40B4-BE49-F238E27FC236}">
                  <a16:creationId xmlns:a16="http://schemas.microsoft.com/office/drawing/2014/main" id="{B4223592-4BEB-344E-BD28-8CBB02E7BBC3}"/>
                </a:ext>
              </a:extLst>
            </p:cNvPr>
            <p:cNvSpPr txBox="1">
              <a:spLocks noChangeArrowheads="1"/>
            </p:cNvSpPr>
            <p:nvPr/>
          </p:nvSpPr>
          <p:spPr bwMode="auto">
            <a:xfrm>
              <a:off x="2551" y="3264"/>
              <a:ext cx="457"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2000">
                <a:latin typeface="Times New Roman" panose="02020603050405020304" pitchFamily="18" charset="0"/>
              </a:endParaRPr>
            </a:p>
          </p:txBody>
        </p:sp>
        <p:sp>
          <p:nvSpPr>
            <p:cNvPr id="12" name="Text Box 9">
              <a:extLst>
                <a:ext uri="{FF2B5EF4-FFF2-40B4-BE49-F238E27FC236}">
                  <a16:creationId xmlns:a16="http://schemas.microsoft.com/office/drawing/2014/main" id="{BFFC86D1-BCD0-1E45-8F38-BA41882CFF1B}"/>
                </a:ext>
              </a:extLst>
            </p:cNvPr>
            <p:cNvSpPr txBox="1">
              <a:spLocks noChangeArrowheads="1"/>
            </p:cNvSpPr>
            <p:nvPr/>
          </p:nvSpPr>
          <p:spPr bwMode="auto">
            <a:xfrm>
              <a:off x="3008" y="3264"/>
              <a:ext cx="452"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[i]</a:t>
              </a:r>
            </a:p>
          </p:txBody>
        </p:sp>
        <p:sp>
          <p:nvSpPr>
            <p:cNvPr id="13" name="Text Box 10">
              <a:extLst>
                <a:ext uri="{FF2B5EF4-FFF2-40B4-BE49-F238E27FC236}">
                  <a16:creationId xmlns:a16="http://schemas.microsoft.com/office/drawing/2014/main" id="{C1E70E19-F742-934E-AF62-A1D9EF70289C}"/>
                </a:ext>
              </a:extLst>
            </p:cNvPr>
            <p:cNvSpPr txBox="1">
              <a:spLocks noChangeArrowheads="1"/>
            </p:cNvSpPr>
            <p:nvPr/>
          </p:nvSpPr>
          <p:spPr bwMode="auto">
            <a:xfrm>
              <a:off x="3464" y="3264"/>
              <a:ext cx="460"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t>
              </a:r>
            </a:p>
          </p:txBody>
        </p:sp>
        <p:sp>
          <p:nvSpPr>
            <p:cNvPr id="14" name="Text Box 11">
              <a:extLst>
                <a:ext uri="{FF2B5EF4-FFF2-40B4-BE49-F238E27FC236}">
                  <a16:creationId xmlns:a16="http://schemas.microsoft.com/office/drawing/2014/main" id="{60C38D3D-84F7-A841-866C-9470BA8A8011}"/>
                </a:ext>
              </a:extLst>
            </p:cNvPr>
            <p:cNvSpPr txBox="1">
              <a:spLocks noChangeArrowheads="1"/>
            </p:cNvSpPr>
            <p:nvPr/>
          </p:nvSpPr>
          <p:spPr bwMode="auto">
            <a:xfrm>
              <a:off x="3928" y="3264"/>
              <a:ext cx="432"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2000">
                <a:latin typeface="Times New Roman" panose="02020603050405020304" pitchFamily="18" charset="0"/>
              </a:endParaRPr>
            </a:p>
          </p:txBody>
        </p:sp>
        <p:sp>
          <p:nvSpPr>
            <p:cNvPr id="15" name="Text Box 12">
              <a:extLst>
                <a:ext uri="{FF2B5EF4-FFF2-40B4-BE49-F238E27FC236}">
                  <a16:creationId xmlns:a16="http://schemas.microsoft.com/office/drawing/2014/main" id="{9BFBBC17-FE46-6E4E-BBA3-6D4BF9CC7560}"/>
                </a:ext>
              </a:extLst>
            </p:cNvPr>
            <p:cNvSpPr txBox="1">
              <a:spLocks noChangeArrowheads="1"/>
            </p:cNvSpPr>
            <p:nvPr/>
          </p:nvSpPr>
          <p:spPr bwMode="auto">
            <a:xfrm>
              <a:off x="4218" y="3264"/>
              <a:ext cx="612"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[N-1]</a:t>
              </a:r>
            </a:p>
          </p:txBody>
        </p:sp>
        <p:sp>
          <p:nvSpPr>
            <p:cNvPr id="16" name="Text Box 13">
              <a:extLst>
                <a:ext uri="{FF2B5EF4-FFF2-40B4-BE49-F238E27FC236}">
                  <a16:creationId xmlns:a16="http://schemas.microsoft.com/office/drawing/2014/main" id="{E6E57E1C-8213-A64A-8C22-14D2D5449D26}"/>
                </a:ext>
              </a:extLst>
            </p:cNvPr>
            <p:cNvSpPr txBox="1">
              <a:spLocks noChangeArrowheads="1"/>
            </p:cNvSpPr>
            <p:nvPr/>
          </p:nvSpPr>
          <p:spPr bwMode="auto">
            <a:xfrm>
              <a:off x="4832" y="3264"/>
              <a:ext cx="475" cy="256"/>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a:t>
              </a:r>
              <a:r>
                <a:rPr lang="en-US" altLang="en-US" sz="2000" baseline="-25000">
                  <a:latin typeface="Times New Roman" panose="02020603050405020304" pitchFamily="18" charset="0"/>
                </a:rPr>
                <a:t>1</a:t>
              </a:r>
              <a:r>
                <a:rPr lang="en-US" altLang="en-US" sz="2000">
                  <a:latin typeface="Times New Roman" panose="02020603050405020304" pitchFamily="18" charset="0"/>
                </a:rPr>
                <a:t>[N]</a:t>
              </a:r>
            </a:p>
          </p:txBody>
        </p:sp>
        <p:sp>
          <p:nvSpPr>
            <p:cNvPr id="17" name="Text Box 14">
              <a:extLst>
                <a:ext uri="{FF2B5EF4-FFF2-40B4-BE49-F238E27FC236}">
                  <a16:creationId xmlns:a16="http://schemas.microsoft.com/office/drawing/2014/main" id="{83E952E3-62FA-234C-8671-367C152F9C81}"/>
                </a:ext>
              </a:extLst>
            </p:cNvPr>
            <p:cNvSpPr txBox="1">
              <a:spLocks noChangeArrowheads="1"/>
            </p:cNvSpPr>
            <p:nvPr/>
          </p:nvSpPr>
          <p:spPr bwMode="auto">
            <a:xfrm>
              <a:off x="768" y="3120"/>
              <a:ext cx="37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18" name="Line 15">
              <a:extLst>
                <a:ext uri="{FF2B5EF4-FFF2-40B4-BE49-F238E27FC236}">
                  <a16:creationId xmlns:a16="http://schemas.microsoft.com/office/drawing/2014/main" id="{B50EC826-393E-DF41-B41B-4BBF65D590ED}"/>
                </a:ext>
              </a:extLst>
            </p:cNvPr>
            <p:cNvSpPr>
              <a:spLocks noChangeShapeType="1"/>
            </p:cNvSpPr>
            <p:nvPr/>
          </p:nvSpPr>
          <p:spPr bwMode="auto">
            <a:xfrm>
              <a:off x="768" y="3392"/>
              <a:ext cx="37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16">
              <a:extLst>
                <a:ext uri="{FF2B5EF4-FFF2-40B4-BE49-F238E27FC236}">
                  <a16:creationId xmlns:a16="http://schemas.microsoft.com/office/drawing/2014/main" id="{41615799-A4BA-0E47-B843-A18A10D4C37E}"/>
                </a:ext>
              </a:extLst>
            </p:cNvPr>
            <p:cNvSpPr>
              <a:spLocks noChangeShapeType="1"/>
            </p:cNvSpPr>
            <p:nvPr/>
          </p:nvSpPr>
          <p:spPr bwMode="auto">
            <a:xfrm flipV="1">
              <a:off x="2088" y="3744"/>
              <a:ext cx="4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17">
              <a:extLst>
                <a:ext uri="{FF2B5EF4-FFF2-40B4-BE49-F238E27FC236}">
                  <a16:creationId xmlns:a16="http://schemas.microsoft.com/office/drawing/2014/main" id="{4DE14437-B7FD-A242-A0C6-EF5837F622B1}"/>
                </a:ext>
              </a:extLst>
            </p:cNvPr>
            <p:cNvSpPr>
              <a:spLocks noChangeShapeType="1"/>
            </p:cNvSpPr>
            <p:nvPr/>
          </p:nvSpPr>
          <p:spPr bwMode="auto">
            <a:xfrm>
              <a:off x="2088" y="3520"/>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Line 18">
              <a:extLst>
                <a:ext uri="{FF2B5EF4-FFF2-40B4-BE49-F238E27FC236}">
                  <a16:creationId xmlns:a16="http://schemas.microsoft.com/office/drawing/2014/main" id="{474A7A89-D0FD-B44B-ACC1-2B6B3014F545}"/>
                </a:ext>
              </a:extLst>
            </p:cNvPr>
            <p:cNvSpPr>
              <a:spLocks noChangeShapeType="1"/>
            </p:cNvSpPr>
            <p:nvPr/>
          </p:nvSpPr>
          <p:spPr bwMode="auto">
            <a:xfrm>
              <a:off x="2552" y="3520"/>
              <a:ext cx="0" cy="384"/>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Text Box 19">
              <a:extLst>
                <a:ext uri="{FF2B5EF4-FFF2-40B4-BE49-F238E27FC236}">
                  <a16:creationId xmlns:a16="http://schemas.microsoft.com/office/drawing/2014/main" id="{F8DF79AC-9CF4-6B4F-925B-8B51BDBB2792}"/>
                </a:ext>
              </a:extLst>
            </p:cNvPr>
            <p:cNvSpPr txBox="1">
              <a:spLocks noChangeArrowheads="1"/>
            </p:cNvSpPr>
            <p:nvPr/>
          </p:nvSpPr>
          <p:spPr bwMode="auto">
            <a:xfrm>
              <a:off x="2160" y="3552"/>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0" rIns="1800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c</a:t>
              </a:r>
            </a:p>
          </p:txBody>
        </p:sp>
      </p:grpSp>
    </p:spTree>
    <p:extLst>
      <p:ext uri="{BB962C8B-B14F-4D97-AF65-F5344CB8AC3E}">
        <p14:creationId xmlns:p14="http://schemas.microsoft.com/office/powerpoint/2010/main" val="2246123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768CEEC-E377-644D-9636-A929B52D7AFB}"/>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856700CC-E5A6-954D-858B-FB9E4EEB3B5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7E8D5FE0-E973-6141-80E6-49563608F8ED}"/>
              </a:ext>
            </a:extLst>
          </p:cNvPr>
          <p:cNvSpPr>
            <a:spLocks noGrp="1"/>
          </p:cNvSpPr>
          <p:nvPr>
            <p:ph type="sldNum" sz="quarter" idx="12"/>
          </p:nvPr>
        </p:nvSpPr>
        <p:spPr/>
        <p:txBody>
          <a:bodyPr/>
          <a:lstStyle/>
          <a:p>
            <a:fld id="{BA7BC09B-FE30-A349-B1D2-5A364F511F98}" type="slidenum">
              <a:rPr lang="en-US" smtClean="0"/>
              <a:t>12</a:t>
            </a:fld>
            <a:endParaRPr lang="en-US"/>
          </a:p>
        </p:txBody>
      </p:sp>
      <p:sp>
        <p:nvSpPr>
          <p:cNvPr id="2" name="Title 1">
            <a:extLst>
              <a:ext uri="{FF2B5EF4-FFF2-40B4-BE49-F238E27FC236}">
                <a16:creationId xmlns:a16="http://schemas.microsoft.com/office/drawing/2014/main" id="{A77E3CFB-95A2-C540-A5AE-E362310B9664}"/>
              </a:ext>
            </a:extLst>
          </p:cNvPr>
          <p:cNvSpPr>
            <a:spLocks noGrp="1"/>
          </p:cNvSpPr>
          <p:nvPr>
            <p:ph type="title"/>
          </p:nvPr>
        </p:nvSpPr>
        <p:spPr/>
        <p:txBody>
          <a:bodyPr/>
          <a:lstStyle/>
          <a:p>
            <a:r>
              <a:rPr lang="en-US" err="1"/>
              <a:t>Cài</a:t>
            </a:r>
            <a:r>
              <a:rPr lang="en-US"/>
              <a:t> </a:t>
            </a:r>
            <a:r>
              <a:rPr lang="en-US" err="1"/>
              <a:t>đặt</a:t>
            </a:r>
            <a:r>
              <a:rPr lang="en-US"/>
              <a:t> </a:t>
            </a:r>
            <a:r>
              <a:rPr lang="en-US" err="1"/>
              <a:t>mảng</a:t>
            </a:r>
            <a:r>
              <a:rPr lang="en-US"/>
              <a:t> 1 </a:t>
            </a:r>
            <a:r>
              <a:rPr lang="en-US" err="1"/>
              <a:t>chiều</a:t>
            </a:r>
            <a:r>
              <a:rPr lang="en-US"/>
              <a:t> </a:t>
            </a:r>
          </a:p>
        </p:txBody>
      </p:sp>
      <p:sp>
        <p:nvSpPr>
          <p:cNvPr id="3" name="Content Placeholder 2">
            <a:extLst>
              <a:ext uri="{FF2B5EF4-FFF2-40B4-BE49-F238E27FC236}">
                <a16:creationId xmlns:a16="http://schemas.microsoft.com/office/drawing/2014/main" id="{0F84B9BF-6D6F-7C40-8332-700CC1AD904E}"/>
              </a:ext>
            </a:extLst>
          </p:cNvPr>
          <p:cNvSpPr>
            <a:spLocks noGrp="1"/>
          </p:cNvSpPr>
          <p:nvPr>
            <p:ph type="body" sz="quarter" idx="13"/>
          </p:nvPr>
        </p:nvSpPr>
        <p:spPr/>
        <p:txBody>
          <a:bodyPr/>
          <a:lstStyle/>
          <a:p>
            <a:r>
              <a:rPr lang="en-US" altLang="en-US" sz="2600" err="1">
                <a:cs typeface="Times New Roman" panose="02020603050405020304" pitchFamily="18" charset="0"/>
              </a:rPr>
              <a:t>Cài</a:t>
            </a:r>
            <a:r>
              <a:rPr lang="en-US" altLang="en-US" sz="2600">
                <a:cs typeface="Times New Roman" panose="02020603050405020304" pitchFamily="18" charset="0"/>
              </a:rPr>
              <a:t> </a:t>
            </a:r>
            <a:r>
              <a:rPr lang="en-US" altLang="en-US" sz="2600" err="1">
                <a:cs typeface="Times New Roman" panose="02020603050405020304" pitchFamily="18" charset="0"/>
              </a:rPr>
              <a:t>đặt</a:t>
            </a:r>
            <a:r>
              <a:rPr lang="en-US" altLang="en-US" sz="2600">
                <a:cs typeface="Times New Roman" panose="02020603050405020304" pitchFamily="18" charset="0"/>
              </a:rPr>
              <a:t> </a:t>
            </a:r>
            <a:r>
              <a:rPr lang="en-US" altLang="en-US" sz="2600" err="1">
                <a:cs typeface="Times New Roman" panose="02020603050405020304" pitchFamily="18" charset="0"/>
              </a:rPr>
              <a:t>mảng</a:t>
            </a:r>
            <a:r>
              <a:rPr lang="en-US" altLang="en-US" sz="2600">
                <a:cs typeface="Times New Roman" panose="02020603050405020304" pitchFamily="18" charset="0"/>
              </a:rPr>
              <a:t> </a:t>
            </a:r>
            <a:r>
              <a:rPr lang="en-US" altLang="en-US" sz="2600" err="1">
                <a:cs typeface="Times New Roman" panose="02020603050405020304" pitchFamily="18" charset="0"/>
              </a:rPr>
              <a:t>một</a:t>
            </a:r>
            <a:r>
              <a:rPr lang="en-US" altLang="en-US" sz="2600">
                <a:cs typeface="Times New Roman" panose="02020603050405020304" pitchFamily="18" charset="0"/>
              </a:rPr>
              <a:t> </a:t>
            </a:r>
            <a:r>
              <a:rPr lang="en-US" altLang="en-US" sz="2600" err="1">
                <a:cs typeface="Times New Roman" panose="02020603050405020304" pitchFamily="18" charset="0"/>
              </a:rPr>
              <a:t>chiều</a:t>
            </a:r>
            <a:r>
              <a:rPr lang="en-US" altLang="en-US" sz="2600">
                <a:cs typeface="Times New Roman" panose="02020603050405020304" pitchFamily="18" charset="0"/>
              </a:rPr>
              <a:t>: </a:t>
            </a:r>
          </a:p>
          <a:p>
            <a:pPr lvl="1"/>
            <a:r>
              <a:rPr lang="en-US" altLang="en-US" sz="2200">
                <a:cs typeface="Times New Roman" panose="02020603050405020304" pitchFamily="18" charset="0"/>
              </a:rPr>
              <a:t>ARRAY : a</a:t>
            </a:r>
            <a:r>
              <a:rPr lang="en-US" altLang="en-US" sz="2200" baseline="-30000">
                <a:cs typeface="Times New Roman" panose="02020603050405020304" pitchFamily="18" charset="0"/>
              </a:rPr>
              <a:t>1</a:t>
            </a:r>
            <a:r>
              <a:rPr lang="en-US" altLang="en-US" sz="2200">
                <a:cs typeface="Times New Roman" panose="02020603050405020304" pitchFamily="18" charset="0"/>
              </a:rPr>
              <a:t>[1, N] OF </a:t>
            </a:r>
            <a:r>
              <a:rPr lang="en-US" altLang="en-US" sz="2200" i="1">
                <a:cs typeface="Times New Roman" panose="02020603050405020304" pitchFamily="18" charset="0"/>
              </a:rPr>
              <a:t>datatype</a:t>
            </a:r>
            <a:r>
              <a:rPr lang="en-US" altLang="en-US" sz="2200">
                <a:cs typeface="Times New Roman" panose="02020603050405020304" pitchFamily="18" charset="0"/>
              </a:rPr>
              <a:t> ; </a:t>
            </a:r>
          </a:p>
          <a:p>
            <a:pPr lvl="1"/>
            <a:r>
              <a:rPr lang="en-US" altLang="en-US" sz="2200" err="1">
                <a:cs typeface="Times New Roman" panose="02020603050405020304" pitchFamily="18" charset="0"/>
              </a:rPr>
              <a:t>Kích</a:t>
            </a:r>
            <a:r>
              <a:rPr lang="en-US" altLang="en-US" sz="2200">
                <a:cs typeface="Times New Roman" panose="02020603050405020304" pitchFamily="18" charset="0"/>
              </a:rPr>
              <a:t> </a:t>
            </a:r>
            <a:r>
              <a:rPr lang="en-US" altLang="en-US" sz="2200" err="1">
                <a:cs typeface="Times New Roman" panose="02020603050405020304" pitchFamily="18" charset="0"/>
              </a:rPr>
              <a:t>thước</a:t>
            </a:r>
            <a:r>
              <a:rPr lang="en-US" altLang="en-US" sz="2200">
                <a:cs typeface="Times New Roman" panose="02020603050405020304" pitchFamily="18" charset="0"/>
              </a:rPr>
              <a:t> </a:t>
            </a:r>
            <a:r>
              <a:rPr lang="en-US" altLang="en-US" sz="2200" err="1">
                <a:cs typeface="Times New Roman" panose="02020603050405020304" pitchFamily="18" charset="0"/>
              </a:rPr>
              <a:t>một</a:t>
            </a:r>
            <a:r>
              <a:rPr lang="en-US" altLang="en-US" sz="2200">
                <a:cs typeface="Times New Roman" panose="02020603050405020304" pitchFamily="18" charset="0"/>
              </a:rPr>
              <a:t> </a:t>
            </a:r>
            <a:r>
              <a:rPr lang="en-US" altLang="en-US" sz="2200" err="1">
                <a:cs typeface="Times New Roman" panose="02020603050405020304" pitchFamily="18" charset="0"/>
              </a:rPr>
              <a:t>số</a:t>
            </a:r>
            <a:r>
              <a:rPr lang="en-US" altLang="en-US" sz="2200">
                <a:cs typeface="Times New Roman" panose="02020603050405020304" pitchFamily="18" charset="0"/>
              </a:rPr>
              <a:t> </a:t>
            </a:r>
            <a:r>
              <a:rPr lang="en-US" altLang="en-US" sz="2200" err="1">
                <a:cs typeface="Times New Roman" panose="02020603050405020304" pitchFamily="18" charset="0"/>
              </a:rPr>
              <a:t>kiểu</a:t>
            </a:r>
            <a:r>
              <a:rPr lang="en-US" altLang="en-US" sz="2200">
                <a:cs typeface="Times New Roman" panose="02020603050405020304" pitchFamily="18" charset="0"/>
              </a:rPr>
              <a:t> </a:t>
            </a:r>
            <a:r>
              <a:rPr lang="en-US" altLang="en-US" sz="2200" err="1">
                <a:cs typeface="Times New Roman" panose="02020603050405020304" pitchFamily="18" charset="0"/>
              </a:rPr>
              <a:t>dữ</a:t>
            </a:r>
            <a:r>
              <a:rPr lang="en-US" altLang="en-US" sz="2200">
                <a:cs typeface="Times New Roman" panose="02020603050405020304" pitchFamily="18" charset="0"/>
              </a:rPr>
              <a:t> </a:t>
            </a:r>
            <a:r>
              <a:rPr lang="en-US" altLang="en-US" sz="2200" err="1">
                <a:cs typeface="Times New Roman" panose="02020603050405020304" pitchFamily="18" charset="0"/>
              </a:rPr>
              <a:t>liệu</a:t>
            </a:r>
            <a:r>
              <a:rPr lang="en-US" altLang="en-US" sz="2200">
                <a:cs typeface="Times New Roman" panose="02020603050405020304" pitchFamily="18" charset="0"/>
              </a:rPr>
              <a:t> </a:t>
            </a:r>
            <a:r>
              <a:rPr lang="en-US" altLang="en-US" sz="2200" err="1">
                <a:cs typeface="Times New Roman" panose="02020603050405020304" pitchFamily="18" charset="0"/>
              </a:rPr>
              <a:t>cơ</a:t>
            </a:r>
            <a:r>
              <a:rPr lang="en-US" altLang="en-US" sz="2200">
                <a:cs typeface="Times New Roman" panose="02020603050405020304" pitchFamily="18" charset="0"/>
              </a:rPr>
              <a:t> </a:t>
            </a:r>
            <a:r>
              <a:rPr lang="en-US" altLang="en-US" sz="2200" err="1">
                <a:cs typeface="Times New Roman" panose="02020603050405020304" pitchFamily="18" charset="0"/>
              </a:rPr>
              <a:t>bản</a:t>
            </a:r>
            <a:r>
              <a:rPr lang="en-US" altLang="en-US" sz="2200">
                <a:cs typeface="Times New Roman" panose="02020603050405020304" pitchFamily="18" charset="0"/>
              </a:rPr>
              <a:t> </a:t>
            </a:r>
            <a:r>
              <a:rPr lang="en-US" altLang="en-US" sz="2200" err="1">
                <a:cs typeface="Times New Roman" panose="02020603050405020304" pitchFamily="18" charset="0"/>
              </a:rPr>
              <a:t>trong</a:t>
            </a:r>
            <a:r>
              <a:rPr lang="en-US" altLang="en-US" sz="2200">
                <a:cs typeface="Times New Roman" panose="02020603050405020304" pitchFamily="18" charset="0"/>
              </a:rPr>
              <a:t> C/C++</a:t>
            </a:r>
          </a:p>
          <a:p>
            <a:endParaRPr lang="en-US"/>
          </a:p>
        </p:txBody>
      </p:sp>
      <p:graphicFrame>
        <p:nvGraphicFramePr>
          <p:cNvPr id="7" name="Group 60">
            <a:extLst>
              <a:ext uri="{FF2B5EF4-FFF2-40B4-BE49-F238E27FC236}">
                <a16:creationId xmlns:a16="http://schemas.microsoft.com/office/drawing/2014/main" id="{CE000595-858F-E04C-A0DD-2B9031493C5E}"/>
              </a:ext>
            </a:extLst>
          </p:cNvPr>
          <p:cNvGraphicFramePr>
            <a:graphicFrameLocks/>
          </p:cNvGraphicFramePr>
          <p:nvPr>
            <p:extLst>
              <p:ext uri="{D42A27DB-BD31-4B8C-83A1-F6EECF244321}">
                <p14:modId xmlns:p14="http://schemas.microsoft.com/office/powerpoint/2010/main" val="786665567"/>
              </p:ext>
            </p:extLst>
          </p:nvPr>
        </p:nvGraphicFramePr>
        <p:xfrm>
          <a:off x="1257300" y="3011632"/>
          <a:ext cx="4658591" cy="2584162"/>
        </p:xfrm>
        <a:graphic>
          <a:graphicData uri="http://schemas.openxmlformats.org/drawingml/2006/table">
            <a:tbl>
              <a:tblPr/>
              <a:tblGrid>
                <a:gridCol w="2019300">
                  <a:extLst>
                    <a:ext uri="{9D8B030D-6E8A-4147-A177-3AD203B41FA5}">
                      <a16:colId xmlns:a16="http://schemas.microsoft.com/office/drawing/2014/main" val="1298835936"/>
                    </a:ext>
                  </a:extLst>
                </a:gridCol>
                <a:gridCol w="2639291">
                  <a:extLst>
                    <a:ext uri="{9D8B030D-6E8A-4147-A177-3AD203B41FA5}">
                      <a16:colId xmlns:a16="http://schemas.microsoft.com/office/drawing/2014/main" val="1324256787"/>
                    </a:ext>
                  </a:extLst>
                </a:gridCol>
              </a:tblGrid>
              <a:tr h="450562">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1" i="0" u="none" strike="noStrike" cap="none" normalizeH="0" baseline="0" err="1">
                          <a:ln>
                            <a:noFill/>
                          </a:ln>
                          <a:solidFill>
                            <a:schemeClr val="tx1"/>
                          </a:solidFill>
                          <a:effectLst/>
                          <a:latin typeface="Arial" panose="020B0604020202020204" pitchFamily="34" charset="0"/>
                          <a:cs typeface="Times New Roman" panose="02020603050405020304" pitchFamily="18" charset="0"/>
                        </a:rPr>
                        <a:t>Kiểu</a:t>
                      </a:r>
                      <a:r>
                        <a:rPr kumimoji="0" lang="en-US" altLang="en-US" sz="22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 DL</a:t>
                      </a:r>
                      <a:endParaRPr kumimoji="0" lang="en-US" altLang="en-US" sz="22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1" i="0" u="none" strike="noStrike" cap="none" normalizeH="0" baseline="0" err="1">
                          <a:ln>
                            <a:noFill/>
                          </a:ln>
                          <a:solidFill>
                            <a:schemeClr val="tx1"/>
                          </a:solidFill>
                          <a:effectLst/>
                          <a:latin typeface="Arial" panose="020B0604020202020204" pitchFamily="34" charset="0"/>
                          <a:cs typeface="Times New Roman" panose="02020603050405020304" pitchFamily="18" charset="0"/>
                        </a:rPr>
                        <a:t>Kích</a:t>
                      </a:r>
                      <a:r>
                        <a:rPr kumimoji="0" lang="en-US" altLang="en-US" sz="22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 </a:t>
                      </a:r>
                      <a:r>
                        <a:rPr kumimoji="0" lang="en-US" altLang="en-US" sz="2200" b="1" i="0" u="none" strike="noStrike" cap="none" normalizeH="0" baseline="0" err="1">
                          <a:ln>
                            <a:noFill/>
                          </a:ln>
                          <a:solidFill>
                            <a:schemeClr val="tx1"/>
                          </a:solidFill>
                          <a:effectLst/>
                          <a:latin typeface="Arial" panose="020B0604020202020204" pitchFamily="34" charset="0"/>
                          <a:cs typeface="Times New Roman" panose="02020603050405020304" pitchFamily="18" charset="0"/>
                        </a:rPr>
                        <a:t>thước</a:t>
                      </a:r>
                      <a:r>
                        <a:rPr kumimoji="0" lang="en-US" altLang="en-US" sz="2200" b="1" i="0" u="none" strike="noStrike" cap="none" normalizeH="0" baseline="0">
                          <a:ln>
                            <a:noFill/>
                          </a:ln>
                          <a:solidFill>
                            <a:schemeClr val="tx1"/>
                          </a:solidFill>
                          <a:effectLst/>
                          <a:latin typeface="Arial" panose="020B0604020202020204" pitchFamily="34" charset="0"/>
                          <a:cs typeface="Times New Roman" panose="02020603050405020304" pitchFamily="18" charset="0"/>
                        </a:rPr>
                        <a:t> (byte)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39205023"/>
                  </a:ext>
                </a:extLst>
              </a:tr>
              <a:tr h="384753">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char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2356849"/>
                  </a:ext>
                </a:extLst>
              </a:tr>
              <a:tr h="33438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9513076"/>
                  </a:ext>
                </a:extLst>
              </a:tr>
              <a:tr h="392575">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long, float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32493590"/>
                  </a:ext>
                </a:extLst>
              </a:tr>
              <a:tr h="381491">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double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27751906"/>
                  </a:ext>
                </a:extLst>
              </a:tr>
              <a:tr h="123104">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char[N]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en-US" sz="2200" b="0" i="0" u="none" strike="noStrike" cap="none" normalizeH="0" baseline="0">
                          <a:ln>
                            <a:noFill/>
                          </a:ln>
                          <a:solidFill>
                            <a:schemeClr val="tx1"/>
                          </a:solidFill>
                          <a:effectLst/>
                          <a:latin typeface="Arial" panose="020B0604020202020204" pitchFamily="34" charset="0"/>
                          <a:cs typeface="Times New Roman" panose="02020603050405020304" pitchFamily="18" charset="0"/>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2333300"/>
                  </a:ext>
                </a:extLst>
              </a:tr>
            </a:tbl>
          </a:graphicData>
        </a:graphic>
      </p:graphicFrame>
    </p:spTree>
    <p:extLst>
      <p:ext uri="{BB962C8B-B14F-4D97-AF65-F5344CB8AC3E}">
        <p14:creationId xmlns:p14="http://schemas.microsoft.com/office/powerpoint/2010/main" val="2623536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B18A520-AACC-4229-85AF-8933C9A44BAC}"/>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A10BAA1F-68EE-43BC-9D5A-4AD454F4FE38}"/>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D4651176-DC8F-4F28-9FCA-D5E7D4D9AF8A}"/>
              </a:ext>
            </a:extLst>
          </p:cNvPr>
          <p:cNvSpPr>
            <a:spLocks noGrp="1"/>
          </p:cNvSpPr>
          <p:nvPr>
            <p:ph type="sldNum" sz="quarter" idx="12"/>
          </p:nvPr>
        </p:nvSpPr>
        <p:spPr/>
        <p:txBody>
          <a:bodyPr/>
          <a:lstStyle/>
          <a:p>
            <a:fld id="{BA7BC09B-FE30-A349-B1D2-5A364F511F98}" type="slidenum">
              <a:rPr lang="en-US" smtClean="0"/>
              <a:t>13</a:t>
            </a:fld>
            <a:endParaRPr lang="en-US"/>
          </a:p>
        </p:txBody>
      </p:sp>
      <p:sp>
        <p:nvSpPr>
          <p:cNvPr id="2" name="Title 1">
            <a:extLst>
              <a:ext uri="{FF2B5EF4-FFF2-40B4-BE49-F238E27FC236}">
                <a16:creationId xmlns:a16="http://schemas.microsoft.com/office/drawing/2014/main" id="{84F207E6-AA0C-4B1A-91AC-E724AA6BA5C1}"/>
              </a:ext>
            </a:extLst>
          </p:cNvPr>
          <p:cNvSpPr>
            <a:spLocks noGrp="1"/>
          </p:cNvSpPr>
          <p:nvPr>
            <p:ph type="title"/>
          </p:nvPr>
        </p:nvSpPr>
        <p:spPr/>
        <p:txBody>
          <a:bodyPr>
            <a:normAutofit fontScale="90000"/>
          </a:bodyPr>
          <a:lstStyle/>
          <a:p>
            <a:r>
              <a:rPr lang="en-US" err="1"/>
              <a:t>Ví</a:t>
            </a:r>
            <a:r>
              <a:rPr lang="en-US"/>
              <a:t> </a:t>
            </a:r>
            <a:r>
              <a:rPr lang="en-US" err="1"/>
              <a:t>dụ</a:t>
            </a:r>
            <a:r>
              <a:rPr lang="en-US"/>
              <a:t> </a:t>
            </a:r>
            <a:r>
              <a:rPr lang="en-US" err="1"/>
              <a:t>cài</a:t>
            </a:r>
            <a:r>
              <a:rPr lang="en-US"/>
              <a:t> </a:t>
            </a:r>
            <a:r>
              <a:rPr lang="en-US" err="1"/>
              <a:t>đặt</a:t>
            </a:r>
            <a:r>
              <a:rPr lang="en-US"/>
              <a:t> </a:t>
            </a:r>
            <a:r>
              <a:rPr lang="en-US" err="1"/>
              <a:t>mảng</a:t>
            </a:r>
            <a:r>
              <a:rPr lang="en-US"/>
              <a:t> 1 </a:t>
            </a:r>
            <a:r>
              <a:rPr lang="en-US" err="1"/>
              <a:t>chiều</a:t>
            </a:r>
            <a:r>
              <a:rPr lang="en-US"/>
              <a:t> </a:t>
            </a:r>
            <a:r>
              <a:rPr lang="en-US" err="1"/>
              <a:t>trong</a:t>
            </a:r>
            <a:r>
              <a:rPr lang="en-US"/>
              <a:t> C/C++</a:t>
            </a:r>
          </a:p>
        </p:txBody>
      </p:sp>
      <p:sp>
        <p:nvSpPr>
          <p:cNvPr id="3" name="Content Placeholder 2">
            <a:extLst>
              <a:ext uri="{FF2B5EF4-FFF2-40B4-BE49-F238E27FC236}">
                <a16:creationId xmlns:a16="http://schemas.microsoft.com/office/drawing/2014/main" id="{299A4F31-E3F2-4F17-A10B-2548CEA7D1A7}"/>
              </a:ext>
            </a:extLst>
          </p:cNvPr>
          <p:cNvSpPr>
            <a:spLocks noGrp="1"/>
          </p:cNvSpPr>
          <p:nvPr>
            <p:ph type="body" sz="quarter" idx="13"/>
          </p:nvPr>
        </p:nvSpPr>
        <p:spPr>
          <a:xfrm>
            <a:off x="234950" y="963168"/>
            <a:ext cx="8909050" cy="5132832"/>
          </a:xfrm>
        </p:spPr>
        <p:txBody>
          <a:bodyPr>
            <a:normAutofit/>
          </a:bodyPr>
          <a:lstStyle/>
          <a:p>
            <a:r>
              <a:rPr lang="en-US" sz="2400" err="1"/>
              <a:t>Cài</a:t>
            </a:r>
            <a:r>
              <a:rPr lang="en-US" sz="2400"/>
              <a:t> </a:t>
            </a:r>
            <a:r>
              <a:rPr lang="en-US" sz="2400" err="1"/>
              <a:t>đặt</a:t>
            </a:r>
            <a:r>
              <a:rPr lang="en-US" sz="2400"/>
              <a:t> </a:t>
            </a:r>
            <a:r>
              <a:rPr lang="en-US" sz="2400" err="1"/>
              <a:t>mảng</a:t>
            </a:r>
            <a:r>
              <a:rPr lang="en-US" sz="2400"/>
              <a:t> </a:t>
            </a:r>
            <a:r>
              <a:rPr lang="en-US" sz="2400" err="1"/>
              <a:t>kích</a:t>
            </a:r>
            <a:r>
              <a:rPr lang="en-US" sz="2400"/>
              <a:t> </a:t>
            </a:r>
            <a:r>
              <a:rPr lang="en-US" sz="2400" err="1"/>
              <a:t>thước</a:t>
            </a:r>
            <a:r>
              <a:rPr lang="en-US" sz="2400"/>
              <a:t> </a:t>
            </a:r>
            <a:r>
              <a:rPr lang="en-US" sz="2400" err="1"/>
              <a:t>cố</a:t>
            </a:r>
            <a:r>
              <a:rPr lang="en-US" sz="2400"/>
              <a:t> </a:t>
            </a:r>
            <a:r>
              <a:rPr lang="en-US" sz="2400" err="1"/>
              <a:t>định</a:t>
            </a:r>
            <a:endParaRPr lang="en-US" sz="2400"/>
          </a:p>
          <a:p>
            <a:endParaRPr lang="en-US" sz="2400"/>
          </a:p>
          <a:p>
            <a:endParaRPr lang="en-US" sz="2400"/>
          </a:p>
          <a:p>
            <a:endParaRPr lang="en-US" sz="2400"/>
          </a:p>
          <a:p>
            <a:endParaRPr lang="en-US" sz="2400"/>
          </a:p>
          <a:p>
            <a:endParaRPr lang="en-US" sz="2400"/>
          </a:p>
          <a:p>
            <a:r>
              <a:rPr lang="en-US" sz="2400" err="1"/>
              <a:t>Cài</a:t>
            </a:r>
            <a:r>
              <a:rPr lang="en-US" sz="2400"/>
              <a:t> </a:t>
            </a:r>
            <a:r>
              <a:rPr lang="en-US" sz="2400" err="1"/>
              <a:t>đặt</a:t>
            </a:r>
            <a:r>
              <a:rPr lang="en-US" sz="2400"/>
              <a:t> </a:t>
            </a:r>
            <a:r>
              <a:rPr lang="en-US" sz="2400" err="1"/>
              <a:t>mảng</a:t>
            </a:r>
            <a:r>
              <a:rPr lang="en-US" sz="2400"/>
              <a:t> </a:t>
            </a:r>
            <a:r>
              <a:rPr lang="en-US" sz="2400" err="1"/>
              <a:t>kích</a:t>
            </a:r>
            <a:r>
              <a:rPr lang="en-US" sz="2400"/>
              <a:t> </a:t>
            </a:r>
            <a:r>
              <a:rPr lang="en-US" sz="2400" err="1"/>
              <a:t>thước</a:t>
            </a:r>
            <a:r>
              <a:rPr lang="en-US" sz="2400"/>
              <a:t> </a:t>
            </a:r>
            <a:r>
              <a:rPr lang="en-US" sz="2400" err="1"/>
              <a:t>tùy</a:t>
            </a:r>
            <a:r>
              <a:rPr lang="en-US" sz="2400"/>
              <a:t> </a:t>
            </a:r>
            <a:r>
              <a:rPr lang="en-US" sz="2400" err="1"/>
              <a:t>biến</a:t>
            </a:r>
            <a:endParaRPr lang="en-US" sz="2400"/>
          </a:p>
          <a:p>
            <a:endParaRPr lang="en-US" sz="2400"/>
          </a:p>
          <a:p>
            <a:endParaRPr lang="en-US" sz="2400"/>
          </a:p>
          <a:p>
            <a:endParaRPr lang="en-US" sz="2400"/>
          </a:p>
          <a:p>
            <a:r>
              <a:rPr lang="en-US" sz="2400" err="1"/>
              <a:t>Nhập</a:t>
            </a:r>
            <a:r>
              <a:rPr lang="en-US" sz="2400"/>
              <a:t> </a:t>
            </a:r>
            <a:r>
              <a:rPr lang="en-US" sz="2400" err="1"/>
              <a:t>xuất</a:t>
            </a:r>
            <a:r>
              <a:rPr lang="en-US" sz="2400"/>
              <a:t> </a:t>
            </a:r>
            <a:r>
              <a:rPr lang="en-US" sz="2400" err="1"/>
              <a:t>các</a:t>
            </a:r>
            <a:r>
              <a:rPr lang="en-US" sz="2400"/>
              <a:t> </a:t>
            </a:r>
            <a:r>
              <a:rPr lang="en-US" sz="2400" err="1"/>
              <a:t>phần</a:t>
            </a:r>
            <a:r>
              <a:rPr lang="en-US" sz="2400"/>
              <a:t> </a:t>
            </a:r>
            <a:r>
              <a:rPr lang="en-US" sz="2400" err="1"/>
              <a:t>tử</a:t>
            </a:r>
            <a:r>
              <a:rPr lang="en-US" sz="2400"/>
              <a:t> </a:t>
            </a:r>
            <a:r>
              <a:rPr lang="en-US" sz="2400" err="1"/>
              <a:t>mảng</a:t>
            </a:r>
            <a:r>
              <a:rPr lang="en-US" sz="2400"/>
              <a:t> </a:t>
            </a:r>
          </a:p>
        </p:txBody>
      </p:sp>
      <p:sp>
        <p:nvSpPr>
          <p:cNvPr id="8" name="TextBox 7">
            <a:extLst>
              <a:ext uri="{FF2B5EF4-FFF2-40B4-BE49-F238E27FC236}">
                <a16:creationId xmlns:a16="http://schemas.microsoft.com/office/drawing/2014/main" id="{9B33B6AF-2A6F-4711-9575-B7111BC33CCB}"/>
              </a:ext>
            </a:extLst>
          </p:cNvPr>
          <p:cNvSpPr txBox="1"/>
          <p:nvPr/>
        </p:nvSpPr>
        <p:spPr>
          <a:xfrm>
            <a:off x="190500" y="1521543"/>
            <a:ext cx="4801486" cy="1200329"/>
          </a:xfrm>
          <a:prstGeom prst="rect">
            <a:avLst/>
          </a:prstGeom>
          <a:noFill/>
        </p:spPr>
        <p:txBody>
          <a:bodyPr wrap="square">
            <a:spAutoFit/>
          </a:bodyPr>
          <a:lstStyle/>
          <a:p>
            <a:r>
              <a:rPr lang="pt-BR" sz="1800">
                <a:solidFill>
                  <a:srgbClr val="0000FF"/>
                </a:solidFill>
                <a:latin typeface="Consolas" panose="020B0609020204030204" pitchFamily="49" charset="0"/>
              </a:rPr>
              <a:t>char</a:t>
            </a:r>
            <a:r>
              <a:rPr lang="pt-BR" sz="1800">
                <a:solidFill>
                  <a:srgbClr val="000000"/>
                </a:solidFill>
                <a:latin typeface="Consolas" panose="020B0609020204030204" pitchFamily="49" charset="0"/>
              </a:rPr>
              <a:t> a[]{ </a:t>
            </a:r>
            <a:r>
              <a:rPr lang="pt-BR" sz="1800">
                <a:solidFill>
                  <a:srgbClr val="A31515"/>
                </a:solidFill>
                <a:latin typeface="Consolas" panose="020B0609020204030204" pitchFamily="49" charset="0"/>
              </a:rPr>
              <a:t>'h'</a:t>
            </a:r>
            <a:r>
              <a:rPr lang="pt-BR" sz="1800">
                <a:solidFill>
                  <a:srgbClr val="000000"/>
                </a:solidFill>
                <a:latin typeface="Consolas" panose="020B0609020204030204" pitchFamily="49" charset="0"/>
              </a:rPr>
              <a:t>, </a:t>
            </a:r>
            <a:r>
              <a:rPr lang="pt-BR" sz="1800">
                <a:solidFill>
                  <a:srgbClr val="A31515"/>
                </a:solidFill>
                <a:latin typeface="Consolas" panose="020B0609020204030204" pitchFamily="49" charset="0"/>
              </a:rPr>
              <a:t>'a'</a:t>
            </a:r>
            <a:r>
              <a:rPr lang="pt-BR" sz="1800">
                <a:solidFill>
                  <a:srgbClr val="000000"/>
                </a:solidFill>
                <a:latin typeface="Consolas" panose="020B0609020204030204" pitchFamily="49" charset="0"/>
              </a:rPr>
              <a:t>, </a:t>
            </a:r>
            <a:r>
              <a:rPr lang="pt-BR" sz="1800">
                <a:solidFill>
                  <a:srgbClr val="A31515"/>
                </a:solidFill>
                <a:latin typeface="Consolas" panose="020B0609020204030204" pitchFamily="49" charset="0"/>
              </a:rPr>
              <a:t>'n'</a:t>
            </a:r>
            <a:r>
              <a:rPr lang="pt-BR" sz="1800">
                <a:solidFill>
                  <a:srgbClr val="000000"/>
                </a:solidFill>
                <a:latin typeface="Consolas" panose="020B0609020204030204" pitchFamily="49" charset="0"/>
              </a:rPr>
              <a:t>, </a:t>
            </a:r>
            <a:r>
              <a:rPr lang="pt-BR" sz="1800">
                <a:solidFill>
                  <a:srgbClr val="A31515"/>
                </a:solidFill>
                <a:latin typeface="Consolas" panose="020B0609020204030204" pitchFamily="49" charset="0"/>
              </a:rPr>
              <a:t>'o'</a:t>
            </a:r>
            <a:r>
              <a:rPr lang="pt-BR" sz="1800">
                <a:solidFill>
                  <a:srgbClr val="000000"/>
                </a:solidFill>
                <a:latin typeface="Consolas" panose="020B0609020204030204" pitchFamily="49" charset="0"/>
              </a:rPr>
              <a:t>, </a:t>
            </a:r>
            <a:r>
              <a:rPr lang="pt-BR" sz="1800">
                <a:solidFill>
                  <a:srgbClr val="A31515"/>
                </a:solidFill>
                <a:latin typeface="Consolas" panose="020B0609020204030204" pitchFamily="49" charset="0"/>
              </a:rPr>
              <a:t>'i'</a:t>
            </a:r>
            <a:r>
              <a:rPr lang="pt-BR" sz="1800">
                <a:solidFill>
                  <a:srgbClr val="000000"/>
                </a:solidFill>
                <a:latin typeface="Consolas" panose="020B0609020204030204" pitchFamily="49" charset="0"/>
              </a:rPr>
              <a:t> };  </a:t>
            </a:r>
            <a:r>
              <a:rPr lang="pt-BR" sz="1800">
                <a:solidFill>
                  <a:srgbClr val="008000"/>
                </a:solidFill>
                <a:latin typeface="Consolas" panose="020B0609020204030204" pitchFamily="49" charset="0"/>
              </a:rPr>
              <a:t>//hanoi</a:t>
            </a:r>
            <a:endParaRPr lang="pt-BR"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b[100]{5,8}; </a:t>
            </a:r>
            <a:r>
              <a:rPr lang="en-US" sz="1800">
                <a:solidFill>
                  <a:srgbClr val="008000"/>
                </a:solidFill>
                <a:latin typeface="Consolas" panose="020B0609020204030204" pitchFamily="49" charset="0"/>
              </a:rPr>
              <a:t>//5,8,0,0,0....</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c[10];</a:t>
            </a:r>
            <a:endParaRPr lang="en-US"/>
          </a:p>
        </p:txBody>
      </p:sp>
      <p:sp>
        <p:nvSpPr>
          <p:cNvPr id="10" name="TextBox 9">
            <a:extLst>
              <a:ext uri="{FF2B5EF4-FFF2-40B4-BE49-F238E27FC236}">
                <a16:creationId xmlns:a16="http://schemas.microsoft.com/office/drawing/2014/main" id="{37A703B6-540A-491C-8FC8-309FE7A259DB}"/>
              </a:ext>
            </a:extLst>
          </p:cNvPr>
          <p:cNvSpPr txBox="1"/>
          <p:nvPr/>
        </p:nvSpPr>
        <p:spPr>
          <a:xfrm>
            <a:off x="1116419" y="4337940"/>
            <a:ext cx="2284228" cy="923330"/>
          </a:xfrm>
          <a:prstGeom prst="rect">
            <a:avLst/>
          </a:prstGeom>
          <a:noFill/>
        </p:spPr>
        <p:txBody>
          <a:bodyPr wrap="square">
            <a:spAutoFit/>
          </a:bodyPr>
          <a:lstStyle/>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n;</a:t>
            </a:r>
          </a:p>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p;</a:t>
            </a:r>
          </a:p>
          <a:p>
            <a:r>
              <a:rPr lang="en-US" sz="1800">
                <a:solidFill>
                  <a:srgbClr val="000000"/>
                </a:solidFill>
                <a:latin typeface="Consolas" panose="020B0609020204030204" pitchFamily="49" charset="0"/>
              </a:rPr>
              <a:t>p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[n];</a:t>
            </a:r>
          </a:p>
        </p:txBody>
      </p:sp>
      <p:sp>
        <p:nvSpPr>
          <p:cNvPr id="14" name="TextBox 13">
            <a:extLst>
              <a:ext uri="{FF2B5EF4-FFF2-40B4-BE49-F238E27FC236}">
                <a16:creationId xmlns:a16="http://schemas.microsoft.com/office/drawing/2014/main" id="{870B6182-2E53-4E64-AD48-497B4FA926ED}"/>
              </a:ext>
            </a:extLst>
          </p:cNvPr>
          <p:cNvSpPr txBox="1"/>
          <p:nvPr/>
        </p:nvSpPr>
        <p:spPr>
          <a:xfrm>
            <a:off x="5076160" y="1716655"/>
            <a:ext cx="3983665" cy="4247317"/>
          </a:xfrm>
          <a:prstGeom prst="rect">
            <a:avLst/>
          </a:prstGeom>
          <a:noFill/>
          <a:ln>
            <a:solidFill>
              <a:schemeClr val="accent1"/>
            </a:solidFill>
          </a:ln>
        </p:spPr>
        <p:txBody>
          <a:bodyPr wrap="square">
            <a:spAutoFit/>
          </a:bodyPr>
          <a:lstStyle/>
          <a:p>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nhập</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mảng</a:t>
            </a:r>
            <a:endParaRPr lang="en-US" sz="1800">
              <a:solidFill>
                <a:srgbClr val="000000"/>
              </a:solidFill>
              <a:latin typeface="Consolas" panose="020B0609020204030204" pitchFamily="49" charset="0"/>
            </a:endParaRPr>
          </a:p>
          <a:p>
            <a:r>
              <a:rPr lang="en-US" sz="1800" err="1">
                <a:solidFill>
                  <a:srgbClr val="000000"/>
                </a:solidFill>
                <a:latin typeface="Consolas" panose="020B0609020204030204" pitchFamily="49" charset="0"/>
              </a:rPr>
              <a:t>cout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"Array input:"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endl</a:t>
            </a:r>
            <a:r>
              <a:rPr lang="en-US" sz="1800">
                <a:solidFill>
                  <a:srgbClr val="000000"/>
                </a:solidFill>
                <a:latin typeface="Consolas" panose="020B0609020204030204" pitchFamily="49" charset="0"/>
              </a:rPr>
              <a:t>;</a:t>
            </a:r>
          </a:p>
          <a:p>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int</a:t>
            </a:r>
            <a:r>
              <a:rPr lang="nn-NO" sz="1800">
                <a:solidFill>
                  <a:srgbClr val="000000"/>
                </a:solidFill>
                <a:latin typeface="Consolas" panose="020B0609020204030204" pitchFamily="49" charset="0"/>
              </a:rPr>
              <a:t> i = 0; i &lt; n; i++)</a:t>
            </a:r>
          </a:p>
          <a:p>
            <a:r>
              <a:rPr lang="en-US" sz="1800">
                <a:solidFill>
                  <a:srgbClr val="000000"/>
                </a:solidFill>
                <a:latin typeface="Consolas" panose="020B0609020204030204" pitchFamily="49" charset="0"/>
              </a:rPr>
              <a:t>{</a:t>
            </a:r>
          </a:p>
          <a:p>
            <a:r>
              <a:rPr lang="en-US" sz="1800" err="1">
                <a:solidFill>
                  <a:srgbClr val="000000"/>
                </a:solidFill>
                <a:latin typeface="Consolas" panose="020B0609020204030204" pitchFamily="49" charset="0"/>
              </a:rPr>
              <a:t>cout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a:t>
            </a:r>
            <a:r>
              <a:rPr lang="en-US" sz="1800" err="1">
                <a:solidFill>
                  <a:srgbClr val="A31515"/>
                </a:solidFill>
                <a:latin typeface="Consolas" panose="020B0609020204030204" pitchFamily="49" charset="0"/>
              </a:rPr>
              <a:t>arr</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 = "</a:t>
            </a:r>
            <a:r>
              <a:rPr lang="en-US" sz="1800">
                <a:solidFill>
                  <a:srgbClr val="000000"/>
                </a:solidFill>
                <a:latin typeface="Consolas" panose="020B0609020204030204" pitchFamily="49" charset="0"/>
              </a:rPr>
              <a:t>;</a:t>
            </a:r>
          </a:p>
          <a:p>
            <a:r>
              <a:rPr lang="en-US" sz="1800" err="1">
                <a:solidFill>
                  <a:srgbClr val="000000"/>
                </a:solidFill>
                <a:latin typeface="Consolas" panose="020B0609020204030204" pitchFamily="49" charset="0"/>
              </a:rPr>
              <a:t>cin</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&gt;&gt;</a:t>
            </a:r>
            <a:r>
              <a:rPr lang="en-US" sz="1800">
                <a:solidFill>
                  <a:srgbClr val="000000"/>
                </a:solidFill>
                <a:latin typeface="Consolas" panose="020B0609020204030204" pitchFamily="49" charset="0"/>
              </a:rPr>
              <a:t> p[</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a:t>
            </a:r>
          </a:p>
          <a:p>
            <a:endParaRPr lang="en-US" sz="1800">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xuất</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mảng</a:t>
            </a:r>
            <a:endParaRPr lang="en-US" sz="1800">
              <a:solidFill>
                <a:srgbClr val="000000"/>
              </a:solidFill>
              <a:latin typeface="Consolas" panose="020B0609020204030204" pitchFamily="49" charset="0"/>
            </a:endParaRPr>
          </a:p>
          <a:p>
            <a:r>
              <a:rPr lang="en-US" sz="1800" err="1">
                <a:solidFill>
                  <a:srgbClr val="000000"/>
                </a:solidFill>
                <a:latin typeface="Consolas" panose="020B0609020204030204" pitchFamily="49" charset="0"/>
              </a:rPr>
              <a:t>cout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"in </a:t>
            </a:r>
            <a:r>
              <a:rPr lang="en-US" sz="1800" err="1">
                <a:solidFill>
                  <a:srgbClr val="A31515"/>
                </a:solidFill>
                <a:latin typeface="Consolas" panose="020B0609020204030204" pitchFamily="49" charset="0"/>
              </a:rPr>
              <a:t>mang</a:t>
            </a:r>
            <a:r>
              <a:rPr lang="en-US" sz="1800">
                <a:solidFill>
                  <a:srgbClr val="A31515"/>
                </a:solidFill>
                <a:latin typeface="Consolas" panose="020B0609020204030204" pitchFamily="49" charset="0"/>
              </a:rPr>
              <a: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err="1">
                <a:solidFill>
                  <a:srgbClr val="000000"/>
                </a:solidFill>
                <a:latin typeface="Consolas" panose="020B0609020204030204" pitchFamily="49" charset="0"/>
              </a:rPr>
              <a:t>endl</a:t>
            </a:r>
            <a:r>
              <a:rPr lang="en-US" sz="1800">
                <a:solidFill>
                  <a:srgbClr val="000000"/>
                </a:solidFill>
                <a:latin typeface="Consolas" panose="020B0609020204030204" pitchFamily="49" charset="0"/>
              </a:rPr>
              <a:t>;</a:t>
            </a:r>
          </a:p>
          <a:p>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a:t>
            </a:r>
            <a:r>
              <a:rPr lang="nn-NO" sz="1800">
                <a:solidFill>
                  <a:srgbClr val="0000FF"/>
                </a:solidFill>
                <a:latin typeface="Consolas" panose="020B0609020204030204" pitchFamily="49" charset="0"/>
              </a:rPr>
              <a:t>int</a:t>
            </a:r>
            <a:r>
              <a:rPr lang="nn-NO" sz="1800">
                <a:solidFill>
                  <a:srgbClr val="000000"/>
                </a:solidFill>
                <a:latin typeface="Consolas" panose="020B0609020204030204" pitchFamily="49" charset="0"/>
              </a:rPr>
              <a:t> i = 0; i &lt; n; i++)</a:t>
            </a:r>
          </a:p>
          <a:p>
            <a:r>
              <a:rPr lang="en-US" sz="1800">
                <a:solidFill>
                  <a:srgbClr val="000000"/>
                </a:solidFill>
                <a:latin typeface="Consolas" panose="020B0609020204030204" pitchFamily="49" charset="0"/>
              </a:rPr>
              <a:t>{</a:t>
            </a:r>
          </a:p>
          <a:p>
            <a:r>
              <a:rPr lang="en-US" sz="1800" err="1">
                <a:solidFill>
                  <a:srgbClr val="000000"/>
                </a:solidFill>
                <a:latin typeface="Consolas" panose="020B0609020204030204" pitchFamily="49" charset="0"/>
              </a:rPr>
              <a:t>cout</a:t>
            </a:r>
            <a:r>
              <a:rPr lang="en-US" sz="1800">
                <a:solidFill>
                  <a:srgbClr val="000000"/>
                </a:solidFill>
                <a:latin typeface="Consolas" panose="020B0609020204030204" pitchFamily="49" charset="0"/>
              </a:rPr>
              <a:t>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*(p++) </a:t>
            </a:r>
            <a:r>
              <a:rPr lang="en-US" sz="1800">
                <a:solidFill>
                  <a:srgbClr val="008080"/>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 "</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a:t>
            </a:r>
            <a:endParaRPr lang="en-US"/>
          </a:p>
        </p:txBody>
      </p:sp>
    </p:spTree>
    <p:extLst>
      <p:ext uri="{BB962C8B-B14F-4D97-AF65-F5344CB8AC3E}">
        <p14:creationId xmlns:p14="http://schemas.microsoft.com/office/powerpoint/2010/main" val="27009760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1D4BEDC-72F7-42E4-AFE1-77D6B43F5803}"/>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122F2304-F81C-468D-89AE-62BD5AF5A812}"/>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70D84404-FFCF-4AC0-9262-CF446F7EAAE0}"/>
              </a:ext>
            </a:extLst>
          </p:cNvPr>
          <p:cNvSpPr>
            <a:spLocks noGrp="1"/>
          </p:cNvSpPr>
          <p:nvPr>
            <p:ph type="sldNum" sz="quarter" idx="12"/>
          </p:nvPr>
        </p:nvSpPr>
        <p:spPr/>
        <p:txBody>
          <a:bodyPr/>
          <a:lstStyle/>
          <a:p>
            <a:fld id="{BA7BC09B-FE30-A349-B1D2-5A364F511F98}" type="slidenum">
              <a:rPr lang="en-US" smtClean="0"/>
              <a:t>14</a:t>
            </a:fld>
            <a:endParaRPr lang="en-US"/>
          </a:p>
        </p:txBody>
      </p:sp>
      <p:sp>
        <p:nvSpPr>
          <p:cNvPr id="2" name="Title 1">
            <a:extLst>
              <a:ext uri="{FF2B5EF4-FFF2-40B4-BE49-F238E27FC236}">
                <a16:creationId xmlns:a16="http://schemas.microsoft.com/office/drawing/2014/main" id="{D3228090-E97C-4302-8ABE-0DE307A0D431}"/>
              </a:ext>
            </a:extLst>
          </p:cNvPr>
          <p:cNvSpPr>
            <a:spLocks noGrp="1"/>
          </p:cNvSpPr>
          <p:nvPr>
            <p:ph type="title"/>
          </p:nvPr>
        </p:nvSpPr>
        <p:spPr/>
        <p:txBody>
          <a:bodyPr/>
          <a:lstStyle/>
          <a:p>
            <a:r>
              <a:rPr lang="en-US"/>
              <a:t>Con </a:t>
            </a:r>
            <a:r>
              <a:rPr lang="en-US" err="1"/>
              <a:t>trỏ</a:t>
            </a:r>
            <a:r>
              <a:rPr lang="en-US"/>
              <a:t> </a:t>
            </a:r>
            <a:r>
              <a:rPr lang="en-US" err="1"/>
              <a:t>và</a:t>
            </a:r>
            <a:r>
              <a:rPr lang="en-US"/>
              <a:t> </a:t>
            </a:r>
            <a:r>
              <a:rPr lang="en-US" err="1"/>
              <a:t>mảng</a:t>
            </a:r>
            <a:r>
              <a:rPr lang="en-US"/>
              <a:t> </a:t>
            </a:r>
            <a:r>
              <a:rPr lang="en-US" err="1"/>
              <a:t>trong</a:t>
            </a:r>
            <a:r>
              <a:rPr lang="en-US"/>
              <a:t> C/C++</a:t>
            </a:r>
          </a:p>
        </p:txBody>
      </p:sp>
      <p:sp>
        <p:nvSpPr>
          <p:cNvPr id="3" name="Content Placeholder 2">
            <a:extLst>
              <a:ext uri="{FF2B5EF4-FFF2-40B4-BE49-F238E27FC236}">
                <a16:creationId xmlns:a16="http://schemas.microsoft.com/office/drawing/2014/main" id="{79096B33-C3B5-4693-B52D-C29F61F91986}"/>
              </a:ext>
            </a:extLst>
          </p:cNvPr>
          <p:cNvSpPr>
            <a:spLocks noGrp="1"/>
          </p:cNvSpPr>
          <p:nvPr>
            <p:ph type="body" sz="quarter" idx="13"/>
          </p:nvPr>
        </p:nvSpPr>
        <p:spPr/>
        <p:txBody>
          <a:bodyPr>
            <a:normAutofit/>
          </a:bodyPr>
          <a:lstStyle/>
          <a:p>
            <a:pPr>
              <a:buFont typeface="Arial" panose="020B0604020202020204" pitchFamily="34" charset="0"/>
              <a:buChar char="•"/>
            </a:pPr>
            <a:r>
              <a:rPr lang="en-US" sz="2400" b="0" i="0" err="1">
                <a:solidFill>
                  <a:srgbClr val="000000"/>
                </a:solidFill>
                <a:effectLst/>
              </a:rPr>
              <a:t>Mảng</a:t>
            </a:r>
            <a:r>
              <a:rPr lang="en-US" sz="2400" b="0" i="0">
                <a:solidFill>
                  <a:srgbClr val="000000"/>
                </a:solidFill>
                <a:effectLst/>
              </a:rPr>
              <a:t> </a:t>
            </a:r>
            <a:r>
              <a:rPr lang="en-US" sz="2400" b="0" i="0" err="1">
                <a:solidFill>
                  <a:srgbClr val="000000"/>
                </a:solidFill>
                <a:effectLst/>
              </a:rPr>
              <a:t>là</a:t>
            </a:r>
            <a:r>
              <a:rPr lang="en-US" sz="2400" b="0" i="0">
                <a:solidFill>
                  <a:srgbClr val="000000"/>
                </a:solidFill>
                <a:effectLst/>
              </a:rPr>
              <a:t> </a:t>
            </a:r>
            <a:r>
              <a:rPr lang="en-US" sz="2400" b="0" i="0" err="1">
                <a:solidFill>
                  <a:srgbClr val="000000"/>
                </a:solidFill>
                <a:effectLst/>
              </a:rPr>
              <a:t>một</a:t>
            </a:r>
            <a:r>
              <a:rPr lang="en-US" sz="2400" b="0" i="0">
                <a:solidFill>
                  <a:srgbClr val="000000"/>
                </a:solidFill>
                <a:effectLst/>
              </a:rPr>
              <a:t> con </a:t>
            </a:r>
            <a:r>
              <a:rPr lang="en-US" sz="2400" b="0" i="0" err="1">
                <a:solidFill>
                  <a:srgbClr val="000000"/>
                </a:solidFill>
                <a:effectLst/>
              </a:rPr>
              <a:t>trỏ</a:t>
            </a:r>
            <a:r>
              <a:rPr lang="en-US" sz="2400" b="0" i="0">
                <a:solidFill>
                  <a:srgbClr val="000000"/>
                </a:solidFill>
                <a:effectLst/>
              </a:rPr>
              <a:t> </a:t>
            </a:r>
            <a:r>
              <a:rPr lang="en-US" sz="2400" b="0" i="0" err="1">
                <a:solidFill>
                  <a:srgbClr val="000000"/>
                </a:solidFill>
                <a:effectLst/>
              </a:rPr>
              <a:t>tĩnh</a:t>
            </a:r>
            <a:r>
              <a:rPr lang="en-US" sz="2400" b="0" i="0">
                <a:solidFill>
                  <a:srgbClr val="000000"/>
                </a:solidFill>
                <a:effectLst/>
              </a:rPr>
              <a:t> (</a:t>
            </a:r>
            <a:r>
              <a:rPr lang="en-US" sz="2400" b="0" i="0" err="1">
                <a:solidFill>
                  <a:srgbClr val="000000"/>
                </a:solidFill>
                <a:effectLst/>
              </a:rPr>
              <a:t>không</a:t>
            </a:r>
            <a:r>
              <a:rPr lang="en-US" sz="2400" b="0" i="0">
                <a:solidFill>
                  <a:srgbClr val="000000"/>
                </a:solidFill>
                <a:effectLst/>
              </a:rPr>
              <a:t> </a:t>
            </a:r>
            <a:r>
              <a:rPr lang="en-US" sz="2400" b="0" i="0" err="1">
                <a:solidFill>
                  <a:srgbClr val="000000"/>
                </a:solidFill>
                <a:effectLst/>
              </a:rPr>
              <a:t>thể</a:t>
            </a:r>
            <a:r>
              <a:rPr lang="en-US" sz="2400" b="0" i="0">
                <a:solidFill>
                  <a:srgbClr val="000000"/>
                </a:solidFill>
                <a:effectLst/>
              </a:rPr>
              <a:t> </a:t>
            </a:r>
            <a:r>
              <a:rPr lang="en-US" sz="2400" b="0" i="0" err="1">
                <a:solidFill>
                  <a:srgbClr val="000000"/>
                </a:solidFill>
                <a:effectLst/>
              </a:rPr>
              <a:t>thay</a:t>
            </a:r>
            <a:r>
              <a:rPr lang="en-US" sz="2400" b="0" i="0">
                <a:solidFill>
                  <a:srgbClr val="000000"/>
                </a:solidFill>
                <a:effectLst/>
              </a:rPr>
              <a:t> </a:t>
            </a:r>
            <a:r>
              <a:rPr lang="en-US" sz="2400" b="0" i="0" err="1">
                <a:solidFill>
                  <a:srgbClr val="000000"/>
                </a:solidFill>
                <a:effectLst/>
              </a:rPr>
              <a:t>đổi</a:t>
            </a:r>
            <a:r>
              <a:rPr lang="en-US" sz="2400" b="0" i="0">
                <a:solidFill>
                  <a:srgbClr val="000000"/>
                </a:solidFill>
                <a:effectLst/>
              </a:rPr>
              <a:t> </a:t>
            </a:r>
            <a:r>
              <a:rPr lang="en-US" sz="2400" b="0" i="0" err="1">
                <a:solidFill>
                  <a:srgbClr val="000000"/>
                </a:solidFill>
                <a:effectLst/>
              </a:rPr>
              <a:t>địa</a:t>
            </a:r>
            <a:r>
              <a:rPr lang="en-US" sz="2400" b="0" i="0">
                <a:solidFill>
                  <a:srgbClr val="000000"/>
                </a:solidFill>
                <a:effectLst/>
              </a:rPr>
              <a:t> </a:t>
            </a:r>
            <a:r>
              <a:rPr lang="en-US" sz="2400" b="0" i="0" err="1">
                <a:solidFill>
                  <a:srgbClr val="000000"/>
                </a:solidFill>
                <a:effectLst/>
              </a:rPr>
              <a:t>chỉ</a:t>
            </a:r>
            <a:r>
              <a:rPr lang="en-US" sz="2400" b="0" i="0">
                <a:solidFill>
                  <a:srgbClr val="000000"/>
                </a:solidFill>
                <a:effectLst/>
              </a:rPr>
              <a:t>), </a:t>
            </a:r>
            <a:r>
              <a:rPr lang="en-US" sz="2400" b="0" i="0" err="1">
                <a:solidFill>
                  <a:srgbClr val="000000"/>
                </a:solidFill>
                <a:effectLst/>
              </a:rPr>
              <a:t>chứa</a:t>
            </a:r>
            <a:r>
              <a:rPr lang="en-US" sz="2400" b="0" i="0">
                <a:solidFill>
                  <a:srgbClr val="000000"/>
                </a:solidFill>
                <a:effectLst/>
              </a:rPr>
              <a:t> </a:t>
            </a:r>
            <a:r>
              <a:rPr lang="en-US" sz="2400" b="0" i="0" err="1">
                <a:solidFill>
                  <a:srgbClr val="000000"/>
                </a:solidFill>
                <a:effectLst/>
              </a:rPr>
              <a:t>địa</a:t>
            </a:r>
            <a:r>
              <a:rPr lang="en-US" sz="2400" b="0" i="0">
                <a:solidFill>
                  <a:srgbClr val="000000"/>
                </a:solidFill>
                <a:effectLst/>
              </a:rPr>
              <a:t> </a:t>
            </a:r>
            <a:r>
              <a:rPr lang="en-US" sz="2400" b="0" i="0" err="1">
                <a:solidFill>
                  <a:srgbClr val="000000"/>
                </a:solidFill>
                <a:effectLst/>
              </a:rPr>
              <a:t>chỉ</a:t>
            </a:r>
            <a:r>
              <a:rPr lang="en-US" sz="2400">
                <a:solidFill>
                  <a:srgbClr val="000000"/>
                </a:solidFill>
              </a:rPr>
              <a:t> </a:t>
            </a:r>
            <a:r>
              <a:rPr lang="en-US" sz="2400" b="0" i="0">
                <a:solidFill>
                  <a:srgbClr val="000000"/>
                </a:solidFill>
                <a:effectLst/>
              </a:rPr>
              <a:t>(</a:t>
            </a:r>
            <a:r>
              <a:rPr lang="en-US" sz="2400" b="0" i="0" err="1">
                <a:solidFill>
                  <a:srgbClr val="000000"/>
                </a:solidFill>
                <a:effectLst/>
              </a:rPr>
              <a:t>trỏ</a:t>
            </a:r>
            <a:r>
              <a:rPr lang="en-US" sz="2400" b="0" i="0">
                <a:solidFill>
                  <a:srgbClr val="000000"/>
                </a:solidFill>
                <a:effectLst/>
              </a:rPr>
              <a:t>) </a:t>
            </a:r>
            <a:r>
              <a:rPr lang="en-US" sz="2400" b="0" i="0" err="1">
                <a:solidFill>
                  <a:srgbClr val="000000"/>
                </a:solidFill>
                <a:effectLst/>
              </a:rPr>
              <a:t>tới</a:t>
            </a:r>
            <a:r>
              <a:rPr lang="en-US" sz="2400" b="0" i="0">
                <a:solidFill>
                  <a:srgbClr val="000000"/>
                </a:solidFill>
                <a:effectLst/>
              </a:rPr>
              <a:t> </a:t>
            </a:r>
            <a:r>
              <a:rPr lang="en-US" sz="2400" b="0" i="0" err="1">
                <a:solidFill>
                  <a:srgbClr val="000000"/>
                </a:solidFill>
                <a:effectLst/>
              </a:rPr>
              <a:t>phần</a:t>
            </a:r>
            <a:r>
              <a:rPr lang="en-US" sz="2400" b="0" i="0">
                <a:solidFill>
                  <a:srgbClr val="000000"/>
                </a:solidFill>
                <a:effectLst/>
              </a:rPr>
              <a:t> </a:t>
            </a:r>
            <a:r>
              <a:rPr lang="en-US" sz="2400" b="0" i="0" err="1">
                <a:solidFill>
                  <a:srgbClr val="000000"/>
                </a:solidFill>
                <a:effectLst/>
              </a:rPr>
              <a:t>tử</a:t>
            </a:r>
            <a:r>
              <a:rPr lang="en-US" sz="2400" b="0" i="0">
                <a:solidFill>
                  <a:srgbClr val="000000"/>
                </a:solidFill>
                <a:effectLst/>
              </a:rPr>
              <a:t> </a:t>
            </a:r>
            <a:r>
              <a:rPr lang="en-US" sz="2400" b="0" i="0" err="1">
                <a:solidFill>
                  <a:srgbClr val="000000"/>
                </a:solidFill>
                <a:effectLst/>
              </a:rPr>
              <a:t>đầu</a:t>
            </a:r>
            <a:r>
              <a:rPr lang="en-US" sz="2400" b="0" i="0">
                <a:solidFill>
                  <a:srgbClr val="000000"/>
                </a:solidFill>
                <a:effectLst/>
              </a:rPr>
              <a:t> </a:t>
            </a:r>
            <a:r>
              <a:rPr lang="en-US" sz="2400" b="0" i="0" err="1">
                <a:solidFill>
                  <a:srgbClr val="000000"/>
                </a:solidFill>
                <a:effectLst/>
              </a:rPr>
              <a:t>tiên</a:t>
            </a:r>
            <a:r>
              <a:rPr lang="en-US" sz="2400" b="0" i="0">
                <a:solidFill>
                  <a:srgbClr val="000000"/>
                </a:solidFill>
                <a:effectLst/>
              </a:rPr>
              <a:t> </a:t>
            </a:r>
            <a:r>
              <a:rPr lang="en-US" sz="2400" b="0" i="0" err="1">
                <a:solidFill>
                  <a:srgbClr val="000000"/>
                </a:solidFill>
                <a:effectLst/>
              </a:rPr>
              <a:t>của</a:t>
            </a:r>
            <a:r>
              <a:rPr lang="en-US" sz="2400" b="0" i="0">
                <a:solidFill>
                  <a:srgbClr val="000000"/>
                </a:solidFill>
                <a:effectLst/>
              </a:rPr>
              <a:t> </a:t>
            </a:r>
            <a:r>
              <a:rPr lang="en-US" sz="2400" b="0" i="0" err="1">
                <a:solidFill>
                  <a:srgbClr val="000000"/>
                </a:solidFill>
                <a:effectLst/>
              </a:rPr>
              <a:t>nó</a:t>
            </a:r>
            <a:r>
              <a:rPr lang="en-US" sz="2400"/>
              <a:t> -&gt; </a:t>
            </a:r>
            <a:r>
              <a:rPr lang="en-US" sz="2400" err="1"/>
              <a:t>thao</a:t>
            </a:r>
            <a:r>
              <a:rPr lang="en-US" sz="2400"/>
              <a:t> </a:t>
            </a:r>
            <a:r>
              <a:rPr lang="en-US" sz="2400" err="1"/>
              <a:t>tác</a:t>
            </a:r>
            <a:r>
              <a:rPr lang="en-US" sz="2400"/>
              <a:t> </a:t>
            </a:r>
            <a:r>
              <a:rPr lang="en-US" sz="2400" err="1"/>
              <a:t>biến</a:t>
            </a:r>
            <a:r>
              <a:rPr lang="en-US" sz="2400"/>
              <a:t> </a:t>
            </a:r>
            <a:r>
              <a:rPr lang="en-US" sz="2400" err="1"/>
              <a:t>kiểu</a:t>
            </a:r>
            <a:r>
              <a:rPr lang="en-US" sz="2400"/>
              <a:t> </a:t>
            </a:r>
            <a:r>
              <a:rPr lang="en-US" sz="2400" err="1"/>
              <a:t>mảng</a:t>
            </a:r>
            <a:r>
              <a:rPr lang="en-US" sz="2400"/>
              <a:t> </a:t>
            </a:r>
            <a:r>
              <a:rPr lang="en-US" sz="2400" err="1"/>
              <a:t>như</a:t>
            </a:r>
            <a:r>
              <a:rPr lang="en-US" sz="2400"/>
              <a:t> </a:t>
            </a:r>
            <a:r>
              <a:rPr lang="en-US" sz="2400" err="1"/>
              <a:t>với</a:t>
            </a:r>
            <a:r>
              <a:rPr lang="en-US" sz="2400"/>
              <a:t> con </a:t>
            </a:r>
            <a:r>
              <a:rPr lang="en-US" sz="2400" err="1"/>
              <a:t>trỏ</a:t>
            </a:r>
            <a:r>
              <a:rPr lang="en-US" sz="2400"/>
              <a:t> </a:t>
            </a:r>
            <a:r>
              <a:rPr lang="en-US" sz="2400" err="1"/>
              <a:t>trừ</a:t>
            </a:r>
            <a:r>
              <a:rPr lang="en-US" sz="2400"/>
              <a:t> </a:t>
            </a:r>
            <a:r>
              <a:rPr lang="en-US" sz="2400" err="1"/>
              <a:t>việc</a:t>
            </a:r>
            <a:r>
              <a:rPr lang="en-US" sz="2400"/>
              <a:t> </a:t>
            </a:r>
            <a:r>
              <a:rPr lang="en-US" sz="2400" err="1"/>
              <a:t>gán</a:t>
            </a:r>
            <a:r>
              <a:rPr lang="en-US" sz="2400"/>
              <a:t> </a:t>
            </a:r>
            <a:r>
              <a:rPr lang="en-US" sz="2400" err="1"/>
              <a:t>địa</a:t>
            </a:r>
            <a:r>
              <a:rPr lang="en-US" sz="2400"/>
              <a:t> </a:t>
            </a:r>
            <a:r>
              <a:rPr lang="en-US" sz="2400" err="1"/>
              <a:t>chỉ</a:t>
            </a:r>
            <a:r>
              <a:rPr lang="en-US" sz="2400"/>
              <a:t> </a:t>
            </a:r>
            <a:r>
              <a:rPr lang="en-US" sz="2400" err="1"/>
              <a:t>mới</a:t>
            </a:r>
            <a:r>
              <a:rPr lang="en-US" sz="2400"/>
              <a:t> </a:t>
            </a:r>
          </a:p>
          <a:p>
            <a:pPr>
              <a:buFont typeface="Arial" panose="020B0604020202020204" pitchFamily="34" charset="0"/>
              <a:buChar char="•"/>
            </a:pPr>
            <a:endParaRPr lang="en-US" sz="2400"/>
          </a:p>
          <a:p>
            <a:pPr>
              <a:buFont typeface="Arial" panose="020B0604020202020204" pitchFamily="34" charset="0"/>
              <a:buChar char="•"/>
            </a:pPr>
            <a:endParaRPr lang="en-US" sz="2400"/>
          </a:p>
          <a:p>
            <a:pPr>
              <a:buFont typeface="Arial" panose="020B0604020202020204" pitchFamily="34" charset="0"/>
              <a:buChar char="•"/>
            </a:pPr>
            <a:endParaRPr lang="en-US" sz="2400"/>
          </a:p>
          <a:p>
            <a:pPr>
              <a:buFont typeface="Arial" panose="020B0604020202020204" pitchFamily="34" charset="0"/>
              <a:buChar char="•"/>
            </a:pPr>
            <a:endParaRPr lang="en-US" sz="2400"/>
          </a:p>
          <a:p>
            <a:pPr>
              <a:buFont typeface="Arial" panose="020B0604020202020204" pitchFamily="34" charset="0"/>
              <a:buChar char="•"/>
            </a:pPr>
            <a:r>
              <a:rPr lang="en-US" sz="2400"/>
              <a:t>Con </a:t>
            </a:r>
            <a:r>
              <a:rPr lang="en-US" sz="2400" err="1"/>
              <a:t>trỏ</a:t>
            </a:r>
            <a:r>
              <a:rPr lang="en-US" sz="2400"/>
              <a:t> </a:t>
            </a:r>
            <a:r>
              <a:rPr lang="en-US" sz="2400" err="1"/>
              <a:t>cũng</a:t>
            </a:r>
            <a:r>
              <a:rPr lang="en-US" sz="2400"/>
              <a:t> </a:t>
            </a:r>
            <a:r>
              <a:rPr lang="en-US" sz="2400" err="1"/>
              <a:t>có</a:t>
            </a:r>
            <a:r>
              <a:rPr lang="en-US" sz="2400"/>
              <a:t> </a:t>
            </a:r>
            <a:r>
              <a:rPr lang="en-US" sz="2400" err="1"/>
              <a:t>thể</a:t>
            </a:r>
            <a:r>
              <a:rPr lang="en-US" sz="2400"/>
              <a:t> </a:t>
            </a:r>
            <a:r>
              <a:rPr lang="en-US" sz="2400" err="1"/>
              <a:t>hiểu</a:t>
            </a:r>
            <a:r>
              <a:rPr lang="en-US" sz="2400"/>
              <a:t> </a:t>
            </a:r>
            <a:r>
              <a:rPr lang="en-US" sz="2400" err="1"/>
              <a:t>như</a:t>
            </a:r>
            <a:r>
              <a:rPr lang="en-US" sz="2400"/>
              <a:t> </a:t>
            </a:r>
            <a:r>
              <a:rPr lang="en-US" sz="2400" err="1"/>
              <a:t>một</a:t>
            </a:r>
            <a:r>
              <a:rPr lang="en-US" sz="2400"/>
              <a:t> </a:t>
            </a:r>
            <a:r>
              <a:rPr lang="en-US" sz="2400" err="1"/>
              <a:t>mảng</a:t>
            </a:r>
            <a:r>
              <a:rPr lang="en-US" sz="2400"/>
              <a:t> </a:t>
            </a:r>
            <a:r>
              <a:rPr lang="en-US" sz="2400" err="1"/>
              <a:t>và</a:t>
            </a:r>
            <a:r>
              <a:rPr lang="en-US" sz="2400"/>
              <a:t> </a:t>
            </a:r>
            <a:r>
              <a:rPr lang="en-US" sz="2400" err="1"/>
              <a:t>thao</a:t>
            </a:r>
            <a:r>
              <a:rPr lang="en-US" sz="2400"/>
              <a:t> </a:t>
            </a:r>
            <a:r>
              <a:rPr lang="en-US" sz="2400" err="1"/>
              <a:t>tác</a:t>
            </a:r>
            <a:r>
              <a:rPr lang="en-US" sz="2400"/>
              <a:t> </a:t>
            </a:r>
            <a:r>
              <a:rPr lang="en-US" sz="2400" err="1"/>
              <a:t>như</a:t>
            </a:r>
            <a:r>
              <a:rPr lang="en-US" sz="2400"/>
              <a:t> </a:t>
            </a:r>
            <a:r>
              <a:rPr lang="en-US" sz="2400" err="1"/>
              <a:t>một</a:t>
            </a:r>
            <a:r>
              <a:rPr lang="en-US" sz="2400"/>
              <a:t> </a:t>
            </a:r>
            <a:r>
              <a:rPr lang="en-US" sz="2400" err="1"/>
              <a:t>mảng</a:t>
            </a:r>
            <a:endParaRPr lang="en-US" sz="2400"/>
          </a:p>
          <a:p>
            <a:pPr marL="0" indent="0">
              <a:buNone/>
            </a:pPr>
            <a:br>
              <a:rPr lang="en-US"/>
            </a:br>
            <a:endParaRPr lang="en-US"/>
          </a:p>
        </p:txBody>
      </p:sp>
      <p:pic>
        <p:nvPicPr>
          <p:cNvPr id="19" name="Picture 18">
            <a:extLst>
              <a:ext uri="{FF2B5EF4-FFF2-40B4-BE49-F238E27FC236}">
                <a16:creationId xmlns:a16="http://schemas.microsoft.com/office/drawing/2014/main" id="{E804FDF5-5759-4178-8AF1-AD1E22C91056}"/>
              </a:ext>
            </a:extLst>
          </p:cNvPr>
          <p:cNvPicPr>
            <a:picLocks noChangeAspect="1"/>
          </p:cNvPicPr>
          <p:nvPr/>
        </p:nvPicPr>
        <p:blipFill>
          <a:blip r:embed="rId2"/>
          <a:stretch>
            <a:fillRect/>
          </a:stretch>
        </p:blipFill>
        <p:spPr>
          <a:xfrm>
            <a:off x="987402" y="2255019"/>
            <a:ext cx="7028121" cy="1480224"/>
          </a:xfrm>
          <a:prstGeom prst="rect">
            <a:avLst/>
          </a:prstGeom>
        </p:spPr>
      </p:pic>
      <p:pic>
        <p:nvPicPr>
          <p:cNvPr id="21" name="Picture 20">
            <a:extLst>
              <a:ext uri="{FF2B5EF4-FFF2-40B4-BE49-F238E27FC236}">
                <a16:creationId xmlns:a16="http://schemas.microsoft.com/office/drawing/2014/main" id="{C567FFCC-80C3-4A1D-A334-992A86D0D0BB}"/>
              </a:ext>
            </a:extLst>
          </p:cNvPr>
          <p:cNvPicPr>
            <a:picLocks noChangeAspect="1"/>
          </p:cNvPicPr>
          <p:nvPr/>
        </p:nvPicPr>
        <p:blipFill>
          <a:blip r:embed="rId3"/>
          <a:stretch>
            <a:fillRect/>
          </a:stretch>
        </p:blipFill>
        <p:spPr>
          <a:xfrm>
            <a:off x="987402" y="4757630"/>
            <a:ext cx="7639493" cy="1099069"/>
          </a:xfrm>
          <a:prstGeom prst="rect">
            <a:avLst/>
          </a:prstGeom>
        </p:spPr>
      </p:pic>
    </p:spTree>
    <p:extLst>
      <p:ext uri="{BB962C8B-B14F-4D97-AF65-F5344CB8AC3E}">
        <p14:creationId xmlns:p14="http://schemas.microsoft.com/office/powerpoint/2010/main" val="3789816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DDCF67A-78FF-4C1D-BAFF-47D65FCD5D44}"/>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C911D8C2-FE11-43A9-8E2C-A27CC641FAFA}"/>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A8C5D872-E57E-44FF-BD01-046ADD8CB1A7}"/>
              </a:ext>
            </a:extLst>
          </p:cNvPr>
          <p:cNvSpPr>
            <a:spLocks noGrp="1"/>
          </p:cNvSpPr>
          <p:nvPr>
            <p:ph type="sldNum" sz="quarter" idx="12"/>
          </p:nvPr>
        </p:nvSpPr>
        <p:spPr/>
        <p:txBody>
          <a:bodyPr/>
          <a:lstStyle/>
          <a:p>
            <a:fld id="{BA7BC09B-FE30-A349-B1D2-5A364F511F98}" type="slidenum">
              <a:rPr lang="en-US" smtClean="0"/>
              <a:t>15</a:t>
            </a:fld>
            <a:endParaRPr lang="en-US"/>
          </a:p>
        </p:txBody>
      </p:sp>
      <p:sp>
        <p:nvSpPr>
          <p:cNvPr id="2" name="Title 1">
            <a:extLst>
              <a:ext uri="{FF2B5EF4-FFF2-40B4-BE49-F238E27FC236}">
                <a16:creationId xmlns:a16="http://schemas.microsoft.com/office/drawing/2014/main" id="{132F6EA5-2219-4B34-9424-7A0FD595C261}"/>
              </a:ext>
            </a:extLst>
          </p:cNvPr>
          <p:cNvSpPr>
            <a:spLocks noGrp="1"/>
          </p:cNvSpPr>
          <p:nvPr>
            <p:ph type="title"/>
          </p:nvPr>
        </p:nvSpPr>
        <p:spPr/>
        <p:txBody>
          <a:bodyPr>
            <a:normAutofit fontScale="90000"/>
          </a:bodyPr>
          <a:lstStyle/>
          <a:p>
            <a:r>
              <a:rPr lang="en-US" err="1"/>
              <a:t>Chú</a:t>
            </a:r>
            <a:r>
              <a:rPr lang="en-US"/>
              <a:t> ý: con </a:t>
            </a:r>
            <a:r>
              <a:rPr lang="en-US" err="1"/>
              <a:t>trỏ</a:t>
            </a:r>
            <a:r>
              <a:rPr lang="en-US"/>
              <a:t> </a:t>
            </a:r>
            <a:r>
              <a:rPr lang="en-US" err="1"/>
              <a:t>và</a:t>
            </a:r>
            <a:r>
              <a:rPr lang="en-US"/>
              <a:t> </a:t>
            </a:r>
            <a:r>
              <a:rPr lang="en-US" err="1"/>
              <a:t>mảng</a:t>
            </a:r>
            <a:r>
              <a:rPr lang="en-US"/>
              <a:t> </a:t>
            </a:r>
            <a:r>
              <a:rPr lang="en-US" err="1"/>
              <a:t>trong</a:t>
            </a:r>
            <a:r>
              <a:rPr lang="en-US"/>
              <a:t> C/C++</a:t>
            </a:r>
          </a:p>
        </p:txBody>
      </p:sp>
      <p:sp>
        <p:nvSpPr>
          <p:cNvPr id="3" name="Content Placeholder 2">
            <a:extLst>
              <a:ext uri="{FF2B5EF4-FFF2-40B4-BE49-F238E27FC236}">
                <a16:creationId xmlns:a16="http://schemas.microsoft.com/office/drawing/2014/main" id="{9969DFEF-5A9E-47C8-AD3F-5CA528E8332C}"/>
              </a:ext>
            </a:extLst>
          </p:cNvPr>
          <p:cNvSpPr>
            <a:spLocks noGrp="1"/>
          </p:cNvSpPr>
          <p:nvPr>
            <p:ph type="body" sz="quarter" idx="13"/>
          </p:nvPr>
        </p:nvSpPr>
        <p:spPr/>
        <p:txBody>
          <a:bodyPr>
            <a:normAutofit/>
          </a:bodyPr>
          <a:lstStyle/>
          <a:p>
            <a:r>
              <a:rPr lang="vi-VN" sz="2400" b="0" i="0">
                <a:solidFill>
                  <a:srgbClr val="000000"/>
                </a:solidFill>
                <a:effectLst/>
                <a:latin typeface="Calibri" panose="020F0502020204030204" pitchFamily="34" charset="0"/>
                <a:cs typeface="Calibri" panose="020F0502020204030204" pitchFamily="34" charset="0"/>
              </a:rPr>
              <a:t>Toán tử sizeof() với mảng cho biết kích thước thực của mảng</a:t>
            </a:r>
            <a:r>
              <a:rPr lang="en-US" sz="2400" b="0" i="0">
                <a:solidFill>
                  <a:srgbClr val="000000"/>
                </a:solidFill>
                <a:effectLst/>
                <a:latin typeface="Calibri" panose="020F0502020204030204" pitchFamily="34" charset="0"/>
                <a:cs typeface="Calibri" panose="020F0502020204030204" pitchFamily="34" charset="0"/>
              </a:rPr>
              <a:t> </a:t>
            </a:r>
            <a:r>
              <a:rPr lang="vi-VN" sz="2400" b="0" i="0">
                <a:solidFill>
                  <a:srgbClr val="000000"/>
                </a:solidFill>
                <a:effectLst/>
                <a:latin typeface="Calibri" panose="020F0502020204030204" pitchFamily="34" charset="0"/>
                <a:cs typeface="Calibri" panose="020F0502020204030204" pitchFamily="34" charset="0"/>
              </a:rPr>
              <a:t>(tổng các phần tử), trong khi dùng với con trỏ thì cho biết kích</a:t>
            </a:r>
            <a:r>
              <a:rPr lang="en-US" sz="2400" b="0" i="0">
                <a:solidFill>
                  <a:srgbClr val="000000"/>
                </a:solidFill>
                <a:effectLst/>
                <a:latin typeface="Calibri" panose="020F0502020204030204" pitchFamily="34" charset="0"/>
                <a:cs typeface="Calibri" panose="020F0502020204030204" pitchFamily="34" charset="0"/>
              </a:rPr>
              <a:t> </a:t>
            </a:r>
            <a:r>
              <a:rPr lang="vi-VN" sz="2400" b="0" i="0">
                <a:solidFill>
                  <a:srgbClr val="000000"/>
                </a:solidFill>
                <a:effectLst/>
                <a:latin typeface="Calibri" panose="020F0502020204030204" pitchFamily="34" charset="0"/>
                <a:cs typeface="Calibri" panose="020F0502020204030204" pitchFamily="34" charset="0"/>
              </a:rPr>
              <a:t>thước của</a:t>
            </a:r>
            <a:r>
              <a:rPr lang="en-US" sz="2400" b="0" i="0">
                <a:solidFill>
                  <a:srgbClr val="000000"/>
                </a:solidFill>
                <a:effectLst/>
                <a:latin typeface="Calibri" panose="020F0502020204030204" pitchFamily="34" charset="0"/>
                <a:cs typeface="Calibri" panose="020F0502020204030204" pitchFamily="34" charset="0"/>
              </a:rPr>
              <a:t> </a:t>
            </a:r>
            <a:r>
              <a:rPr lang="vi-VN" sz="2400" b="0" i="0">
                <a:solidFill>
                  <a:srgbClr val="000000"/>
                </a:solidFill>
                <a:effectLst/>
                <a:latin typeface="Calibri" panose="020F0502020204030204" pitchFamily="34" charset="0"/>
                <a:cs typeface="Calibri" panose="020F0502020204030204" pitchFamily="34" charset="0"/>
              </a:rPr>
              <a:t>bản thân nó (chứa địa chỉ)</a:t>
            </a:r>
            <a:r>
              <a:rPr lang="en-US" sz="2400">
                <a:solidFill>
                  <a:srgbClr val="000000"/>
                </a:solidFill>
                <a:latin typeface="Calibri" panose="020F0502020204030204" pitchFamily="34" charset="0"/>
                <a:cs typeface="Calibri" panose="020F0502020204030204" pitchFamily="34" charset="0"/>
              </a:rPr>
              <a:t> </a:t>
            </a:r>
          </a:p>
          <a:p>
            <a:pPr marL="0" indent="0">
              <a:buNone/>
            </a:pPr>
            <a:endParaRPr lang="en-US" sz="2400">
              <a:solidFill>
                <a:srgbClr val="000000"/>
              </a:solidFill>
              <a:latin typeface="Calibri" panose="020F0502020204030204" pitchFamily="34" charset="0"/>
              <a:cs typeface="Calibri" panose="020F0502020204030204" pitchFamily="34" charset="0"/>
            </a:endParaRPr>
          </a:p>
          <a:p>
            <a:endParaRPr lang="en-US" sz="2400">
              <a:solidFill>
                <a:srgbClr val="000000"/>
              </a:solidFill>
              <a:latin typeface="Calibri" panose="020F0502020204030204" pitchFamily="34" charset="0"/>
              <a:cs typeface="Calibri" panose="020F0502020204030204" pitchFamily="34" charset="0"/>
            </a:endParaRPr>
          </a:p>
          <a:p>
            <a:endParaRPr lang="en-US" sz="2400">
              <a:solidFill>
                <a:srgbClr val="000000"/>
              </a:solidFill>
              <a:latin typeface="Calibri" panose="020F0502020204030204" pitchFamily="34" charset="0"/>
              <a:cs typeface="Calibri" panose="020F0502020204030204" pitchFamily="34" charset="0"/>
            </a:endParaRPr>
          </a:p>
          <a:p>
            <a:r>
              <a:rPr lang="en-US" sz="2400">
                <a:solidFill>
                  <a:srgbClr val="000000"/>
                </a:solidFill>
                <a:latin typeface="Calibri" panose="020F0502020204030204" pitchFamily="34" charset="0"/>
                <a:cs typeface="Calibri" panose="020F0502020204030204" pitchFamily="34" charset="0"/>
              </a:rPr>
              <a:t>Con </a:t>
            </a:r>
            <a:r>
              <a:rPr lang="en-US" sz="2400" err="1">
                <a:solidFill>
                  <a:srgbClr val="000000"/>
                </a:solidFill>
                <a:latin typeface="Calibri" panose="020F0502020204030204" pitchFamily="34" charset="0"/>
                <a:cs typeface="Calibri" panose="020F0502020204030204" pitchFamily="34" charset="0"/>
              </a:rPr>
              <a:t>trỏ</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có</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thể</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dùng</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chỉ</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số</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âm</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của</a:t>
            </a:r>
            <a:r>
              <a:rPr lang="en-US" sz="2400">
                <a:solidFill>
                  <a:srgbClr val="000000"/>
                </a:solidFill>
                <a:latin typeface="Calibri" panose="020F0502020204030204" pitchFamily="34" charset="0"/>
                <a:cs typeface="Calibri" panose="020F0502020204030204" pitchFamily="34" charset="0"/>
              </a:rPr>
              <a:t> </a:t>
            </a:r>
            <a:r>
              <a:rPr lang="en-US" sz="2400" err="1">
                <a:solidFill>
                  <a:srgbClr val="000000"/>
                </a:solidFill>
                <a:latin typeface="Calibri" panose="020F0502020204030204" pitchFamily="34" charset="0"/>
                <a:cs typeface="Calibri" panose="020F0502020204030204" pitchFamily="34" charset="0"/>
              </a:rPr>
              <a:t>mảng</a:t>
            </a:r>
            <a:endParaRPr lang="en-US" sz="2400">
              <a:solidFill>
                <a:srgbClr val="000000"/>
              </a:solidFill>
              <a:latin typeface="Calibri" panose="020F0502020204030204" pitchFamily="34" charset="0"/>
              <a:cs typeface="Calibri" panose="020F0502020204030204" pitchFamily="34" charset="0"/>
            </a:endParaRPr>
          </a:p>
          <a:p>
            <a:endParaRPr lang="en-US" sz="2400">
              <a:solidFill>
                <a:srgbClr val="000000"/>
              </a:solidFill>
              <a:latin typeface="Calibri" panose="020F0502020204030204" pitchFamily="34" charset="0"/>
              <a:cs typeface="Calibri" panose="020F0502020204030204" pitchFamily="34" charset="0"/>
            </a:endParaRPr>
          </a:p>
          <a:p>
            <a:pPr marL="0" indent="0">
              <a:buNone/>
            </a:pPr>
            <a:br>
              <a:rPr lang="vi-VN"/>
            </a:br>
            <a:endParaRPr lang="en-US"/>
          </a:p>
        </p:txBody>
      </p:sp>
      <p:pic>
        <p:nvPicPr>
          <p:cNvPr id="8" name="Picture 7">
            <a:extLst>
              <a:ext uri="{FF2B5EF4-FFF2-40B4-BE49-F238E27FC236}">
                <a16:creationId xmlns:a16="http://schemas.microsoft.com/office/drawing/2014/main" id="{D01D11F4-A5BA-49EC-AEA4-85DD612AF5B7}"/>
              </a:ext>
            </a:extLst>
          </p:cNvPr>
          <p:cNvPicPr>
            <a:picLocks noChangeAspect="1"/>
          </p:cNvPicPr>
          <p:nvPr/>
        </p:nvPicPr>
        <p:blipFill>
          <a:blip r:embed="rId2"/>
          <a:stretch>
            <a:fillRect/>
          </a:stretch>
        </p:blipFill>
        <p:spPr>
          <a:xfrm>
            <a:off x="879844" y="2205359"/>
            <a:ext cx="7384312" cy="914536"/>
          </a:xfrm>
          <a:prstGeom prst="rect">
            <a:avLst/>
          </a:prstGeom>
        </p:spPr>
      </p:pic>
      <p:pic>
        <p:nvPicPr>
          <p:cNvPr id="10" name="Picture 9">
            <a:extLst>
              <a:ext uri="{FF2B5EF4-FFF2-40B4-BE49-F238E27FC236}">
                <a16:creationId xmlns:a16="http://schemas.microsoft.com/office/drawing/2014/main" id="{9349AE54-DE31-4F8C-B5B1-C7648CAA5ADF}"/>
              </a:ext>
            </a:extLst>
          </p:cNvPr>
          <p:cNvPicPr>
            <a:picLocks noChangeAspect="1"/>
          </p:cNvPicPr>
          <p:nvPr/>
        </p:nvPicPr>
        <p:blipFill>
          <a:blip r:embed="rId3"/>
          <a:stretch>
            <a:fillRect/>
          </a:stretch>
        </p:blipFill>
        <p:spPr>
          <a:xfrm>
            <a:off x="916174" y="4116937"/>
            <a:ext cx="5791199" cy="982020"/>
          </a:xfrm>
          <a:prstGeom prst="rect">
            <a:avLst/>
          </a:prstGeom>
        </p:spPr>
      </p:pic>
    </p:spTree>
    <p:extLst>
      <p:ext uri="{BB962C8B-B14F-4D97-AF65-F5344CB8AC3E}">
        <p14:creationId xmlns:p14="http://schemas.microsoft.com/office/powerpoint/2010/main" val="33388826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C04342A-CEB6-4ED4-A995-43A455DCE7B1}"/>
              </a:ext>
            </a:extLst>
          </p:cNvPr>
          <p:cNvSpPr>
            <a:spLocks noGrp="1"/>
          </p:cNvSpPr>
          <p:nvPr>
            <p:ph type="sldNum" sz="quarter" idx="12"/>
          </p:nvPr>
        </p:nvSpPr>
        <p:spPr/>
        <p:txBody>
          <a:bodyPr/>
          <a:lstStyle/>
          <a:p>
            <a:pPr>
              <a:defRPr/>
            </a:pPr>
            <a:fld id="{48DF9EBC-45BD-834D-B87A-A480620EB0E8}" type="slidenum">
              <a:rPr lang="en-US" altLang="en-US"/>
              <a:pPr>
                <a:defRPr/>
              </a:pPr>
              <a:t>16</a:t>
            </a:fld>
            <a:endParaRPr lang="en-US" altLang="en-US"/>
          </a:p>
        </p:txBody>
      </p:sp>
      <p:sp>
        <p:nvSpPr>
          <p:cNvPr id="16387" name="Rectangle 2">
            <a:extLst>
              <a:ext uri="{FF2B5EF4-FFF2-40B4-BE49-F238E27FC236}">
                <a16:creationId xmlns:a16="http://schemas.microsoft.com/office/drawing/2014/main" id="{D427A996-749A-42DC-8C13-C97557DCDC1B}"/>
              </a:ext>
            </a:extLst>
          </p:cNvPr>
          <p:cNvSpPr>
            <a:spLocks noGrp="1" noChangeArrowheads="1"/>
          </p:cNvSpPr>
          <p:nvPr>
            <p:ph type="title"/>
          </p:nvPr>
        </p:nvSpPr>
        <p:spPr/>
        <p:txBody>
          <a:bodyPr/>
          <a:lstStyle/>
          <a:p>
            <a:pPr eaLnBrk="1" hangingPunct="1">
              <a:defRPr/>
            </a:pPr>
            <a:r>
              <a:rPr lang="en-US" altLang="en-US"/>
              <a:t>Cài đặt mảng 2 chiều</a:t>
            </a:r>
          </a:p>
        </p:txBody>
      </p:sp>
      <p:sp>
        <p:nvSpPr>
          <p:cNvPr id="16388" name="Rectangle 3">
            <a:extLst>
              <a:ext uri="{FF2B5EF4-FFF2-40B4-BE49-F238E27FC236}">
                <a16:creationId xmlns:a16="http://schemas.microsoft.com/office/drawing/2014/main" id="{8B4EEB1E-9D66-574C-8BC2-90089A688051}"/>
              </a:ext>
            </a:extLst>
          </p:cNvPr>
          <p:cNvSpPr>
            <a:spLocks noGrp="1" noChangeArrowheads="1"/>
          </p:cNvSpPr>
          <p:nvPr>
            <p:ph type="body" sz="quarter" idx="13"/>
          </p:nvPr>
        </p:nvSpPr>
        <p:spPr/>
        <p:txBody>
          <a:bodyPr>
            <a:normAutofit/>
          </a:bodyPr>
          <a:lstStyle/>
          <a:p>
            <a:pPr>
              <a:lnSpc>
                <a:spcPct val="90000"/>
              </a:lnSpc>
            </a:pPr>
            <a:r>
              <a:rPr lang="en-US" altLang="en-US" sz="2600">
                <a:cs typeface="Times New Roman" panose="02020603050405020304" pitchFamily="18" charset="0"/>
              </a:rPr>
              <a:t>ARRAY : a</a:t>
            </a:r>
            <a:r>
              <a:rPr lang="en-US" altLang="en-US" sz="2600" baseline="-30000">
                <a:cs typeface="Times New Roman" panose="02020603050405020304" pitchFamily="18" charset="0"/>
              </a:rPr>
              <a:t>2</a:t>
            </a:r>
            <a:r>
              <a:rPr lang="en-US" altLang="en-US" sz="2600">
                <a:cs typeface="Times New Roman" panose="02020603050405020304" pitchFamily="18" charset="0"/>
              </a:rPr>
              <a:t>[2,M,N] OF </a:t>
            </a:r>
            <a:r>
              <a:rPr lang="en-US" altLang="en-US" sz="2600" i="1">
                <a:cs typeface="Times New Roman" panose="02020603050405020304" pitchFamily="18" charset="0"/>
              </a:rPr>
              <a:t>datatype</a:t>
            </a:r>
            <a:r>
              <a:rPr lang="en-US" altLang="en-US" sz="2600">
                <a:cs typeface="Times New Roman" panose="02020603050405020304" pitchFamily="18" charset="0"/>
              </a:rPr>
              <a:t> ; </a:t>
            </a:r>
          </a:p>
          <a:p>
            <a:pPr algn="just">
              <a:lnSpc>
                <a:spcPct val="90000"/>
              </a:lnSpc>
            </a:pPr>
            <a:r>
              <a:rPr lang="en-US" altLang="en-US" sz="2600" err="1">
                <a:cs typeface="Times New Roman" panose="02020603050405020304" pitchFamily="18" charset="0"/>
              </a:rPr>
              <a:t>Xác</a:t>
            </a:r>
            <a:r>
              <a:rPr lang="en-US" altLang="en-US" sz="2600">
                <a:cs typeface="Times New Roman" panose="02020603050405020304" pitchFamily="18" charset="0"/>
              </a:rPr>
              <a:t> </a:t>
            </a:r>
            <a:r>
              <a:rPr lang="en-US" altLang="en-US" sz="2600" err="1">
                <a:cs typeface="Times New Roman" panose="02020603050405020304" pitchFamily="18" charset="0"/>
              </a:rPr>
              <a:t>định</a:t>
            </a:r>
            <a:r>
              <a:rPr lang="en-US" altLang="en-US" sz="2600">
                <a:cs typeface="Times New Roman" panose="02020603050405020304" pitchFamily="18" charset="0"/>
              </a:rPr>
              <a:t> </a:t>
            </a:r>
            <a:r>
              <a:rPr lang="en-US" altLang="en-US" sz="2600" err="1">
                <a:cs typeface="Times New Roman" panose="02020603050405020304" pitchFamily="18" charset="0"/>
              </a:rPr>
              <a:t>các</a:t>
            </a:r>
            <a:r>
              <a:rPr lang="en-US" altLang="en-US" sz="2600">
                <a:cs typeface="Times New Roman" panose="02020603050405020304" pitchFamily="18" charset="0"/>
              </a:rPr>
              <a:t> </a:t>
            </a:r>
            <a:r>
              <a:rPr lang="en-US" altLang="en-US" sz="2600" err="1">
                <a:cs typeface="Times New Roman" panose="02020603050405020304" pitchFamily="18" charset="0"/>
              </a:rPr>
              <a:t>đặc</a:t>
            </a:r>
            <a:r>
              <a:rPr lang="en-US" altLang="en-US" sz="2600">
                <a:cs typeface="Times New Roman" panose="02020603050405020304" pitchFamily="18" charset="0"/>
              </a:rPr>
              <a:t> </a:t>
            </a:r>
            <a:r>
              <a:rPr lang="en-US" altLang="en-US" sz="2600" err="1">
                <a:cs typeface="Times New Roman" panose="02020603050405020304" pitchFamily="18" charset="0"/>
              </a:rPr>
              <a:t>trưng</a:t>
            </a:r>
            <a:r>
              <a:rPr lang="en-US" altLang="en-US" sz="2600">
                <a:cs typeface="Times New Roman" panose="02020603050405020304" pitchFamily="18" charset="0"/>
              </a:rPr>
              <a:t> </a:t>
            </a:r>
            <a:r>
              <a:rPr lang="en-US" altLang="en-US" sz="2600" err="1">
                <a:cs typeface="Times New Roman" panose="02020603050405020304" pitchFamily="18" charset="0"/>
              </a:rPr>
              <a:t>của</a:t>
            </a:r>
            <a:r>
              <a:rPr lang="en-US" altLang="en-US" sz="2600">
                <a:cs typeface="Times New Roman" panose="02020603050405020304" pitchFamily="18" charset="0"/>
              </a:rPr>
              <a:t> CTLT </a:t>
            </a:r>
            <a:r>
              <a:rPr lang="en-US" altLang="en-US" sz="2600" err="1">
                <a:cs typeface="Times New Roman" panose="02020603050405020304" pitchFamily="18" charset="0"/>
              </a:rPr>
              <a:t>tuần</a:t>
            </a:r>
            <a:r>
              <a:rPr lang="en-US" altLang="en-US" sz="2600">
                <a:cs typeface="Times New Roman" panose="02020603050405020304" pitchFamily="18" charset="0"/>
              </a:rPr>
              <a:t> </a:t>
            </a:r>
            <a:r>
              <a:rPr lang="en-US" altLang="en-US" sz="2600" err="1">
                <a:cs typeface="Times New Roman" panose="02020603050405020304" pitchFamily="18" charset="0"/>
              </a:rPr>
              <a:t>tự</a:t>
            </a:r>
            <a:r>
              <a:rPr lang="en-US" altLang="en-US" sz="2600">
                <a:cs typeface="Times New Roman" panose="02020603050405020304" pitchFamily="18" charset="0"/>
              </a:rPr>
              <a:t>:</a:t>
            </a:r>
            <a:endParaRPr lang="en-US" altLang="en-US" sz="2600">
              <a:latin typeface=".VnTime" pitchFamily="34" charset="0"/>
              <a:cs typeface="Times New Roman" panose="02020603050405020304" pitchFamily="18" charset="0"/>
            </a:endParaRPr>
          </a:p>
          <a:p>
            <a:pPr lvl="1" algn="just">
              <a:lnSpc>
                <a:spcPct val="90000"/>
              </a:lnSpc>
            </a:pPr>
            <a:r>
              <a:rPr lang="en-US" altLang="en-US" sz="2400" err="1">
                <a:cs typeface="Times New Roman" panose="02020603050405020304" pitchFamily="18" charset="0"/>
              </a:rPr>
              <a:t>Số</a:t>
            </a:r>
            <a:r>
              <a:rPr lang="en-US" altLang="en-US" sz="2400">
                <a:cs typeface="Times New Roman" panose="02020603050405020304" pitchFamily="18" charset="0"/>
              </a:rPr>
              <a:t> </a:t>
            </a:r>
            <a:r>
              <a:rPr lang="en-US" altLang="en-US" sz="2400" err="1">
                <a:cs typeface="Times New Roman" panose="02020603050405020304" pitchFamily="18" charset="0"/>
              </a:rPr>
              <a:t>ô</a:t>
            </a:r>
            <a:r>
              <a:rPr lang="en-US" altLang="en-US" sz="2400">
                <a:cs typeface="Times New Roman" panose="02020603050405020304" pitchFamily="18" charset="0"/>
              </a:rPr>
              <a:t> </a:t>
            </a:r>
            <a:r>
              <a:rPr lang="en-US" altLang="en-US" sz="2400" err="1">
                <a:cs typeface="Times New Roman" panose="02020603050405020304" pitchFamily="18" charset="0"/>
              </a:rPr>
              <a:t>nhớ</a:t>
            </a:r>
            <a:r>
              <a:rPr lang="en-US" altLang="en-US" sz="2400">
                <a:cs typeface="Times New Roman" panose="02020603050405020304" pitchFamily="18" charset="0"/>
              </a:rPr>
              <a:t> : </a:t>
            </a:r>
            <a:r>
              <a:rPr lang="en-US" altLang="en-US" sz="2400" err="1">
                <a:cs typeface="Times New Roman" panose="02020603050405020304" pitchFamily="18" charset="0"/>
              </a:rPr>
              <a:t>bằng</a:t>
            </a:r>
            <a:r>
              <a:rPr lang="en-US" altLang="en-US" sz="2400">
                <a:cs typeface="Times New Roman" panose="02020603050405020304" pitchFamily="18" charset="0"/>
              </a:rPr>
              <a:t> M*N, </a:t>
            </a:r>
            <a:r>
              <a:rPr lang="en-US" altLang="en-US" sz="2400" err="1">
                <a:cs typeface="Times New Roman" panose="02020603050405020304" pitchFamily="18" charset="0"/>
              </a:rPr>
              <a:t>là</a:t>
            </a:r>
            <a:r>
              <a:rPr lang="en-US" altLang="en-US" sz="2400">
                <a:cs typeface="Times New Roman" panose="02020603050405020304" pitchFamily="18" charset="0"/>
              </a:rPr>
              <a:t> </a:t>
            </a:r>
            <a:r>
              <a:rPr lang="en-US" altLang="en-US" sz="2400" err="1">
                <a:cs typeface="Times New Roman" panose="02020603050405020304" pitchFamily="18" charset="0"/>
              </a:rPr>
              <a:t>kích</a:t>
            </a:r>
            <a:r>
              <a:rPr lang="en-US" altLang="en-US" sz="2400">
                <a:cs typeface="Times New Roman" panose="02020603050405020304" pitchFamily="18" charset="0"/>
              </a:rPr>
              <a:t> </a:t>
            </a:r>
            <a:r>
              <a:rPr lang="en-US" altLang="en-US" sz="2400" err="1">
                <a:cs typeface="Times New Roman" panose="02020603050405020304" pitchFamily="18" charset="0"/>
              </a:rPr>
              <a:t>thước</a:t>
            </a:r>
            <a:r>
              <a:rPr lang="en-US" altLang="en-US" sz="2400">
                <a:cs typeface="Times New Roman" panose="02020603050405020304" pitchFamily="18" charset="0"/>
              </a:rPr>
              <a:t> </a:t>
            </a:r>
            <a:r>
              <a:rPr lang="en-US" altLang="en-US" sz="2400" err="1">
                <a:cs typeface="Times New Roman" panose="02020603050405020304" pitchFamily="18" charset="0"/>
              </a:rPr>
              <a:t>của</a:t>
            </a:r>
            <a:r>
              <a:rPr lang="en-US" altLang="en-US" sz="2400">
                <a:cs typeface="Times New Roman" panose="02020603050405020304" pitchFamily="18" charset="0"/>
              </a:rPr>
              <a:t> </a:t>
            </a:r>
            <a:r>
              <a:rPr lang="en-US" altLang="en-US" sz="2400" err="1">
                <a:cs typeface="Times New Roman" panose="02020603050405020304" pitchFamily="18" charset="0"/>
              </a:rPr>
              <a:t>mảng</a:t>
            </a:r>
            <a:r>
              <a:rPr lang="en-US" altLang="en-US" sz="2400">
                <a:cs typeface="Times New Roman" panose="02020603050405020304" pitchFamily="18" charset="0"/>
              </a:rPr>
              <a:t>.</a:t>
            </a:r>
            <a:endParaRPr lang="en-US" altLang="en-US" sz="2400">
              <a:latin typeface=".VnTime" pitchFamily="34" charset="0"/>
              <a:cs typeface="Times New Roman" panose="02020603050405020304" pitchFamily="18" charset="0"/>
            </a:endParaRPr>
          </a:p>
          <a:p>
            <a:pPr lvl="1" algn="just">
              <a:lnSpc>
                <a:spcPct val="90000"/>
              </a:lnSpc>
            </a:pPr>
            <a:r>
              <a:rPr lang="en-US" altLang="en-US" sz="2400" err="1">
                <a:cs typeface="Times New Roman" panose="02020603050405020304" pitchFamily="18" charset="0"/>
              </a:rPr>
              <a:t>Kích</a:t>
            </a:r>
            <a:r>
              <a:rPr lang="en-US" altLang="en-US" sz="2400">
                <a:cs typeface="Times New Roman" panose="02020603050405020304" pitchFamily="18" charset="0"/>
              </a:rPr>
              <a:t> </a:t>
            </a:r>
            <a:r>
              <a:rPr lang="en-US" altLang="en-US" sz="2400" err="1">
                <a:cs typeface="Times New Roman" panose="02020603050405020304" pitchFamily="18" charset="0"/>
              </a:rPr>
              <a:t>thước</a:t>
            </a:r>
            <a:r>
              <a:rPr lang="en-US" altLang="en-US" sz="2400">
                <a:cs typeface="Times New Roman" panose="02020603050405020304" pitchFamily="18" charset="0"/>
              </a:rPr>
              <a:t> </a:t>
            </a:r>
            <a:r>
              <a:rPr lang="en-US" altLang="en-US" sz="2400" err="1">
                <a:cs typeface="Times New Roman" panose="02020603050405020304" pitchFamily="18" charset="0"/>
              </a:rPr>
              <a:t>mỗi</a:t>
            </a:r>
            <a:r>
              <a:rPr lang="en-US" altLang="en-US" sz="2400">
                <a:cs typeface="Times New Roman" panose="02020603050405020304" pitchFamily="18" charset="0"/>
              </a:rPr>
              <a:t> </a:t>
            </a:r>
            <a:r>
              <a:rPr lang="en-US" altLang="en-US" sz="2400" err="1">
                <a:cs typeface="Times New Roman" panose="02020603050405020304" pitchFamily="18" charset="0"/>
              </a:rPr>
              <a:t>ô</a:t>
            </a:r>
            <a:r>
              <a:rPr lang="en-US" altLang="en-US" sz="2400">
                <a:cs typeface="Times New Roman" panose="02020603050405020304" pitchFamily="18" charset="0"/>
              </a:rPr>
              <a:t> </a:t>
            </a:r>
            <a:r>
              <a:rPr lang="en-US" altLang="en-US" sz="2400" err="1">
                <a:cs typeface="Times New Roman" panose="02020603050405020304" pitchFamily="18" charset="0"/>
              </a:rPr>
              <a:t>nhớ</a:t>
            </a:r>
            <a:r>
              <a:rPr lang="en-US" altLang="en-US" sz="2400">
                <a:cs typeface="Times New Roman" panose="02020603050405020304" pitchFamily="18" charset="0"/>
              </a:rPr>
              <a:t> : </a:t>
            </a:r>
            <a:r>
              <a:rPr lang="en-US" altLang="en-US" sz="2400" err="1">
                <a:cs typeface="Times New Roman" panose="02020603050405020304" pitchFamily="18" charset="0"/>
              </a:rPr>
              <a:t>là</a:t>
            </a:r>
            <a:r>
              <a:rPr lang="en-US" altLang="en-US" sz="2400">
                <a:cs typeface="Times New Roman" panose="02020603050405020304" pitchFamily="18" charset="0"/>
              </a:rPr>
              <a:t> </a:t>
            </a:r>
            <a:r>
              <a:rPr lang="en-US" altLang="en-US" sz="2400" err="1">
                <a:cs typeface="Times New Roman" panose="02020603050405020304" pitchFamily="18" charset="0"/>
              </a:rPr>
              <a:t>kích</a:t>
            </a:r>
            <a:r>
              <a:rPr lang="en-US" altLang="en-US" sz="2400">
                <a:cs typeface="Times New Roman" panose="02020603050405020304" pitchFamily="18" charset="0"/>
              </a:rPr>
              <a:t> </a:t>
            </a:r>
            <a:r>
              <a:rPr lang="en-US" altLang="en-US" sz="2400" err="1">
                <a:cs typeface="Times New Roman" panose="02020603050405020304" pitchFamily="18" charset="0"/>
              </a:rPr>
              <a:t>thước</a:t>
            </a:r>
            <a:r>
              <a:rPr lang="en-US" altLang="en-US" sz="2400">
                <a:cs typeface="Times New Roman" panose="02020603050405020304" pitchFamily="18" charset="0"/>
              </a:rPr>
              <a:t> </a:t>
            </a:r>
            <a:r>
              <a:rPr lang="en-US" altLang="en-US" sz="2400" err="1">
                <a:cs typeface="Times New Roman" panose="02020603050405020304" pitchFamily="18" charset="0"/>
              </a:rPr>
              <a:t>của</a:t>
            </a:r>
            <a:r>
              <a:rPr lang="en-US" altLang="en-US" sz="2400">
                <a:cs typeface="Times New Roman" panose="02020603050405020304" pitchFamily="18" charset="0"/>
              </a:rPr>
              <a:t> </a:t>
            </a:r>
            <a:r>
              <a:rPr lang="en-US" altLang="en-US" sz="2400" i="1">
                <a:cs typeface="Times New Roman" panose="02020603050405020304" pitchFamily="18" charset="0"/>
              </a:rPr>
              <a:t>datatype</a:t>
            </a:r>
            <a:r>
              <a:rPr lang="en-US" altLang="en-US" sz="2400">
                <a:cs typeface="Times New Roman" panose="02020603050405020304" pitchFamily="18" charset="0"/>
              </a:rPr>
              <a:t>.</a:t>
            </a:r>
            <a:endParaRPr lang="en-US" altLang="en-US" sz="2400">
              <a:latin typeface=".VnTime" pitchFamily="34" charset="0"/>
              <a:cs typeface="Times New Roman" panose="02020603050405020304" pitchFamily="18" charset="0"/>
            </a:endParaRPr>
          </a:p>
          <a:p>
            <a:pPr lvl="1">
              <a:lnSpc>
                <a:spcPct val="115000"/>
              </a:lnSpc>
            </a:pPr>
            <a:r>
              <a:rPr lang="en-US" altLang="en-US" sz="2400">
                <a:cs typeface="Times New Roman" panose="02020603050405020304" pitchFamily="18" charset="0"/>
              </a:rPr>
              <a:t>Ta </a:t>
            </a:r>
            <a:r>
              <a:rPr lang="en-US" altLang="en-US" sz="2400" err="1">
                <a:cs typeface="Times New Roman" panose="02020603050405020304" pitchFamily="18" charset="0"/>
              </a:rPr>
              <a:t>cần</a:t>
            </a:r>
            <a:r>
              <a:rPr lang="en-US" altLang="en-US" sz="2400">
                <a:cs typeface="Times New Roman" panose="02020603050405020304" pitchFamily="18" charset="0"/>
              </a:rPr>
              <a:t> </a:t>
            </a:r>
            <a:r>
              <a:rPr lang="en-US" altLang="en-US" sz="2400" err="1">
                <a:cs typeface="Times New Roman" panose="02020603050405020304" pitchFamily="18" charset="0"/>
              </a:rPr>
              <a:t>dành</a:t>
            </a:r>
            <a:r>
              <a:rPr lang="en-US" altLang="en-US" sz="2400">
                <a:cs typeface="Times New Roman" panose="02020603050405020304" pitchFamily="18" charset="0"/>
              </a:rPr>
              <a:t> ra </a:t>
            </a:r>
            <a:r>
              <a:rPr lang="en-US" altLang="en-US" sz="2400" err="1">
                <a:cs typeface="Times New Roman" panose="02020603050405020304" pitchFamily="18" charset="0"/>
              </a:rPr>
              <a:t>một</a:t>
            </a:r>
            <a:r>
              <a:rPr lang="en-US" altLang="en-US" sz="2400">
                <a:cs typeface="Times New Roman" panose="02020603050405020304" pitchFamily="18" charset="0"/>
              </a:rPr>
              <a:t> </a:t>
            </a:r>
            <a:r>
              <a:rPr lang="en-US" altLang="en-US" sz="2400" err="1">
                <a:cs typeface="Times New Roman" panose="02020603050405020304" pitchFamily="18" charset="0"/>
              </a:rPr>
              <a:t>khối</a:t>
            </a:r>
            <a:r>
              <a:rPr lang="en-US" altLang="en-US" sz="2400">
                <a:cs typeface="Times New Roman" panose="02020603050405020304" pitchFamily="18" charset="0"/>
              </a:rPr>
              <a:t> </a:t>
            </a:r>
            <a:r>
              <a:rPr lang="en-US" altLang="en-US" sz="2400" err="1">
                <a:cs typeface="Times New Roman" panose="02020603050405020304" pitchFamily="18" charset="0"/>
              </a:rPr>
              <a:t>nhớ</a:t>
            </a:r>
            <a:r>
              <a:rPr lang="en-US" altLang="en-US" sz="2400">
                <a:cs typeface="Times New Roman" panose="02020603050405020304" pitchFamily="18" charset="0"/>
              </a:rPr>
              <a:t> </a:t>
            </a:r>
            <a:r>
              <a:rPr lang="en-US" altLang="en-US" sz="2400" err="1">
                <a:cs typeface="Times New Roman" panose="02020603050405020304" pitchFamily="18" charset="0"/>
              </a:rPr>
              <a:t>liên</a:t>
            </a:r>
            <a:r>
              <a:rPr lang="en-US" altLang="en-US" sz="2400">
                <a:cs typeface="Times New Roman" panose="02020603050405020304" pitchFamily="18" charset="0"/>
              </a:rPr>
              <a:t> </a:t>
            </a:r>
            <a:r>
              <a:rPr lang="en-US" altLang="en-US" sz="2400" err="1">
                <a:cs typeface="Times New Roman" panose="02020603050405020304" pitchFamily="18" charset="0"/>
              </a:rPr>
              <a:t>tục</a:t>
            </a:r>
            <a:r>
              <a:rPr lang="en-US" altLang="en-US" sz="2400">
                <a:cs typeface="Times New Roman" panose="02020603050405020304" pitchFamily="18" charset="0"/>
              </a:rPr>
              <a:t> </a:t>
            </a:r>
            <a:r>
              <a:rPr lang="en-US" altLang="en-US" sz="2400" err="1">
                <a:cs typeface="Times New Roman" panose="02020603050405020304" pitchFamily="18" charset="0"/>
              </a:rPr>
              <a:t>có</a:t>
            </a:r>
            <a:r>
              <a:rPr lang="en-US" altLang="en-US" sz="2400">
                <a:cs typeface="Times New Roman" panose="02020603050405020304" pitchFamily="18" charset="0"/>
              </a:rPr>
              <a:t> </a:t>
            </a:r>
            <a:r>
              <a:rPr lang="en-US" altLang="en-US" sz="2400" err="1">
                <a:cs typeface="Times New Roman" panose="02020603050405020304" pitchFamily="18" charset="0"/>
              </a:rPr>
              <a:t>kích</a:t>
            </a:r>
            <a:r>
              <a:rPr lang="en-US" altLang="en-US" sz="2400">
                <a:cs typeface="Times New Roman" panose="02020603050405020304" pitchFamily="18" charset="0"/>
              </a:rPr>
              <a:t> </a:t>
            </a:r>
            <a:r>
              <a:rPr lang="en-US" altLang="en-US" sz="2400" err="1">
                <a:cs typeface="Times New Roman" panose="02020603050405020304" pitchFamily="18" charset="0"/>
              </a:rPr>
              <a:t>thước</a:t>
            </a:r>
            <a:r>
              <a:rPr lang="en-US" altLang="en-US" sz="2400">
                <a:cs typeface="Times New Roman" panose="02020603050405020304" pitchFamily="18" charset="0"/>
              </a:rPr>
              <a:t> </a:t>
            </a:r>
            <a:r>
              <a:rPr lang="en-US" altLang="en-US" sz="2400" err="1">
                <a:cs typeface="Times New Roman" panose="02020603050405020304" pitchFamily="18" charset="0"/>
              </a:rPr>
              <a:t>c.M.N</a:t>
            </a:r>
            <a:r>
              <a:rPr lang="en-US" altLang="en-US" sz="2400">
                <a:cs typeface="Times New Roman" panose="02020603050405020304" pitchFamily="18" charset="0"/>
              </a:rPr>
              <a:t>, </a:t>
            </a:r>
            <a:r>
              <a:rPr lang="en-US" altLang="en-US" sz="2400" err="1">
                <a:cs typeface="Times New Roman" panose="02020603050405020304" pitchFamily="18" charset="0"/>
              </a:rPr>
              <a:t>có</a:t>
            </a:r>
            <a:r>
              <a:rPr lang="en-US" altLang="en-US" sz="2400">
                <a:cs typeface="Times New Roman" panose="02020603050405020304" pitchFamily="18" charset="0"/>
              </a:rPr>
              <a:t> </a:t>
            </a:r>
            <a:r>
              <a:rPr lang="en-US" altLang="en-US" sz="2400" err="1">
                <a:cs typeface="Times New Roman" panose="02020603050405020304" pitchFamily="18" charset="0"/>
              </a:rPr>
              <a:t>địa</a:t>
            </a:r>
            <a:r>
              <a:rPr lang="en-US" altLang="en-US" sz="2400">
                <a:cs typeface="Times New Roman" panose="02020603050405020304" pitchFamily="18" charset="0"/>
              </a:rPr>
              <a:t> </a:t>
            </a:r>
            <a:r>
              <a:rPr lang="en-US" altLang="en-US" sz="2400" err="1">
                <a:cs typeface="Times New Roman" panose="02020603050405020304" pitchFamily="18" charset="0"/>
              </a:rPr>
              <a:t>chỉ</a:t>
            </a:r>
            <a:r>
              <a:rPr lang="en-US" altLang="en-US" sz="2400">
                <a:cs typeface="Times New Roman" panose="02020603050405020304" pitchFamily="18" charset="0"/>
              </a:rPr>
              <a:t> </a:t>
            </a:r>
            <a:r>
              <a:rPr lang="en-US" altLang="en-US" sz="2400" err="1">
                <a:cs typeface="Times New Roman" panose="02020603050405020304" pitchFamily="18" charset="0"/>
              </a:rPr>
              <a:t>đầu</a:t>
            </a:r>
            <a:r>
              <a:rPr lang="en-US" altLang="en-US" sz="2400">
                <a:cs typeface="Times New Roman" panose="02020603050405020304" pitchFamily="18" charset="0"/>
              </a:rPr>
              <a:t> </a:t>
            </a:r>
            <a:r>
              <a:rPr lang="en-US" altLang="en-US" sz="2400" err="1">
                <a:cs typeface="Times New Roman" panose="02020603050405020304" pitchFamily="18" charset="0"/>
              </a:rPr>
              <a:t>tiên</a:t>
            </a:r>
            <a:r>
              <a:rPr lang="en-US" altLang="en-US" sz="2400">
                <a:cs typeface="Times New Roman" panose="02020603050405020304" pitchFamily="18" charset="0"/>
              </a:rPr>
              <a:t> </a:t>
            </a:r>
            <a:r>
              <a:rPr lang="en-US" altLang="en-US" sz="2400" err="1">
                <a:cs typeface="Times New Roman" panose="02020603050405020304" pitchFamily="18" charset="0"/>
              </a:rPr>
              <a:t>là</a:t>
            </a:r>
            <a:r>
              <a:rPr lang="en-US" altLang="en-US" sz="2400">
                <a:cs typeface="Times New Roman" panose="02020603050405020304" pitchFamily="18" charset="0"/>
              </a:rPr>
              <a:t> A</a:t>
            </a:r>
            <a:r>
              <a:rPr lang="en-US" altLang="en-US" sz="2400" baseline="-30000">
                <a:cs typeface="Times New Roman" panose="02020603050405020304" pitchFamily="18" charset="0"/>
              </a:rPr>
              <a:t>0 </a:t>
            </a:r>
            <a:r>
              <a:rPr lang="en-US" altLang="en-US" sz="2400" err="1">
                <a:cs typeface="Times New Roman" panose="02020603050405020304" pitchFamily="18" charset="0"/>
              </a:rPr>
              <a:t>để</a:t>
            </a:r>
            <a:r>
              <a:rPr lang="en-US" altLang="en-US" sz="2400">
                <a:cs typeface="Times New Roman" panose="02020603050405020304" pitchFamily="18" charset="0"/>
              </a:rPr>
              <a:t> </a:t>
            </a:r>
            <a:r>
              <a:rPr lang="en-US" altLang="en-US" sz="2400" err="1">
                <a:cs typeface="Times New Roman" panose="02020603050405020304" pitchFamily="18" charset="0"/>
              </a:rPr>
              <a:t>lưu</a:t>
            </a:r>
            <a:r>
              <a:rPr lang="en-US" altLang="en-US" sz="2400">
                <a:cs typeface="Times New Roman" panose="02020603050405020304" pitchFamily="18" charset="0"/>
              </a:rPr>
              <a:t> </a:t>
            </a:r>
            <a:r>
              <a:rPr lang="en-US" altLang="en-US" sz="2400" err="1">
                <a:cs typeface="Times New Roman" panose="02020603050405020304" pitchFamily="18" charset="0"/>
              </a:rPr>
              <a:t>trữ</a:t>
            </a:r>
            <a:r>
              <a:rPr lang="en-US" altLang="en-US" sz="2400">
                <a:cs typeface="Times New Roman" panose="02020603050405020304" pitchFamily="18" charset="0"/>
              </a:rPr>
              <a:t> </a:t>
            </a:r>
            <a:r>
              <a:rPr lang="en-US" altLang="en-US" sz="2400" err="1">
                <a:cs typeface="Times New Roman" panose="02020603050405020304" pitchFamily="18" charset="0"/>
              </a:rPr>
              <a:t>cho</a:t>
            </a:r>
            <a:r>
              <a:rPr lang="en-US" altLang="en-US" sz="2400">
                <a:cs typeface="Times New Roman" panose="02020603050405020304" pitchFamily="18" charset="0"/>
              </a:rPr>
              <a:t> </a:t>
            </a:r>
            <a:r>
              <a:rPr lang="en-US" altLang="en-US" sz="2400" err="1">
                <a:cs typeface="Times New Roman" panose="02020603050405020304" pitchFamily="18" charset="0"/>
              </a:rPr>
              <a:t>mảng</a:t>
            </a:r>
            <a:r>
              <a:rPr lang="en-US" altLang="en-US" sz="2400">
                <a:cs typeface="Times New Roman" panose="02020603050405020304" pitchFamily="18" charset="0"/>
              </a:rPr>
              <a:t> </a:t>
            </a:r>
            <a:r>
              <a:rPr lang="en-US" altLang="en-US" sz="2400" err="1">
                <a:cs typeface="Times New Roman" panose="02020603050405020304" pitchFamily="18" charset="0"/>
              </a:rPr>
              <a:t>này</a:t>
            </a:r>
            <a:r>
              <a:rPr lang="en-US" altLang="en-US" sz="2400">
                <a:cs typeface="Times New Roman" panose="02020603050405020304" pitchFamily="18" charset="0"/>
              </a:rPr>
              <a:t>.</a:t>
            </a:r>
          </a:p>
          <a:p>
            <a:pPr algn="just"/>
            <a:r>
              <a:rPr lang="en-US" altLang="en-US" sz="2600" err="1">
                <a:cs typeface="Times New Roman" panose="02020603050405020304" pitchFamily="18" charset="0"/>
              </a:rPr>
              <a:t>Bố</a:t>
            </a:r>
            <a:r>
              <a:rPr lang="en-US" altLang="en-US" sz="2600">
                <a:cs typeface="Times New Roman" panose="02020603050405020304" pitchFamily="18" charset="0"/>
              </a:rPr>
              <a:t> </a:t>
            </a:r>
            <a:r>
              <a:rPr lang="en-US" altLang="en-US" sz="2600" err="1">
                <a:cs typeface="Times New Roman" panose="02020603050405020304" pitchFamily="18" charset="0"/>
              </a:rPr>
              <a:t>trí</a:t>
            </a:r>
            <a:r>
              <a:rPr lang="en-US" altLang="en-US" sz="2600">
                <a:cs typeface="Times New Roman" panose="02020603050405020304" pitchFamily="18" charset="0"/>
              </a:rPr>
              <a:t> </a:t>
            </a:r>
            <a:r>
              <a:rPr lang="en-US" altLang="en-US" sz="2600" err="1">
                <a:cs typeface="Times New Roman" panose="02020603050405020304" pitchFamily="18" charset="0"/>
              </a:rPr>
              <a:t>các</a:t>
            </a:r>
            <a:r>
              <a:rPr lang="en-US" altLang="en-US" sz="2600">
                <a:cs typeface="Times New Roman" panose="02020603050405020304" pitchFamily="18" charset="0"/>
              </a:rPr>
              <a:t> </a:t>
            </a:r>
            <a:r>
              <a:rPr lang="en-US" altLang="en-US" sz="2600" err="1">
                <a:cs typeface="Times New Roman" panose="02020603050405020304" pitchFamily="18" charset="0"/>
              </a:rPr>
              <a:t>phần</a:t>
            </a:r>
            <a:r>
              <a:rPr lang="en-US" altLang="en-US" sz="2600">
                <a:cs typeface="Times New Roman" panose="02020603050405020304" pitchFamily="18" charset="0"/>
              </a:rPr>
              <a:t> </a:t>
            </a:r>
            <a:r>
              <a:rPr lang="en-US" altLang="en-US" sz="2600" err="1">
                <a:cs typeface="Times New Roman" panose="02020603050405020304" pitchFamily="18" charset="0"/>
              </a:rPr>
              <a:t>tử</a:t>
            </a:r>
            <a:r>
              <a:rPr lang="en-US" altLang="en-US" sz="2600">
                <a:cs typeface="Times New Roman" panose="02020603050405020304" pitchFamily="18" charset="0"/>
              </a:rPr>
              <a:t>: </a:t>
            </a:r>
          </a:p>
          <a:p>
            <a:pPr lvl="1" algn="just"/>
            <a:r>
              <a:rPr lang="en-US" altLang="en-US" sz="2200">
                <a:cs typeface="Times New Roman" panose="02020603050405020304" pitchFamily="18" charset="0"/>
              </a:rPr>
              <a:t>Theo </a:t>
            </a:r>
            <a:r>
              <a:rPr lang="en-US" altLang="en-US" sz="2200" err="1">
                <a:cs typeface="Times New Roman" panose="02020603050405020304" pitchFamily="18" charset="0"/>
              </a:rPr>
              <a:t>thứ</a:t>
            </a:r>
            <a:r>
              <a:rPr lang="en-US" altLang="en-US" sz="2200">
                <a:cs typeface="Times New Roman" panose="02020603050405020304" pitchFamily="18" charset="0"/>
              </a:rPr>
              <a:t> </a:t>
            </a:r>
            <a:r>
              <a:rPr lang="en-US" altLang="en-US" sz="2200" err="1">
                <a:cs typeface="Times New Roman" panose="02020603050405020304" pitchFamily="18" charset="0"/>
              </a:rPr>
              <a:t>tự</a:t>
            </a:r>
            <a:r>
              <a:rPr lang="en-US" altLang="en-US" sz="2200">
                <a:cs typeface="Times New Roman" panose="02020603050405020304" pitchFamily="18" charset="0"/>
              </a:rPr>
              <a:t> </a:t>
            </a:r>
            <a:r>
              <a:rPr lang="en-US" altLang="en-US" sz="2200" err="1">
                <a:cs typeface="Times New Roman" panose="02020603050405020304" pitchFamily="18" charset="0"/>
              </a:rPr>
              <a:t>ưu</a:t>
            </a:r>
            <a:r>
              <a:rPr lang="en-US" altLang="en-US" sz="2200">
                <a:cs typeface="Times New Roman" panose="02020603050405020304" pitchFamily="18" charset="0"/>
              </a:rPr>
              <a:t> </a:t>
            </a:r>
            <a:r>
              <a:rPr lang="en-US" altLang="en-US" sz="2200" err="1">
                <a:cs typeface="Times New Roman" panose="02020603050405020304" pitchFamily="18" charset="0"/>
              </a:rPr>
              <a:t>tiên</a:t>
            </a:r>
            <a:r>
              <a:rPr lang="en-US" altLang="en-US" sz="2200">
                <a:cs typeface="Times New Roman" panose="02020603050405020304" pitchFamily="18" charset="0"/>
              </a:rPr>
              <a:t> </a:t>
            </a:r>
            <a:r>
              <a:rPr lang="en-US" altLang="en-US" sz="2200" err="1">
                <a:cs typeface="Times New Roman" panose="02020603050405020304" pitchFamily="18" charset="0"/>
              </a:rPr>
              <a:t>hàng</a:t>
            </a:r>
            <a:endParaRPr lang="en-US" altLang="en-US" sz="2200">
              <a:cs typeface="Times New Roman" panose="02020603050405020304" pitchFamily="18" charset="0"/>
            </a:endParaRPr>
          </a:p>
          <a:p>
            <a:pPr lvl="1" algn="just"/>
            <a:r>
              <a:rPr lang="en-US" altLang="en-US" sz="2200">
                <a:cs typeface="Times New Roman" panose="02020603050405020304" pitchFamily="18" charset="0"/>
              </a:rPr>
              <a:t>Theo </a:t>
            </a:r>
            <a:r>
              <a:rPr lang="en-US" altLang="en-US" sz="2200" err="1">
                <a:cs typeface="Times New Roman" panose="02020603050405020304" pitchFamily="18" charset="0"/>
              </a:rPr>
              <a:t>thứ</a:t>
            </a:r>
            <a:r>
              <a:rPr lang="en-US" altLang="en-US" sz="2200">
                <a:cs typeface="Times New Roman" panose="02020603050405020304" pitchFamily="18" charset="0"/>
              </a:rPr>
              <a:t> </a:t>
            </a:r>
            <a:r>
              <a:rPr lang="en-US" altLang="en-US" sz="2200" err="1">
                <a:cs typeface="Times New Roman" panose="02020603050405020304" pitchFamily="18" charset="0"/>
              </a:rPr>
              <a:t>tự</a:t>
            </a:r>
            <a:r>
              <a:rPr lang="en-US" altLang="en-US" sz="2200">
                <a:cs typeface="Times New Roman" panose="02020603050405020304" pitchFamily="18" charset="0"/>
              </a:rPr>
              <a:t> </a:t>
            </a:r>
            <a:r>
              <a:rPr lang="en-US" altLang="en-US" sz="2200" err="1">
                <a:cs typeface="Times New Roman" panose="02020603050405020304" pitchFamily="18" charset="0"/>
              </a:rPr>
              <a:t>ưu</a:t>
            </a:r>
            <a:r>
              <a:rPr lang="en-US" altLang="en-US" sz="2200">
                <a:cs typeface="Times New Roman" panose="02020603050405020304" pitchFamily="18" charset="0"/>
              </a:rPr>
              <a:t> </a:t>
            </a:r>
            <a:r>
              <a:rPr lang="en-US" altLang="en-US" sz="2200" err="1">
                <a:cs typeface="Times New Roman" panose="02020603050405020304" pitchFamily="18" charset="0"/>
              </a:rPr>
              <a:t>tiên</a:t>
            </a:r>
            <a:r>
              <a:rPr lang="en-US" altLang="en-US" sz="2200">
                <a:cs typeface="Times New Roman" panose="02020603050405020304" pitchFamily="18" charset="0"/>
              </a:rPr>
              <a:t> </a:t>
            </a:r>
            <a:r>
              <a:rPr lang="en-US" altLang="en-US" sz="2200" err="1">
                <a:cs typeface="Times New Roman" panose="02020603050405020304" pitchFamily="18" charset="0"/>
              </a:rPr>
              <a:t>cột</a:t>
            </a:r>
            <a:endParaRPr lang="en-US" altLang="en-US" sz="2200">
              <a:cs typeface="Times New Roman" panose="02020603050405020304" pitchFamily="18" charset="0"/>
            </a:endParaRPr>
          </a:p>
        </p:txBody>
      </p:sp>
    </p:spTree>
    <p:extLst>
      <p:ext uri="{BB962C8B-B14F-4D97-AF65-F5344CB8AC3E}">
        <p14:creationId xmlns:p14="http://schemas.microsoft.com/office/powerpoint/2010/main" val="2556441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5">
            <a:extLst>
              <a:ext uri="{FF2B5EF4-FFF2-40B4-BE49-F238E27FC236}">
                <a16:creationId xmlns:a16="http://schemas.microsoft.com/office/drawing/2014/main" id="{13E03EEC-7D67-46FA-9DB7-F26D7D39EF77}"/>
              </a:ext>
            </a:extLst>
          </p:cNvPr>
          <p:cNvSpPr>
            <a:spLocks noGrp="1"/>
          </p:cNvSpPr>
          <p:nvPr>
            <p:ph type="sldNum" sz="quarter" idx="12"/>
          </p:nvPr>
        </p:nvSpPr>
        <p:spPr/>
        <p:txBody>
          <a:bodyPr/>
          <a:lstStyle/>
          <a:p>
            <a:pPr>
              <a:defRPr/>
            </a:pPr>
            <a:fld id="{D3079C77-2AED-414E-B2F5-235BB08E1586}" type="slidenum">
              <a:rPr lang="en-US" altLang="en-US"/>
              <a:pPr>
                <a:defRPr/>
              </a:pPr>
              <a:t>17</a:t>
            </a:fld>
            <a:endParaRPr lang="en-US" altLang="en-US"/>
          </a:p>
        </p:txBody>
      </p:sp>
      <p:sp>
        <p:nvSpPr>
          <p:cNvPr id="18435" name="Rectangle 2">
            <a:extLst>
              <a:ext uri="{FF2B5EF4-FFF2-40B4-BE49-F238E27FC236}">
                <a16:creationId xmlns:a16="http://schemas.microsoft.com/office/drawing/2014/main" id="{6FCF5642-2442-45E7-9F31-9038AF0B3F69}"/>
              </a:ext>
            </a:extLst>
          </p:cNvPr>
          <p:cNvSpPr>
            <a:spLocks noGrp="1" noChangeArrowheads="1"/>
          </p:cNvSpPr>
          <p:nvPr>
            <p:ph type="title"/>
          </p:nvPr>
        </p:nvSpPr>
        <p:spPr/>
        <p:txBody>
          <a:bodyPr>
            <a:normAutofit fontScale="90000"/>
          </a:bodyPr>
          <a:lstStyle/>
          <a:p>
            <a:pPr eaLnBrk="1" hangingPunct="1">
              <a:defRPr/>
            </a:pPr>
            <a:r>
              <a:rPr lang="en-US" altLang="en-US">
                <a:cs typeface="Times New Roman" panose="02020603050405020304" pitchFamily="18" charset="0"/>
              </a:rPr>
              <a:t>Cài đặt mảng hai chiều: 2 cách bố trí</a:t>
            </a:r>
          </a:p>
        </p:txBody>
      </p:sp>
      <p:sp>
        <p:nvSpPr>
          <p:cNvPr id="2" name="Chỗ dành sẵn cho Văn bản 1">
            <a:extLst>
              <a:ext uri="{FF2B5EF4-FFF2-40B4-BE49-F238E27FC236}">
                <a16:creationId xmlns:a16="http://schemas.microsoft.com/office/drawing/2014/main" id="{6BBCF44E-5965-5716-35F1-DA48CB4F5E23}"/>
              </a:ext>
            </a:extLst>
          </p:cNvPr>
          <p:cNvSpPr>
            <a:spLocks noGrp="1"/>
          </p:cNvSpPr>
          <p:nvPr>
            <p:ph type="body" sz="quarter" idx="13"/>
          </p:nvPr>
        </p:nvSpPr>
        <p:spPr/>
        <p:txBody>
          <a:bodyPr/>
          <a:lstStyle/>
          <a:p>
            <a:endParaRPr lang="vi-VN"/>
          </a:p>
        </p:txBody>
      </p:sp>
      <p:sp>
        <p:nvSpPr>
          <p:cNvPr id="18436" name="Rectangle 5">
            <a:extLst>
              <a:ext uri="{FF2B5EF4-FFF2-40B4-BE49-F238E27FC236}">
                <a16:creationId xmlns:a16="http://schemas.microsoft.com/office/drawing/2014/main" id="{ACA4741C-00D1-F442-A7CE-437E2B82E51E}"/>
              </a:ext>
            </a:extLst>
          </p:cNvPr>
          <p:cNvSpPr>
            <a:spLocks noChangeArrowheads="1"/>
          </p:cNvSpPr>
          <p:nvPr/>
        </p:nvSpPr>
        <p:spPr bwMode="auto">
          <a:xfrm>
            <a:off x="222123" y="1640955"/>
            <a:ext cx="8686800" cy="3886200"/>
          </a:xfrm>
          <a:prstGeom prst="rect">
            <a:avLst/>
          </a:prstGeom>
          <a:noFill/>
          <a:ln w="9525">
            <a:solidFill>
              <a:srgbClr val="333333"/>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18437" name="Group 6">
            <a:extLst>
              <a:ext uri="{FF2B5EF4-FFF2-40B4-BE49-F238E27FC236}">
                <a16:creationId xmlns:a16="http://schemas.microsoft.com/office/drawing/2014/main" id="{E099A1AF-1266-7344-8AF0-2E88CE726B26}"/>
              </a:ext>
            </a:extLst>
          </p:cNvPr>
          <p:cNvGrpSpPr>
            <a:grpSpLocks/>
          </p:cNvGrpSpPr>
          <p:nvPr/>
        </p:nvGrpSpPr>
        <p:grpSpPr bwMode="auto">
          <a:xfrm>
            <a:off x="457200" y="2209800"/>
            <a:ext cx="8305800" cy="3657600"/>
            <a:chOff x="2013" y="7920"/>
            <a:chExt cx="7635" cy="4234"/>
          </a:xfrm>
        </p:grpSpPr>
        <p:sp>
          <p:nvSpPr>
            <p:cNvPr id="18438" name="Text Box 7">
              <a:extLst>
                <a:ext uri="{FF2B5EF4-FFF2-40B4-BE49-F238E27FC236}">
                  <a16:creationId xmlns:a16="http://schemas.microsoft.com/office/drawing/2014/main" id="{CB081DB2-A978-F34E-8654-8F99C24C5909}"/>
                </a:ext>
              </a:extLst>
            </p:cNvPr>
            <p:cNvSpPr txBox="1">
              <a:spLocks noChangeArrowheads="1"/>
            </p:cNvSpPr>
            <p:nvPr/>
          </p:nvSpPr>
          <p:spPr bwMode="auto">
            <a:xfrm>
              <a:off x="5328" y="8986"/>
              <a:ext cx="2016" cy="1440"/>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mt[1,1]    mt[1,2]</a:t>
              </a:r>
            </a:p>
            <a:p>
              <a:pPr algn="ctr"/>
              <a:r>
                <a:rPr lang="en-US" altLang="en-US" sz="2000">
                  <a:latin typeface="Times New Roman" panose="02020603050405020304" pitchFamily="18" charset="0"/>
                </a:rPr>
                <a:t>mt[2,1]    mt[2,2]</a:t>
              </a:r>
            </a:p>
            <a:p>
              <a:pPr algn="ctr"/>
              <a:r>
                <a:rPr lang="en-US" altLang="en-US" sz="2000">
                  <a:latin typeface="Times New Roman" panose="02020603050405020304" pitchFamily="18" charset="0"/>
                </a:rPr>
                <a:t>mt[3,1]    mt[3,2]</a:t>
              </a:r>
            </a:p>
            <a:p>
              <a:pPr algn="ctr"/>
              <a:r>
                <a:rPr lang="en-US" altLang="en-US" sz="2000">
                  <a:latin typeface="Times New Roman" panose="02020603050405020304" pitchFamily="18" charset="0"/>
                </a:rPr>
                <a:t>...	...</a:t>
              </a:r>
            </a:p>
          </p:txBody>
        </p:sp>
        <p:sp>
          <p:nvSpPr>
            <p:cNvPr id="18439" name="Line 8">
              <a:extLst>
                <a:ext uri="{FF2B5EF4-FFF2-40B4-BE49-F238E27FC236}">
                  <a16:creationId xmlns:a16="http://schemas.microsoft.com/office/drawing/2014/main" id="{2565B2CF-33F9-9146-B984-FAA6B7AC75B9}"/>
                </a:ext>
              </a:extLst>
            </p:cNvPr>
            <p:cNvSpPr>
              <a:spLocks noChangeShapeType="1"/>
            </p:cNvSpPr>
            <p:nvPr/>
          </p:nvSpPr>
          <p:spPr bwMode="auto">
            <a:xfrm>
              <a:off x="6336" y="8352"/>
              <a:ext cx="0" cy="634"/>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0" name="Line 9">
              <a:extLst>
                <a:ext uri="{FF2B5EF4-FFF2-40B4-BE49-F238E27FC236}">
                  <a16:creationId xmlns:a16="http://schemas.microsoft.com/office/drawing/2014/main" id="{08AA815C-E8B9-B24F-A023-7A3ACE72DD19}"/>
                </a:ext>
              </a:extLst>
            </p:cNvPr>
            <p:cNvSpPr>
              <a:spLocks noChangeShapeType="1"/>
            </p:cNvSpPr>
            <p:nvPr/>
          </p:nvSpPr>
          <p:spPr bwMode="auto">
            <a:xfrm>
              <a:off x="6336" y="10426"/>
              <a:ext cx="0" cy="662"/>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1" name="Line 10">
              <a:extLst>
                <a:ext uri="{FF2B5EF4-FFF2-40B4-BE49-F238E27FC236}">
                  <a16:creationId xmlns:a16="http://schemas.microsoft.com/office/drawing/2014/main" id="{F5E28BC8-007A-6248-95D0-F50C8FEF608A}"/>
                </a:ext>
              </a:extLst>
            </p:cNvPr>
            <p:cNvSpPr>
              <a:spLocks noChangeShapeType="1"/>
            </p:cNvSpPr>
            <p:nvPr/>
          </p:nvSpPr>
          <p:spPr bwMode="auto">
            <a:xfrm>
              <a:off x="3600" y="9850"/>
              <a:ext cx="1008"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2" name="Line 11">
              <a:extLst>
                <a:ext uri="{FF2B5EF4-FFF2-40B4-BE49-F238E27FC236}">
                  <a16:creationId xmlns:a16="http://schemas.microsoft.com/office/drawing/2014/main" id="{D6E469F7-503B-0843-B2BC-51E340F3FEBA}"/>
                </a:ext>
              </a:extLst>
            </p:cNvPr>
            <p:cNvSpPr>
              <a:spLocks noChangeShapeType="1"/>
            </p:cNvSpPr>
            <p:nvPr/>
          </p:nvSpPr>
          <p:spPr bwMode="auto">
            <a:xfrm>
              <a:off x="2016" y="11290"/>
              <a:ext cx="57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3" name="Text Box 12">
              <a:extLst>
                <a:ext uri="{FF2B5EF4-FFF2-40B4-BE49-F238E27FC236}">
                  <a16:creationId xmlns:a16="http://schemas.microsoft.com/office/drawing/2014/main" id="{693E1022-E11B-A648-82BF-9C347787E0D4}"/>
                </a:ext>
              </a:extLst>
            </p:cNvPr>
            <p:cNvSpPr txBox="1">
              <a:spLocks noChangeArrowheads="1"/>
            </p:cNvSpPr>
            <p:nvPr/>
          </p:nvSpPr>
          <p:spPr bwMode="auto">
            <a:xfrm>
              <a:off x="2016" y="8064"/>
              <a:ext cx="43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18444" name="Text Box 13">
              <a:extLst>
                <a:ext uri="{FF2B5EF4-FFF2-40B4-BE49-F238E27FC236}">
                  <a16:creationId xmlns:a16="http://schemas.microsoft.com/office/drawing/2014/main" id="{639D1618-4ECE-684C-8236-439ABFA6E8C1}"/>
                </a:ext>
              </a:extLst>
            </p:cNvPr>
            <p:cNvSpPr txBox="1">
              <a:spLocks noChangeArrowheads="1"/>
            </p:cNvSpPr>
            <p:nvPr/>
          </p:nvSpPr>
          <p:spPr bwMode="auto">
            <a:xfrm>
              <a:off x="2016" y="10944"/>
              <a:ext cx="43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sz="2000">
                <a:latin typeface="Times New Roman" panose="02020603050405020304" pitchFamily="18" charset="0"/>
              </a:endParaRPr>
            </a:p>
            <a:p>
              <a:r>
                <a:rPr lang="en-US" altLang="en-US" sz="2000">
                  <a:latin typeface="Times New Roman" panose="02020603050405020304" pitchFamily="18" charset="0"/>
                </a:rPr>
                <a:t>A</a:t>
              </a:r>
              <a:r>
                <a:rPr lang="en-US" altLang="en-US" sz="2000" baseline="-25000">
                  <a:latin typeface="Times New Roman" panose="02020603050405020304" pitchFamily="18" charset="0"/>
                </a:rPr>
                <a:t>0</a:t>
              </a:r>
              <a:endParaRPr lang="en-US" altLang="en-US" sz="2000">
                <a:latin typeface="Times New Roman" panose="02020603050405020304" pitchFamily="18" charset="0"/>
              </a:endParaRPr>
            </a:p>
          </p:txBody>
        </p:sp>
        <p:sp>
          <p:nvSpPr>
            <p:cNvPr id="18445" name="Line 14">
              <a:extLst>
                <a:ext uri="{FF2B5EF4-FFF2-40B4-BE49-F238E27FC236}">
                  <a16:creationId xmlns:a16="http://schemas.microsoft.com/office/drawing/2014/main" id="{ECEFB20C-46E1-524B-A6E4-1A381223B262}"/>
                </a:ext>
              </a:extLst>
            </p:cNvPr>
            <p:cNvSpPr>
              <a:spLocks noChangeShapeType="1"/>
            </p:cNvSpPr>
            <p:nvPr/>
          </p:nvSpPr>
          <p:spPr bwMode="auto">
            <a:xfrm>
              <a:off x="3600" y="8410"/>
              <a:ext cx="0" cy="259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6" name="Line 15">
              <a:extLst>
                <a:ext uri="{FF2B5EF4-FFF2-40B4-BE49-F238E27FC236}">
                  <a16:creationId xmlns:a16="http://schemas.microsoft.com/office/drawing/2014/main" id="{6B68B79A-88D2-7E48-ACB1-B8F0F3F62C5C}"/>
                </a:ext>
              </a:extLst>
            </p:cNvPr>
            <p:cNvSpPr>
              <a:spLocks noChangeShapeType="1"/>
            </p:cNvSpPr>
            <p:nvPr/>
          </p:nvSpPr>
          <p:spPr bwMode="auto">
            <a:xfrm>
              <a:off x="4608" y="8410"/>
              <a:ext cx="0" cy="259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47" name="Text Box 16">
              <a:extLst>
                <a:ext uri="{FF2B5EF4-FFF2-40B4-BE49-F238E27FC236}">
                  <a16:creationId xmlns:a16="http://schemas.microsoft.com/office/drawing/2014/main" id="{F4F774A4-40DC-CF41-8511-0FE3361F4A10}"/>
                </a:ext>
              </a:extLst>
            </p:cNvPr>
            <p:cNvSpPr txBox="1">
              <a:spLocks noChangeArrowheads="1"/>
            </p:cNvSpPr>
            <p:nvPr/>
          </p:nvSpPr>
          <p:spPr bwMode="auto">
            <a:xfrm>
              <a:off x="3888" y="9418"/>
              <a:ext cx="43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c</a:t>
              </a:r>
            </a:p>
          </p:txBody>
        </p:sp>
        <p:sp>
          <p:nvSpPr>
            <p:cNvPr id="18448" name="Line 17">
              <a:extLst>
                <a:ext uri="{FF2B5EF4-FFF2-40B4-BE49-F238E27FC236}">
                  <a16:creationId xmlns:a16="http://schemas.microsoft.com/office/drawing/2014/main" id="{D8A7A8CF-34CD-3546-ADBF-3715A6AA3A28}"/>
                </a:ext>
              </a:extLst>
            </p:cNvPr>
            <p:cNvSpPr>
              <a:spLocks noChangeShapeType="1"/>
            </p:cNvSpPr>
            <p:nvPr/>
          </p:nvSpPr>
          <p:spPr bwMode="auto">
            <a:xfrm>
              <a:off x="2013" y="8145"/>
              <a:ext cx="57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Text Box 18">
              <a:extLst>
                <a:ext uri="{FF2B5EF4-FFF2-40B4-BE49-F238E27FC236}">
                  <a16:creationId xmlns:a16="http://schemas.microsoft.com/office/drawing/2014/main" id="{F949B75E-1A6F-0D43-8EF3-3C9476D9256C}"/>
                </a:ext>
              </a:extLst>
            </p:cNvPr>
            <p:cNvSpPr txBox="1">
              <a:spLocks noChangeArrowheads="1"/>
            </p:cNvSpPr>
            <p:nvPr/>
          </p:nvSpPr>
          <p:spPr bwMode="auto">
            <a:xfrm>
              <a:off x="6336" y="8410"/>
              <a:ext cx="259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Theo thứ tự ưu tiên hàng</a:t>
              </a:r>
            </a:p>
          </p:txBody>
        </p:sp>
        <p:sp>
          <p:nvSpPr>
            <p:cNvPr id="18450" name="Text Box 19">
              <a:extLst>
                <a:ext uri="{FF2B5EF4-FFF2-40B4-BE49-F238E27FC236}">
                  <a16:creationId xmlns:a16="http://schemas.microsoft.com/office/drawing/2014/main" id="{8C8A0301-7CD3-B94E-988F-6E31988BBEFB}"/>
                </a:ext>
              </a:extLst>
            </p:cNvPr>
            <p:cNvSpPr txBox="1">
              <a:spLocks noChangeArrowheads="1"/>
            </p:cNvSpPr>
            <p:nvPr/>
          </p:nvSpPr>
          <p:spPr bwMode="auto">
            <a:xfrm>
              <a:off x="6336" y="10570"/>
              <a:ext cx="259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Theo thứ tự ưu tiên cột</a:t>
              </a:r>
            </a:p>
          </p:txBody>
        </p:sp>
        <p:sp>
          <p:nvSpPr>
            <p:cNvPr id="18451" name="Text Box 20">
              <a:extLst>
                <a:ext uri="{FF2B5EF4-FFF2-40B4-BE49-F238E27FC236}">
                  <a16:creationId xmlns:a16="http://schemas.microsoft.com/office/drawing/2014/main" id="{C84211B5-21D5-F24F-942D-8784EB21FCFE}"/>
                </a:ext>
              </a:extLst>
            </p:cNvPr>
            <p:cNvSpPr txBox="1">
              <a:spLocks noChangeArrowheads="1"/>
            </p:cNvSpPr>
            <p:nvPr/>
          </p:nvSpPr>
          <p:spPr bwMode="auto">
            <a:xfrm>
              <a:off x="3744" y="11722"/>
              <a:ext cx="5184"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Các phương pháp lưu trữ mảng hai chiều</a:t>
              </a:r>
            </a:p>
          </p:txBody>
        </p:sp>
        <p:grpSp>
          <p:nvGrpSpPr>
            <p:cNvPr id="18452" name="Group 21">
              <a:extLst>
                <a:ext uri="{FF2B5EF4-FFF2-40B4-BE49-F238E27FC236}">
                  <a16:creationId xmlns:a16="http://schemas.microsoft.com/office/drawing/2014/main" id="{834A5782-047D-E343-A1BF-C60B4C0EACE8}"/>
                </a:ext>
              </a:extLst>
            </p:cNvPr>
            <p:cNvGrpSpPr>
              <a:grpSpLocks/>
            </p:cNvGrpSpPr>
            <p:nvPr/>
          </p:nvGrpSpPr>
          <p:grpSpPr bwMode="auto">
            <a:xfrm>
              <a:off x="2592" y="7920"/>
              <a:ext cx="7056" cy="432"/>
              <a:chOff x="2592" y="7920"/>
              <a:chExt cx="7056" cy="432"/>
            </a:xfrm>
          </p:grpSpPr>
          <p:sp>
            <p:nvSpPr>
              <p:cNvPr id="18461" name="Text Box 22">
                <a:extLst>
                  <a:ext uri="{FF2B5EF4-FFF2-40B4-BE49-F238E27FC236}">
                    <a16:creationId xmlns:a16="http://schemas.microsoft.com/office/drawing/2014/main" id="{66ED22EE-083C-4C4C-B4BB-12DF6E0F80F6}"/>
                  </a:ext>
                </a:extLst>
              </p:cNvPr>
              <p:cNvSpPr txBox="1">
                <a:spLocks noChangeArrowheads="1"/>
              </p:cNvSpPr>
              <p:nvPr/>
            </p:nvSpPr>
            <p:spPr bwMode="auto">
              <a:xfrm>
                <a:off x="3600" y="7920"/>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mt[1,2]</a:t>
                </a:r>
              </a:p>
            </p:txBody>
          </p:sp>
          <p:sp>
            <p:nvSpPr>
              <p:cNvPr id="18462" name="Text Box 23">
                <a:extLst>
                  <a:ext uri="{FF2B5EF4-FFF2-40B4-BE49-F238E27FC236}">
                    <a16:creationId xmlns:a16="http://schemas.microsoft.com/office/drawing/2014/main" id="{B932B663-FFE8-2B49-B8FB-ABD259B2D338}"/>
                  </a:ext>
                </a:extLst>
              </p:cNvPr>
              <p:cNvSpPr txBox="1">
                <a:spLocks noChangeArrowheads="1"/>
              </p:cNvSpPr>
              <p:nvPr/>
            </p:nvSpPr>
            <p:spPr bwMode="auto">
              <a:xfrm>
                <a:off x="4608" y="7920"/>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t>
                </a:r>
              </a:p>
            </p:txBody>
          </p:sp>
          <p:sp>
            <p:nvSpPr>
              <p:cNvPr id="18463" name="Text Box 24">
                <a:extLst>
                  <a:ext uri="{FF2B5EF4-FFF2-40B4-BE49-F238E27FC236}">
                    <a16:creationId xmlns:a16="http://schemas.microsoft.com/office/drawing/2014/main" id="{BA06717D-B357-6043-A571-3A748AFBE05D}"/>
                  </a:ext>
                </a:extLst>
              </p:cNvPr>
              <p:cNvSpPr txBox="1">
                <a:spLocks noChangeArrowheads="1"/>
              </p:cNvSpPr>
              <p:nvPr/>
            </p:nvSpPr>
            <p:spPr bwMode="auto">
              <a:xfrm>
                <a:off x="5616" y="7920"/>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mt[i,j]</a:t>
                </a:r>
              </a:p>
            </p:txBody>
          </p:sp>
          <p:sp>
            <p:nvSpPr>
              <p:cNvPr id="18464" name="Text Box 25">
                <a:extLst>
                  <a:ext uri="{FF2B5EF4-FFF2-40B4-BE49-F238E27FC236}">
                    <a16:creationId xmlns:a16="http://schemas.microsoft.com/office/drawing/2014/main" id="{1064F236-8B48-DC46-8D01-D63B33A68860}"/>
                  </a:ext>
                </a:extLst>
              </p:cNvPr>
              <p:cNvSpPr txBox="1">
                <a:spLocks noChangeArrowheads="1"/>
              </p:cNvSpPr>
              <p:nvPr/>
            </p:nvSpPr>
            <p:spPr bwMode="auto">
              <a:xfrm>
                <a:off x="6624" y="7920"/>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t>
                </a:r>
              </a:p>
            </p:txBody>
          </p:sp>
          <p:sp>
            <p:nvSpPr>
              <p:cNvPr id="18465" name="Text Box 26">
                <a:extLst>
                  <a:ext uri="{FF2B5EF4-FFF2-40B4-BE49-F238E27FC236}">
                    <a16:creationId xmlns:a16="http://schemas.microsoft.com/office/drawing/2014/main" id="{BEE1D05A-EE85-1E48-9BEB-56551C1DF6F3}"/>
                  </a:ext>
                </a:extLst>
              </p:cNvPr>
              <p:cNvSpPr txBox="1">
                <a:spLocks noChangeArrowheads="1"/>
              </p:cNvSpPr>
              <p:nvPr/>
            </p:nvSpPr>
            <p:spPr bwMode="auto">
              <a:xfrm>
                <a:off x="7632" y="7920"/>
                <a:ext cx="1008"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mt[m,n-1]</a:t>
                </a:r>
              </a:p>
            </p:txBody>
          </p:sp>
          <p:sp>
            <p:nvSpPr>
              <p:cNvPr id="18466" name="Text Box 27">
                <a:extLst>
                  <a:ext uri="{FF2B5EF4-FFF2-40B4-BE49-F238E27FC236}">
                    <a16:creationId xmlns:a16="http://schemas.microsoft.com/office/drawing/2014/main" id="{27E36176-A0FA-B94D-9DDD-F7EADC61952D}"/>
                  </a:ext>
                </a:extLst>
              </p:cNvPr>
              <p:cNvSpPr txBox="1">
                <a:spLocks noChangeArrowheads="1"/>
              </p:cNvSpPr>
              <p:nvPr/>
            </p:nvSpPr>
            <p:spPr bwMode="auto">
              <a:xfrm>
                <a:off x="8640" y="7920"/>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mt[m,n]</a:t>
                </a:r>
              </a:p>
            </p:txBody>
          </p:sp>
          <p:sp>
            <p:nvSpPr>
              <p:cNvPr id="18467" name="Text Box 28">
                <a:extLst>
                  <a:ext uri="{FF2B5EF4-FFF2-40B4-BE49-F238E27FC236}">
                    <a16:creationId xmlns:a16="http://schemas.microsoft.com/office/drawing/2014/main" id="{E8FB5C02-EB6A-104B-B22B-C2A851F525DA}"/>
                  </a:ext>
                </a:extLst>
              </p:cNvPr>
              <p:cNvSpPr txBox="1">
                <a:spLocks noChangeArrowheads="1"/>
              </p:cNvSpPr>
              <p:nvPr/>
            </p:nvSpPr>
            <p:spPr bwMode="auto">
              <a:xfrm>
                <a:off x="2592" y="7920"/>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mt[1,1]</a:t>
                </a:r>
              </a:p>
            </p:txBody>
          </p:sp>
        </p:grpSp>
        <p:grpSp>
          <p:nvGrpSpPr>
            <p:cNvPr id="18453" name="Group 29">
              <a:extLst>
                <a:ext uri="{FF2B5EF4-FFF2-40B4-BE49-F238E27FC236}">
                  <a16:creationId xmlns:a16="http://schemas.microsoft.com/office/drawing/2014/main" id="{51091808-613E-7742-B199-0A3353B2D07B}"/>
                </a:ext>
              </a:extLst>
            </p:cNvPr>
            <p:cNvGrpSpPr>
              <a:grpSpLocks/>
            </p:cNvGrpSpPr>
            <p:nvPr/>
          </p:nvGrpSpPr>
          <p:grpSpPr bwMode="auto">
            <a:xfrm>
              <a:off x="3600" y="11088"/>
              <a:ext cx="6048" cy="432"/>
              <a:chOff x="3600" y="11088"/>
              <a:chExt cx="6336" cy="432"/>
            </a:xfrm>
          </p:grpSpPr>
          <p:sp>
            <p:nvSpPr>
              <p:cNvPr id="18455" name="Text Box 30">
                <a:extLst>
                  <a:ext uri="{FF2B5EF4-FFF2-40B4-BE49-F238E27FC236}">
                    <a16:creationId xmlns:a16="http://schemas.microsoft.com/office/drawing/2014/main" id="{2274C78B-8950-FD47-B8BC-BAC43686C9B4}"/>
                  </a:ext>
                </a:extLst>
              </p:cNvPr>
              <p:cNvSpPr txBox="1">
                <a:spLocks noChangeArrowheads="1"/>
              </p:cNvSpPr>
              <p:nvPr/>
            </p:nvSpPr>
            <p:spPr bwMode="auto">
              <a:xfrm>
                <a:off x="3600" y="11088"/>
                <a:ext cx="1056"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mt[2,1]</a:t>
                </a:r>
              </a:p>
            </p:txBody>
          </p:sp>
          <p:sp>
            <p:nvSpPr>
              <p:cNvPr id="18456" name="Text Box 31">
                <a:extLst>
                  <a:ext uri="{FF2B5EF4-FFF2-40B4-BE49-F238E27FC236}">
                    <a16:creationId xmlns:a16="http://schemas.microsoft.com/office/drawing/2014/main" id="{B86E778F-DB4C-7E43-A0C3-D6CD500DB066}"/>
                  </a:ext>
                </a:extLst>
              </p:cNvPr>
              <p:cNvSpPr txBox="1">
                <a:spLocks noChangeArrowheads="1"/>
              </p:cNvSpPr>
              <p:nvPr/>
            </p:nvSpPr>
            <p:spPr bwMode="auto">
              <a:xfrm>
                <a:off x="4656" y="11088"/>
                <a:ext cx="1056"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t>
                </a:r>
              </a:p>
            </p:txBody>
          </p:sp>
          <p:sp>
            <p:nvSpPr>
              <p:cNvPr id="18457" name="Text Box 32">
                <a:extLst>
                  <a:ext uri="{FF2B5EF4-FFF2-40B4-BE49-F238E27FC236}">
                    <a16:creationId xmlns:a16="http://schemas.microsoft.com/office/drawing/2014/main" id="{BBB9E098-A69F-4140-ADDC-EB62895FB125}"/>
                  </a:ext>
                </a:extLst>
              </p:cNvPr>
              <p:cNvSpPr txBox="1">
                <a:spLocks noChangeArrowheads="1"/>
              </p:cNvSpPr>
              <p:nvPr/>
            </p:nvSpPr>
            <p:spPr bwMode="auto">
              <a:xfrm>
                <a:off x="5712" y="11088"/>
                <a:ext cx="1056"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mt[i,j]</a:t>
                </a:r>
              </a:p>
            </p:txBody>
          </p:sp>
          <p:sp>
            <p:nvSpPr>
              <p:cNvPr id="18458" name="Text Box 33">
                <a:extLst>
                  <a:ext uri="{FF2B5EF4-FFF2-40B4-BE49-F238E27FC236}">
                    <a16:creationId xmlns:a16="http://schemas.microsoft.com/office/drawing/2014/main" id="{6CA1A109-9DF8-9E4B-AF6B-4F57DFE61CA2}"/>
                  </a:ext>
                </a:extLst>
              </p:cNvPr>
              <p:cNvSpPr txBox="1">
                <a:spLocks noChangeArrowheads="1"/>
              </p:cNvSpPr>
              <p:nvPr/>
            </p:nvSpPr>
            <p:spPr bwMode="auto">
              <a:xfrm>
                <a:off x="6768" y="11088"/>
                <a:ext cx="1056"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a:t>
                </a:r>
              </a:p>
            </p:txBody>
          </p:sp>
          <p:sp>
            <p:nvSpPr>
              <p:cNvPr id="18459" name="Text Box 34">
                <a:extLst>
                  <a:ext uri="{FF2B5EF4-FFF2-40B4-BE49-F238E27FC236}">
                    <a16:creationId xmlns:a16="http://schemas.microsoft.com/office/drawing/2014/main" id="{7CA0BFFF-67C6-2F47-9C21-CFA417AC4770}"/>
                  </a:ext>
                </a:extLst>
              </p:cNvPr>
              <p:cNvSpPr txBox="1">
                <a:spLocks noChangeArrowheads="1"/>
              </p:cNvSpPr>
              <p:nvPr/>
            </p:nvSpPr>
            <p:spPr bwMode="auto">
              <a:xfrm>
                <a:off x="7824" y="11088"/>
                <a:ext cx="1056"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mt[m-1,n]</a:t>
                </a:r>
              </a:p>
            </p:txBody>
          </p:sp>
          <p:sp>
            <p:nvSpPr>
              <p:cNvPr id="18460" name="Text Box 35">
                <a:extLst>
                  <a:ext uri="{FF2B5EF4-FFF2-40B4-BE49-F238E27FC236}">
                    <a16:creationId xmlns:a16="http://schemas.microsoft.com/office/drawing/2014/main" id="{8626C10E-2B3C-EF41-87B5-33BEAA949943}"/>
                  </a:ext>
                </a:extLst>
              </p:cNvPr>
              <p:cNvSpPr txBox="1">
                <a:spLocks noChangeArrowheads="1"/>
              </p:cNvSpPr>
              <p:nvPr/>
            </p:nvSpPr>
            <p:spPr bwMode="auto">
              <a:xfrm>
                <a:off x="8880" y="11088"/>
                <a:ext cx="1056" cy="432"/>
              </a:xfrm>
              <a:prstGeom prst="rect">
                <a:avLst/>
              </a:prstGeom>
              <a:solidFill>
                <a:srgbClr val="FFFFFF"/>
              </a:solidFill>
              <a:ln w="9525">
                <a:solidFill>
                  <a:srgbClr val="000000"/>
                </a:solidFill>
                <a:miter lim="800000"/>
                <a:headEnd/>
                <a:tailEnd/>
              </a:ln>
            </p:spPr>
            <p:txBody>
              <a:bodyPr lIns="18000" rIns="18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mt[m,n]</a:t>
                </a:r>
              </a:p>
            </p:txBody>
          </p:sp>
        </p:grpSp>
        <p:sp>
          <p:nvSpPr>
            <p:cNvPr id="18454" name="Text Box 36">
              <a:extLst>
                <a:ext uri="{FF2B5EF4-FFF2-40B4-BE49-F238E27FC236}">
                  <a16:creationId xmlns:a16="http://schemas.microsoft.com/office/drawing/2014/main" id="{727EE502-4534-8F40-AA3F-0A91D7641072}"/>
                </a:ext>
              </a:extLst>
            </p:cNvPr>
            <p:cNvSpPr txBox="1">
              <a:spLocks noChangeArrowheads="1"/>
            </p:cNvSpPr>
            <p:nvPr/>
          </p:nvSpPr>
          <p:spPr bwMode="auto">
            <a:xfrm>
              <a:off x="2592" y="11088"/>
              <a:ext cx="1008" cy="432"/>
            </a:xfrm>
            <a:prstGeom prst="rect">
              <a:avLst/>
            </a:prstGeom>
            <a:solidFill>
              <a:srgbClr val="FFFFFF"/>
            </a:solidFill>
            <a:ln w="9525">
              <a:solidFill>
                <a:srgbClr val="000000"/>
              </a:solidFill>
              <a:miter lim="800000"/>
              <a:headEnd/>
              <a:tailEnd/>
            </a:ln>
          </p:spPr>
          <p:txBody>
            <a:bodyPr lIns="54000" rIns="5400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000">
                  <a:latin typeface="Times New Roman" panose="02020603050405020304" pitchFamily="18" charset="0"/>
                </a:rPr>
                <a:t>mt[1,1]</a:t>
              </a:r>
            </a:p>
          </p:txBody>
        </p:sp>
      </p:grpSp>
    </p:spTree>
    <p:extLst>
      <p:ext uri="{BB962C8B-B14F-4D97-AF65-F5344CB8AC3E}">
        <p14:creationId xmlns:p14="http://schemas.microsoft.com/office/powerpoint/2010/main" val="2180146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3E9BF7E-D548-48F9-8093-548576ACD56C}"/>
              </a:ext>
            </a:extLst>
          </p:cNvPr>
          <p:cNvSpPr>
            <a:spLocks noGrp="1"/>
          </p:cNvSpPr>
          <p:nvPr>
            <p:ph type="sldNum" sz="quarter" idx="12"/>
          </p:nvPr>
        </p:nvSpPr>
        <p:spPr/>
        <p:txBody>
          <a:bodyPr/>
          <a:lstStyle/>
          <a:p>
            <a:pPr>
              <a:defRPr/>
            </a:pPr>
            <a:fld id="{DB9100F2-72A8-C64C-8A94-D11DBCAFB612}" type="slidenum">
              <a:rPr lang="en-US" altLang="en-US"/>
              <a:pPr>
                <a:defRPr/>
              </a:pPr>
              <a:t>18</a:t>
            </a:fld>
            <a:endParaRPr lang="en-US" altLang="en-US"/>
          </a:p>
        </p:txBody>
      </p:sp>
      <p:sp>
        <p:nvSpPr>
          <p:cNvPr id="19459" name="Rectangle 2">
            <a:extLst>
              <a:ext uri="{FF2B5EF4-FFF2-40B4-BE49-F238E27FC236}">
                <a16:creationId xmlns:a16="http://schemas.microsoft.com/office/drawing/2014/main" id="{BC016263-5233-464D-82A7-706765FC34B5}"/>
              </a:ext>
            </a:extLst>
          </p:cNvPr>
          <p:cNvSpPr>
            <a:spLocks noGrp="1" noChangeArrowheads="1"/>
          </p:cNvSpPr>
          <p:nvPr>
            <p:ph type="title"/>
          </p:nvPr>
        </p:nvSpPr>
        <p:spPr/>
        <p:txBody>
          <a:bodyPr/>
          <a:lstStyle/>
          <a:p>
            <a:pPr eaLnBrk="1" hangingPunct="1">
              <a:defRPr/>
            </a:pPr>
            <a:r>
              <a:rPr lang="en-US" altLang="en-US"/>
              <a:t>Cài đặt mảng 2 chiều</a:t>
            </a:r>
          </a:p>
        </p:txBody>
      </p:sp>
      <p:sp>
        <p:nvSpPr>
          <p:cNvPr id="19460" name="Rectangle 3">
            <a:extLst>
              <a:ext uri="{FF2B5EF4-FFF2-40B4-BE49-F238E27FC236}">
                <a16:creationId xmlns:a16="http://schemas.microsoft.com/office/drawing/2014/main" id="{6F0C340D-D277-AC44-B20F-AE03E81A9A96}"/>
              </a:ext>
            </a:extLst>
          </p:cNvPr>
          <p:cNvSpPr>
            <a:spLocks noGrp="1" noChangeArrowheads="1"/>
          </p:cNvSpPr>
          <p:nvPr>
            <p:ph type="body" sz="quarter" idx="13"/>
          </p:nvPr>
        </p:nvSpPr>
        <p:spPr/>
        <p:txBody>
          <a:bodyPr/>
          <a:lstStyle/>
          <a:p>
            <a:pPr eaLnBrk="1" hangingPunct="1">
              <a:lnSpc>
                <a:spcPct val="120000"/>
              </a:lnSpc>
            </a:pPr>
            <a:r>
              <a:rPr lang="en-US" altLang="en-US" sz="2100" err="1">
                <a:cs typeface="Times New Roman" panose="02020603050405020304" pitchFamily="18" charset="0"/>
              </a:rPr>
              <a:t>Cài</a:t>
            </a:r>
            <a:r>
              <a:rPr lang="en-US" altLang="en-US" sz="2100">
                <a:cs typeface="Times New Roman" panose="02020603050405020304" pitchFamily="18" charset="0"/>
              </a:rPr>
              <a:t> </a:t>
            </a:r>
            <a:r>
              <a:rPr lang="en-US" altLang="en-US" sz="2100" err="1">
                <a:cs typeface="Times New Roman" panose="02020603050405020304" pitchFamily="18" charset="0"/>
              </a:rPr>
              <a:t>đặt</a:t>
            </a:r>
            <a:r>
              <a:rPr lang="en-US" altLang="en-US" sz="2100">
                <a:cs typeface="Times New Roman" panose="02020603050405020304" pitchFamily="18" charset="0"/>
              </a:rPr>
              <a:t> </a:t>
            </a:r>
            <a:r>
              <a:rPr lang="en-US" altLang="en-US" sz="2100" err="1">
                <a:cs typeface="Times New Roman" panose="02020603050405020304" pitchFamily="18" charset="0"/>
              </a:rPr>
              <a:t>mảng</a:t>
            </a:r>
            <a:r>
              <a:rPr lang="en-US" altLang="en-US" sz="2100">
                <a:cs typeface="Times New Roman" panose="02020603050405020304" pitchFamily="18" charset="0"/>
              </a:rPr>
              <a:t> </a:t>
            </a:r>
            <a:r>
              <a:rPr lang="en-US" altLang="en-US" sz="2100" err="1">
                <a:cs typeface="Times New Roman" panose="02020603050405020304" pitchFamily="18" charset="0"/>
              </a:rPr>
              <a:t>hai</a:t>
            </a:r>
            <a:r>
              <a:rPr lang="en-US" altLang="en-US" sz="2100">
                <a:cs typeface="Times New Roman" panose="02020603050405020304" pitchFamily="18" charset="0"/>
              </a:rPr>
              <a:t> </a:t>
            </a:r>
            <a:r>
              <a:rPr lang="en-US" altLang="en-US" sz="2100" err="1">
                <a:cs typeface="Times New Roman" panose="02020603050405020304" pitchFamily="18" charset="0"/>
              </a:rPr>
              <a:t>chiều</a:t>
            </a:r>
            <a:r>
              <a:rPr lang="en-US" altLang="en-US" sz="2100">
                <a:cs typeface="Times New Roman" panose="02020603050405020304" pitchFamily="18" charset="0"/>
              </a:rPr>
              <a:t>: </a:t>
            </a:r>
          </a:p>
          <a:p>
            <a:pPr lvl="1" eaLnBrk="1" hangingPunct="1">
              <a:lnSpc>
                <a:spcPct val="120000"/>
              </a:lnSpc>
            </a:pPr>
            <a:r>
              <a:rPr lang="en-US" altLang="en-US" sz="2000">
                <a:cs typeface="Times New Roman" panose="02020603050405020304" pitchFamily="18" charset="0"/>
              </a:rPr>
              <a:t>ARRAY : a</a:t>
            </a:r>
            <a:r>
              <a:rPr lang="en-US" altLang="en-US" sz="2000" baseline="-30000">
                <a:cs typeface="Times New Roman" panose="02020603050405020304" pitchFamily="18" charset="0"/>
              </a:rPr>
              <a:t>2</a:t>
            </a:r>
            <a:r>
              <a:rPr lang="en-US" altLang="en-US" sz="2000">
                <a:cs typeface="Times New Roman" panose="02020603050405020304" pitchFamily="18" charset="0"/>
              </a:rPr>
              <a:t>[2,M,N] OF </a:t>
            </a:r>
            <a:r>
              <a:rPr lang="en-US" altLang="en-US" sz="2000" i="1">
                <a:cs typeface="Times New Roman" panose="02020603050405020304" pitchFamily="18" charset="0"/>
              </a:rPr>
              <a:t>datatype</a:t>
            </a:r>
            <a:r>
              <a:rPr lang="en-US" altLang="en-US" sz="2000">
                <a:cs typeface="Times New Roman" panose="02020603050405020304" pitchFamily="18" charset="0"/>
              </a:rPr>
              <a:t> ; </a:t>
            </a:r>
          </a:p>
          <a:p>
            <a:pPr lvl="1" eaLnBrk="1" hangingPunct="1">
              <a:lnSpc>
                <a:spcPct val="120000"/>
              </a:lnSpc>
            </a:pPr>
            <a:r>
              <a:rPr lang="en-US" altLang="en-US" sz="2000" i="1" err="1">
                <a:cs typeface="Times New Roman" panose="02020603050405020304" pitchFamily="18" charset="0"/>
              </a:rPr>
              <a:t>Với</a:t>
            </a:r>
            <a:r>
              <a:rPr lang="en-US" altLang="en-US" sz="2000" i="1">
                <a:cs typeface="Times New Roman" panose="02020603050405020304" pitchFamily="18" charset="0"/>
              </a:rPr>
              <a:t> </a:t>
            </a:r>
            <a:r>
              <a:rPr lang="en-US" altLang="en-US" sz="2000" i="1" err="1">
                <a:cs typeface="Times New Roman" panose="02020603050405020304" pitchFamily="18" charset="0"/>
              </a:rPr>
              <a:t>phương</a:t>
            </a:r>
            <a:r>
              <a:rPr lang="en-US" altLang="en-US" sz="2000" i="1">
                <a:cs typeface="Times New Roman" panose="02020603050405020304" pitchFamily="18" charset="0"/>
              </a:rPr>
              <a:t> </a:t>
            </a:r>
            <a:r>
              <a:rPr lang="en-US" altLang="en-US" sz="2000" i="1" err="1">
                <a:cs typeface="Times New Roman" panose="02020603050405020304" pitchFamily="18" charset="0"/>
              </a:rPr>
              <a:t>pháp</a:t>
            </a:r>
            <a:r>
              <a:rPr lang="en-US" altLang="en-US" sz="2000" i="1">
                <a:cs typeface="Times New Roman" panose="02020603050405020304" pitchFamily="18" charset="0"/>
              </a:rPr>
              <a:t> </a:t>
            </a:r>
            <a:r>
              <a:rPr lang="en-US" altLang="en-US" sz="2000" i="1" err="1">
                <a:cs typeface="Times New Roman" panose="02020603050405020304" pitchFamily="18" charset="0"/>
              </a:rPr>
              <a:t>lưu</a:t>
            </a:r>
            <a:r>
              <a:rPr lang="en-US" altLang="en-US" sz="2000" i="1">
                <a:cs typeface="Times New Roman" panose="02020603050405020304" pitchFamily="18" charset="0"/>
              </a:rPr>
              <a:t> </a:t>
            </a:r>
            <a:r>
              <a:rPr lang="en-US" altLang="en-US" sz="2000" i="1" err="1">
                <a:cs typeface="Times New Roman" panose="02020603050405020304" pitchFamily="18" charset="0"/>
              </a:rPr>
              <a:t>trữ</a:t>
            </a:r>
            <a:r>
              <a:rPr lang="en-US" altLang="en-US" sz="2000" i="1">
                <a:cs typeface="Times New Roman" panose="02020603050405020304" pitchFamily="18" charset="0"/>
              </a:rPr>
              <a:t> </a:t>
            </a:r>
            <a:r>
              <a:rPr lang="en-US" altLang="en-US" sz="2000" i="1" err="1">
                <a:cs typeface="Times New Roman" panose="02020603050405020304" pitchFamily="18" charset="0"/>
              </a:rPr>
              <a:t>theo</a:t>
            </a:r>
            <a:r>
              <a:rPr lang="en-US" altLang="en-US" sz="2000" i="1">
                <a:cs typeface="Times New Roman" panose="02020603050405020304" pitchFamily="18" charset="0"/>
              </a:rPr>
              <a:t> </a:t>
            </a:r>
            <a:r>
              <a:rPr lang="en-US" altLang="en-US" sz="2000" i="1" err="1">
                <a:cs typeface="Times New Roman" panose="02020603050405020304" pitchFamily="18" charset="0"/>
              </a:rPr>
              <a:t>thứ</a:t>
            </a:r>
            <a:r>
              <a:rPr lang="en-US" altLang="en-US" sz="2000" i="1">
                <a:cs typeface="Times New Roman" panose="02020603050405020304" pitchFamily="18" charset="0"/>
              </a:rPr>
              <a:t> </a:t>
            </a:r>
            <a:r>
              <a:rPr lang="en-US" altLang="en-US" sz="2000" i="1" err="1">
                <a:cs typeface="Times New Roman" panose="02020603050405020304" pitchFamily="18" charset="0"/>
              </a:rPr>
              <a:t>tự</a:t>
            </a:r>
            <a:r>
              <a:rPr lang="en-US" altLang="en-US" sz="2000" i="1">
                <a:cs typeface="Times New Roman" panose="02020603050405020304" pitchFamily="18" charset="0"/>
              </a:rPr>
              <a:t> </a:t>
            </a:r>
            <a:r>
              <a:rPr lang="en-US" altLang="en-US" sz="2000" i="1" err="1">
                <a:cs typeface="Times New Roman" panose="02020603050405020304" pitchFamily="18" charset="0"/>
              </a:rPr>
              <a:t>ưu</a:t>
            </a:r>
            <a:r>
              <a:rPr lang="en-US" altLang="en-US" sz="2000" i="1">
                <a:cs typeface="Times New Roman" panose="02020603050405020304" pitchFamily="18" charset="0"/>
              </a:rPr>
              <a:t> </a:t>
            </a:r>
            <a:r>
              <a:rPr lang="en-US" altLang="en-US" sz="2000" i="1" err="1">
                <a:cs typeface="Times New Roman" panose="02020603050405020304" pitchFamily="18" charset="0"/>
              </a:rPr>
              <a:t>tiên</a:t>
            </a:r>
            <a:r>
              <a:rPr lang="en-US" altLang="en-US" sz="2000" i="1">
                <a:cs typeface="Times New Roman" panose="02020603050405020304" pitchFamily="18" charset="0"/>
              </a:rPr>
              <a:t> </a:t>
            </a:r>
            <a:r>
              <a:rPr lang="en-US" altLang="en-US" sz="2000" i="1" err="1">
                <a:cs typeface="Times New Roman" panose="02020603050405020304" pitchFamily="18" charset="0"/>
              </a:rPr>
              <a:t>hàng</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a:t>
            </a:r>
            <a:r>
              <a:rPr lang="en-US" altLang="en-US" sz="2000" baseline="-30000">
                <a:cs typeface="Times New Roman" panose="02020603050405020304" pitchFamily="18" charset="0"/>
              </a:rPr>
              <a:t>2</a:t>
            </a:r>
            <a:r>
              <a:rPr lang="en-US" altLang="en-US" sz="2000">
                <a:cs typeface="Times New Roman" panose="02020603050405020304" pitchFamily="18" charset="0"/>
              </a:rPr>
              <a:t>[</a:t>
            </a:r>
            <a:r>
              <a:rPr lang="en-US" altLang="en-US" sz="2000" err="1">
                <a:cs typeface="Times New Roman" panose="02020603050405020304" pitchFamily="18" charset="0"/>
              </a:rPr>
              <a:t>i,j</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ở</a:t>
            </a:r>
            <a:r>
              <a:rPr lang="en-US" altLang="en-US" sz="2000">
                <a:cs typeface="Times New Roman" panose="02020603050405020304" pitchFamily="18" charset="0"/>
              </a:rPr>
              <a:t> </a:t>
            </a:r>
            <a:r>
              <a:rPr lang="en-US" altLang="en-US" sz="2000" err="1">
                <a:cs typeface="Times New Roman" panose="02020603050405020304" pitchFamily="18" charset="0"/>
              </a:rPr>
              <a:t>ô</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z </a:t>
            </a:r>
            <a:r>
              <a:rPr lang="en-US" altLang="en-US" sz="2000" err="1">
                <a:cs typeface="Times New Roman" panose="02020603050405020304" pitchFamily="18" charset="0"/>
              </a:rPr>
              <a:t>tính</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công</a:t>
            </a:r>
            <a:r>
              <a:rPr lang="en-US" altLang="en-US" sz="2000">
                <a:cs typeface="Times New Roman" panose="02020603050405020304" pitchFamily="18" charset="0"/>
              </a:rPr>
              <a:t> </a:t>
            </a:r>
            <a:r>
              <a:rPr lang="en-US" altLang="en-US" sz="2000" err="1">
                <a:cs typeface="Times New Roman" panose="02020603050405020304" pitchFamily="18" charset="0"/>
              </a:rPr>
              <a:t>thức</a:t>
            </a:r>
            <a:r>
              <a:rPr lang="en-US" altLang="en-US" sz="2000">
                <a:cs typeface="Times New Roman" panose="02020603050405020304" pitchFamily="18" charset="0"/>
              </a:rPr>
              <a:t>:</a:t>
            </a:r>
          </a:p>
          <a:p>
            <a:pPr lvl="2" eaLnBrk="1" hangingPunct="1">
              <a:lnSpc>
                <a:spcPct val="120000"/>
              </a:lnSpc>
            </a:pPr>
            <a:r>
              <a:rPr lang="en-US" altLang="en-US" sz="1800">
                <a:cs typeface="Times New Roman" panose="02020603050405020304" pitchFamily="18" charset="0"/>
              </a:rPr>
              <a:t>z = N*(i-1) + j-1						(2.3)</a:t>
            </a:r>
            <a:endParaRPr lang="en-US" altLang="en-US" sz="1800">
              <a:latin typeface=".VnTime" pitchFamily="34" charset="0"/>
              <a:cs typeface="Times New Roman" panose="02020603050405020304" pitchFamily="18" charset="0"/>
            </a:endParaRPr>
          </a:p>
          <a:p>
            <a:pPr lvl="1" eaLnBrk="1" hangingPunct="1">
              <a:lnSpc>
                <a:spcPct val="120000"/>
              </a:lnSpc>
            </a:pPr>
            <a:r>
              <a:rPr lang="en-US" altLang="en-US" sz="2000" err="1">
                <a:cs typeface="Times New Roman" panose="02020603050405020304" pitchFamily="18" charset="0"/>
              </a:rPr>
              <a:t>Công</a:t>
            </a:r>
            <a:r>
              <a:rPr lang="en-US" altLang="en-US" sz="2000">
                <a:cs typeface="Times New Roman" panose="02020603050405020304" pitchFamily="18" charset="0"/>
              </a:rPr>
              <a:t> </a:t>
            </a:r>
            <a:r>
              <a:rPr lang="en-US" altLang="en-US" sz="2000" err="1">
                <a:cs typeface="Times New Roman" panose="02020603050405020304" pitchFamily="18" charset="0"/>
              </a:rPr>
              <a:t>thức</a:t>
            </a:r>
            <a:r>
              <a:rPr lang="en-US" altLang="en-US" sz="2000">
                <a:cs typeface="Times New Roman" panose="02020603050405020304" pitchFamily="18" charset="0"/>
              </a:rPr>
              <a:t> </a:t>
            </a:r>
            <a:r>
              <a:rPr lang="en-US" altLang="en-US" sz="2000" err="1">
                <a:cs typeface="Times New Roman" panose="02020603050405020304" pitchFamily="18" charset="0"/>
              </a:rPr>
              <a:t>này</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gọi</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hàm</a:t>
            </a:r>
            <a:r>
              <a:rPr lang="en-US" altLang="en-US" sz="2000">
                <a:cs typeface="Times New Roman" panose="02020603050405020304" pitchFamily="18" charset="0"/>
              </a:rPr>
              <a:t> </a:t>
            </a:r>
            <a:r>
              <a:rPr lang="en-US" altLang="en-US" sz="2000" err="1">
                <a:cs typeface="Times New Roman" panose="02020603050405020304" pitchFamily="18" charset="0"/>
              </a:rPr>
              <a:t>địa</a:t>
            </a:r>
            <a:r>
              <a:rPr lang="en-US" altLang="en-US" sz="2000">
                <a:cs typeface="Times New Roman" panose="02020603050405020304" pitchFamily="18" charset="0"/>
              </a:rPr>
              <a:t> </a:t>
            </a:r>
            <a:r>
              <a:rPr lang="en-US" altLang="en-US" sz="2000" err="1">
                <a:cs typeface="Times New Roman" panose="02020603050405020304" pitchFamily="18" charset="0"/>
              </a:rPr>
              <a:t>chỉ</a:t>
            </a:r>
            <a:r>
              <a:rPr lang="en-US" altLang="en-US" sz="2000">
                <a:cs typeface="Times New Roman" panose="02020603050405020304" pitchFamily="18" charset="0"/>
              </a:rPr>
              <a:t> </a:t>
            </a:r>
            <a:r>
              <a:rPr lang="en-US" altLang="en-US" sz="2000" err="1">
                <a:cs typeface="Times New Roman" panose="02020603050405020304" pitchFamily="18" charset="0"/>
              </a:rPr>
              <a:t>cho</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hai</a:t>
            </a:r>
            <a:r>
              <a:rPr lang="en-US" altLang="en-US" sz="2000">
                <a:cs typeface="Times New Roman" panose="02020603050405020304" pitchFamily="18" charset="0"/>
              </a:rPr>
              <a:t> </a:t>
            </a:r>
            <a:r>
              <a:rPr lang="en-US" altLang="en-US" sz="2000" err="1">
                <a:cs typeface="Times New Roman" panose="02020603050405020304" pitchFamily="18" charset="0"/>
              </a:rPr>
              <a:t>chiều</a:t>
            </a:r>
            <a:r>
              <a:rPr lang="en-US" altLang="en-US" sz="2000">
                <a:cs typeface="Times New Roman" panose="02020603050405020304" pitchFamily="18" charset="0"/>
              </a:rPr>
              <a:t> a</a:t>
            </a:r>
            <a:r>
              <a:rPr lang="en-US" altLang="en-US" sz="2000" baseline="-30000">
                <a:cs typeface="Times New Roman" panose="02020603050405020304" pitchFamily="18" charset="0"/>
              </a:rPr>
              <a:t>2 </a:t>
            </a:r>
            <a:r>
              <a:rPr lang="en-US" altLang="en-US" sz="2000" err="1">
                <a:cs typeface="Times New Roman" panose="02020603050405020304" pitchFamily="18" charset="0"/>
              </a:rPr>
              <a:t>khi</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ưu</a:t>
            </a:r>
            <a:r>
              <a:rPr lang="en-US" altLang="en-US" sz="2000">
                <a:cs typeface="Times New Roman" panose="02020603050405020304" pitchFamily="18" charset="0"/>
              </a:rPr>
              <a:t> </a:t>
            </a:r>
            <a:r>
              <a:rPr lang="en-US" altLang="en-US" sz="2000" err="1">
                <a:cs typeface="Times New Roman" panose="02020603050405020304" pitchFamily="18" charset="0"/>
              </a:rPr>
              <a:t>tiên</a:t>
            </a:r>
            <a:r>
              <a:rPr lang="en-US" altLang="en-US" sz="2000">
                <a:cs typeface="Times New Roman" panose="02020603050405020304" pitchFamily="18" charset="0"/>
              </a:rPr>
              <a:t> </a:t>
            </a:r>
            <a:r>
              <a:rPr lang="en-US" altLang="en-US" sz="2000" err="1">
                <a:cs typeface="Times New Roman" panose="02020603050405020304" pitchFamily="18" charset="0"/>
              </a:rPr>
              <a:t>hàng</a:t>
            </a:r>
            <a:r>
              <a:rPr lang="en-US" altLang="en-US" sz="2000">
                <a:cs typeface="Times New Roman" panose="02020603050405020304" pitchFamily="18" charset="0"/>
              </a:rPr>
              <a:t>. </a:t>
            </a:r>
          </a:p>
          <a:p>
            <a:pPr lvl="1" eaLnBrk="1" hangingPunct="1">
              <a:lnSpc>
                <a:spcPct val="120000"/>
              </a:lnSpc>
            </a:pPr>
            <a:r>
              <a:rPr lang="en-US" altLang="en-US" sz="2000" err="1">
                <a:cs typeface="Times New Roman" panose="02020603050405020304" pitchFamily="18" charset="0"/>
              </a:rPr>
              <a:t>Ngược</a:t>
            </a:r>
            <a:r>
              <a:rPr lang="en-US" altLang="en-US" sz="2000">
                <a:cs typeface="Times New Roman" panose="02020603050405020304" pitchFamily="18" charset="0"/>
              </a:rPr>
              <a:t> </a:t>
            </a:r>
            <a:r>
              <a:rPr lang="en-US" altLang="en-US" sz="2000" err="1">
                <a:cs typeface="Times New Roman" panose="02020603050405020304" pitchFamily="18" charset="0"/>
              </a:rPr>
              <a:t>lại</a:t>
            </a:r>
            <a:r>
              <a:rPr lang="en-US" altLang="en-US" sz="2000">
                <a:cs typeface="Times New Roman" panose="02020603050405020304" pitchFamily="18" charset="0"/>
              </a:rPr>
              <a:t>, </a:t>
            </a:r>
            <a:r>
              <a:rPr lang="en-US" altLang="en-US" sz="2000" err="1">
                <a:cs typeface="Times New Roman" panose="02020603050405020304" pitchFamily="18" charset="0"/>
              </a:rPr>
              <a:t>ở</a:t>
            </a:r>
            <a:r>
              <a:rPr lang="en-US" altLang="en-US" sz="2000">
                <a:cs typeface="Times New Roman" panose="02020603050405020304" pitchFamily="18" charset="0"/>
              </a:rPr>
              <a:t> </a:t>
            </a:r>
            <a:r>
              <a:rPr lang="en-US" altLang="en-US" sz="2000" err="1">
                <a:cs typeface="Times New Roman" panose="02020603050405020304" pitchFamily="18" charset="0"/>
              </a:rPr>
              <a:t>ô</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z </a:t>
            </a:r>
            <a:r>
              <a:rPr lang="en-US" altLang="en-US" sz="2000" err="1">
                <a:cs typeface="Times New Roman" panose="02020603050405020304" pitchFamily="18" charset="0"/>
              </a:rPr>
              <a:t>sẽ</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a:t>
            </a:r>
            <a:r>
              <a:rPr lang="en-US" altLang="en-US" sz="2000" baseline="-30000">
                <a:cs typeface="Times New Roman" panose="02020603050405020304" pitchFamily="18" charset="0"/>
              </a:rPr>
              <a:t>2</a:t>
            </a:r>
            <a:r>
              <a:rPr lang="en-US" altLang="en-US" sz="2000">
                <a:cs typeface="Times New Roman" panose="02020603050405020304" pitchFamily="18" charset="0"/>
              </a:rPr>
              <a:t>[</a:t>
            </a:r>
            <a:r>
              <a:rPr lang="en-US" altLang="en-US" sz="2000" err="1">
                <a:cs typeface="Times New Roman" panose="02020603050405020304" pitchFamily="18" charset="0"/>
              </a:rPr>
              <a:t>i,j</a:t>
            </a:r>
            <a:r>
              <a:rPr lang="en-US" altLang="en-US" sz="2000">
                <a:cs typeface="Times New Roman" panose="02020603050405020304" pitchFamily="18" charset="0"/>
              </a:rPr>
              <a:t>] </a:t>
            </a:r>
            <a:r>
              <a:rPr lang="en-US" altLang="en-US" sz="2000" err="1">
                <a:cs typeface="Times New Roman" panose="02020603050405020304" pitchFamily="18" charset="0"/>
              </a:rPr>
              <a:t>với</a:t>
            </a:r>
            <a:r>
              <a:rPr lang="en-US" altLang="en-US" sz="2000">
                <a:cs typeface="Times New Roman" panose="02020603050405020304" pitchFamily="18" charset="0"/>
              </a:rPr>
              <a:t> </a:t>
            </a:r>
            <a:r>
              <a:rPr lang="en-US" altLang="en-US" sz="2000" err="1">
                <a:cs typeface="Times New Roman" panose="02020603050405020304" pitchFamily="18" charset="0"/>
              </a:rPr>
              <a:t>i</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j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tính</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công</a:t>
            </a:r>
            <a:r>
              <a:rPr lang="en-US" altLang="en-US" sz="2000">
                <a:cs typeface="Times New Roman" panose="02020603050405020304" pitchFamily="18" charset="0"/>
              </a:rPr>
              <a:t> </a:t>
            </a:r>
            <a:r>
              <a:rPr lang="en-US" altLang="en-US" sz="2000" err="1">
                <a:cs typeface="Times New Roman" panose="02020603050405020304" pitchFamily="18" charset="0"/>
              </a:rPr>
              <a:t>thức</a:t>
            </a:r>
            <a:r>
              <a:rPr lang="en-US" altLang="en-US" sz="2000">
                <a:cs typeface="Times New Roman" panose="02020603050405020304" pitchFamily="18" charset="0"/>
              </a:rPr>
              <a:t>:</a:t>
            </a:r>
          </a:p>
          <a:p>
            <a:pPr lvl="2" eaLnBrk="1" hangingPunct="1">
              <a:lnSpc>
                <a:spcPct val="120000"/>
              </a:lnSpc>
            </a:pPr>
            <a:r>
              <a:rPr lang="en-US" altLang="en-US" sz="1800" err="1">
                <a:cs typeface="Times New Roman" panose="02020603050405020304" pitchFamily="18" charset="0"/>
              </a:rPr>
              <a:t>i</a:t>
            </a:r>
            <a:r>
              <a:rPr lang="en-US" altLang="en-US" sz="1800">
                <a:cs typeface="Times New Roman" panose="02020603050405020304" pitchFamily="18" charset="0"/>
              </a:rPr>
              <a:t> = z DIV N +1   </a:t>
            </a:r>
            <a:r>
              <a:rPr lang="en-US" altLang="en-US" sz="1800" err="1">
                <a:cs typeface="Times New Roman" panose="02020603050405020304" pitchFamily="18" charset="0"/>
              </a:rPr>
              <a:t>và</a:t>
            </a:r>
            <a:r>
              <a:rPr lang="en-US" altLang="en-US" sz="1800">
                <a:cs typeface="Times New Roman" panose="02020603050405020304" pitchFamily="18" charset="0"/>
              </a:rPr>
              <a:t>   j = z MOD N +1		(2.4) </a:t>
            </a:r>
            <a:endParaRPr lang="en-US" altLang="en-US" sz="1800"/>
          </a:p>
        </p:txBody>
      </p:sp>
    </p:spTree>
    <p:extLst>
      <p:ext uri="{BB962C8B-B14F-4D97-AF65-F5344CB8AC3E}">
        <p14:creationId xmlns:p14="http://schemas.microsoft.com/office/powerpoint/2010/main" val="439639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FDDC831-A934-4DCD-AFFE-CA0F8C7519ED}"/>
              </a:ext>
            </a:extLst>
          </p:cNvPr>
          <p:cNvSpPr>
            <a:spLocks noGrp="1"/>
          </p:cNvSpPr>
          <p:nvPr>
            <p:ph type="sldNum" sz="quarter" idx="12"/>
          </p:nvPr>
        </p:nvSpPr>
        <p:spPr/>
        <p:txBody>
          <a:bodyPr/>
          <a:lstStyle/>
          <a:p>
            <a:pPr>
              <a:defRPr/>
            </a:pPr>
            <a:fld id="{5B883B33-83F9-2740-848B-71D81EEAEE4F}" type="slidenum">
              <a:rPr lang="en-US" altLang="en-US"/>
              <a:pPr>
                <a:defRPr/>
              </a:pPr>
              <a:t>19</a:t>
            </a:fld>
            <a:endParaRPr lang="en-US" altLang="en-US"/>
          </a:p>
        </p:txBody>
      </p:sp>
      <p:sp>
        <p:nvSpPr>
          <p:cNvPr id="20483" name="Rectangle 2">
            <a:extLst>
              <a:ext uri="{FF2B5EF4-FFF2-40B4-BE49-F238E27FC236}">
                <a16:creationId xmlns:a16="http://schemas.microsoft.com/office/drawing/2014/main" id="{8D4BDCD2-3B3E-4A59-8E27-DA1717D730ED}"/>
              </a:ext>
            </a:extLst>
          </p:cNvPr>
          <p:cNvSpPr>
            <a:spLocks noGrp="1" noChangeArrowheads="1"/>
          </p:cNvSpPr>
          <p:nvPr>
            <p:ph type="title"/>
          </p:nvPr>
        </p:nvSpPr>
        <p:spPr/>
        <p:txBody>
          <a:bodyPr/>
          <a:lstStyle/>
          <a:p>
            <a:pPr eaLnBrk="1" hangingPunct="1">
              <a:defRPr/>
            </a:pPr>
            <a:r>
              <a:rPr lang="en-US" altLang="en-US"/>
              <a:t>Cài đặt mảng 2 chiều</a:t>
            </a:r>
          </a:p>
        </p:txBody>
      </p:sp>
      <p:sp>
        <p:nvSpPr>
          <p:cNvPr id="20484" name="Rectangle 3">
            <a:extLst>
              <a:ext uri="{FF2B5EF4-FFF2-40B4-BE49-F238E27FC236}">
                <a16:creationId xmlns:a16="http://schemas.microsoft.com/office/drawing/2014/main" id="{63C66E46-1E1D-664D-92D4-DEBA2003CF2E}"/>
              </a:ext>
            </a:extLst>
          </p:cNvPr>
          <p:cNvSpPr>
            <a:spLocks noGrp="1" noChangeArrowheads="1"/>
          </p:cNvSpPr>
          <p:nvPr>
            <p:ph type="body" sz="quarter" idx="13"/>
          </p:nvPr>
        </p:nvSpPr>
        <p:spPr/>
        <p:txBody>
          <a:bodyPr/>
          <a:lstStyle/>
          <a:p>
            <a:pPr eaLnBrk="1" hangingPunct="1">
              <a:lnSpc>
                <a:spcPct val="120000"/>
              </a:lnSpc>
            </a:pPr>
            <a:r>
              <a:rPr lang="en-US" altLang="en-US" sz="2100" err="1">
                <a:cs typeface="Times New Roman" panose="02020603050405020304" pitchFamily="18" charset="0"/>
              </a:rPr>
              <a:t>Cài</a:t>
            </a:r>
            <a:r>
              <a:rPr lang="en-US" altLang="en-US" sz="2100">
                <a:cs typeface="Times New Roman" panose="02020603050405020304" pitchFamily="18" charset="0"/>
              </a:rPr>
              <a:t> </a:t>
            </a:r>
            <a:r>
              <a:rPr lang="en-US" altLang="en-US" sz="2100" err="1">
                <a:cs typeface="Times New Roman" panose="02020603050405020304" pitchFamily="18" charset="0"/>
              </a:rPr>
              <a:t>đặt</a:t>
            </a:r>
            <a:r>
              <a:rPr lang="en-US" altLang="en-US" sz="2100">
                <a:cs typeface="Times New Roman" panose="02020603050405020304" pitchFamily="18" charset="0"/>
              </a:rPr>
              <a:t> </a:t>
            </a:r>
            <a:r>
              <a:rPr lang="en-US" altLang="en-US" sz="2100" err="1">
                <a:cs typeface="Times New Roman" panose="02020603050405020304" pitchFamily="18" charset="0"/>
              </a:rPr>
              <a:t>mảng</a:t>
            </a:r>
            <a:r>
              <a:rPr lang="en-US" altLang="en-US" sz="2100">
                <a:cs typeface="Times New Roman" panose="02020603050405020304" pitchFamily="18" charset="0"/>
              </a:rPr>
              <a:t> </a:t>
            </a:r>
            <a:r>
              <a:rPr lang="en-US" altLang="en-US" sz="2100" err="1">
                <a:cs typeface="Times New Roman" panose="02020603050405020304" pitchFamily="18" charset="0"/>
              </a:rPr>
              <a:t>hai</a:t>
            </a:r>
            <a:r>
              <a:rPr lang="en-US" altLang="en-US" sz="2100">
                <a:cs typeface="Times New Roman" panose="02020603050405020304" pitchFamily="18" charset="0"/>
              </a:rPr>
              <a:t> </a:t>
            </a:r>
            <a:r>
              <a:rPr lang="en-US" altLang="en-US" sz="2100" err="1">
                <a:cs typeface="Times New Roman" panose="02020603050405020304" pitchFamily="18" charset="0"/>
              </a:rPr>
              <a:t>chiều</a:t>
            </a:r>
            <a:r>
              <a:rPr lang="en-US" altLang="en-US" sz="2100">
                <a:cs typeface="Times New Roman" panose="02020603050405020304" pitchFamily="18" charset="0"/>
              </a:rPr>
              <a:t>: </a:t>
            </a:r>
          </a:p>
          <a:p>
            <a:pPr lvl="1" eaLnBrk="1" hangingPunct="1">
              <a:lnSpc>
                <a:spcPct val="120000"/>
              </a:lnSpc>
            </a:pPr>
            <a:r>
              <a:rPr lang="en-US" altLang="en-US" sz="2000">
                <a:cs typeface="Times New Roman" panose="02020603050405020304" pitchFamily="18" charset="0"/>
              </a:rPr>
              <a:t>ARRAY : a</a:t>
            </a:r>
            <a:r>
              <a:rPr lang="en-US" altLang="en-US" sz="2000" baseline="-30000">
                <a:cs typeface="Times New Roman" panose="02020603050405020304" pitchFamily="18" charset="0"/>
              </a:rPr>
              <a:t>2</a:t>
            </a:r>
            <a:r>
              <a:rPr lang="en-US" altLang="en-US" sz="2000">
                <a:cs typeface="Times New Roman" panose="02020603050405020304" pitchFamily="18" charset="0"/>
              </a:rPr>
              <a:t>[2,M,N] OF </a:t>
            </a:r>
            <a:r>
              <a:rPr lang="en-US" altLang="en-US" sz="2000" i="1">
                <a:cs typeface="Times New Roman" panose="02020603050405020304" pitchFamily="18" charset="0"/>
              </a:rPr>
              <a:t>datatype</a:t>
            </a:r>
            <a:r>
              <a:rPr lang="en-US" altLang="en-US" sz="2000">
                <a:cs typeface="Times New Roman" panose="02020603050405020304" pitchFamily="18" charset="0"/>
              </a:rPr>
              <a:t> ; </a:t>
            </a:r>
          </a:p>
          <a:p>
            <a:pPr lvl="1" algn="just" eaLnBrk="1" hangingPunct="1">
              <a:lnSpc>
                <a:spcPct val="120000"/>
              </a:lnSpc>
            </a:pPr>
            <a:r>
              <a:rPr lang="en-US" altLang="en-US" sz="2000" i="1" err="1">
                <a:cs typeface="Times New Roman" panose="02020603050405020304" pitchFamily="18" charset="0"/>
              </a:rPr>
              <a:t>Với</a:t>
            </a:r>
            <a:r>
              <a:rPr lang="en-US" altLang="en-US" sz="2000" i="1">
                <a:cs typeface="Times New Roman" panose="02020603050405020304" pitchFamily="18" charset="0"/>
              </a:rPr>
              <a:t> </a:t>
            </a:r>
            <a:r>
              <a:rPr lang="en-US" altLang="en-US" sz="2000" i="1" err="1">
                <a:cs typeface="Times New Roman" panose="02020603050405020304" pitchFamily="18" charset="0"/>
              </a:rPr>
              <a:t>phương</a:t>
            </a:r>
            <a:r>
              <a:rPr lang="en-US" altLang="en-US" sz="2000" i="1">
                <a:cs typeface="Times New Roman" panose="02020603050405020304" pitchFamily="18" charset="0"/>
              </a:rPr>
              <a:t> </a:t>
            </a:r>
            <a:r>
              <a:rPr lang="en-US" altLang="en-US" sz="2000" i="1" err="1">
                <a:cs typeface="Times New Roman" panose="02020603050405020304" pitchFamily="18" charset="0"/>
              </a:rPr>
              <a:t>pháp</a:t>
            </a:r>
            <a:r>
              <a:rPr lang="en-US" altLang="en-US" sz="2000" i="1">
                <a:cs typeface="Times New Roman" panose="02020603050405020304" pitchFamily="18" charset="0"/>
              </a:rPr>
              <a:t> </a:t>
            </a:r>
            <a:r>
              <a:rPr lang="en-US" altLang="en-US" sz="2000" i="1" err="1">
                <a:cs typeface="Times New Roman" panose="02020603050405020304" pitchFamily="18" charset="0"/>
              </a:rPr>
              <a:t>lưu</a:t>
            </a:r>
            <a:r>
              <a:rPr lang="en-US" altLang="en-US" sz="2000" i="1">
                <a:cs typeface="Times New Roman" panose="02020603050405020304" pitchFamily="18" charset="0"/>
              </a:rPr>
              <a:t> </a:t>
            </a:r>
            <a:r>
              <a:rPr lang="en-US" altLang="en-US" sz="2000" i="1" err="1">
                <a:cs typeface="Times New Roman" panose="02020603050405020304" pitchFamily="18" charset="0"/>
              </a:rPr>
              <a:t>trữ</a:t>
            </a:r>
            <a:r>
              <a:rPr lang="en-US" altLang="en-US" sz="2000" i="1">
                <a:cs typeface="Times New Roman" panose="02020603050405020304" pitchFamily="18" charset="0"/>
              </a:rPr>
              <a:t> </a:t>
            </a:r>
            <a:r>
              <a:rPr lang="en-US" altLang="en-US" sz="2000" i="1" err="1">
                <a:cs typeface="Times New Roman" panose="02020603050405020304" pitchFamily="18" charset="0"/>
              </a:rPr>
              <a:t>theo</a:t>
            </a:r>
            <a:r>
              <a:rPr lang="en-US" altLang="en-US" sz="2000" i="1">
                <a:cs typeface="Times New Roman" panose="02020603050405020304" pitchFamily="18" charset="0"/>
              </a:rPr>
              <a:t> </a:t>
            </a:r>
            <a:r>
              <a:rPr lang="en-US" altLang="en-US" sz="2000" i="1" err="1">
                <a:cs typeface="Times New Roman" panose="02020603050405020304" pitchFamily="18" charset="0"/>
              </a:rPr>
              <a:t>thứ</a:t>
            </a:r>
            <a:r>
              <a:rPr lang="en-US" altLang="en-US" sz="2000" i="1">
                <a:cs typeface="Times New Roman" panose="02020603050405020304" pitchFamily="18" charset="0"/>
              </a:rPr>
              <a:t> </a:t>
            </a:r>
            <a:r>
              <a:rPr lang="en-US" altLang="en-US" sz="2000" i="1" err="1">
                <a:cs typeface="Times New Roman" panose="02020603050405020304" pitchFamily="18" charset="0"/>
              </a:rPr>
              <a:t>tự</a:t>
            </a:r>
            <a:r>
              <a:rPr lang="en-US" altLang="en-US" sz="2000" i="1">
                <a:cs typeface="Times New Roman" panose="02020603050405020304" pitchFamily="18" charset="0"/>
              </a:rPr>
              <a:t> </a:t>
            </a:r>
            <a:r>
              <a:rPr lang="en-US" altLang="en-US" sz="2000" i="1" err="1">
                <a:cs typeface="Times New Roman" panose="02020603050405020304" pitchFamily="18" charset="0"/>
              </a:rPr>
              <a:t>ưu</a:t>
            </a:r>
            <a:r>
              <a:rPr lang="en-US" altLang="en-US" sz="2000" i="1">
                <a:cs typeface="Times New Roman" panose="02020603050405020304" pitchFamily="18" charset="0"/>
              </a:rPr>
              <a:t> </a:t>
            </a:r>
            <a:r>
              <a:rPr lang="en-US" altLang="en-US" sz="2000" i="1" err="1">
                <a:cs typeface="Times New Roman" panose="02020603050405020304" pitchFamily="18" charset="0"/>
              </a:rPr>
              <a:t>tiên</a:t>
            </a:r>
            <a:r>
              <a:rPr lang="en-US" altLang="en-US" sz="2000" i="1">
                <a:cs typeface="Times New Roman" panose="02020603050405020304" pitchFamily="18" charset="0"/>
              </a:rPr>
              <a:t> </a:t>
            </a:r>
            <a:r>
              <a:rPr lang="en-US" altLang="en-US" sz="2000" i="1" err="1">
                <a:cs typeface="Times New Roman" panose="02020603050405020304" pitchFamily="18" charset="0"/>
              </a:rPr>
              <a:t>cột</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a:t>
            </a:r>
            <a:r>
              <a:rPr lang="en-US" altLang="en-US" sz="2000" baseline="-30000">
                <a:cs typeface="Times New Roman" panose="02020603050405020304" pitchFamily="18" charset="0"/>
              </a:rPr>
              <a:t>2</a:t>
            </a:r>
            <a:r>
              <a:rPr lang="en-US" altLang="en-US" sz="2000">
                <a:cs typeface="Times New Roman" panose="02020603050405020304" pitchFamily="18" charset="0"/>
              </a:rPr>
              <a:t>[</a:t>
            </a:r>
            <a:r>
              <a:rPr lang="en-US" altLang="en-US" sz="2000" err="1">
                <a:cs typeface="Times New Roman" panose="02020603050405020304" pitchFamily="18" charset="0"/>
              </a:rPr>
              <a:t>i,j</a:t>
            </a:r>
            <a:r>
              <a:rPr lang="en-US" altLang="en-US" sz="2000">
                <a:cs typeface="Times New Roman" panose="02020603050405020304" pitchFamily="18" charset="0"/>
              </a:rPr>
              <a:t>] </a:t>
            </a:r>
            <a:r>
              <a:rPr lang="en-US" altLang="en-US" sz="2000" err="1">
                <a:cs typeface="Times New Roman" panose="02020603050405020304" pitchFamily="18" charset="0"/>
              </a:rPr>
              <a:t>của</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ở</a:t>
            </a:r>
            <a:r>
              <a:rPr lang="en-US" altLang="en-US" sz="2000">
                <a:cs typeface="Times New Roman" panose="02020603050405020304" pitchFamily="18" charset="0"/>
              </a:rPr>
              <a:t> </a:t>
            </a:r>
            <a:r>
              <a:rPr lang="en-US" altLang="en-US" sz="2000" err="1">
                <a:cs typeface="Times New Roman" panose="02020603050405020304" pitchFamily="18" charset="0"/>
              </a:rPr>
              <a:t>ô</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z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tính</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công</a:t>
            </a:r>
            <a:r>
              <a:rPr lang="en-US" altLang="en-US" sz="2000">
                <a:cs typeface="Times New Roman" panose="02020603050405020304" pitchFamily="18" charset="0"/>
              </a:rPr>
              <a:t> </a:t>
            </a:r>
            <a:r>
              <a:rPr lang="en-US" altLang="en-US" sz="2000" err="1">
                <a:cs typeface="Times New Roman" panose="02020603050405020304" pitchFamily="18" charset="0"/>
              </a:rPr>
              <a:t>thức</a:t>
            </a:r>
            <a:r>
              <a:rPr lang="en-US" altLang="en-US" sz="2000">
                <a:cs typeface="Times New Roman" panose="02020603050405020304" pitchFamily="18" charset="0"/>
              </a:rPr>
              <a:t> :</a:t>
            </a:r>
            <a:endParaRPr lang="en-US" altLang="en-US" sz="2000">
              <a:latin typeface=".VnTime" pitchFamily="34" charset="0"/>
              <a:cs typeface="Times New Roman" panose="02020603050405020304" pitchFamily="18" charset="0"/>
            </a:endParaRPr>
          </a:p>
          <a:p>
            <a:pPr lvl="2" algn="just" eaLnBrk="1" hangingPunct="1">
              <a:lnSpc>
                <a:spcPct val="120000"/>
              </a:lnSpc>
            </a:pPr>
            <a:r>
              <a:rPr lang="en-US" altLang="en-US" sz="1800">
                <a:cs typeface="Times New Roman" panose="02020603050405020304" pitchFamily="18" charset="0"/>
              </a:rPr>
              <a:t>z = M*(j-1) + i-1						(2.5) </a:t>
            </a:r>
            <a:endParaRPr lang="en-US" altLang="en-US" sz="1800">
              <a:latin typeface=".VnTime" pitchFamily="34" charset="0"/>
              <a:cs typeface="Times New Roman" panose="02020603050405020304" pitchFamily="18" charset="0"/>
            </a:endParaRPr>
          </a:p>
          <a:p>
            <a:pPr lvl="1" algn="just" eaLnBrk="1" hangingPunct="1">
              <a:lnSpc>
                <a:spcPct val="120000"/>
              </a:lnSpc>
            </a:pPr>
            <a:r>
              <a:rPr lang="en-US" altLang="en-US" sz="2000" err="1">
                <a:cs typeface="Times New Roman" panose="02020603050405020304" pitchFamily="18" charset="0"/>
              </a:rPr>
              <a:t>Đây</a:t>
            </a:r>
            <a:r>
              <a:rPr lang="en-US" altLang="en-US" sz="2000">
                <a:cs typeface="Times New Roman" panose="02020603050405020304" pitchFamily="18" charset="0"/>
              </a:rPr>
              <a:t> </a:t>
            </a:r>
            <a:r>
              <a:rPr lang="en-US" altLang="en-US" sz="2000" err="1">
                <a:cs typeface="Times New Roman" panose="02020603050405020304" pitchFamily="18" charset="0"/>
              </a:rPr>
              <a:t>là</a:t>
            </a:r>
            <a:r>
              <a:rPr lang="en-US" altLang="en-US" sz="2000">
                <a:cs typeface="Times New Roman" panose="02020603050405020304" pitchFamily="18" charset="0"/>
              </a:rPr>
              <a:t> </a:t>
            </a:r>
            <a:r>
              <a:rPr lang="en-US" altLang="en-US" sz="2000" err="1">
                <a:cs typeface="Times New Roman" panose="02020603050405020304" pitchFamily="18" charset="0"/>
              </a:rPr>
              <a:t>hàm</a:t>
            </a:r>
            <a:r>
              <a:rPr lang="en-US" altLang="en-US" sz="2000">
                <a:cs typeface="Times New Roman" panose="02020603050405020304" pitchFamily="18" charset="0"/>
              </a:rPr>
              <a:t> </a:t>
            </a:r>
            <a:r>
              <a:rPr lang="en-US" altLang="en-US" sz="2000" err="1">
                <a:cs typeface="Times New Roman" panose="02020603050405020304" pitchFamily="18" charset="0"/>
              </a:rPr>
              <a:t>địa</a:t>
            </a:r>
            <a:r>
              <a:rPr lang="en-US" altLang="en-US" sz="2000">
                <a:cs typeface="Times New Roman" panose="02020603050405020304" pitchFamily="18" charset="0"/>
              </a:rPr>
              <a:t> </a:t>
            </a:r>
            <a:r>
              <a:rPr lang="en-US" altLang="en-US" sz="2000" err="1">
                <a:cs typeface="Times New Roman" panose="02020603050405020304" pitchFamily="18" charset="0"/>
              </a:rPr>
              <a:t>chỉ</a:t>
            </a:r>
            <a:r>
              <a:rPr lang="en-US" altLang="en-US" sz="2000">
                <a:cs typeface="Times New Roman" panose="02020603050405020304" pitchFamily="18" charset="0"/>
              </a:rPr>
              <a:t> </a:t>
            </a:r>
            <a:r>
              <a:rPr lang="en-US" altLang="en-US" sz="2000" err="1">
                <a:cs typeface="Times New Roman" panose="02020603050405020304" pitchFamily="18" charset="0"/>
              </a:rPr>
              <a:t>cho</a:t>
            </a:r>
            <a:r>
              <a:rPr lang="en-US" altLang="en-US" sz="2000">
                <a:cs typeface="Times New Roman" panose="02020603050405020304" pitchFamily="18" charset="0"/>
              </a:rPr>
              <a:t> </a:t>
            </a:r>
            <a:r>
              <a:rPr lang="en-US" altLang="en-US" sz="2000" err="1">
                <a:cs typeface="Times New Roman" panose="02020603050405020304" pitchFamily="18" charset="0"/>
              </a:rPr>
              <a:t>mảng</a:t>
            </a:r>
            <a:r>
              <a:rPr lang="en-US" altLang="en-US" sz="2000">
                <a:cs typeface="Times New Roman" panose="02020603050405020304" pitchFamily="18" charset="0"/>
              </a:rPr>
              <a:t> </a:t>
            </a:r>
            <a:r>
              <a:rPr lang="en-US" altLang="en-US" sz="2000" err="1">
                <a:cs typeface="Times New Roman" panose="02020603050405020304" pitchFamily="18" charset="0"/>
              </a:rPr>
              <a:t>hai</a:t>
            </a:r>
            <a:r>
              <a:rPr lang="en-US" altLang="en-US" sz="2000">
                <a:cs typeface="Times New Roman" panose="02020603050405020304" pitchFamily="18" charset="0"/>
              </a:rPr>
              <a:t> </a:t>
            </a:r>
            <a:r>
              <a:rPr lang="en-US" altLang="en-US" sz="2000" err="1">
                <a:cs typeface="Times New Roman" panose="02020603050405020304" pitchFamily="18" charset="0"/>
              </a:rPr>
              <a:t>chiều</a:t>
            </a:r>
            <a:r>
              <a:rPr lang="en-US" altLang="en-US" sz="2000">
                <a:cs typeface="Times New Roman" panose="02020603050405020304" pitchFamily="18" charset="0"/>
              </a:rPr>
              <a:t> a</a:t>
            </a:r>
            <a:r>
              <a:rPr lang="en-US" altLang="en-US" sz="2000" baseline="-30000">
                <a:cs typeface="Times New Roman" panose="02020603050405020304" pitchFamily="18" charset="0"/>
              </a:rPr>
              <a:t>2 </a:t>
            </a:r>
            <a:r>
              <a:rPr lang="en-US" altLang="en-US" sz="2000" err="1">
                <a:cs typeface="Times New Roman" panose="02020603050405020304" pitchFamily="18" charset="0"/>
              </a:rPr>
              <a:t>khi</a:t>
            </a:r>
            <a:r>
              <a:rPr lang="en-US" altLang="en-US" sz="2000">
                <a:cs typeface="Times New Roman" panose="02020603050405020304" pitchFamily="18" charset="0"/>
              </a:rPr>
              <a:t> </a:t>
            </a:r>
            <a:r>
              <a:rPr lang="en-US" altLang="en-US" sz="2000" err="1">
                <a:cs typeface="Times New Roman" panose="02020603050405020304" pitchFamily="18" charset="0"/>
              </a:rPr>
              <a:t>các</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bố</a:t>
            </a:r>
            <a:r>
              <a:rPr lang="en-US" altLang="en-US" sz="2000">
                <a:cs typeface="Times New Roman" panose="02020603050405020304" pitchFamily="18" charset="0"/>
              </a:rPr>
              <a:t> </a:t>
            </a:r>
            <a:r>
              <a:rPr lang="en-US" altLang="en-US" sz="2000" err="1">
                <a:cs typeface="Times New Roman" panose="02020603050405020304" pitchFamily="18" charset="0"/>
              </a:rPr>
              <a:t>trí</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thứ</a:t>
            </a:r>
            <a:r>
              <a:rPr lang="en-US" altLang="en-US" sz="2000">
                <a:cs typeface="Times New Roman" panose="02020603050405020304" pitchFamily="18" charset="0"/>
              </a:rPr>
              <a:t> </a:t>
            </a:r>
            <a:r>
              <a:rPr lang="en-US" altLang="en-US" sz="2000" err="1">
                <a:cs typeface="Times New Roman" panose="02020603050405020304" pitchFamily="18" charset="0"/>
              </a:rPr>
              <a:t>tự</a:t>
            </a:r>
            <a:r>
              <a:rPr lang="en-US" altLang="en-US" sz="2000">
                <a:cs typeface="Times New Roman" panose="02020603050405020304" pitchFamily="18" charset="0"/>
              </a:rPr>
              <a:t> </a:t>
            </a:r>
            <a:r>
              <a:rPr lang="en-US" altLang="en-US" sz="2000" err="1">
                <a:cs typeface="Times New Roman" panose="02020603050405020304" pitchFamily="18" charset="0"/>
              </a:rPr>
              <a:t>ưu</a:t>
            </a:r>
            <a:r>
              <a:rPr lang="en-US" altLang="en-US" sz="2000">
                <a:cs typeface="Times New Roman" panose="02020603050405020304" pitchFamily="18" charset="0"/>
              </a:rPr>
              <a:t> </a:t>
            </a:r>
            <a:r>
              <a:rPr lang="en-US" altLang="en-US" sz="2000" err="1">
                <a:cs typeface="Times New Roman" panose="02020603050405020304" pitchFamily="18" charset="0"/>
              </a:rPr>
              <a:t>tiên</a:t>
            </a:r>
            <a:r>
              <a:rPr lang="en-US" altLang="en-US" sz="2000">
                <a:cs typeface="Times New Roman" panose="02020603050405020304" pitchFamily="18" charset="0"/>
              </a:rPr>
              <a:t> </a:t>
            </a:r>
            <a:r>
              <a:rPr lang="en-US" altLang="en-US" sz="2000" err="1">
                <a:cs typeface="Times New Roman" panose="02020603050405020304" pitchFamily="18" charset="0"/>
              </a:rPr>
              <a:t>cột</a:t>
            </a:r>
            <a:r>
              <a:rPr lang="en-US" altLang="en-US" sz="2000">
                <a:cs typeface="Times New Roman" panose="02020603050405020304" pitchFamily="18" charset="0"/>
              </a:rPr>
              <a:t>.</a:t>
            </a:r>
            <a:endParaRPr lang="en-US" altLang="en-US" sz="2000">
              <a:latin typeface=".VnTime" pitchFamily="34" charset="0"/>
              <a:cs typeface="Times New Roman" panose="02020603050405020304" pitchFamily="18" charset="0"/>
            </a:endParaRPr>
          </a:p>
          <a:p>
            <a:pPr lvl="1" algn="just" eaLnBrk="1" hangingPunct="1">
              <a:lnSpc>
                <a:spcPct val="120000"/>
              </a:lnSpc>
            </a:pPr>
            <a:r>
              <a:rPr lang="en-US" altLang="en-US" sz="2000" err="1">
                <a:cs typeface="Times New Roman" panose="02020603050405020304" pitchFamily="18" charset="0"/>
              </a:rPr>
              <a:t>Ngược</a:t>
            </a:r>
            <a:r>
              <a:rPr lang="en-US" altLang="en-US" sz="2000">
                <a:cs typeface="Times New Roman" panose="02020603050405020304" pitchFamily="18" charset="0"/>
              </a:rPr>
              <a:t> </a:t>
            </a:r>
            <a:r>
              <a:rPr lang="en-US" altLang="en-US" sz="2000" err="1">
                <a:cs typeface="Times New Roman" panose="02020603050405020304" pitchFamily="18" charset="0"/>
              </a:rPr>
              <a:t>lại</a:t>
            </a:r>
            <a:r>
              <a:rPr lang="en-US" altLang="en-US" sz="2000">
                <a:cs typeface="Times New Roman" panose="02020603050405020304" pitchFamily="18" charset="0"/>
              </a:rPr>
              <a:t>, </a:t>
            </a:r>
            <a:r>
              <a:rPr lang="en-US" altLang="en-US" sz="2000" err="1">
                <a:cs typeface="Times New Roman" panose="02020603050405020304" pitchFamily="18" charset="0"/>
              </a:rPr>
              <a:t>ở</a:t>
            </a:r>
            <a:r>
              <a:rPr lang="en-US" altLang="en-US" sz="2000">
                <a:cs typeface="Times New Roman" panose="02020603050405020304" pitchFamily="18" charset="0"/>
              </a:rPr>
              <a:t> </a:t>
            </a:r>
            <a:r>
              <a:rPr lang="en-US" altLang="en-US" sz="2000" err="1">
                <a:cs typeface="Times New Roman" panose="02020603050405020304" pitchFamily="18" charset="0"/>
              </a:rPr>
              <a:t>ô</a:t>
            </a:r>
            <a:r>
              <a:rPr lang="en-US" altLang="en-US" sz="2000">
                <a:cs typeface="Times New Roman" panose="02020603050405020304" pitchFamily="18" charset="0"/>
              </a:rPr>
              <a:t> </a:t>
            </a:r>
            <a:r>
              <a:rPr lang="en-US" altLang="en-US" sz="2000" err="1">
                <a:cs typeface="Times New Roman" panose="02020603050405020304" pitchFamily="18" charset="0"/>
              </a:rPr>
              <a:t>nhớ</a:t>
            </a:r>
            <a:r>
              <a:rPr lang="en-US" altLang="en-US" sz="2000">
                <a:cs typeface="Times New Roman" panose="02020603050405020304" pitchFamily="18" charset="0"/>
              </a:rPr>
              <a:t> z </a:t>
            </a:r>
            <a:r>
              <a:rPr lang="en-US" altLang="en-US" sz="2000" err="1">
                <a:cs typeface="Times New Roman" panose="02020603050405020304" pitchFamily="18" charset="0"/>
              </a:rPr>
              <a:t>sẽ</a:t>
            </a:r>
            <a:r>
              <a:rPr lang="en-US" altLang="en-US" sz="2000">
                <a:cs typeface="Times New Roman" panose="02020603050405020304" pitchFamily="18" charset="0"/>
              </a:rPr>
              <a:t> </a:t>
            </a:r>
            <a:r>
              <a:rPr lang="en-US" altLang="en-US" sz="2000" err="1">
                <a:cs typeface="Times New Roman" panose="02020603050405020304" pitchFamily="18" charset="0"/>
              </a:rPr>
              <a:t>lưu</a:t>
            </a:r>
            <a:r>
              <a:rPr lang="en-US" altLang="en-US" sz="2000">
                <a:cs typeface="Times New Roman" panose="02020603050405020304" pitchFamily="18" charset="0"/>
              </a:rPr>
              <a:t> </a:t>
            </a:r>
            <a:r>
              <a:rPr lang="en-US" altLang="en-US" sz="2000" err="1">
                <a:cs typeface="Times New Roman" panose="02020603050405020304" pitchFamily="18" charset="0"/>
              </a:rPr>
              <a:t>trữ</a:t>
            </a:r>
            <a:r>
              <a:rPr lang="en-US" altLang="en-US" sz="2000">
                <a:cs typeface="Times New Roman" panose="02020603050405020304" pitchFamily="18" charset="0"/>
              </a:rPr>
              <a:t> </a:t>
            </a:r>
            <a:r>
              <a:rPr lang="en-US" altLang="en-US" sz="2000" err="1">
                <a:cs typeface="Times New Roman" panose="02020603050405020304" pitchFamily="18" charset="0"/>
              </a:rPr>
              <a:t>phần</a:t>
            </a:r>
            <a:r>
              <a:rPr lang="en-US" altLang="en-US" sz="2000">
                <a:cs typeface="Times New Roman" panose="02020603050405020304" pitchFamily="18" charset="0"/>
              </a:rPr>
              <a:t> </a:t>
            </a:r>
            <a:r>
              <a:rPr lang="en-US" altLang="en-US" sz="2000" err="1">
                <a:cs typeface="Times New Roman" panose="02020603050405020304" pitchFamily="18" charset="0"/>
              </a:rPr>
              <a:t>tử</a:t>
            </a:r>
            <a:r>
              <a:rPr lang="en-US" altLang="en-US" sz="2000">
                <a:cs typeface="Times New Roman" panose="02020603050405020304" pitchFamily="18" charset="0"/>
              </a:rPr>
              <a:t> a</a:t>
            </a:r>
            <a:r>
              <a:rPr lang="en-US" altLang="en-US" sz="2000" baseline="-30000">
                <a:cs typeface="Times New Roman" panose="02020603050405020304" pitchFamily="18" charset="0"/>
              </a:rPr>
              <a:t>2</a:t>
            </a:r>
            <a:r>
              <a:rPr lang="en-US" altLang="en-US" sz="2000">
                <a:cs typeface="Times New Roman" panose="02020603050405020304" pitchFamily="18" charset="0"/>
              </a:rPr>
              <a:t>[</a:t>
            </a:r>
            <a:r>
              <a:rPr lang="en-US" altLang="en-US" sz="2000" err="1">
                <a:cs typeface="Times New Roman" panose="02020603050405020304" pitchFamily="18" charset="0"/>
              </a:rPr>
              <a:t>i,j</a:t>
            </a:r>
            <a:r>
              <a:rPr lang="en-US" altLang="en-US" sz="2000">
                <a:cs typeface="Times New Roman" panose="02020603050405020304" pitchFamily="18" charset="0"/>
              </a:rPr>
              <a:t>] </a:t>
            </a:r>
            <a:r>
              <a:rPr lang="en-US" altLang="en-US" sz="2000" err="1">
                <a:cs typeface="Times New Roman" panose="02020603050405020304" pitchFamily="18" charset="0"/>
              </a:rPr>
              <a:t>với</a:t>
            </a:r>
            <a:r>
              <a:rPr lang="en-US" altLang="en-US" sz="2000">
                <a:cs typeface="Times New Roman" panose="02020603050405020304" pitchFamily="18" charset="0"/>
              </a:rPr>
              <a:t> </a:t>
            </a:r>
            <a:r>
              <a:rPr lang="en-US" altLang="en-US" sz="2000" err="1">
                <a:cs typeface="Times New Roman" panose="02020603050405020304" pitchFamily="18" charset="0"/>
              </a:rPr>
              <a:t>i</a:t>
            </a:r>
            <a:r>
              <a:rPr lang="en-US" altLang="en-US" sz="2000">
                <a:cs typeface="Times New Roman" panose="02020603050405020304" pitchFamily="18" charset="0"/>
              </a:rPr>
              <a:t> </a:t>
            </a:r>
            <a:r>
              <a:rPr lang="en-US" altLang="en-US" sz="2000" err="1">
                <a:cs typeface="Times New Roman" panose="02020603050405020304" pitchFamily="18" charset="0"/>
              </a:rPr>
              <a:t>và</a:t>
            </a:r>
            <a:r>
              <a:rPr lang="en-US" altLang="en-US" sz="2000">
                <a:cs typeface="Times New Roman" panose="02020603050405020304" pitchFamily="18" charset="0"/>
              </a:rPr>
              <a:t> j </a:t>
            </a:r>
            <a:r>
              <a:rPr lang="en-US" altLang="en-US" sz="2000" err="1">
                <a:cs typeface="Times New Roman" panose="02020603050405020304" pitchFamily="18" charset="0"/>
              </a:rPr>
              <a:t>được</a:t>
            </a:r>
            <a:r>
              <a:rPr lang="en-US" altLang="en-US" sz="2000">
                <a:cs typeface="Times New Roman" panose="02020603050405020304" pitchFamily="18" charset="0"/>
              </a:rPr>
              <a:t> </a:t>
            </a:r>
            <a:r>
              <a:rPr lang="en-US" altLang="en-US" sz="2000" err="1">
                <a:cs typeface="Times New Roman" panose="02020603050405020304" pitchFamily="18" charset="0"/>
              </a:rPr>
              <a:t>tính</a:t>
            </a:r>
            <a:r>
              <a:rPr lang="en-US" altLang="en-US" sz="2000">
                <a:cs typeface="Times New Roman" panose="02020603050405020304" pitchFamily="18" charset="0"/>
              </a:rPr>
              <a:t> </a:t>
            </a:r>
            <a:r>
              <a:rPr lang="en-US" altLang="en-US" sz="2000" err="1">
                <a:cs typeface="Times New Roman" panose="02020603050405020304" pitchFamily="18" charset="0"/>
              </a:rPr>
              <a:t>theo</a:t>
            </a:r>
            <a:r>
              <a:rPr lang="en-US" altLang="en-US" sz="2000">
                <a:cs typeface="Times New Roman" panose="02020603050405020304" pitchFamily="18" charset="0"/>
              </a:rPr>
              <a:t> </a:t>
            </a:r>
            <a:r>
              <a:rPr lang="en-US" altLang="en-US" sz="2000" err="1">
                <a:cs typeface="Times New Roman" panose="02020603050405020304" pitchFamily="18" charset="0"/>
              </a:rPr>
              <a:t>công</a:t>
            </a:r>
            <a:r>
              <a:rPr lang="en-US" altLang="en-US" sz="2000">
                <a:cs typeface="Times New Roman" panose="02020603050405020304" pitchFamily="18" charset="0"/>
              </a:rPr>
              <a:t> </a:t>
            </a:r>
            <a:r>
              <a:rPr lang="en-US" altLang="en-US" sz="2000" err="1">
                <a:cs typeface="Times New Roman" panose="02020603050405020304" pitchFamily="18" charset="0"/>
              </a:rPr>
              <a:t>thức</a:t>
            </a:r>
            <a:r>
              <a:rPr lang="en-US" altLang="en-US" sz="2000">
                <a:cs typeface="Times New Roman" panose="02020603050405020304" pitchFamily="18" charset="0"/>
              </a:rPr>
              <a:t>: </a:t>
            </a:r>
          </a:p>
          <a:p>
            <a:pPr lvl="2" algn="just" eaLnBrk="1" hangingPunct="1">
              <a:lnSpc>
                <a:spcPct val="120000"/>
              </a:lnSpc>
            </a:pPr>
            <a:r>
              <a:rPr lang="en-US" altLang="en-US" sz="1800" err="1">
                <a:cs typeface="Times New Roman" panose="02020603050405020304" pitchFamily="18" charset="0"/>
              </a:rPr>
              <a:t>i</a:t>
            </a:r>
            <a:r>
              <a:rPr lang="en-US" altLang="en-US" sz="1800">
                <a:cs typeface="Times New Roman" panose="02020603050405020304" pitchFamily="18" charset="0"/>
              </a:rPr>
              <a:t> = z MOD M +1  </a:t>
            </a:r>
            <a:r>
              <a:rPr lang="en-US" altLang="en-US" sz="1800" err="1">
                <a:cs typeface="Times New Roman" panose="02020603050405020304" pitchFamily="18" charset="0"/>
              </a:rPr>
              <a:t>và</a:t>
            </a:r>
            <a:r>
              <a:rPr lang="en-US" altLang="en-US" sz="1800">
                <a:cs typeface="Times New Roman" panose="02020603050405020304" pitchFamily="18" charset="0"/>
              </a:rPr>
              <a:t>  j = z DIV M +1		(2.6) </a:t>
            </a:r>
            <a:endParaRPr lang="en-US" altLang="en-US" sz="1800"/>
          </a:p>
        </p:txBody>
      </p:sp>
    </p:spTree>
    <p:extLst>
      <p:ext uri="{BB962C8B-B14F-4D97-AF65-F5344CB8AC3E}">
        <p14:creationId xmlns:p14="http://schemas.microsoft.com/office/powerpoint/2010/main" val="2746822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0CB1E1-5848-4BCB-8764-82B754CB5FF0}"/>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9E1AE043-50EB-4CDA-97C9-8131DB771546}"/>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F65FC620-6310-4697-8B07-6F3FA97C79F1}"/>
              </a:ext>
            </a:extLst>
          </p:cNvPr>
          <p:cNvSpPr>
            <a:spLocks noGrp="1"/>
          </p:cNvSpPr>
          <p:nvPr>
            <p:ph type="sldNum" sz="quarter" idx="12"/>
          </p:nvPr>
        </p:nvSpPr>
        <p:spPr/>
        <p:txBody>
          <a:bodyPr/>
          <a:lstStyle/>
          <a:p>
            <a:fld id="{BA7BC09B-FE30-A349-B1D2-5A364F511F98}" type="slidenum">
              <a:rPr lang="en-US" smtClean="0"/>
              <a:t>20</a:t>
            </a:fld>
            <a:endParaRPr lang="en-US"/>
          </a:p>
        </p:txBody>
      </p:sp>
      <p:sp>
        <p:nvSpPr>
          <p:cNvPr id="2" name="Title 1">
            <a:extLst>
              <a:ext uri="{FF2B5EF4-FFF2-40B4-BE49-F238E27FC236}">
                <a16:creationId xmlns:a16="http://schemas.microsoft.com/office/drawing/2014/main" id="{E82E8266-719D-48A3-AEBB-407E3A5F5A1B}"/>
              </a:ext>
            </a:extLst>
          </p:cNvPr>
          <p:cNvSpPr>
            <a:spLocks noGrp="1"/>
          </p:cNvSpPr>
          <p:nvPr>
            <p:ph type="title"/>
          </p:nvPr>
        </p:nvSpPr>
        <p:spPr/>
        <p:txBody>
          <a:bodyPr>
            <a:normAutofit fontScale="90000"/>
          </a:bodyPr>
          <a:lstStyle/>
          <a:p>
            <a:r>
              <a:rPr lang="en-US" err="1"/>
              <a:t>Ví</a:t>
            </a:r>
            <a:r>
              <a:rPr lang="en-US"/>
              <a:t> </a:t>
            </a:r>
            <a:r>
              <a:rPr lang="en-US" err="1"/>
              <a:t>dụ</a:t>
            </a:r>
            <a:r>
              <a:rPr lang="en-US"/>
              <a:t> </a:t>
            </a:r>
            <a:r>
              <a:rPr lang="en-US" err="1"/>
              <a:t>cài</a:t>
            </a:r>
            <a:r>
              <a:rPr lang="en-US"/>
              <a:t> </a:t>
            </a:r>
            <a:r>
              <a:rPr lang="en-US" err="1"/>
              <a:t>đặt</a:t>
            </a:r>
            <a:r>
              <a:rPr lang="en-US"/>
              <a:t> </a:t>
            </a:r>
            <a:r>
              <a:rPr lang="en-US" err="1"/>
              <a:t>mảng</a:t>
            </a:r>
            <a:r>
              <a:rPr lang="en-US"/>
              <a:t> 2 </a:t>
            </a:r>
            <a:r>
              <a:rPr lang="en-US" err="1"/>
              <a:t>chiều</a:t>
            </a:r>
            <a:r>
              <a:rPr lang="en-US"/>
              <a:t> </a:t>
            </a:r>
            <a:r>
              <a:rPr lang="en-US" err="1"/>
              <a:t>trong</a:t>
            </a:r>
            <a:r>
              <a:rPr lang="en-US"/>
              <a:t> C/C++</a:t>
            </a:r>
          </a:p>
        </p:txBody>
      </p:sp>
      <p:sp>
        <p:nvSpPr>
          <p:cNvPr id="3" name="Content Placeholder 2">
            <a:extLst>
              <a:ext uri="{FF2B5EF4-FFF2-40B4-BE49-F238E27FC236}">
                <a16:creationId xmlns:a16="http://schemas.microsoft.com/office/drawing/2014/main" id="{D4443580-E519-4C28-BF95-EC7A7CDF01EA}"/>
              </a:ext>
            </a:extLst>
          </p:cNvPr>
          <p:cNvSpPr>
            <a:spLocks noGrp="1"/>
          </p:cNvSpPr>
          <p:nvPr>
            <p:ph type="body" sz="quarter" idx="13"/>
          </p:nvPr>
        </p:nvSpPr>
        <p:spPr/>
        <p:txBody>
          <a:bodyPr/>
          <a:lstStyle/>
          <a:p>
            <a:r>
              <a:rPr lang="en-US" err="1"/>
              <a:t>Khai</a:t>
            </a:r>
            <a:r>
              <a:rPr lang="en-US"/>
              <a:t> </a:t>
            </a:r>
            <a:r>
              <a:rPr lang="en-US" err="1"/>
              <a:t>báo</a:t>
            </a:r>
            <a:r>
              <a:rPr lang="en-US"/>
              <a:t> </a:t>
            </a:r>
            <a:r>
              <a:rPr lang="en-US" err="1"/>
              <a:t>mảng</a:t>
            </a:r>
            <a:r>
              <a:rPr lang="en-US"/>
              <a:t> </a:t>
            </a:r>
            <a:r>
              <a:rPr lang="en-US" err="1"/>
              <a:t>số</a:t>
            </a:r>
            <a:r>
              <a:rPr lang="en-US"/>
              <a:t> </a:t>
            </a:r>
            <a:r>
              <a:rPr lang="en-US" err="1"/>
              <a:t>nguyên</a:t>
            </a:r>
            <a:r>
              <a:rPr lang="en-US"/>
              <a:t> 2 </a:t>
            </a:r>
            <a:r>
              <a:rPr lang="en-US" err="1"/>
              <a:t>chiều</a:t>
            </a:r>
            <a:r>
              <a:rPr lang="en-US"/>
              <a:t> </a:t>
            </a:r>
            <a:r>
              <a:rPr lang="en-US" err="1"/>
              <a:t>kích</a:t>
            </a:r>
            <a:r>
              <a:rPr lang="en-US"/>
              <a:t> </a:t>
            </a:r>
            <a:r>
              <a:rPr lang="en-US" err="1"/>
              <a:t>thước</a:t>
            </a:r>
            <a:r>
              <a:rPr lang="en-US"/>
              <a:t> R </a:t>
            </a:r>
            <a:r>
              <a:rPr lang="en-US" err="1"/>
              <a:t>và</a:t>
            </a:r>
            <a:r>
              <a:rPr lang="en-US"/>
              <a:t> C</a:t>
            </a:r>
          </a:p>
        </p:txBody>
      </p:sp>
      <p:sp>
        <p:nvSpPr>
          <p:cNvPr id="8" name="TextBox 7">
            <a:extLst>
              <a:ext uri="{FF2B5EF4-FFF2-40B4-BE49-F238E27FC236}">
                <a16:creationId xmlns:a16="http://schemas.microsoft.com/office/drawing/2014/main" id="{9430AFF7-DBC4-42FD-AFD7-85344C053F37}"/>
              </a:ext>
            </a:extLst>
          </p:cNvPr>
          <p:cNvSpPr txBox="1"/>
          <p:nvPr/>
        </p:nvSpPr>
        <p:spPr>
          <a:xfrm>
            <a:off x="590107" y="2882504"/>
            <a:ext cx="3700130" cy="2031325"/>
          </a:xfrm>
          <a:prstGeom prst="rect">
            <a:avLst/>
          </a:prstGeom>
          <a:noFill/>
          <a:ln>
            <a:solidFill>
              <a:schemeClr val="accent1"/>
            </a:solidFill>
          </a:ln>
        </p:spPr>
        <p:txBody>
          <a:bodyPr wrap="square">
            <a:spAutoFit/>
          </a:bodyPr>
          <a:lstStyle/>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mt;</a:t>
            </a:r>
          </a:p>
          <a:p>
            <a:r>
              <a:rPr lang="en-US" sz="1800">
                <a:solidFill>
                  <a:srgbClr val="000000"/>
                </a:solidFill>
                <a:latin typeface="Consolas" panose="020B0609020204030204" pitchFamily="49" charset="0"/>
              </a:rPr>
              <a:t>mt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[R];</a:t>
            </a:r>
          </a:p>
          <a:p>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temp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[R * C];</a:t>
            </a:r>
          </a:p>
          <a:p>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(i = 0; i &lt; R; ++i) {</a:t>
            </a:r>
          </a:p>
          <a:p>
            <a:r>
              <a:rPr lang="en-US" sz="1800">
                <a:solidFill>
                  <a:srgbClr val="000000"/>
                </a:solidFill>
                <a:latin typeface="Consolas" panose="020B0609020204030204" pitchFamily="49" charset="0"/>
              </a:rPr>
              <a:t>mt[</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 = temp;</a:t>
            </a:r>
          </a:p>
          <a:p>
            <a:r>
              <a:rPr lang="en-US" sz="1800">
                <a:solidFill>
                  <a:srgbClr val="000000"/>
                </a:solidFill>
                <a:latin typeface="Consolas" panose="020B0609020204030204" pitchFamily="49" charset="0"/>
              </a:rPr>
              <a:t>temp += C;</a:t>
            </a:r>
          </a:p>
          <a:p>
            <a:r>
              <a:rPr lang="en-US" sz="1800">
                <a:solidFill>
                  <a:srgbClr val="000000"/>
                </a:solidFill>
                <a:latin typeface="Consolas" panose="020B0609020204030204" pitchFamily="49" charset="0"/>
              </a:rPr>
              <a:t>}</a:t>
            </a:r>
            <a:endParaRPr lang="en-US"/>
          </a:p>
        </p:txBody>
      </p:sp>
      <p:sp>
        <p:nvSpPr>
          <p:cNvPr id="10" name="TextBox 9">
            <a:extLst>
              <a:ext uri="{FF2B5EF4-FFF2-40B4-BE49-F238E27FC236}">
                <a16:creationId xmlns:a16="http://schemas.microsoft.com/office/drawing/2014/main" id="{2CEB0250-2470-4EF7-B64E-613A38880394}"/>
              </a:ext>
            </a:extLst>
          </p:cNvPr>
          <p:cNvSpPr txBox="1"/>
          <p:nvPr/>
        </p:nvSpPr>
        <p:spPr>
          <a:xfrm>
            <a:off x="4513521" y="2465119"/>
            <a:ext cx="4572000" cy="3416320"/>
          </a:xfrm>
          <a:prstGeom prst="rect">
            <a:avLst/>
          </a:prstGeom>
          <a:noFill/>
          <a:ln>
            <a:solidFill>
              <a:schemeClr val="accent1"/>
            </a:solidFill>
          </a:ln>
        </p:spPr>
        <p:txBody>
          <a:bodyPr wrap="square">
            <a:spAutoFit/>
          </a:bodyPr>
          <a:lstStyle/>
          <a:p>
            <a:r>
              <a:rPr lang="it-IT" sz="1800">
                <a:solidFill>
                  <a:srgbClr val="008000"/>
                </a:solidFill>
                <a:latin typeface="Consolas" panose="020B0609020204030204" pitchFamily="49" charset="0"/>
              </a:rPr>
              <a:t>// Khởi tạo ma trận với</a:t>
            </a:r>
            <a:endParaRPr lang="it-IT" sz="1800">
              <a:solidFill>
                <a:srgbClr val="000000"/>
              </a:solidFill>
              <a:latin typeface="Consolas" panose="020B0609020204030204" pitchFamily="49" charset="0"/>
            </a:endParaRPr>
          </a:p>
          <a:p>
            <a:r>
              <a:rPr lang="pt-BR" sz="1800">
                <a:solidFill>
                  <a:srgbClr val="008000"/>
                </a:solidFill>
                <a:latin typeface="Consolas" panose="020B0609020204030204" pitchFamily="49" charset="0"/>
              </a:rPr>
              <a:t>// R hàng và C cột</a:t>
            </a:r>
            <a:endParaRPr lang="pt-BR"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float</a:t>
            </a:r>
            <a:r>
              <a:rPr lang="en-US" sz="1800">
                <a:solidFill>
                  <a:srgbClr val="000000"/>
                </a:solidFill>
                <a:latin typeface="Consolas" panose="020B0609020204030204" pitchFamily="49" charset="0"/>
              </a:rPr>
              <a:t>** M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float</a:t>
            </a:r>
            <a:r>
              <a:rPr lang="en-US" sz="1800">
                <a:solidFill>
                  <a:srgbClr val="000000"/>
                </a:solidFill>
                <a:latin typeface="Consolas" panose="020B0609020204030204" pitchFamily="49" charset="0"/>
              </a:rPr>
              <a:t>* [R];</a:t>
            </a:r>
          </a:p>
          <a:p>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(i = 0; i &lt; R; i++)</a:t>
            </a:r>
          </a:p>
          <a:p>
            <a:r>
              <a:rPr lang="en-US" sz="1800">
                <a:solidFill>
                  <a:srgbClr val="000000"/>
                </a:solidFill>
                <a:latin typeface="Consolas" panose="020B0609020204030204" pitchFamily="49" charset="0"/>
              </a:rPr>
              <a:t>M[</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float</a:t>
            </a:r>
            <a:r>
              <a:rPr lang="en-US" sz="1800">
                <a:solidFill>
                  <a:srgbClr val="000000"/>
                </a:solidFill>
                <a:latin typeface="Consolas" panose="020B0609020204030204" pitchFamily="49" charset="0"/>
              </a:rPr>
              <a:t>[C];</a:t>
            </a:r>
          </a:p>
          <a:p>
            <a:r>
              <a:rPr lang="pl-PL" sz="1800">
                <a:solidFill>
                  <a:srgbClr val="008000"/>
                </a:solidFill>
                <a:latin typeface="Consolas" panose="020B0609020204030204" pitchFamily="49" charset="0"/>
              </a:rPr>
              <a:t>// Dùng M[i][j] cho</a:t>
            </a:r>
            <a:endParaRPr lang="pl-PL" sz="1800">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các</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phần</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tử</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của</a:t>
            </a:r>
            <a:r>
              <a:rPr lang="en-US" sz="1800">
                <a:solidFill>
                  <a:srgbClr val="008000"/>
                </a:solidFill>
                <a:latin typeface="Consolas" panose="020B0609020204030204" pitchFamily="49" charset="0"/>
              </a:rPr>
              <a:t> ma </a:t>
            </a:r>
            <a:r>
              <a:rPr lang="en-US" sz="1800" err="1">
                <a:solidFill>
                  <a:srgbClr val="008000"/>
                </a:solidFill>
                <a:latin typeface="Consolas" panose="020B0609020204030204" pitchFamily="49" charset="0"/>
              </a:rPr>
              <a:t>trận</a:t>
            </a:r>
            <a:endParaRPr lang="en-US" sz="1800">
              <a:solidFill>
                <a:srgbClr val="000000"/>
              </a:solidFill>
              <a:latin typeface="Consolas" panose="020B0609020204030204" pitchFamily="49" charset="0"/>
            </a:endParaRPr>
          </a:p>
          <a:p>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Giải</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phóng</a:t>
            </a:r>
            <a:endParaRPr lang="en-US" sz="1800">
              <a:solidFill>
                <a:srgbClr val="000000"/>
              </a:solidFill>
              <a:latin typeface="Consolas" panose="020B0609020204030204" pitchFamily="49" charset="0"/>
            </a:endParaRPr>
          </a:p>
          <a:p>
            <a:r>
              <a:rPr lang="nn-NO" sz="1800">
                <a:solidFill>
                  <a:srgbClr val="0000FF"/>
                </a:solidFill>
                <a:latin typeface="Consolas" panose="020B0609020204030204" pitchFamily="49" charset="0"/>
              </a:rPr>
              <a:t>for</a:t>
            </a:r>
            <a:r>
              <a:rPr lang="nn-NO" sz="1800">
                <a:solidFill>
                  <a:srgbClr val="000000"/>
                </a:solidFill>
                <a:latin typeface="Consolas" panose="020B0609020204030204" pitchFamily="49" charset="0"/>
              </a:rPr>
              <a:t> (i = 0; i &lt; R; i++)</a:t>
            </a:r>
          </a:p>
          <a:p>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Giải</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phóng</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các</a:t>
            </a:r>
            <a:r>
              <a:rPr lang="en-US" sz="1800">
                <a:solidFill>
                  <a:srgbClr val="008000"/>
                </a:solidFill>
                <a:latin typeface="Consolas" panose="020B0609020204030204" pitchFamily="49" charset="0"/>
              </a:rPr>
              <a:t> </a:t>
            </a:r>
            <a:r>
              <a:rPr lang="en-US" sz="1800" err="1">
                <a:solidFill>
                  <a:srgbClr val="008000"/>
                </a:solidFill>
                <a:latin typeface="Consolas" panose="020B0609020204030204" pitchFamily="49" charset="0"/>
              </a:rPr>
              <a:t>hàng</a:t>
            </a:r>
            <a:endParaRPr lang="en-US" sz="1800">
              <a:solidFill>
                <a:srgbClr val="000000"/>
              </a:solidFill>
              <a:latin typeface="Consolas" panose="020B0609020204030204" pitchFamily="49" charset="0"/>
            </a:endParaRPr>
          </a:p>
          <a:p>
            <a:r>
              <a:rPr lang="en-US" sz="1800">
                <a:solidFill>
                  <a:srgbClr val="0000FF"/>
                </a:solidFill>
                <a:latin typeface="Consolas" panose="020B0609020204030204" pitchFamily="49" charset="0"/>
              </a:rPr>
              <a:t>delete[]</a:t>
            </a:r>
            <a:r>
              <a:rPr lang="en-US" sz="1800">
                <a:solidFill>
                  <a:srgbClr val="000000"/>
                </a:solidFill>
                <a:latin typeface="Consolas" panose="020B0609020204030204" pitchFamily="49" charset="0"/>
              </a:rPr>
              <a:t>M[</a:t>
            </a:r>
            <a:r>
              <a:rPr lang="en-US" sz="1800" err="1">
                <a:solidFill>
                  <a:srgbClr val="000000"/>
                </a:solidFill>
                <a:latin typeface="Consolas" panose="020B0609020204030204" pitchFamily="49" charset="0"/>
              </a:rPr>
              <a:t>i</a:t>
            </a:r>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delete[]</a:t>
            </a:r>
            <a:r>
              <a:rPr lang="en-US" sz="1800">
                <a:solidFill>
                  <a:srgbClr val="000000"/>
                </a:solidFill>
                <a:latin typeface="Consolas" panose="020B0609020204030204" pitchFamily="49" charset="0"/>
              </a:rPr>
              <a:t>M;</a:t>
            </a:r>
            <a:endParaRPr lang="en-US"/>
          </a:p>
        </p:txBody>
      </p:sp>
    </p:spTree>
    <p:extLst>
      <p:ext uri="{BB962C8B-B14F-4D97-AF65-F5344CB8AC3E}">
        <p14:creationId xmlns:p14="http://schemas.microsoft.com/office/powerpoint/2010/main" val="3892034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2BC581A-8173-4528-A023-0EAB72ECDFF0}"/>
              </a:ext>
            </a:extLst>
          </p:cNvPr>
          <p:cNvSpPr>
            <a:spLocks noGrp="1"/>
          </p:cNvSpPr>
          <p:nvPr>
            <p:ph type="sldNum" sz="quarter" idx="12"/>
          </p:nvPr>
        </p:nvSpPr>
        <p:spPr/>
        <p:txBody>
          <a:bodyPr/>
          <a:lstStyle/>
          <a:p>
            <a:pPr>
              <a:defRPr/>
            </a:pPr>
            <a:fld id="{355A14EE-212F-C340-AA6F-3CD01D2E706B}" type="slidenum">
              <a:rPr lang="en-US" altLang="en-US"/>
              <a:pPr>
                <a:defRPr/>
              </a:pPr>
              <a:t>21</a:t>
            </a:fld>
            <a:endParaRPr lang="en-US" altLang="en-US"/>
          </a:p>
        </p:txBody>
      </p:sp>
      <p:sp>
        <p:nvSpPr>
          <p:cNvPr id="21507" name="Rectangle 2">
            <a:extLst>
              <a:ext uri="{FF2B5EF4-FFF2-40B4-BE49-F238E27FC236}">
                <a16:creationId xmlns:a16="http://schemas.microsoft.com/office/drawing/2014/main" id="{34D3D2A5-C756-44C3-9769-271054A0A224}"/>
              </a:ext>
            </a:extLst>
          </p:cNvPr>
          <p:cNvSpPr>
            <a:spLocks noGrp="1" noChangeArrowheads="1"/>
          </p:cNvSpPr>
          <p:nvPr>
            <p:ph type="title"/>
          </p:nvPr>
        </p:nvSpPr>
        <p:spPr/>
        <p:txBody>
          <a:bodyPr/>
          <a:lstStyle/>
          <a:p>
            <a:pPr eaLnBrk="1" hangingPunct="1">
              <a:defRPr/>
            </a:pPr>
            <a:r>
              <a:rPr lang="en-US" altLang="en-US"/>
              <a:t>Cài đặt mảng nhiều hơn 2 chiều</a:t>
            </a:r>
          </a:p>
        </p:txBody>
      </p:sp>
      <p:sp>
        <p:nvSpPr>
          <p:cNvPr id="21508" name="Rectangle 3">
            <a:extLst>
              <a:ext uri="{FF2B5EF4-FFF2-40B4-BE49-F238E27FC236}">
                <a16:creationId xmlns:a16="http://schemas.microsoft.com/office/drawing/2014/main" id="{7AE8BE46-FC4F-674C-B62A-9D06A779BA4C}"/>
              </a:ext>
            </a:extLst>
          </p:cNvPr>
          <p:cNvSpPr>
            <a:spLocks noGrp="1" noChangeArrowheads="1"/>
          </p:cNvSpPr>
          <p:nvPr>
            <p:ph type="body" sz="quarter" idx="13"/>
          </p:nvPr>
        </p:nvSpPr>
        <p:spPr/>
        <p:txBody>
          <a:bodyPr/>
          <a:lstStyle/>
          <a:p>
            <a:pPr eaLnBrk="1" hangingPunct="1"/>
            <a:r>
              <a:rPr lang="en-US" altLang="en-US" sz="2600">
                <a:cs typeface="Times New Roman" panose="02020603050405020304" pitchFamily="18" charset="0"/>
              </a:rPr>
              <a:t>Đối với mảng nhiều hơn hai chiều, ta nhớ lại cách chuyển đổi tương đương trong phần trước, là cách chuyển đổi từ các mảng nhiều chiều sang các mảng ít chiều hơn. </a:t>
            </a:r>
          </a:p>
          <a:p>
            <a:pPr eaLnBrk="1" hangingPunct="1"/>
            <a:r>
              <a:rPr lang="en-US" altLang="en-US" sz="2600">
                <a:cs typeface="Times New Roman" panose="02020603050405020304" pitchFamily="18" charset="0"/>
              </a:rPr>
              <a:t>Cụ thể, mảng 3 chiều là một mảng một chiều của các mảng hai chiều. Mà cách lưu trữ mảng 1 chiều và mảng hai chiều ta đã tìm hiểu ở phần trên, nên việc lưu trữ mảng 3 chiều không gặp khó khăn gì. </a:t>
            </a:r>
          </a:p>
          <a:p>
            <a:pPr eaLnBrk="1" hangingPunct="1"/>
            <a:r>
              <a:rPr lang="en-US" altLang="en-US" sz="2600">
                <a:cs typeface="Times New Roman" panose="02020603050405020304" pitchFamily="18" charset="0"/>
              </a:rPr>
              <a:t>Từ cách cài đặt được mảng 3 chiều, chúng ta dễ dang suy ra cách cài đặt các mảng 4, 5,</a:t>
            </a:r>
            <a:r>
              <a:rPr lang="en-US" altLang="en-US" sz="2600">
                <a:latin typeface="Times" pitchFamily="2" charset="0"/>
                <a:cs typeface="Times New Roman" panose="02020603050405020304" pitchFamily="18" charset="0"/>
              </a:rPr>
              <a:t>...</a:t>
            </a:r>
            <a:r>
              <a:rPr lang="en-US" altLang="en-US" sz="2600">
                <a:cs typeface="Times New Roman" panose="02020603050405020304" pitchFamily="18" charset="0"/>
              </a:rPr>
              <a:t>, N chiều. </a:t>
            </a:r>
            <a:endParaRPr lang="en-US" altLang="en-US" sz="2600"/>
          </a:p>
        </p:txBody>
      </p:sp>
    </p:spTree>
    <p:extLst>
      <p:ext uri="{BB962C8B-B14F-4D97-AF65-F5344CB8AC3E}">
        <p14:creationId xmlns:p14="http://schemas.microsoft.com/office/powerpoint/2010/main" val="2789133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22</a:t>
            </a:fld>
            <a:endParaRPr lang="en-US"/>
          </a:p>
        </p:txBody>
      </p:sp>
      <p:sp>
        <p:nvSpPr>
          <p:cNvPr id="2" name="Title 1"/>
          <p:cNvSpPr>
            <a:spLocks noGrp="1"/>
          </p:cNvSpPr>
          <p:nvPr>
            <p:ph type="title"/>
          </p:nvPr>
        </p:nvSpPr>
        <p:spPr/>
        <p:txBody>
          <a:bodyPr>
            <a:normAutofit fontScale="90000"/>
          </a:bodyPr>
          <a:lstStyle/>
          <a:p>
            <a:r>
              <a:rPr lang="en-US" err="1"/>
              <a:t>Bài</a:t>
            </a:r>
            <a:r>
              <a:rPr lang="en-US"/>
              <a:t> </a:t>
            </a:r>
            <a:r>
              <a:rPr lang="en-US" err="1"/>
              <a:t>toán</a:t>
            </a:r>
            <a:r>
              <a:rPr lang="en-US"/>
              <a:t> </a:t>
            </a:r>
            <a:r>
              <a:rPr lang="en-US" err="1"/>
              <a:t>sắp</a:t>
            </a:r>
            <a:r>
              <a:rPr lang="en-US"/>
              <a:t> </a:t>
            </a:r>
            <a:r>
              <a:rPr lang="en-US" err="1"/>
              <a:t>xếp</a:t>
            </a:r>
            <a:r>
              <a:rPr lang="en-US"/>
              <a:t> </a:t>
            </a:r>
            <a:r>
              <a:rPr lang="en-US" err="1"/>
              <a:t>trên</a:t>
            </a:r>
            <a:r>
              <a:rPr lang="en-US"/>
              <a:t> </a:t>
            </a:r>
            <a:r>
              <a:rPr lang="en-US" err="1"/>
              <a:t>cấu</a:t>
            </a:r>
            <a:r>
              <a:rPr lang="en-US"/>
              <a:t> </a:t>
            </a:r>
            <a:r>
              <a:rPr lang="en-US" err="1"/>
              <a:t>trúc</a:t>
            </a:r>
            <a:r>
              <a:rPr lang="en-US"/>
              <a:t> </a:t>
            </a:r>
            <a:r>
              <a:rPr lang="en-US" err="1"/>
              <a:t>mảng</a:t>
            </a:r>
            <a:endParaRPr lang="en-US"/>
          </a:p>
        </p:txBody>
      </p:sp>
      <p:sp>
        <p:nvSpPr>
          <p:cNvPr id="3" name="Content Placeholder 2"/>
          <p:cNvSpPr>
            <a:spLocks noGrp="1"/>
          </p:cNvSpPr>
          <p:nvPr>
            <p:ph type="body" sz="quarter" idx="13"/>
          </p:nvPr>
        </p:nvSpPr>
        <p:spPr/>
        <p:txBody>
          <a:bodyPr/>
          <a:lstStyle/>
          <a:p>
            <a:r>
              <a:rPr lang="en-US" err="1"/>
              <a:t>Sắp</a:t>
            </a:r>
            <a:r>
              <a:rPr lang="en-US"/>
              <a:t> </a:t>
            </a:r>
            <a:r>
              <a:rPr lang="en-US" err="1"/>
              <a:t>xếp</a:t>
            </a:r>
            <a:r>
              <a:rPr lang="en-US"/>
              <a:t> </a:t>
            </a:r>
            <a:r>
              <a:rPr lang="en-US" err="1"/>
              <a:t>cơ</a:t>
            </a:r>
            <a:r>
              <a:rPr lang="en-US"/>
              <a:t> </a:t>
            </a:r>
            <a:r>
              <a:rPr lang="en-US" err="1"/>
              <a:t>bản</a:t>
            </a:r>
            <a:endParaRPr lang="en-US"/>
          </a:p>
          <a:p>
            <a:pPr lvl="1"/>
            <a:r>
              <a:rPr lang="en-US" err="1"/>
              <a:t>Sắp</a:t>
            </a:r>
            <a:r>
              <a:rPr lang="en-US"/>
              <a:t> </a:t>
            </a:r>
            <a:r>
              <a:rPr lang="en-US" err="1"/>
              <a:t>xếp</a:t>
            </a:r>
            <a:r>
              <a:rPr lang="en-US"/>
              <a:t> </a:t>
            </a:r>
            <a:r>
              <a:rPr lang="en-US" err="1"/>
              <a:t>kiểu</a:t>
            </a:r>
            <a:r>
              <a:rPr lang="en-US"/>
              <a:t> </a:t>
            </a:r>
            <a:r>
              <a:rPr lang="en-US" err="1"/>
              <a:t>lựa</a:t>
            </a:r>
            <a:r>
              <a:rPr lang="en-US"/>
              <a:t> </a:t>
            </a:r>
            <a:r>
              <a:rPr lang="en-US" err="1"/>
              <a:t>chọn</a:t>
            </a:r>
            <a:r>
              <a:rPr lang="en-US"/>
              <a:t> (Selection - sort)</a:t>
            </a:r>
          </a:p>
          <a:p>
            <a:pPr lvl="1"/>
            <a:r>
              <a:rPr lang="en-US" err="1"/>
              <a:t>Sắp</a:t>
            </a:r>
            <a:r>
              <a:rPr lang="en-US"/>
              <a:t> </a:t>
            </a:r>
            <a:r>
              <a:rPr lang="en-US" err="1"/>
              <a:t>xếp</a:t>
            </a:r>
            <a:r>
              <a:rPr lang="en-US"/>
              <a:t> </a:t>
            </a:r>
            <a:r>
              <a:rPr lang="en-US" err="1"/>
              <a:t>thêm</a:t>
            </a:r>
            <a:r>
              <a:rPr lang="en-US"/>
              <a:t> </a:t>
            </a:r>
            <a:r>
              <a:rPr lang="en-US" err="1"/>
              <a:t>dần</a:t>
            </a:r>
            <a:r>
              <a:rPr lang="en-US"/>
              <a:t> (Insertion- sort)</a:t>
            </a:r>
          </a:p>
          <a:p>
            <a:pPr lvl="1"/>
            <a:r>
              <a:rPr lang="en-US" err="1"/>
              <a:t>Sắp</a:t>
            </a:r>
            <a:r>
              <a:rPr lang="en-US"/>
              <a:t> </a:t>
            </a:r>
            <a:r>
              <a:rPr lang="en-US" err="1"/>
              <a:t>xếp</a:t>
            </a:r>
            <a:r>
              <a:rPr lang="en-US"/>
              <a:t> </a:t>
            </a:r>
            <a:r>
              <a:rPr lang="en-US" err="1"/>
              <a:t>đổi</a:t>
            </a:r>
            <a:r>
              <a:rPr lang="en-US"/>
              <a:t> </a:t>
            </a:r>
            <a:r>
              <a:rPr lang="en-US" err="1"/>
              <a:t>chỗ</a:t>
            </a:r>
            <a:r>
              <a:rPr lang="en-US"/>
              <a:t> (Exchange/Bubble - sort)</a:t>
            </a:r>
          </a:p>
          <a:p>
            <a:r>
              <a:rPr lang="en-US" err="1"/>
              <a:t>Sắp</a:t>
            </a:r>
            <a:r>
              <a:rPr lang="en-US"/>
              <a:t> </a:t>
            </a:r>
            <a:r>
              <a:rPr lang="en-US" err="1"/>
              <a:t>xếp</a:t>
            </a:r>
            <a:r>
              <a:rPr lang="en-US"/>
              <a:t> </a:t>
            </a:r>
            <a:r>
              <a:rPr lang="en-US" err="1"/>
              <a:t>nhanh</a:t>
            </a:r>
            <a:endParaRPr lang="en-US"/>
          </a:p>
        </p:txBody>
      </p:sp>
    </p:spTree>
    <p:extLst>
      <p:ext uri="{BB962C8B-B14F-4D97-AF65-F5344CB8AC3E}">
        <p14:creationId xmlns:p14="http://schemas.microsoft.com/office/powerpoint/2010/main" val="1414925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23</a:t>
            </a:fld>
            <a:endParaRPr lang="en-US"/>
          </a:p>
        </p:txBody>
      </p:sp>
      <p:sp>
        <p:nvSpPr>
          <p:cNvPr id="2" name="Title 1"/>
          <p:cNvSpPr>
            <a:spLocks noGrp="1"/>
          </p:cNvSpPr>
          <p:nvPr>
            <p:ph type="title"/>
          </p:nvPr>
        </p:nvSpPr>
        <p:spPr/>
        <p:txBody>
          <a:bodyPr/>
          <a:lstStyle/>
          <a:p>
            <a:r>
              <a:rPr lang="en-US" err="1"/>
              <a:t>Điều</a:t>
            </a:r>
            <a:r>
              <a:rPr lang="en-US"/>
              <a:t> </a:t>
            </a:r>
            <a:r>
              <a:rPr lang="en-US" err="1"/>
              <a:t>kiện</a:t>
            </a:r>
            <a:r>
              <a:rPr lang="en-US"/>
              <a:t> </a:t>
            </a:r>
            <a:r>
              <a:rPr lang="en-US" err="1"/>
              <a:t>bài</a:t>
            </a:r>
            <a:r>
              <a:rPr lang="en-US"/>
              <a:t> </a:t>
            </a:r>
            <a:r>
              <a:rPr lang="en-US" err="1"/>
              <a:t>toán</a:t>
            </a:r>
            <a:r>
              <a:rPr lang="en-US"/>
              <a:t> </a:t>
            </a:r>
            <a:r>
              <a:rPr lang="en-US" err="1"/>
              <a:t>sắp</a:t>
            </a:r>
            <a:r>
              <a:rPr lang="en-US"/>
              <a:t> </a:t>
            </a:r>
            <a:r>
              <a:rPr lang="en-US" err="1"/>
              <a:t>xếp</a:t>
            </a:r>
            <a:endParaRPr lang="en-US"/>
          </a:p>
        </p:txBody>
      </p:sp>
      <p:sp>
        <p:nvSpPr>
          <p:cNvPr id="3" name="Content Placeholder 2"/>
          <p:cNvSpPr>
            <a:spLocks noGrp="1"/>
          </p:cNvSpPr>
          <p:nvPr>
            <p:ph type="body" sz="quarter" idx="13"/>
          </p:nvPr>
        </p:nvSpPr>
        <p:spPr/>
        <p:txBody>
          <a:bodyPr/>
          <a:lstStyle/>
          <a:p>
            <a:r>
              <a:rPr lang="en-US" err="1"/>
              <a:t>Dãy</a:t>
            </a:r>
            <a:r>
              <a:rPr lang="en-US"/>
              <a:t> A </a:t>
            </a:r>
            <a:r>
              <a:rPr lang="en-US" err="1"/>
              <a:t>có</a:t>
            </a:r>
            <a:r>
              <a:rPr lang="en-US"/>
              <a:t> n </a:t>
            </a:r>
            <a:r>
              <a:rPr lang="en-US" err="1"/>
              <a:t>phần</a:t>
            </a:r>
            <a:r>
              <a:rPr lang="en-US"/>
              <a:t> </a:t>
            </a:r>
            <a:r>
              <a:rPr lang="en-US" err="1"/>
              <a:t>tử</a:t>
            </a:r>
            <a:r>
              <a:rPr lang="en-US"/>
              <a:t> : A[1], A[2],…,A[n]</a:t>
            </a:r>
          </a:p>
          <a:p>
            <a:r>
              <a:rPr lang="en-US" err="1"/>
              <a:t>Sắp</a:t>
            </a:r>
            <a:r>
              <a:rPr lang="en-US"/>
              <a:t> </a:t>
            </a:r>
            <a:r>
              <a:rPr lang="en-US" err="1"/>
              <a:t>xếp</a:t>
            </a:r>
            <a:r>
              <a:rPr lang="en-US"/>
              <a:t> </a:t>
            </a:r>
            <a:r>
              <a:rPr lang="en-US" err="1"/>
              <a:t>dãy</a:t>
            </a:r>
            <a:r>
              <a:rPr lang="en-US"/>
              <a:t> A </a:t>
            </a:r>
            <a:r>
              <a:rPr lang="en-US" err="1"/>
              <a:t>theo</a:t>
            </a:r>
            <a:r>
              <a:rPr lang="en-US"/>
              <a:t> </a:t>
            </a:r>
            <a:r>
              <a:rPr lang="en-US" err="1"/>
              <a:t>thứ</a:t>
            </a:r>
            <a:r>
              <a:rPr lang="en-US"/>
              <a:t> </a:t>
            </a:r>
            <a:r>
              <a:rPr lang="en-US" err="1"/>
              <a:t>tự</a:t>
            </a:r>
            <a:r>
              <a:rPr lang="en-US"/>
              <a:t> </a:t>
            </a:r>
            <a:r>
              <a:rPr lang="en-US" err="1"/>
              <a:t>tăng</a:t>
            </a:r>
            <a:r>
              <a:rPr lang="en-US"/>
              <a:t> </a:t>
            </a:r>
            <a:r>
              <a:rPr lang="en-US" err="1"/>
              <a:t>dần</a:t>
            </a:r>
            <a:r>
              <a:rPr lang="en-US"/>
              <a:t> </a:t>
            </a:r>
            <a:r>
              <a:rPr lang="en-US" err="1"/>
              <a:t>hoặc</a:t>
            </a:r>
            <a:r>
              <a:rPr lang="en-US"/>
              <a:t> </a:t>
            </a:r>
            <a:r>
              <a:rPr lang="en-US" err="1"/>
              <a:t>giảm</a:t>
            </a:r>
            <a:r>
              <a:rPr lang="en-US"/>
              <a:t> </a:t>
            </a:r>
            <a:r>
              <a:rPr lang="en-US" err="1"/>
              <a:t>dần</a:t>
            </a:r>
            <a:r>
              <a:rPr lang="en-US"/>
              <a:t> </a:t>
            </a:r>
          </a:p>
          <a:p>
            <a:endParaRPr lang="en-US"/>
          </a:p>
        </p:txBody>
      </p:sp>
    </p:spTree>
    <p:extLst>
      <p:ext uri="{BB962C8B-B14F-4D97-AF65-F5344CB8AC3E}">
        <p14:creationId xmlns:p14="http://schemas.microsoft.com/office/powerpoint/2010/main" val="1522461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24</a:t>
            </a:fld>
            <a:endParaRPr lang="en-US"/>
          </a:p>
        </p:txBody>
      </p:sp>
      <p:sp>
        <p:nvSpPr>
          <p:cNvPr id="2" name="Title 1"/>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kiểu</a:t>
            </a:r>
            <a:r>
              <a:rPr lang="en-US"/>
              <a:t> </a:t>
            </a:r>
            <a:r>
              <a:rPr lang="en-US" err="1"/>
              <a:t>lựa</a:t>
            </a:r>
            <a:r>
              <a:rPr lang="en-US"/>
              <a:t> chọn (Selection - sort)</a:t>
            </a:r>
          </a:p>
        </p:txBody>
      </p:sp>
      <p:sp>
        <p:nvSpPr>
          <p:cNvPr id="15" name="Chỗ dành sẵn cho Văn bản 14">
            <a:extLst>
              <a:ext uri="{FF2B5EF4-FFF2-40B4-BE49-F238E27FC236}">
                <a16:creationId xmlns:a16="http://schemas.microsoft.com/office/drawing/2014/main" id="{5D5118F3-2CA5-011E-5089-6D726FA2016F}"/>
              </a:ext>
            </a:extLst>
          </p:cNvPr>
          <p:cNvSpPr>
            <a:spLocks noGrp="1"/>
          </p:cNvSpPr>
          <p:nvPr>
            <p:ph type="body" sz="quarter" idx="13"/>
          </p:nvPr>
        </p:nvSpPr>
        <p:spPr>
          <a:xfrm>
            <a:off x="234950" y="963168"/>
            <a:ext cx="8674100" cy="675791"/>
          </a:xfrm>
        </p:spPr>
        <p:txBody>
          <a:bodyPr/>
          <a:lstStyle/>
          <a:p>
            <a:endParaRPr lang="vi-VN"/>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2433037524"/>
              </p:ext>
            </p:extLst>
          </p:nvPr>
        </p:nvGraphicFramePr>
        <p:xfrm>
          <a:off x="0" y="0"/>
          <a:ext cx="0" cy="0"/>
        </p:xfrm>
        <a:graphic>
          <a:graphicData uri="http://schemas.openxmlformats.org/drawingml/2006/table">
            <a:tbl>
              <a:tblPr firstRow="1" bandRow="1">
                <a:tableStyleId>{2D5ABB26-0587-4C30-8999-92F81FD0307C}</a:tableStyleId>
              </a:tblPr>
              <a:tblGrid>
                <a:gridCol w="25400">
                  <a:extLst>
                    <a:ext uri="{9D8B030D-6E8A-4147-A177-3AD203B41FA5}">
                      <a16:colId xmlns:a16="http://schemas.microsoft.com/office/drawing/2014/main" val="20000"/>
                    </a:ext>
                  </a:extLst>
                </a:gridCol>
                <a:gridCol w="25400">
                  <a:extLst>
                    <a:ext uri="{9D8B030D-6E8A-4147-A177-3AD203B41FA5}">
                      <a16:colId xmlns:a16="http://schemas.microsoft.com/office/drawing/2014/main" val="20001"/>
                    </a:ext>
                  </a:extLst>
                </a:gridCol>
                <a:gridCol w="25400">
                  <a:extLst>
                    <a:ext uri="{9D8B030D-6E8A-4147-A177-3AD203B41FA5}">
                      <a16:colId xmlns:a16="http://schemas.microsoft.com/office/drawing/2014/main" val="20002"/>
                    </a:ext>
                  </a:extLst>
                </a:gridCol>
                <a:gridCol w="25400">
                  <a:extLst>
                    <a:ext uri="{9D8B030D-6E8A-4147-A177-3AD203B41FA5}">
                      <a16:colId xmlns:a16="http://schemas.microsoft.com/office/drawing/2014/main" val="20003"/>
                    </a:ext>
                  </a:extLst>
                </a:gridCol>
                <a:gridCol w="25400">
                  <a:extLst>
                    <a:ext uri="{9D8B030D-6E8A-4147-A177-3AD203B41FA5}">
                      <a16:colId xmlns:a16="http://schemas.microsoft.com/office/drawing/2014/main" val="20004"/>
                    </a:ext>
                  </a:extLst>
                </a:gridCol>
                <a:gridCol w="25400">
                  <a:extLst>
                    <a:ext uri="{9D8B030D-6E8A-4147-A177-3AD203B41FA5}">
                      <a16:colId xmlns:a16="http://schemas.microsoft.com/office/drawing/2014/main" val="20005"/>
                    </a:ext>
                  </a:extLst>
                </a:gridCol>
                <a:gridCol w="25400">
                  <a:extLst>
                    <a:ext uri="{9D8B030D-6E8A-4147-A177-3AD203B41FA5}">
                      <a16:colId xmlns:a16="http://schemas.microsoft.com/office/drawing/2014/main" val="20006"/>
                    </a:ext>
                  </a:extLst>
                </a:gridCol>
                <a:gridCol w="25400">
                  <a:extLst>
                    <a:ext uri="{9D8B030D-6E8A-4147-A177-3AD203B41FA5}">
                      <a16:colId xmlns:a16="http://schemas.microsoft.com/office/drawing/2014/main" val="20007"/>
                    </a:ext>
                  </a:extLst>
                </a:gridCol>
                <a:gridCol w="25400">
                  <a:extLst>
                    <a:ext uri="{9D8B030D-6E8A-4147-A177-3AD203B41FA5}">
                      <a16:colId xmlns:a16="http://schemas.microsoft.com/office/drawing/2014/main" val="20008"/>
                    </a:ext>
                  </a:extLst>
                </a:gridCol>
                <a:gridCol w="25400">
                  <a:extLst>
                    <a:ext uri="{9D8B030D-6E8A-4147-A177-3AD203B41FA5}">
                      <a16:colId xmlns:a16="http://schemas.microsoft.com/office/drawing/2014/main" val="20009"/>
                    </a:ext>
                  </a:extLst>
                </a:gridCol>
              </a:tblGrid>
              <a:tr h="370840">
                <a:tc>
                  <a:txBody>
                    <a:bodyPr/>
                    <a:lstStyle/>
                    <a:p>
                      <a:r>
                        <a:rPr lang="en-US"/>
                        <a:t>No.</a:t>
                      </a:r>
                    </a:p>
                  </a:txBody>
                  <a:tcPr marL="0" marR="0"/>
                </a:tc>
                <a:tc>
                  <a:txBody>
                    <a:bodyPr/>
                    <a:lstStyle/>
                    <a:p>
                      <a:r>
                        <a:rPr lang="en-US"/>
                        <a:t>Min</a:t>
                      </a:r>
                    </a:p>
                  </a:txBody>
                  <a:tcPr marL="0" marR="0"/>
                </a:tc>
                <a:tc>
                  <a:txBody>
                    <a:bodyPr/>
                    <a:lstStyle/>
                    <a:p>
                      <a:r>
                        <a:rPr lang="en-US"/>
                        <a:t>A[1]</a:t>
                      </a:r>
                    </a:p>
                    <a:p>
                      <a:r>
                        <a:rPr lang="en-US"/>
                        <a:t>32</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A[2]</a:t>
                      </a:r>
                    </a:p>
                    <a:p>
                      <a:r>
                        <a:rPr lang="en-US"/>
                        <a:t>51</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A[3]</a:t>
                      </a:r>
                    </a:p>
                    <a:p>
                      <a:r>
                        <a:rPr lang="en-US"/>
                        <a:t>27</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A[4]</a:t>
                      </a:r>
                    </a:p>
                    <a:p>
                      <a:r>
                        <a:rPr lang="en-US"/>
                        <a:t>83</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A[5]</a:t>
                      </a:r>
                    </a:p>
                    <a:p>
                      <a:r>
                        <a:rPr lang="en-US"/>
                        <a:t>66</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A[6]</a:t>
                      </a:r>
                    </a:p>
                    <a:p>
                      <a:r>
                        <a:rPr lang="en-US"/>
                        <a:t>11</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A[7]</a:t>
                      </a:r>
                    </a:p>
                    <a:p>
                      <a:r>
                        <a:rPr lang="en-US"/>
                        <a:t>45</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A[8]</a:t>
                      </a:r>
                    </a:p>
                    <a:p>
                      <a:r>
                        <a:rPr lang="en-US"/>
                        <a:t>75</a:t>
                      </a:r>
                    </a:p>
                  </a:txBody>
                  <a:tcPr marL="0" marR="0"/>
                </a:tc>
                <a:extLst>
                  <a:ext uri="{0D108BD9-81ED-4DB2-BD59-A6C34878D82A}">
                    <a16:rowId xmlns:a16="http://schemas.microsoft.com/office/drawing/2014/main" val="10000"/>
                  </a:ext>
                </a:extLst>
              </a:tr>
              <a:tr h="286352">
                <a:tc>
                  <a:txBody>
                    <a:bodyPr/>
                    <a:lstStyle/>
                    <a:p>
                      <a:r>
                        <a:rPr lang="en-US"/>
                        <a:t>1</a:t>
                      </a:r>
                    </a:p>
                  </a:txBody>
                  <a:tcPr marL="0" marR="0"/>
                </a:tc>
                <a:tc>
                  <a:txBody>
                    <a:bodyPr/>
                    <a:lstStyle/>
                    <a:p>
                      <a:r>
                        <a:rPr lang="en-US"/>
                        <a:t>11</a:t>
                      </a:r>
                    </a:p>
                  </a:txBody>
                  <a:tcPr marL="0" marR="0"/>
                </a:tc>
                <a:tc>
                  <a:txBody>
                    <a:bodyPr/>
                    <a:lstStyle/>
                    <a:p>
                      <a:r>
                        <a:rPr lang="en-US"/>
                        <a:t>11</a:t>
                      </a:r>
                    </a:p>
                  </a:txBody>
                  <a:tcPr marL="0" marR="0"/>
                </a:tc>
                <a:tc>
                  <a:txBody>
                    <a:bodyPr/>
                    <a:lstStyle/>
                    <a:p>
                      <a:r>
                        <a:rPr lang="en-US"/>
                        <a:t>51</a:t>
                      </a:r>
                    </a:p>
                  </a:txBody>
                  <a:tcPr marL="0" marR="0"/>
                </a:tc>
                <a:tc>
                  <a:txBody>
                    <a:bodyPr/>
                    <a:lstStyle/>
                    <a:p>
                      <a:r>
                        <a:rPr lang="en-US"/>
                        <a:t>27</a:t>
                      </a:r>
                    </a:p>
                  </a:txBody>
                  <a:tcPr marL="0" marR="0"/>
                </a:tc>
                <a:tc>
                  <a:txBody>
                    <a:bodyPr/>
                    <a:lstStyle/>
                    <a:p>
                      <a:r>
                        <a:rPr lang="en-US"/>
                        <a:t>83</a:t>
                      </a:r>
                    </a:p>
                  </a:txBody>
                  <a:tcPr marL="0" marR="0"/>
                </a:tc>
                <a:tc>
                  <a:txBody>
                    <a:bodyPr/>
                    <a:lstStyle/>
                    <a:p>
                      <a:r>
                        <a:rPr lang="en-US"/>
                        <a:t>66</a:t>
                      </a:r>
                    </a:p>
                  </a:txBody>
                  <a:tcPr marL="0" marR="0"/>
                </a:tc>
                <a:tc>
                  <a:txBody>
                    <a:bodyPr/>
                    <a:lstStyle/>
                    <a:p>
                      <a:r>
                        <a:rPr lang="en-US"/>
                        <a:t>32</a:t>
                      </a:r>
                    </a:p>
                  </a:txBody>
                  <a:tcPr marL="0" marR="0"/>
                </a:tc>
                <a:tc>
                  <a:txBody>
                    <a:bodyPr/>
                    <a:lstStyle/>
                    <a:p>
                      <a:r>
                        <a:rPr lang="en-US"/>
                        <a:t>45</a:t>
                      </a:r>
                    </a:p>
                  </a:txBody>
                  <a:tcPr marL="0" marR="0"/>
                </a:tc>
                <a:tc>
                  <a:txBody>
                    <a:bodyPr/>
                    <a:lstStyle/>
                    <a:p>
                      <a:r>
                        <a:rPr lang="en-US"/>
                        <a:t>75</a:t>
                      </a:r>
                    </a:p>
                  </a:txBody>
                  <a:tcPr marL="0" marR="0"/>
                </a:tc>
                <a:extLst>
                  <a:ext uri="{0D108BD9-81ED-4DB2-BD59-A6C34878D82A}">
                    <a16:rowId xmlns:a16="http://schemas.microsoft.com/office/drawing/2014/main" val="10001"/>
                  </a:ext>
                </a:extLst>
              </a:tr>
              <a:tr h="370840">
                <a:tc>
                  <a:txBody>
                    <a:bodyPr/>
                    <a:lstStyle/>
                    <a:p>
                      <a:r>
                        <a:rPr lang="en-US"/>
                        <a:t>2</a:t>
                      </a:r>
                    </a:p>
                  </a:txBody>
                  <a:tcPr marL="0" marR="0"/>
                </a:tc>
                <a:tc>
                  <a:txBody>
                    <a:bodyPr/>
                    <a:lstStyle/>
                    <a:p>
                      <a:r>
                        <a:rPr lang="en-US"/>
                        <a:t>27</a:t>
                      </a:r>
                    </a:p>
                  </a:txBody>
                  <a:tcPr marL="0" marR="0"/>
                </a:tc>
                <a:tc>
                  <a:txBody>
                    <a:bodyPr/>
                    <a:lstStyle/>
                    <a:p>
                      <a:r>
                        <a:rPr lang="en-US"/>
                        <a:t>11</a:t>
                      </a:r>
                    </a:p>
                  </a:txBody>
                  <a:tcPr marL="0" marR="0"/>
                </a:tc>
                <a:tc>
                  <a:txBody>
                    <a:bodyPr/>
                    <a:lstStyle/>
                    <a:p>
                      <a:r>
                        <a:rPr lang="en-US"/>
                        <a:t>27</a:t>
                      </a:r>
                    </a:p>
                  </a:txBody>
                  <a:tcPr marL="0" marR="0"/>
                </a:tc>
                <a:tc>
                  <a:txBody>
                    <a:bodyPr/>
                    <a:lstStyle/>
                    <a:p>
                      <a:r>
                        <a:rPr lang="en-US"/>
                        <a:t>51</a:t>
                      </a:r>
                    </a:p>
                  </a:txBody>
                  <a:tcPr marL="0" marR="0"/>
                </a:tc>
                <a:tc>
                  <a:txBody>
                    <a:bodyPr/>
                    <a:lstStyle/>
                    <a:p>
                      <a:r>
                        <a:rPr lang="en-US"/>
                        <a:t>83</a:t>
                      </a:r>
                    </a:p>
                  </a:txBody>
                  <a:tcPr marL="0" marR="0"/>
                </a:tc>
                <a:tc>
                  <a:txBody>
                    <a:bodyPr/>
                    <a:lstStyle/>
                    <a:p>
                      <a:r>
                        <a:rPr lang="en-US"/>
                        <a:t>66</a:t>
                      </a:r>
                    </a:p>
                  </a:txBody>
                  <a:tcPr marL="0" marR="0"/>
                </a:tc>
                <a:tc>
                  <a:txBody>
                    <a:bodyPr/>
                    <a:lstStyle/>
                    <a:p>
                      <a:r>
                        <a:rPr lang="en-US"/>
                        <a:t>32</a:t>
                      </a:r>
                    </a:p>
                  </a:txBody>
                  <a:tcPr marL="0" marR="0"/>
                </a:tc>
                <a:tc>
                  <a:txBody>
                    <a:bodyPr/>
                    <a:lstStyle/>
                    <a:p>
                      <a:r>
                        <a:rPr lang="en-US"/>
                        <a:t>45</a:t>
                      </a:r>
                    </a:p>
                  </a:txBody>
                  <a:tcPr marL="0" marR="0"/>
                </a:tc>
                <a:tc>
                  <a:txBody>
                    <a:bodyPr/>
                    <a:lstStyle/>
                    <a:p>
                      <a:r>
                        <a:rPr lang="en-US"/>
                        <a:t>75</a:t>
                      </a:r>
                    </a:p>
                  </a:txBody>
                  <a:tcPr marL="0" marR="0"/>
                </a:tc>
                <a:extLst>
                  <a:ext uri="{0D108BD9-81ED-4DB2-BD59-A6C34878D82A}">
                    <a16:rowId xmlns:a16="http://schemas.microsoft.com/office/drawing/2014/main" val="10002"/>
                  </a:ext>
                </a:extLst>
              </a:tr>
              <a:tr h="370840">
                <a:tc>
                  <a:txBody>
                    <a:bodyPr/>
                    <a:lstStyle/>
                    <a:p>
                      <a:r>
                        <a:rPr lang="en-US"/>
                        <a:t>3</a:t>
                      </a:r>
                    </a:p>
                  </a:txBody>
                  <a:tcPr marL="0" marR="0"/>
                </a:tc>
                <a:tc>
                  <a:txBody>
                    <a:bodyPr/>
                    <a:lstStyle/>
                    <a:p>
                      <a:r>
                        <a:rPr lang="en-US"/>
                        <a:t>32</a:t>
                      </a:r>
                    </a:p>
                  </a:txBody>
                  <a:tcPr marL="0" marR="0"/>
                </a:tc>
                <a:tc>
                  <a:txBody>
                    <a:bodyPr/>
                    <a:lstStyle/>
                    <a:p>
                      <a:r>
                        <a:rPr lang="en-US"/>
                        <a:t>11</a:t>
                      </a:r>
                    </a:p>
                  </a:txBody>
                  <a:tcPr marL="0" marR="0"/>
                </a:tc>
                <a:tc>
                  <a:txBody>
                    <a:bodyPr/>
                    <a:lstStyle/>
                    <a:p>
                      <a:r>
                        <a:rPr lang="en-US"/>
                        <a:t>27</a:t>
                      </a:r>
                    </a:p>
                  </a:txBody>
                  <a:tcPr marL="0" marR="0"/>
                </a:tc>
                <a:tc>
                  <a:txBody>
                    <a:bodyPr/>
                    <a:lstStyle/>
                    <a:p>
                      <a:r>
                        <a:rPr lang="en-US"/>
                        <a:t>32</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83</a:t>
                      </a:r>
                    </a:p>
                  </a:txBody>
                  <a:tcPr marL="0" marR="0"/>
                </a:tc>
                <a:tc>
                  <a:txBody>
                    <a:bodyPr/>
                    <a:lstStyle/>
                    <a:p>
                      <a:r>
                        <a:rPr lang="en-US"/>
                        <a:t>66</a:t>
                      </a:r>
                    </a:p>
                  </a:txBody>
                  <a:tcPr marL="0" marR="0"/>
                </a:tc>
                <a:tc>
                  <a:txBody>
                    <a:bodyPr/>
                    <a:lstStyle/>
                    <a:p>
                      <a:r>
                        <a:rPr lang="en-US"/>
                        <a:t>51</a:t>
                      </a:r>
                    </a:p>
                  </a:txBody>
                  <a:tcPr marL="0" marR="0"/>
                </a:tc>
                <a:tc>
                  <a:txBody>
                    <a:bodyPr/>
                    <a:lstStyle/>
                    <a:p>
                      <a:r>
                        <a:rPr lang="en-US"/>
                        <a:t>45</a:t>
                      </a:r>
                    </a:p>
                  </a:txBody>
                  <a:tcPr marL="0" marR="0"/>
                </a:tc>
                <a:tc>
                  <a:txBody>
                    <a:bodyPr/>
                    <a:lstStyle/>
                    <a:p>
                      <a:r>
                        <a:rPr lang="en-US"/>
                        <a:t>75</a:t>
                      </a:r>
                    </a:p>
                  </a:txBody>
                  <a:tcPr marL="0" marR="0"/>
                </a:tc>
                <a:extLst>
                  <a:ext uri="{0D108BD9-81ED-4DB2-BD59-A6C34878D82A}">
                    <a16:rowId xmlns:a16="http://schemas.microsoft.com/office/drawing/2014/main" val="10003"/>
                  </a:ext>
                </a:extLst>
              </a:tr>
              <a:tr h="370840">
                <a:tc>
                  <a:txBody>
                    <a:bodyPr/>
                    <a:lstStyle/>
                    <a:p>
                      <a:r>
                        <a:rPr lang="en-US"/>
                        <a:t>4</a:t>
                      </a:r>
                    </a:p>
                  </a:txBody>
                  <a:tcPr marL="0" marR="0"/>
                </a:tc>
                <a:tc>
                  <a:txBody>
                    <a:bodyPr/>
                    <a:lstStyle/>
                    <a:p>
                      <a:r>
                        <a:rPr lang="en-US"/>
                        <a:t>45</a:t>
                      </a:r>
                    </a:p>
                  </a:txBody>
                  <a:tcPr marL="0" marR="0"/>
                </a:tc>
                <a:tc>
                  <a:txBody>
                    <a:bodyPr/>
                    <a:lstStyle/>
                    <a:p>
                      <a:r>
                        <a:rPr lang="en-US"/>
                        <a:t>11</a:t>
                      </a:r>
                    </a:p>
                  </a:txBody>
                  <a:tcPr marL="0" marR="0"/>
                </a:tc>
                <a:tc>
                  <a:txBody>
                    <a:bodyPr/>
                    <a:lstStyle/>
                    <a:p>
                      <a:r>
                        <a:rPr lang="en-US"/>
                        <a:t>27</a:t>
                      </a:r>
                    </a:p>
                  </a:txBody>
                  <a:tcPr marL="0" marR="0"/>
                </a:tc>
                <a:tc>
                  <a:txBody>
                    <a:bodyPr/>
                    <a:lstStyle/>
                    <a:p>
                      <a:r>
                        <a:rPr lang="en-US"/>
                        <a:t>32</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45</a:t>
                      </a:r>
                    </a:p>
                  </a:txBody>
                  <a:tcPr marL="0" marR="0"/>
                </a:tc>
                <a:tc>
                  <a:txBody>
                    <a:bodyPr/>
                    <a:lstStyle/>
                    <a:p>
                      <a:r>
                        <a:rPr lang="en-US"/>
                        <a:t>66</a:t>
                      </a:r>
                    </a:p>
                  </a:txBody>
                  <a:tcPr marL="0" marR="0"/>
                </a:tc>
                <a:tc>
                  <a:txBody>
                    <a:bodyPr/>
                    <a:lstStyle/>
                    <a:p>
                      <a:r>
                        <a:rPr lang="en-US"/>
                        <a:t>51</a:t>
                      </a:r>
                    </a:p>
                  </a:txBody>
                  <a:tcPr marL="0" marR="0"/>
                </a:tc>
                <a:tc>
                  <a:txBody>
                    <a:bodyPr/>
                    <a:lstStyle/>
                    <a:p>
                      <a:r>
                        <a:rPr lang="en-US"/>
                        <a:t>45</a:t>
                      </a:r>
                    </a:p>
                  </a:txBody>
                  <a:tcPr marL="0" marR="0"/>
                </a:tc>
                <a:tc>
                  <a:txBody>
                    <a:bodyPr/>
                    <a:lstStyle/>
                    <a:p>
                      <a:r>
                        <a:rPr lang="en-US"/>
                        <a:t>75</a:t>
                      </a:r>
                    </a:p>
                  </a:txBody>
                  <a:tcPr marL="0" marR="0"/>
                </a:tc>
                <a:extLst>
                  <a:ext uri="{0D108BD9-81ED-4DB2-BD59-A6C34878D82A}">
                    <a16:rowId xmlns:a16="http://schemas.microsoft.com/office/drawing/2014/main" val="10004"/>
                  </a:ext>
                </a:extLst>
              </a:tr>
              <a:tr h="370840">
                <a:tc>
                  <a:txBody>
                    <a:bodyPr/>
                    <a:lstStyle/>
                    <a:p>
                      <a:r>
                        <a:rPr lang="en-US"/>
                        <a:t>5</a:t>
                      </a:r>
                    </a:p>
                  </a:txBody>
                  <a:tcPr marL="0" marR="0"/>
                </a:tc>
                <a:tc>
                  <a:txBody>
                    <a:bodyPr/>
                    <a:lstStyle/>
                    <a:p>
                      <a:r>
                        <a:rPr lang="en-US"/>
                        <a:t>51</a:t>
                      </a:r>
                    </a:p>
                  </a:txBody>
                  <a:tcPr marL="0" marR="0"/>
                </a:tc>
                <a:tc>
                  <a:txBody>
                    <a:bodyPr/>
                    <a:lstStyle/>
                    <a:p>
                      <a:r>
                        <a:rPr lang="en-US"/>
                        <a:t>11</a:t>
                      </a:r>
                    </a:p>
                  </a:txBody>
                  <a:tcPr marL="0" marR="0"/>
                </a:tc>
                <a:tc>
                  <a:txBody>
                    <a:bodyPr/>
                    <a:lstStyle/>
                    <a:p>
                      <a:r>
                        <a:rPr lang="en-US"/>
                        <a:t>27</a:t>
                      </a:r>
                    </a:p>
                  </a:txBody>
                  <a:tcPr marL="0" marR="0"/>
                </a:tc>
                <a:tc>
                  <a:txBody>
                    <a:bodyPr/>
                    <a:lstStyle/>
                    <a:p>
                      <a:r>
                        <a:rPr lang="en-US"/>
                        <a:t>32</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45</a:t>
                      </a:r>
                    </a:p>
                  </a:txBody>
                  <a:tcPr marL="0" marR="0"/>
                </a:tc>
                <a:tc>
                  <a:txBody>
                    <a:bodyPr/>
                    <a:lstStyle/>
                    <a:p>
                      <a:r>
                        <a:rPr lang="en-US"/>
                        <a:t>51</a:t>
                      </a:r>
                    </a:p>
                  </a:txBody>
                  <a:tcPr marL="0" marR="0"/>
                </a:tc>
                <a:tc>
                  <a:txBody>
                    <a:bodyPr/>
                    <a:lstStyle/>
                    <a:p>
                      <a:r>
                        <a:rPr lang="en-US"/>
                        <a:t>66</a:t>
                      </a:r>
                    </a:p>
                  </a:txBody>
                  <a:tcPr marL="0" marR="0"/>
                </a:tc>
                <a:tc>
                  <a:txBody>
                    <a:bodyPr/>
                    <a:lstStyle/>
                    <a:p>
                      <a:r>
                        <a:rPr lang="en-US"/>
                        <a:t>83</a:t>
                      </a:r>
                    </a:p>
                  </a:txBody>
                  <a:tcPr marL="0" marR="0"/>
                </a:tc>
                <a:tc>
                  <a:txBody>
                    <a:bodyPr/>
                    <a:lstStyle/>
                    <a:p>
                      <a:r>
                        <a:rPr lang="en-US"/>
                        <a:t>75</a:t>
                      </a:r>
                    </a:p>
                  </a:txBody>
                  <a:tcPr marL="0" marR="0"/>
                </a:tc>
                <a:extLst>
                  <a:ext uri="{0D108BD9-81ED-4DB2-BD59-A6C34878D82A}">
                    <a16:rowId xmlns:a16="http://schemas.microsoft.com/office/drawing/2014/main" val="10005"/>
                  </a:ext>
                </a:extLst>
              </a:tr>
              <a:tr h="370840">
                <a:tc>
                  <a:txBody>
                    <a:bodyPr/>
                    <a:lstStyle/>
                    <a:p>
                      <a:r>
                        <a:rPr lang="en-US"/>
                        <a:t>6</a:t>
                      </a:r>
                    </a:p>
                  </a:txBody>
                  <a:tcPr marL="0" marR="0"/>
                </a:tc>
                <a:tc>
                  <a:txBody>
                    <a:bodyPr/>
                    <a:lstStyle/>
                    <a:p>
                      <a:r>
                        <a:rPr lang="en-US"/>
                        <a:t>66</a:t>
                      </a:r>
                    </a:p>
                  </a:txBody>
                  <a:tcPr marL="0" marR="0"/>
                </a:tc>
                <a:tc>
                  <a:txBody>
                    <a:bodyPr/>
                    <a:lstStyle/>
                    <a:p>
                      <a:r>
                        <a:rPr lang="en-US"/>
                        <a:t>11</a:t>
                      </a:r>
                    </a:p>
                  </a:txBody>
                  <a:tcPr marL="0" marR="0"/>
                </a:tc>
                <a:tc>
                  <a:txBody>
                    <a:bodyPr/>
                    <a:lstStyle/>
                    <a:p>
                      <a:r>
                        <a:rPr lang="en-US"/>
                        <a:t>27</a:t>
                      </a:r>
                    </a:p>
                  </a:txBody>
                  <a:tcPr marL="0" marR="0"/>
                </a:tc>
                <a:tc>
                  <a:txBody>
                    <a:bodyPr/>
                    <a:lstStyle/>
                    <a:p>
                      <a:r>
                        <a:rPr lang="en-US"/>
                        <a:t>32</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45</a:t>
                      </a:r>
                    </a:p>
                  </a:txBody>
                  <a:tcPr marL="0" marR="0"/>
                </a:tc>
                <a:tc>
                  <a:txBody>
                    <a:bodyPr/>
                    <a:lstStyle/>
                    <a:p>
                      <a:r>
                        <a:rPr lang="en-US"/>
                        <a:t>51</a:t>
                      </a:r>
                    </a:p>
                  </a:txBody>
                  <a:tcPr marL="0" marR="0"/>
                </a:tc>
                <a:tc>
                  <a:txBody>
                    <a:bodyPr/>
                    <a:lstStyle/>
                    <a:p>
                      <a:r>
                        <a:rPr lang="en-US"/>
                        <a:t>66</a:t>
                      </a:r>
                    </a:p>
                  </a:txBody>
                  <a:tcPr marL="0" marR="0"/>
                </a:tc>
                <a:tc>
                  <a:txBody>
                    <a:bodyPr/>
                    <a:lstStyle/>
                    <a:p>
                      <a:r>
                        <a:rPr lang="en-US"/>
                        <a:t>83</a:t>
                      </a:r>
                    </a:p>
                  </a:txBody>
                  <a:tcPr marL="0" marR="0"/>
                </a:tc>
                <a:tc>
                  <a:txBody>
                    <a:bodyPr/>
                    <a:lstStyle/>
                    <a:p>
                      <a:r>
                        <a:rPr lang="en-US"/>
                        <a:t>75</a:t>
                      </a:r>
                    </a:p>
                  </a:txBody>
                  <a:tcPr marL="0" marR="0"/>
                </a:tc>
                <a:extLst>
                  <a:ext uri="{0D108BD9-81ED-4DB2-BD59-A6C34878D82A}">
                    <a16:rowId xmlns:a16="http://schemas.microsoft.com/office/drawing/2014/main" val="10006"/>
                  </a:ext>
                </a:extLst>
              </a:tr>
              <a:tr h="370840">
                <a:tc>
                  <a:txBody>
                    <a:bodyPr/>
                    <a:lstStyle/>
                    <a:p>
                      <a:r>
                        <a:rPr lang="en-US"/>
                        <a:t>7</a:t>
                      </a:r>
                    </a:p>
                  </a:txBody>
                  <a:tcPr marL="0" marR="0"/>
                </a:tc>
                <a:tc>
                  <a:txBody>
                    <a:bodyPr/>
                    <a:lstStyle/>
                    <a:p>
                      <a:r>
                        <a:rPr lang="en-US"/>
                        <a:t>75</a:t>
                      </a:r>
                    </a:p>
                  </a:txBody>
                  <a:tcPr marL="0" marR="0"/>
                </a:tc>
                <a:tc>
                  <a:txBody>
                    <a:bodyPr/>
                    <a:lstStyle/>
                    <a:p>
                      <a:r>
                        <a:rPr lang="en-US"/>
                        <a:t>11</a:t>
                      </a:r>
                    </a:p>
                  </a:txBody>
                  <a:tcPr marL="0" marR="0"/>
                </a:tc>
                <a:tc>
                  <a:txBody>
                    <a:bodyPr/>
                    <a:lstStyle/>
                    <a:p>
                      <a:r>
                        <a:rPr lang="en-US"/>
                        <a:t>27</a:t>
                      </a:r>
                    </a:p>
                  </a:txBody>
                  <a:tcPr marL="0" marR="0"/>
                </a:tc>
                <a:tc>
                  <a:txBody>
                    <a:bodyPr/>
                    <a:lstStyle/>
                    <a:p>
                      <a:r>
                        <a:rPr lang="en-US"/>
                        <a:t>32</a:t>
                      </a:r>
                    </a:p>
                  </a:txBody>
                  <a:tcPr marL="0" marR="0"/>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45</a:t>
                      </a:r>
                    </a:p>
                  </a:txBody>
                  <a:tcPr marL="0" marR="0"/>
                </a:tc>
                <a:tc>
                  <a:txBody>
                    <a:bodyPr/>
                    <a:lstStyle/>
                    <a:p>
                      <a:r>
                        <a:rPr lang="en-US"/>
                        <a:t>51</a:t>
                      </a:r>
                    </a:p>
                  </a:txBody>
                  <a:tcPr marL="0" marR="0"/>
                </a:tc>
                <a:tc>
                  <a:txBody>
                    <a:bodyPr/>
                    <a:lstStyle/>
                    <a:p>
                      <a:r>
                        <a:rPr lang="en-US"/>
                        <a:t>66</a:t>
                      </a:r>
                    </a:p>
                  </a:txBody>
                  <a:tcPr marL="0" marR="0"/>
                </a:tc>
                <a:tc>
                  <a:txBody>
                    <a:bodyPr/>
                    <a:lstStyle/>
                    <a:p>
                      <a:r>
                        <a:rPr lang="en-US"/>
                        <a:t>75</a:t>
                      </a:r>
                    </a:p>
                  </a:txBody>
                  <a:tcPr marL="0" marR="0"/>
                </a:tc>
                <a:tc>
                  <a:txBody>
                    <a:bodyPr/>
                    <a:lstStyle/>
                    <a:p>
                      <a:r>
                        <a:rPr lang="en-US"/>
                        <a:t>83</a:t>
                      </a:r>
                    </a:p>
                  </a:txBody>
                  <a:tcPr marL="0" marR="0"/>
                </a:tc>
                <a:extLst>
                  <a:ext uri="{0D108BD9-81ED-4DB2-BD59-A6C34878D82A}">
                    <a16:rowId xmlns:a16="http://schemas.microsoft.com/office/drawing/2014/main" val="10007"/>
                  </a:ext>
                </a:extLst>
              </a:tr>
            </a:tbl>
          </a:graphicData>
        </a:graphic>
      </p:graphicFrame>
      <p:sp>
        <p:nvSpPr>
          <p:cNvPr id="3" name="TextBox 2"/>
          <p:cNvSpPr txBox="1"/>
          <p:nvPr/>
        </p:nvSpPr>
        <p:spPr>
          <a:xfrm>
            <a:off x="457200" y="5387474"/>
            <a:ext cx="8339221" cy="646331"/>
          </a:xfrm>
          <a:prstGeom prst="rect">
            <a:avLst/>
          </a:prstGeom>
          <a:noFill/>
        </p:spPr>
        <p:txBody>
          <a:bodyPr wrap="square" rtlCol="0">
            <a:spAutoFit/>
          </a:bodyPr>
          <a:lstStyle/>
          <a:p>
            <a:r>
              <a:rPr lang="en-US" err="1"/>
              <a:t>Chiến</a:t>
            </a:r>
            <a:r>
              <a:rPr lang="en-US"/>
              <a:t> </a:t>
            </a:r>
            <a:r>
              <a:rPr lang="en-US" err="1"/>
              <a:t>thuật</a:t>
            </a:r>
            <a:r>
              <a:rPr lang="en-US"/>
              <a:t>: </a:t>
            </a:r>
            <a:r>
              <a:rPr lang="en-US" err="1"/>
              <a:t>Chọn</a:t>
            </a:r>
            <a:r>
              <a:rPr lang="en-US"/>
              <a:t> </a:t>
            </a:r>
            <a:r>
              <a:rPr lang="en-US" err="1"/>
              <a:t>số</a:t>
            </a:r>
            <a:r>
              <a:rPr lang="en-US"/>
              <a:t> </a:t>
            </a:r>
            <a:r>
              <a:rPr lang="en-US" err="1"/>
              <a:t>nhỏ</a:t>
            </a:r>
            <a:r>
              <a:rPr lang="en-US"/>
              <a:t> </a:t>
            </a:r>
            <a:r>
              <a:rPr lang="en-US" err="1"/>
              <a:t>nhất</a:t>
            </a:r>
            <a:r>
              <a:rPr lang="en-US"/>
              <a:t> </a:t>
            </a:r>
            <a:r>
              <a:rPr lang="en-US" err="1"/>
              <a:t>trong</a:t>
            </a:r>
            <a:r>
              <a:rPr lang="en-US"/>
              <a:t> </a:t>
            </a:r>
            <a:r>
              <a:rPr lang="en-US" err="1"/>
              <a:t>dãy</a:t>
            </a:r>
            <a:r>
              <a:rPr lang="en-US"/>
              <a:t> </a:t>
            </a:r>
            <a:r>
              <a:rPr lang="en-US" err="1"/>
              <a:t>chưa</a:t>
            </a:r>
            <a:r>
              <a:rPr lang="en-US"/>
              <a:t> </a:t>
            </a:r>
            <a:r>
              <a:rPr lang="en-US" err="1"/>
              <a:t>được</a:t>
            </a:r>
            <a:r>
              <a:rPr lang="en-US"/>
              <a:t> </a:t>
            </a:r>
            <a:r>
              <a:rPr lang="en-US" err="1"/>
              <a:t>sắp</a:t>
            </a:r>
            <a:r>
              <a:rPr lang="en-US"/>
              <a:t> </a:t>
            </a:r>
            <a:r>
              <a:rPr lang="en-US" err="1"/>
              <a:t>xếp</a:t>
            </a:r>
            <a:r>
              <a:rPr lang="en-US"/>
              <a:t> </a:t>
            </a:r>
            <a:r>
              <a:rPr lang="en-US" err="1"/>
              <a:t>và</a:t>
            </a:r>
            <a:r>
              <a:rPr lang="en-US"/>
              <a:t> </a:t>
            </a:r>
            <a:r>
              <a:rPr lang="en-US" err="1"/>
              <a:t>đổi</a:t>
            </a:r>
            <a:r>
              <a:rPr lang="en-US"/>
              <a:t> </a:t>
            </a:r>
            <a:r>
              <a:rPr lang="en-US" err="1"/>
              <a:t>chỗ</a:t>
            </a:r>
            <a:r>
              <a:rPr lang="en-US"/>
              <a:t> </a:t>
            </a:r>
            <a:r>
              <a:rPr lang="en-US" err="1"/>
              <a:t>với</a:t>
            </a:r>
            <a:r>
              <a:rPr lang="en-US"/>
              <a:t> </a:t>
            </a:r>
            <a:r>
              <a:rPr lang="en-US" err="1"/>
              <a:t>số</a:t>
            </a:r>
            <a:r>
              <a:rPr lang="en-US"/>
              <a:t> </a:t>
            </a:r>
            <a:r>
              <a:rPr lang="en-US" err="1"/>
              <a:t>đang</a:t>
            </a:r>
            <a:r>
              <a:rPr lang="en-US"/>
              <a:t> </a:t>
            </a:r>
            <a:r>
              <a:rPr lang="en-US" err="1"/>
              <a:t>chiếm</a:t>
            </a:r>
            <a:r>
              <a:rPr lang="en-US"/>
              <a:t> </a:t>
            </a:r>
            <a:r>
              <a:rPr lang="en-US" err="1"/>
              <a:t>vị</a:t>
            </a:r>
            <a:r>
              <a:rPr lang="en-US"/>
              <a:t> </a:t>
            </a:r>
            <a:r>
              <a:rPr lang="en-US" err="1"/>
              <a:t>trí</a:t>
            </a:r>
            <a:r>
              <a:rPr lang="en-US"/>
              <a:t> </a:t>
            </a:r>
            <a:r>
              <a:rPr lang="en-US" err="1"/>
              <a:t>đầu</a:t>
            </a:r>
            <a:r>
              <a:rPr lang="en-US"/>
              <a:t> </a:t>
            </a:r>
            <a:r>
              <a:rPr lang="en-US" err="1"/>
              <a:t>tiên</a:t>
            </a:r>
            <a:r>
              <a:rPr lang="en-US"/>
              <a:t> </a:t>
            </a:r>
            <a:r>
              <a:rPr lang="en-US" err="1"/>
              <a:t>của</a:t>
            </a:r>
            <a:r>
              <a:rPr lang="en-US"/>
              <a:t> </a:t>
            </a:r>
            <a:r>
              <a:rPr lang="en-US" err="1"/>
              <a:t>dãy</a:t>
            </a:r>
            <a:r>
              <a:rPr lang="en-US"/>
              <a:t> </a:t>
            </a:r>
            <a:r>
              <a:rPr lang="en-US" err="1"/>
              <a:t>này</a:t>
            </a:r>
            <a:r>
              <a:rPr lang="en-US"/>
              <a:t> </a:t>
            </a:r>
          </a:p>
        </p:txBody>
      </p:sp>
      <p:graphicFrame>
        <p:nvGraphicFramePr>
          <p:cNvPr id="17" name="Bảng 16">
            <a:extLst>
              <a:ext uri="{FF2B5EF4-FFF2-40B4-BE49-F238E27FC236}">
                <a16:creationId xmlns:a16="http://schemas.microsoft.com/office/drawing/2014/main" id="{5C0B2035-C489-7041-86F0-DF1B38FE8B4E}"/>
              </a:ext>
            </a:extLst>
          </p:cNvPr>
          <p:cNvGraphicFramePr>
            <a:graphicFrameLocks noGrp="1"/>
          </p:cNvGraphicFramePr>
          <p:nvPr>
            <p:extLst>
              <p:ext uri="{D42A27DB-BD31-4B8C-83A1-F6EECF244321}">
                <p14:modId xmlns:p14="http://schemas.microsoft.com/office/powerpoint/2010/main" val="1620066532"/>
              </p:ext>
            </p:extLst>
          </p:nvPr>
        </p:nvGraphicFramePr>
        <p:xfrm>
          <a:off x="628650" y="1888343"/>
          <a:ext cx="7886700" cy="3081313"/>
        </p:xfrm>
        <a:graphic>
          <a:graphicData uri="http://schemas.openxmlformats.org/drawingml/2006/table">
            <a:tbl>
              <a:tblPr/>
              <a:tblGrid>
                <a:gridCol w="788670">
                  <a:extLst>
                    <a:ext uri="{9D8B030D-6E8A-4147-A177-3AD203B41FA5}">
                      <a16:colId xmlns:a16="http://schemas.microsoft.com/office/drawing/2014/main" val="564767262"/>
                    </a:ext>
                  </a:extLst>
                </a:gridCol>
                <a:gridCol w="788670">
                  <a:extLst>
                    <a:ext uri="{9D8B030D-6E8A-4147-A177-3AD203B41FA5}">
                      <a16:colId xmlns:a16="http://schemas.microsoft.com/office/drawing/2014/main" val="4232300781"/>
                    </a:ext>
                  </a:extLst>
                </a:gridCol>
                <a:gridCol w="788670">
                  <a:extLst>
                    <a:ext uri="{9D8B030D-6E8A-4147-A177-3AD203B41FA5}">
                      <a16:colId xmlns:a16="http://schemas.microsoft.com/office/drawing/2014/main" val="1690410501"/>
                    </a:ext>
                  </a:extLst>
                </a:gridCol>
                <a:gridCol w="788670">
                  <a:extLst>
                    <a:ext uri="{9D8B030D-6E8A-4147-A177-3AD203B41FA5}">
                      <a16:colId xmlns:a16="http://schemas.microsoft.com/office/drawing/2014/main" val="2742026585"/>
                    </a:ext>
                  </a:extLst>
                </a:gridCol>
                <a:gridCol w="788670">
                  <a:extLst>
                    <a:ext uri="{9D8B030D-6E8A-4147-A177-3AD203B41FA5}">
                      <a16:colId xmlns:a16="http://schemas.microsoft.com/office/drawing/2014/main" val="279322187"/>
                    </a:ext>
                  </a:extLst>
                </a:gridCol>
                <a:gridCol w="788670">
                  <a:extLst>
                    <a:ext uri="{9D8B030D-6E8A-4147-A177-3AD203B41FA5}">
                      <a16:colId xmlns:a16="http://schemas.microsoft.com/office/drawing/2014/main" val="309617777"/>
                    </a:ext>
                  </a:extLst>
                </a:gridCol>
                <a:gridCol w="788670">
                  <a:extLst>
                    <a:ext uri="{9D8B030D-6E8A-4147-A177-3AD203B41FA5}">
                      <a16:colId xmlns:a16="http://schemas.microsoft.com/office/drawing/2014/main" val="2216770458"/>
                    </a:ext>
                  </a:extLst>
                </a:gridCol>
                <a:gridCol w="788670">
                  <a:extLst>
                    <a:ext uri="{9D8B030D-6E8A-4147-A177-3AD203B41FA5}">
                      <a16:colId xmlns:a16="http://schemas.microsoft.com/office/drawing/2014/main" val="2654927497"/>
                    </a:ext>
                  </a:extLst>
                </a:gridCol>
                <a:gridCol w="788670">
                  <a:extLst>
                    <a:ext uri="{9D8B030D-6E8A-4147-A177-3AD203B41FA5}">
                      <a16:colId xmlns:a16="http://schemas.microsoft.com/office/drawing/2014/main" val="29250636"/>
                    </a:ext>
                  </a:extLst>
                </a:gridCol>
                <a:gridCol w="788670">
                  <a:extLst>
                    <a:ext uri="{9D8B030D-6E8A-4147-A177-3AD203B41FA5}">
                      <a16:colId xmlns:a16="http://schemas.microsoft.com/office/drawing/2014/main" val="3253072634"/>
                    </a:ext>
                  </a:extLst>
                </a:gridCol>
              </a:tblGrid>
              <a:tr h="616263">
                <a:tc>
                  <a:txBody>
                    <a:bodyPr/>
                    <a:lstStyle/>
                    <a:p>
                      <a:pPr algn="l" fontAlgn="base"/>
                      <a:r>
                        <a:rPr lang="en-US" sz="1700" b="0" i="0">
                          <a:solidFill>
                            <a:srgbClr val="000000"/>
                          </a:solidFill>
                          <a:effectLst/>
                          <a:latin typeface="Calibri" panose="020F0502020204030204" pitchFamily="34" charset="0"/>
                        </a:rPr>
                        <a:t>No.​</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Min​</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A[1]​</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A[2]​</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A[3]​</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A[4]​</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A[5]​</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A[6]​</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A[7]​</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A[8]​</a:t>
                      </a:r>
                      <a:endParaRPr lang="en-US" sz="1700" b="0" i="0">
                        <a:solidFill>
                          <a:srgbClr val="000000"/>
                        </a:solidFill>
                        <a:effectLst/>
                      </a:endParaRPr>
                    </a:p>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41325198"/>
                  </a:ext>
                </a:extLst>
              </a:tr>
              <a:tr h="352150">
                <a:tc>
                  <a:txBody>
                    <a:bodyPr/>
                    <a:lstStyle/>
                    <a:p>
                      <a:pPr algn="l" fontAlgn="base"/>
                      <a:r>
                        <a:rPr lang="en-US" sz="1700" b="0" i="0">
                          <a:solidFill>
                            <a:srgbClr val="000000"/>
                          </a:solidFill>
                          <a:effectLst/>
                          <a:latin typeface="Calibri" panose="020F0502020204030204" pitchFamily="34" charset="0"/>
                        </a:rPr>
                        <a:t>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41721564"/>
                  </a:ext>
                </a:extLst>
              </a:tr>
              <a:tr h="352150">
                <a:tc>
                  <a:txBody>
                    <a:bodyPr/>
                    <a:lstStyle/>
                    <a:p>
                      <a:pPr algn="l" fontAlgn="base"/>
                      <a:r>
                        <a:rPr lang="en-US" sz="1700" b="0" i="0">
                          <a:solidFill>
                            <a:srgbClr val="000000"/>
                          </a:solidFill>
                          <a:effectLst/>
                          <a:latin typeface="Calibri" panose="020F0502020204030204" pitchFamily="34" charset="0"/>
                        </a:rPr>
                        <a:t>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931077189"/>
                  </a:ext>
                </a:extLst>
              </a:tr>
              <a:tr h="352150">
                <a:tc>
                  <a:txBody>
                    <a:bodyPr/>
                    <a:lstStyle/>
                    <a:p>
                      <a:pPr algn="l" fontAlgn="base"/>
                      <a:r>
                        <a:rPr lang="en-US" sz="1700" b="0" i="0">
                          <a:solidFill>
                            <a:srgbClr val="000000"/>
                          </a:solidFill>
                          <a:effectLst/>
                          <a:latin typeface="Calibri" panose="020F0502020204030204" pitchFamily="34" charset="0"/>
                        </a:rPr>
                        <a:t>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591283457"/>
                  </a:ext>
                </a:extLst>
              </a:tr>
              <a:tr h="352150">
                <a:tc>
                  <a:txBody>
                    <a:bodyPr/>
                    <a:lstStyle/>
                    <a:p>
                      <a:pPr algn="l" fontAlgn="base"/>
                      <a:r>
                        <a:rPr lang="en-US" sz="1700" b="0" i="0">
                          <a:solidFill>
                            <a:srgbClr val="000000"/>
                          </a:solidFill>
                          <a:effectLst/>
                          <a:latin typeface="Calibri" panose="020F0502020204030204" pitchFamily="34" charset="0"/>
                        </a:rPr>
                        <a:t>4​</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01185358"/>
                  </a:ext>
                </a:extLst>
              </a:tr>
              <a:tr h="352150">
                <a:tc>
                  <a:txBody>
                    <a:bodyPr/>
                    <a:lstStyle/>
                    <a:p>
                      <a:pPr algn="l" fontAlgn="base"/>
                      <a:r>
                        <a:rPr lang="en-US" sz="1700" b="0" i="0">
                          <a:solidFill>
                            <a:srgbClr val="000000"/>
                          </a:solidFill>
                          <a:effectLst/>
                          <a:latin typeface="Calibri" panose="020F0502020204030204" pitchFamily="34" charset="0"/>
                        </a:rPr>
                        <a:t>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393851760"/>
                  </a:ext>
                </a:extLst>
              </a:tr>
              <a:tr h="352150">
                <a:tc>
                  <a:txBody>
                    <a:bodyPr/>
                    <a:lstStyle/>
                    <a:p>
                      <a:pPr algn="l" fontAlgn="base"/>
                      <a:r>
                        <a:rPr lang="en-US" sz="1700" b="0" i="0">
                          <a:solidFill>
                            <a:srgbClr val="000000"/>
                          </a:solidFill>
                          <a:effectLst/>
                          <a:latin typeface="Calibri" panose="020F0502020204030204" pitchFamily="34" charset="0"/>
                        </a:rPr>
                        <a:t>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96065736"/>
                  </a:ext>
                </a:extLst>
              </a:tr>
              <a:tr h="352150">
                <a:tc>
                  <a:txBody>
                    <a:bodyPr/>
                    <a:lstStyle/>
                    <a:p>
                      <a:pPr algn="l" fontAlgn="base"/>
                      <a:r>
                        <a:rPr lang="en-US" sz="1700" b="0" i="0">
                          <a:solidFill>
                            <a:srgbClr val="000000"/>
                          </a:solidFill>
                          <a:effectLst/>
                          <a:latin typeface="Calibri" panose="020F0502020204030204" pitchFamily="34" charset="0"/>
                        </a:rPr>
                        <a:t>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11​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27​</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32​</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45​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51​</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66​</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75​</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panose="020F0502020204030204" pitchFamily="34" charset="0"/>
                        </a:rPr>
                        <a:t>83​</a:t>
                      </a:r>
                      <a:endParaRPr lang="en-US" sz="1700" b="0" i="0">
                        <a:solidFill>
                          <a:srgbClr val="000000"/>
                        </a:solidFill>
                        <a:effectLst/>
                      </a:endParaRPr>
                    </a:p>
                  </a:txBody>
                  <a:tcPr marL="88038" marR="88038" marT="44019" marB="44019">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460476168"/>
                  </a:ext>
                </a:extLst>
              </a:tr>
            </a:tbl>
          </a:graphicData>
        </a:graphic>
      </p:graphicFrame>
      <p:grpSp>
        <p:nvGrpSpPr>
          <p:cNvPr id="21" name="Group 14">
            <a:extLst>
              <a:ext uri="{FF2B5EF4-FFF2-40B4-BE49-F238E27FC236}">
                <a16:creationId xmlns:a16="http://schemas.microsoft.com/office/drawing/2014/main" id="{E17A38E4-0491-6920-70FF-8AC282013CBC}"/>
              </a:ext>
            </a:extLst>
          </p:cNvPr>
          <p:cNvGrpSpPr/>
          <p:nvPr/>
        </p:nvGrpSpPr>
        <p:grpSpPr>
          <a:xfrm>
            <a:off x="2286454" y="2209969"/>
            <a:ext cx="6006824" cy="2452394"/>
            <a:chOff x="2268228" y="2019105"/>
            <a:chExt cx="6006824" cy="2452394"/>
          </a:xfrm>
        </p:grpSpPr>
        <p:sp>
          <p:nvSpPr>
            <p:cNvPr id="23" name="Oval 7">
              <a:extLst>
                <a:ext uri="{FF2B5EF4-FFF2-40B4-BE49-F238E27FC236}">
                  <a16:creationId xmlns:a16="http://schemas.microsoft.com/office/drawing/2014/main" id="{87E57920-E43D-D79F-B4AE-62C9ABA0104F}"/>
                </a:ext>
              </a:extLst>
            </p:cNvPr>
            <p:cNvSpPr/>
            <p:nvPr/>
          </p:nvSpPr>
          <p:spPr>
            <a:xfrm>
              <a:off x="6269789" y="2019105"/>
              <a:ext cx="296779"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Oval 8">
              <a:extLst>
                <a:ext uri="{FF2B5EF4-FFF2-40B4-BE49-F238E27FC236}">
                  <a16:creationId xmlns:a16="http://schemas.microsoft.com/office/drawing/2014/main" id="{B1213ACA-A97F-442C-4EAB-0031C8BF5E7D}"/>
                </a:ext>
              </a:extLst>
            </p:cNvPr>
            <p:cNvSpPr/>
            <p:nvPr/>
          </p:nvSpPr>
          <p:spPr>
            <a:xfrm>
              <a:off x="6232357" y="2742722"/>
              <a:ext cx="409074" cy="267368"/>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Oval 9">
              <a:extLst>
                <a:ext uri="{FF2B5EF4-FFF2-40B4-BE49-F238E27FC236}">
                  <a16:creationId xmlns:a16="http://schemas.microsoft.com/office/drawing/2014/main" id="{DF9B4BC5-D370-384A-A1BE-0119B02880BD}"/>
                </a:ext>
              </a:extLst>
            </p:cNvPr>
            <p:cNvSpPr/>
            <p:nvPr/>
          </p:nvSpPr>
          <p:spPr>
            <a:xfrm>
              <a:off x="6232357" y="3433007"/>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Oval 10">
              <a:extLst>
                <a:ext uri="{FF2B5EF4-FFF2-40B4-BE49-F238E27FC236}">
                  <a16:creationId xmlns:a16="http://schemas.microsoft.com/office/drawing/2014/main" id="{8C9FDC16-FEE7-D9DB-11CD-09BE709C9DD4}"/>
                </a:ext>
              </a:extLst>
            </p:cNvPr>
            <p:cNvSpPr/>
            <p:nvPr/>
          </p:nvSpPr>
          <p:spPr>
            <a:xfrm>
              <a:off x="6232357" y="3785928"/>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Oval 11">
              <a:extLst>
                <a:ext uri="{FF2B5EF4-FFF2-40B4-BE49-F238E27FC236}">
                  <a16:creationId xmlns:a16="http://schemas.microsoft.com/office/drawing/2014/main" id="{88E480C5-3D0B-74BF-C8B2-DE9470DAE9B3}"/>
                </a:ext>
              </a:extLst>
            </p:cNvPr>
            <p:cNvSpPr/>
            <p:nvPr/>
          </p:nvSpPr>
          <p:spPr>
            <a:xfrm>
              <a:off x="7037137" y="3045315"/>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Oval 12">
              <a:extLst>
                <a:ext uri="{FF2B5EF4-FFF2-40B4-BE49-F238E27FC236}">
                  <a16:creationId xmlns:a16="http://schemas.microsoft.com/office/drawing/2014/main" id="{045F0C17-0197-3955-008F-61FC1291A4DF}"/>
                </a:ext>
              </a:extLst>
            </p:cNvPr>
            <p:cNvSpPr/>
            <p:nvPr/>
          </p:nvSpPr>
          <p:spPr>
            <a:xfrm>
              <a:off x="7865978" y="4141534"/>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Oval 13">
              <a:extLst>
                <a:ext uri="{FF2B5EF4-FFF2-40B4-BE49-F238E27FC236}">
                  <a16:creationId xmlns:a16="http://schemas.microsoft.com/office/drawing/2014/main" id="{F9DD5940-95E8-9FD9-3AD0-DB09186D2D7B}"/>
                </a:ext>
              </a:extLst>
            </p:cNvPr>
            <p:cNvSpPr/>
            <p:nvPr/>
          </p:nvSpPr>
          <p:spPr>
            <a:xfrm>
              <a:off x="3866949" y="2363529"/>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cxnSp>
          <p:nvCxnSpPr>
            <p:cNvPr id="33" name="Straight Connector 15">
              <a:extLst>
                <a:ext uri="{FF2B5EF4-FFF2-40B4-BE49-F238E27FC236}">
                  <a16:creationId xmlns:a16="http://schemas.microsoft.com/office/drawing/2014/main" id="{85C8301B-6347-BC05-02DA-3116FDEED718}"/>
                </a:ext>
              </a:extLst>
            </p:cNvPr>
            <p:cNvCxnSpPr/>
            <p:nvPr/>
          </p:nvCxnSpPr>
          <p:spPr>
            <a:xfrm>
              <a:off x="2268228" y="2313210"/>
              <a:ext cx="58687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17">
              <a:extLst>
                <a:ext uri="{FF2B5EF4-FFF2-40B4-BE49-F238E27FC236}">
                  <a16:creationId xmlns:a16="http://schemas.microsoft.com/office/drawing/2014/main" id="{F57C4604-BB8F-EE97-D778-8330F12A7E43}"/>
                </a:ext>
              </a:extLst>
            </p:cNvPr>
            <p:cNvCxnSpPr/>
            <p:nvPr/>
          </p:nvCxnSpPr>
          <p:spPr>
            <a:xfrm>
              <a:off x="3119659" y="2671743"/>
              <a:ext cx="5003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19">
              <a:extLst>
                <a:ext uri="{FF2B5EF4-FFF2-40B4-BE49-F238E27FC236}">
                  <a16:creationId xmlns:a16="http://schemas.microsoft.com/office/drawing/2014/main" id="{481D243D-A106-905B-D459-327648351326}"/>
                </a:ext>
              </a:extLst>
            </p:cNvPr>
            <p:cNvCxnSpPr/>
            <p:nvPr/>
          </p:nvCxnSpPr>
          <p:spPr>
            <a:xfrm>
              <a:off x="3903579" y="3005529"/>
              <a:ext cx="42244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21">
              <a:extLst>
                <a:ext uri="{FF2B5EF4-FFF2-40B4-BE49-F238E27FC236}">
                  <a16:creationId xmlns:a16="http://schemas.microsoft.com/office/drawing/2014/main" id="{53305141-0880-1A1B-70DE-2B15304BA23B}"/>
                </a:ext>
              </a:extLst>
            </p:cNvPr>
            <p:cNvCxnSpPr/>
            <p:nvPr/>
          </p:nvCxnSpPr>
          <p:spPr>
            <a:xfrm>
              <a:off x="4745789" y="3339420"/>
              <a:ext cx="338221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23">
              <a:extLst>
                <a:ext uri="{FF2B5EF4-FFF2-40B4-BE49-F238E27FC236}">
                  <a16:creationId xmlns:a16="http://schemas.microsoft.com/office/drawing/2014/main" id="{4FACC52C-C866-426F-4A30-00CB48ADBCA1}"/>
                </a:ext>
              </a:extLst>
            </p:cNvPr>
            <p:cNvCxnSpPr/>
            <p:nvPr/>
          </p:nvCxnSpPr>
          <p:spPr>
            <a:xfrm>
              <a:off x="5588000" y="3727112"/>
              <a:ext cx="25400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25">
              <a:extLst>
                <a:ext uri="{FF2B5EF4-FFF2-40B4-BE49-F238E27FC236}">
                  <a16:creationId xmlns:a16="http://schemas.microsoft.com/office/drawing/2014/main" id="{6D132390-D7E8-15FB-16EC-4174C8380E40}"/>
                </a:ext>
              </a:extLst>
            </p:cNvPr>
            <p:cNvCxnSpPr/>
            <p:nvPr/>
          </p:nvCxnSpPr>
          <p:spPr>
            <a:xfrm>
              <a:off x="6443579" y="4101430"/>
              <a:ext cx="16844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27">
              <a:extLst>
                <a:ext uri="{FF2B5EF4-FFF2-40B4-BE49-F238E27FC236}">
                  <a16:creationId xmlns:a16="http://schemas.microsoft.com/office/drawing/2014/main" id="{7BF6ACAD-82C2-2162-6054-459FE04766DF}"/>
                </a:ext>
              </a:extLst>
            </p:cNvPr>
            <p:cNvCxnSpPr/>
            <p:nvPr/>
          </p:nvCxnSpPr>
          <p:spPr>
            <a:xfrm>
              <a:off x="7232158" y="4471499"/>
              <a:ext cx="868947" cy="0"/>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89161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25</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lựa</a:t>
            </a:r>
            <a:r>
              <a:rPr lang="en-US"/>
              <a:t> </a:t>
            </a:r>
            <a:r>
              <a:rPr lang="en-US" err="1"/>
              <a:t>chọn</a:t>
            </a:r>
            <a:endParaRPr lang="en-US"/>
          </a:p>
        </p:txBody>
      </p:sp>
      <p:sp>
        <p:nvSpPr>
          <p:cNvPr id="3" name="Content Placeholder 2"/>
          <p:cNvSpPr>
            <a:spLocks noGrp="1"/>
          </p:cNvSpPr>
          <p:nvPr>
            <p:ph type="body" sz="quarter" idx="13"/>
          </p:nvPr>
        </p:nvSpPr>
        <p:spPr/>
        <p:txBody>
          <a:bodyPr/>
          <a:lstStyle/>
          <a:p>
            <a:r>
              <a:rPr lang="en-US" err="1"/>
              <a:t>Bước</a:t>
            </a:r>
            <a:r>
              <a:rPr lang="en-US"/>
              <a:t> 1: </a:t>
            </a:r>
            <a:r>
              <a:rPr lang="en-US" err="1"/>
              <a:t>Thiết</a:t>
            </a:r>
            <a:r>
              <a:rPr lang="en-US"/>
              <a:t> </a:t>
            </a:r>
            <a:r>
              <a:rPr lang="en-US" err="1"/>
              <a:t>lập</a:t>
            </a:r>
            <a:r>
              <a:rPr lang="en-US"/>
              <a:t> Min = 1 </a:t>
            </a:r>
            <a:r>
              <a:rPr lang="en-US" err="1"/>
              <a:t>là</a:t>
            </a:r>
            <a:r>
              <a:rPr lang="en-US"/>
              <a:t> </a:t>
            </a:r>
            <a:r>
              <a:rPr lang="en-US" err="1"/>
              <a:t>vị</a:t>
            </a:r>
            <a:r>
              <a:rPr lang="en-US"/>
              <a:t> </a:t>
            </a:r>
            <a:r>
              <a:rPr lang="en-US" err="1"/>
              <a:t>trí</a:t>
            </a:r>
            <a:r>
              <a:rPr lang="en-US"/>
              <a:t> </a:t>
            </a:r>
            <a:r>
              <a:rPr lang="en-US" err="1"/>
              <a:t>đầu</a:t>
            </a:r>
            <a:r>
              <a:rPr lang="en-US"/>
              <a:t> </a:t>
            </a:r>
            <a:r>
              <a:rPr lang="en-US" err="1"/>
              <a:t>tiên</a:t>
            </a:r>
            <a:r>
              <a:rPr lang="en-US"/>
              <a:t> </a:t>
            </a:r>
            <a:r>
              <a:rPr lang="en-US" err="1"/>
              <a:t>của</a:t>
            </a:r>
            <a:r>
              <a:rPr lang="en-US"/>
              <a:t> </a:t>
            </a:r>
            <a:r>
              <a:rPr lang="en-US" err="1"/>
              <a:t>dãy</a:t>
            </a:r>
            <a:endParaRPr lang="en-US"/>
          </a:p>
          <a:p>
            <a:r>
              <a:rPr lang="en-US" err="1"/>
              <a:t>Bước</a:t>
            </a:r>
            <a:r>
              <a:rPr lang="en-US"/>
              <a:t> 2: </a:t>
            </a:r>
            <a:r>
              <a:rPr lang="en-US" err="1"/>
              <a:t>Tìm</a:t>
            </a:r>
            <a:r>
              <a:rPr lang="en-US"/>
              <a:t> </a:t>
            </a:r>
            <a:r>
              <a:rPr lang="en-US" err="1"/>
              <a:t>kiếm</a:t>
            </a:r>
            <a:r>
              <a:rPr lang="en-US"/>
              <a:t> </a:t>
            </a:r>
            <a:r>
              <a:rPr lang="en-US" err="1"/>
              <a:t>phần</a:t>
            </a:r>
            <a:r>
              <a:rPr lang="en-US"/>
              <a:t> </a:t>
            </a:r>
            <a:r>
              <a:rPr lang="en-US" err="1"/>
              <a:t>tử</a:t>
            </a:r>
            <a:r>
              <a:rPr lang="en-US"/>
              <a:t> </a:t>
            </a:r>
            <a:r>
              <a:rPr lang="en-US" err="1"/>
              <a:t>nhỏ</a:t>
            </a:r>
            <a:r>
              <a:rPr lang="en-US"/>
              <a:t> </a:t>
            </a:r>
            <a:r>
              <a:rPr lang="en-US" err="1"/>
              <a:t>nhất</a:t>
            </a:r>
            <a:r>
              <a:rPr lang="en-US"/>
              <a:t> </a:t>
            </a:r>
            <a:r>
              <a:rPr lang="en-US" err="1"/>
              <a:t>trong</a:t>
            </a:r>
            <a:r>
              <a:rPr lang="en-US"/>
              <a:t> </a:t>
            </a:r>
            <a:r>
              <a:rPr lang="en-US" err="1"/>
              <a:t>danh</a:t>
            </a:r>
            <a:r>
              <a:rPr lang="en-US"/>
              <a:t> </a:t>
            </a:r>
            <a:r>
              <a:rPr lang="en-US" err="1"/>
              <a:t>sách</a:t>
            </a:r>
            <a:r>
              <a:rPr lang="en-US"/>
              <a:t> </a:t>
            </a:r>
          </a:p>
          <a:p>
            <a:r>
              <a:rPr lang="en-US" err="1"/>
              <a:t>Bước</a:t>
            </a:r>
            <a:r>
              <a:rPr lang="en-US"/>
              <a:t> 3: </a:t>
            </a:r>
            <a:r>
              <a:rPr lang="en-US" err="1"/>
              <a:t>Tráo</a:t>
            </a:r>
            <a:r>
              <a:rPr lang="en-US"/>
              <a:t> </a:t>
            </a:r>
            <a:r>
              <a:rPr lang="en-US" err="1"/>
              <a:t>đổi</a:t>
            </a:r>
            <a:r>
              <a:rPr lang="en-US"/>
              <a:t> </a:t>
            </a:r>
            <a:r>
              <a:rPr lang="en-US" err="1"/>
              <a:t>giá</a:t>
            </a:r>
            <a:r>
              <a:rPr lang="en-US"/>
              <a:t> </a:t>
            </a:r>
            <a:r>
              <a:rPr lang="en-US" err="1"/>
              <a:t>trị</a:t>
            </a:r>
            <a:r>
              <a:rPr lang="en-US"/>
              <a:t> </a:t>
            </a:r>
            <a:r>
              <a:rPr lang="en-US" err="1"/>
              <a:t>tại</a:t>
            </a:r>
            <a:r>
              <a:rPr lang="en-US"/>
              <a:t> </a:t>
            </a:r>
            <a:r>
              <a:rPr lang="en-US" err="1"/>
              <a:t>vị</a:t>
            </a:r>
            <a:r>
              <a:rPr lang="en-US"/>
              <a:t> </a:t>
            </a:r>
            <a:r>
              <a:rPr lang="en-US" err="1"/>
              <a:t>trí</a:t>
            </a:r>
            <a:r>
              <a:rPr lang="en-US"/>
              <a:t> Min</a:t>
            </a:r>
          </a:p>
          <a:p>
            <a:r>
              <a:rPr lang="en-US" err="1"/>
              <a:t>Bước</a:t>
            </a:r>
            <a:r>
              <a:rPr lang="en-US"/>
              <a:t> 4: </a:t>
            </a:r>
            <a:r>
              <a:rPr lang="en-US" err="1"/>
              <a:t>Tăng</a:t>
            </a:r>
            <a:r>
              <a:rPr lang="en-US"/>
              <a:t> Min </a:t>
            </a:r>
            <a:r>
              <a:rPr lang="en-US" err="1"/>
              <a:t>để</a:t>
            </a:r>
            <a:r>
              <a:rPr lang="en-US"/>
              <a:t> </a:t>
            </a:r>
            <a:r>
              <a:rPr lang="en-US" err="1"/>
              <a:t>trỏ</a:t>
            </a:r>
            <a:r>
              <a:rPr lang="en-US"/>
              <a:t> </a:t>
            </a:r>
            <a:r>
              <a:rPr lang="en-US" err="1"/>
              <a:t>tới</a:t>
            </a:r>
            <a:r>
              <a:rPr lang="en-US"/>
              <a:t> </a:t>
            </a:r>
            <a:r>
              <a:rPr lang="en-US" err="1"/>
              <a:t>vị</a:t>
            </a:r>
            <a:r>
              <a:rPr lang="en-US"/>
              <a:t> </a:t>
            </a:r>
            <a:r>
              <a:rPr lang="en-US" err="1"/>
              <a:t>trí</a:t>
            </a:r>
            <a:r>
              <a:rPr lang="en-US"/>
              <a:t> </a:t>
            </a:r>
            <a:r>
              <a:rPr lang="en-US" err="1"/>
              <a:t>tiếp</a:t>
            </a:r>
            <a:r>
              <a:rPr lang="en-US"/>
              <a:t> </a:t>
            </a:r>
            <a:r>
              <a:rPr lang="en-US" err="1"/>
              <a:t>theo</a:t>
            </a:r>
            <a:endParaRPr lang="en-US"/>
          </a:p>
          <a:p>
            <a:r>
              <a:rPr lang="en-US" err="1"/>
              <a:t>Bước</a:t>
            </a:r>
            <a:r>
              <a:rPr lang="en-US"/>
              <a:t> 5: </a:t>
            </a:r>
            <a:r>
              <a:rPr lang="en-US" err="1"/>
              <a:t>Lặp</a:t>
            </a:r>
            <a:r>
              <a:rPr lang="en-US"/>
              <a:t> </a:t>
            </a:r>
            <a:r>
              <a:rPr lang="en-US" err="1"/>
              <a:t>lại</a:t>
            </a:r>
            <a:r>
              <a:rPr lang="en-US"/>
              <a:t> </a:t>
            </a:r>
            <a:r>
              <a:rPr lang="en-US" err="1"/>
              <a:t>từ</a:t>
            </a:r>
            <a:r>
              <a:rPr lang="en-US"/>
              <a:t> </a:t>
            </a:r>
            <a:r>
              <a:rPr lang="en-US" err="1"/>
              <a:t>bước</a:t>
            </a:r>
            <a:r>
              <a:rPr lang="en-US"/>
              <a:t> 2 </a:t>
            </a:r>
            <a:r>
              <a:rPr lang="en-US" err="1"/>
              <a:t>cho</a:t>
            </a:r>
            <a:r>
              <a:rPr lang="en-US"/>
              <a:t> </a:t>
            </a:r>
            <a:r>
              <a:rPr lang="en-US" err="1"/>
              <a:t>đến</a:t>
            </a:r>
            <a:r>
              <a:rPr lang="en-US"/>
              <a:t> </a:t>
            </a:r>
            <a:r>
              <a:rPr lang="en-US" err="1"/>
              <a:t>khi</a:t>
            </a:r>
            <a:r>
              <a:rPr lang="en-US"/>
              <a:t> </a:t>
            </a:r>
            <a:r>
              <a:rPr lang="en-US" err="1"/>
              <a:t>danh</a:t>
            </a:r>
            <a:r>
              <a:rPr lang="en-US"/>
              <a:t> </a:t>
            </a:r>
            <a:r>
              <a:rPr lang="en-US" err="1"/>
              <a:t>sách</a:t>
            </a:r>
            <a:r>
              <a:rPr lang="en-US"/>
              <a:t> </a:t>
            </a:r>
            <a:r>
              <a:rPr lang="en-US" err="1"/>
              <a:t>được</a:t>
            </a:r>
            <a:r>
              <a:rPr lang="en-US"/>
              <a:t> </a:t>
            </a:r>
            <a:r>
              <a:rPr lang="en-US" err="1"/>
              <a:t>sắp</a:t>
            </a:r>
            <a:r>
              <a:rPr lang="en-US"/>
              <a:t> </a:t>
            </a:r>
            <a:r>
              <a:rPr lang="en-US" err="1"/>
              <a:t>xếp</a:t>
            </a:r>
            <a:r>
              <a:rPr lang="en-US"/>
              <a:t> </a:t>
            </a:r>
          </a:p>
          <a:p>
            <a:endParaRPr lang="en-US"/>
          </a:p>
        </p:txBody>
      </p:sp>
    </p:spTree>
    <p:extLst>
      <p:ext uri="{BB962C8B-B14F-4D97-AF65-F5344CB8AC3E}">
        <p14:creationId xmlns:p14="http://schemas.microsoft.com/office/powerpoint/2010/main" val="164571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26</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lựa</a:t>
            </a:r>
            <a:r>
              <a:rPr lang="en-US"/>
              <a:t> </a:t>
            </a:r>
            <a:r>
              <a:rPr lang="en-US" err="1"/>
              <a:t>chọn</a:t>
            </a:r>
            <a:endParaRPr lang="en-US"/>
          </a:p>
        </p:txBody>
      </p:sp>
      <p:sp>
        <p:nvSpPr>
          <p:cNvPr id="7" name="Content Placeholder 2"/>
          <p:cNvSpPr>
            <a:spLocks noGrp="1"/>
          </p:cNvSpPr>
          <p:nvPr>
            <p:ph type="body" sz="quarter" idx="13"/>
          </p:nvPr>
        </p:nvSpPr>
        <p:spPr>
          <a:xfrm>
            <a:off x="106212" y="1069824"/>
            <a:ext cx="4435662" cy="5132832"/>
          </a:xfrm>
        </p:spPr>
        <p:txBody>
          <a:bodyPr>
            <a:normAutofit/>
          </a:bodyPr>
          <a:lstStyle/>
          <a:p>
            <a:pPr marL="0" indent="0">
              <a:buNone/>
            </a:pPr>
            <a:r>
              <a:rPr lang="en-US" sz="2000" b="1"/>
              <a:t>Procedure</a:t>
            </a:r>
            <a:r>
              <a:rPr lang="en-US" sz="2000"/>
              <a:t> SELECTION_SORT(</a:t>
            </a:r>
            <a:r>
              <a:rPr lang="en-US" sz="2000" err="1"/>
              <a:t>A,n</a:t>
            </a:r>
            <a:r>
              <a:rPr lang="en-US" sz="2000"/>
              <a:t>);</a:t>
            </a:r>
          </a:p>
          <a:p>
            <a:pPr marL="0" indent="0">
              <a:buNone/>
            </a:pPr>
            <a:r>
              <a:rPr lang="en-US" sz="2000"/>
              <a:t>1. for </a:t>
            </a:r>
            <a:r>
              <a:rPr lang="en-US" sz="2000" err="1"/>
              <a:t>i</a:t>
            </a:r>
            <a:r>
              <a:rPr lang="en-US" sz="2000"/>
              <a:t>:=1 to (n-1) do </a:t>
            </a:r>
          </a:p>
          <a:p>
            <a:pPr marL="0" indent="0">
              <a:buNone/>
            </a:pPr>
            <a:r>
              <a:rPr lang="en-US" sz="2000"/>
              <a:t>2. Min:= </a:t>
            </a:r>
            <a:r>
              <a:rPr lang="en-US" sz="2000" err="1"/>
              <a:t>i</a:t>
            </a:r>
            <a:r>
              <a:rPr lang="en-US" sz="2000"/>
              <a:t>;</a:t>
            </a:r>
          </a:p>
          <a:p>
            <a:pPr marL="0" indent="0">
              <a:buNone/>
            </a:pPr>
            <a:r>
              <a:rPr lang="en-US" sz="2000"/>
              <a:t>3. for j:= i+1 to n do </a:t>
            </a:r>
          </a:p>
          <a:p>
            <a:pPr marL="0" indent="0">
              <a:buNone/>
            </a:pPr>
            <a:r>
              <a:rPr lang="en-US" sz="2000"/>
              <a:t>4. if A[j] &lt; A[Min] then Min:=j;</a:t>
            </a:r>
          </a:p>
          <a:p>
            <a:pPr marL="0" indent="0">
              <a:buNone/>
            </a:pPr>
            <a:r>
              <a:rPr lang="en-US" sz="2000"/>
              <a:t>5. temp: = A[Min]; </a:t>
            </a:r>
          </a:p>
          <a:p>
            <a:pPr marL="0" indent="0">
              <a:buNone/>
            </a:pPr>
            <a:r>
              <a:rPr lang="en-US" sz="2000"/>
              <a:t>A[Min] = A[</a:t>
            </a:r>
            <a:r>
              <a:rPr lang="en-US" sz="2000" err="1"/>
              <a:t>i</a:t>
            </a:r>
            <a:r>
              <a:rPr lang="en-US" sz="2000"/>
              <a:t>]; A[j] = temp;</a:t>
            </a:r>
          </a:p>
          <a:p>
            <a:pPr marL="0" indent="0">
              <a:buNone/>
            </a:pPr>
            <a:r>
              <a:rPr lang="en-US" sz="2000"/>
              <a:t>6. return            end;</a:t>
            </a:r>
          </a:p>
          <a:p>
            <a:pPr marL="0" indent="0">
              <a:buNone/>
            </a:pPr>
            <a:r>
              <a:rPr lang="en-US" sz="2000" err="1"/>
              <a:t>Đánh</a:t>
            </a:r>
            <a:r>
              <a:rPr lang="en-US" sz="2000"/>
              <a:t> </a:t>
            </a:r>
            <a:r>
              <a:rPr lang="en-US" sz="2000" err="1"/>
              <a:t>giá</a:t>
            </a:r>
            <a:r>
              <a:rPr lang="en-US" sz="2000"/>
              <a:t> </a:t>
            </a:r>
            <a:r>
              <a:rPr lang="en-US" sz="2000" err="1"/>
              <a:t>giải</a:t>
            </a:r>
            <a:r>
              <a:rPr lang="en-US" sz="2000"/>
              <a:t> </a:t>
            </a:r>
            <a:r>
              <a:rPr lang="en-US" sz="2000" err="1"/>
              <a:t>thuật</a:t>
            </a:r>
            <a:r>
              <a:rPr lang="en-US" sz="2000"/>
              <a:t>: </a:t>
            </a:r>
          </a:p>
          <a:p>
            <a:r>
              <a:rPr lang="en-US" sz="2000" err="1">
                <a:solidFill>
                  <a:srgbClr val="FF0000"/>
                </a:solidFill>
              </a:rPr>
              <a:t>Số</a:t>
            </a:r>
            <a:r>
              <a:rPr lang="en-US" sz="2000">
                <a:solidFill>
                  <a:srgbClr val="FF0000"/>
                </a:solidFill>
              </a:rPr>
              <a:t> </a:t>
            </a:r>
            <a:r>
              <a:rPr lang="en-US" sz="2000" err="1">
                <a:solidFill>
                  <a:srgbClr val="FF0000"/>
                </a:solidFill>
              </a:rPr>
              <a:t>vòng</a:t>
            </a:r>
            <a:r>
              <a:rPr lang="en-US" sz="2000">
                <a:solidFill>
                  <a:srgbClr val="FF0000"/>
                </a:solidFill>
              </a:rPr>
              <a:t> </a:t>
            </a:r>
            <a:r>
              <a:rPr lang="en-US" sz="2000" err="1">
                <a:solidFill>
                  <a:srgbClr val="FF0000"/>
                </a:solidFill>
              </a:rPr>
              <a:t>lặp</a:t>
            </a:r>
            <a:r>
              <a:rPr lang="en-US" sz="2000">
                <a:solidFill>
                  <a:srgbClr val="FF0000"/>
                </a:solidFill>
              </a:rPr>
              <a:t> for </a:t>
            </a:r>
            <a:r>
              <a:rPr lang="en-US" sz="2000" err="1">
                <a:solidFill>
                  <a:srgbClr val="FF0000"/>
                </a:solidFill>
              </a:rPr>
              <a:t>cần</a:t>
            </a:r>
            <a:r>
              <a:rPr lang="en-US" sz="2000">
                <a:solidFill>
                  <a:srgbClr val="FF0000"/>
                </a:solidFill>
              </a:rPr>
              <a:t> </a:t>
            </a:r>
            <a:r>
              <a:rPr lang="en-US" sz="2000" err="1">
                <a:solidFill>
                  <a:srgbClr val="FF0000"/>
                </a:solidFill>
              </a:rPr>
              <a:t>thực</a:t>
            </a:r>
            <a:r>
              <a:rPr lang="en-US" sz="2000">
                <a:solidFill>
                  <a:srgbClr val="FF0000"/>
                </a:solidFill>
              </a:rPr>
              <a:t> </a:t>
            </a:r>
            <a:r>
              <a:rPr lang="en-US" sz="2000" err="1">
                <a:solidFill>
                  <a:srgbClr val="FF0000"/>
                </a:solidFill>
              </a:rPr>
              <a:t>thi</a:t>
            </a:r>
            <a:r>
              <a:rPr lang="en-US" sz="2000">
                <a:solidFill>
                  <a:srgbClr val="FF0000"/>
                </a:solidFill>
              </a:rPr>
              <a:t> </a:t>
            </a:r>
            <a:r>
              <a:rPr lang="en-US" sz="2000" err="1">
                <a:solidFill>
                  <a:srgbClr val="FF0000"/>
                </a:solidFill>
              </a:rPr>
              <a:t>là</a:t>
            </a:r>
            <a:r>
              <a:rPr lang="en-US" sz="2000">
                <a:solidFill>
                  <a:srgbClr val="FF0000"/>
                </a:solidFill>
              </a:rPr>
              <a:t> </a:t>
            </a:r>
          </a:p>
          <a:p>
            <a:r>
              <a:rPr lang="en-US" sz="2000" err="1">
                <a:solidFill>
                  <a:srgbClr val="FF0000"/>
                </a:solidFill>
              </a:rPr>
              <a:t>C</a:t>
            </a:r>
            <a:r>
              <a:rPr lang="en-US" sz="2000" baseline="-25000" err="1">
                <a:solidFill>
                  <a:srgbClr val="FF0000"/>
                </a:solidFill>
              </a:rPr>
              <a:t>tb</a:t>
            </a:r>
            <a:r>
              <a:rPr lang="en-US" sz="2000">
                <a:solidFill>
                  <a:srgbClr val="FF0000"/>
                </a:solidFill>
              </a:rPr>
              <a:t> = (n-1) + (n-2) + …+1 = n*(n-1)/2</a:t>
            </a:r>
          </a:p>
          <a:p>
            <a:r>
              <a:rPr lang="en-US" sz="2000">
                <a:solidFill>
                  <a:srgbClr val="FF0000"/>
                </a:solidFill>
              </a:rPr>
              <a:t>Do </a:t>
            </a:r>
            <a:r>
              <a:rPr lang="en-US" sz="2000" err="1">
                <a:solidFill>
                  <a:srgbClr val="FF0000"/>
                </a:solidFill>
              </a:rPr>
              <a:t>đó</a:t>
            </a:r>
            <a:r>
              <a:rPr lang="en-US" sz="2000">
                <a:solidFill>
                  <a:srgbClr val="FF0000"/>
                </a:solidFill>
              </a:rPr>
              <a:t> T(n) = O(n</a:t>
            </a:r>
            <a:r>
              <a:rPr lang="en-US" sz="2000" baseline="30000">
                <a:solidFill>
                  <a:srgbClr val="FF0000"/>
                </a:solidFill>
              </a:rPr>
              <a:t>2</a:t>
            </a:r>
            <a:r>
              <a:rPr lang="en-US" sz="2000">
                <a:solidFill>
                  <a:srgbClr val="FF0000"/>
                </a:solidFill>
              </a:rPr>
              <a:t>)</a:t>
            </a:r>
          </a:p>
        </p:txBody>
      </p:sp>
      <p:sp>
        <p:nvSpPr>
          <p:cNvPr id="8" name="TextBox 7">
            <a:extLst>
              <a:ext uri="{FF2B5EF4-FFF2-40B4-BE49-F238E27FC236}">
                <a16:creationId xmlns:a16="http://schemas.microsoft.com/office/drawing/2014/main" id="{0D26BC31-12CD-48D6-BC7D-DD1EC991E3DC}"/>
              </a:ext>
            </a:extLst>
          </p:cNvPr>
          <p:cNvSpPr txBox="1"/>
          <p:nvPr/>
        </p:nvSpPr>
        <p:spPr>
          <a:xfrm>
            <a:off x="4541874" y="1185898"/>
            <a:ext cx="4563140" cy="5016758"/>
          </a:xfrm>
          <a:prstGeom prst="rect">
            <a:avLst/>
          </a:prstGeom>
          <a:noFill/>
          <a:ln>
            <a:solidFill>
              <a:schemeClr val="accent1"/>
            </a:solidFill>
          </a:ln>
        </p:spPr>
        <p:txBody>
          <a:bodyPr wrap="square">
            <a:spAutoFit/>
          </a:bodyPr>
          <a:lstStyle/>
          <a:p>
            <a:r>
              <a:rPr lang="en-US" sz="1600">
                <a:solidFill>
                  <a:srgbClr val="0000FF"/>
                </a:solidFill>
                <a:latin typeface="Consolas" panose="020B0609020204030204" pitchFamily="49" charset="0"/>
              </a:rPr>
              <a:t>void</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selectionSort</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err="1">
                <a:solidFill>
                  <a:srgbClr val="808080"/>
                </a:solidFill>
                <a:latin typeface="Consolas" panose="020B0609020204030204" pitchFamily="49" charset="0"/>
              </a:rPr>
              <a:t>arr</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a:t>
            </a:r>
            <a:r>
              <a:rPr lang="en-US" sz="1600">
                <a:solidFill>
                  <a:srgbClr val="808080"/>
                </a:solidFill>
                <a:latin typeface="Consolas" panose="020B0609020204030204" pitchFamily="49" charset="0"/>
              </a:rPr>
              <a:t>n</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a:t>
            </a:r>
          </a:p>
          <a:p>
            <a:r>
              <a:rPr lang="sv-SE" sz="1600">
                <a:solidFill>
                  <a:srgbClr val="000000"/>
                </a:solidFill>
                <a:latin typeface="Consolas" panose="020B0609020204030204" pitchFamily="49" charset="0"/>
              </a:rPr>
              <a:t>    </a:t>
            </a:r>
            <a:r>
              <a:rPr lang="sv-SE" sz="1600">
                <a:solidFill>
                  <a:srgbClr val="0000FF"/>
                </a:solidFill>
                <a:latin typeface="Consolas" panose="020B0609020204030204" pitchFamily="49" charset="0"/>
              </a:rPr>
              <a:t>int</a:t>
            </a:r>
            <a:r>
              <a:rPr lang="sv-SE" sz="1600">
                <a:solidFill>
                  <a:srgbClr val="000000"/>
                </a:solidFill>
                <a:latin typeface="Consolas" panose="020B0609020204030204" pitchFamily="49" charset="0"/>
              </a:rPr>
              <a:t> i, j, min_idx;</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One by one move boundary of unsorted subarray </a:t>
            </a:r>
            <a:endParaRPr lang="en-US" sz="1600">
              <a:solidFill>
                <a:srgbClr val="000000"/>
              </a:solidFill>
              <a:latin typeface="Consolas" panose="020B0609020204030204" pitchFamily="49" charset="0"/>
            </a:endParaRPr>
          </a:p>
          <a:p>
            <a:r>
              <a:rPr lang="nn-NO" sz="1600">
                <a:solidFill>
                  <a:srgbClr val="000000"/>
                </a:solidFill>
                <a:latin typeface="Consolas" panose="020B0609020204030204" pitchFamily="49" charset="0"/>
              </a:rPr>
              <a:t>    </a:t>
            </a:r>
            <a:r>
              <a:rPr lang="nn-NO" sz="1600">
                <a:solidFill>
                  <a:srgbClr val="0000FF"/>
                </a:solidFill>
                <a:latin typeface="Consolas" panose="020B0609020204030204" pitchFamily="49" charset="0"/>
              </a:rPr>
              <a:t>for</a:t>
            </a:r>
            <a:r>
              <a:rPr lang="nn-NO" sz="1600">
                <a:solidFill>
                  <a:srgbClr val="000000"/>
                </a:solidFill>
                <a:latin typeface="Consolas" panose="020B0609020204030204" pitchFamily="49" charset="0"/>
              </a:rPr>
              <a:t> (i = 0; i &lt; </a:t>
            </a:r>
            <a:r>
              <a:rPr lang="nn-NO" sz="1600">
                <a:solidFill>
                  <a:srgbClr val="808080"/>
                </a:solidFill>
                <a:latin typeface="Consolas" panose="020B0609020204030204" pitchFamily="49" charset="0"/>
              </a:rPr>
              <a:t>n</a:t>
            </a:r>
            <a:r>
              <a:rPr lang="nn-NO" sz="1600">
                <a:solidFill>
                  <a:srgbClr val="000000"/>
                </a:solidFill>
                <a:latin typeface="Consolas" panose="020B0609020204030204" pitchFamily="49" charset="0"/>
              </a:rPr>
              <a:t> - 1; i++)</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Find the minimum element in unsorted array </a:t>
            </a:r>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min_idx</a:t>
            </a:r>
            <a:r>
              <a:rPr lang="en-US" sz="1600">
                <a:solidFill>
                  <a:srgbClr val="000000"/>
                </a:solidFill>
                <a:latin typeface="Consolas" panose="020B0609020204030204" pitchFamily="49" charset="0"/>
              </a:rPr>
              <a:t> = </a:t>
            </a:r>
            <a:r>
              <a:rPr lang="en-US" sz="1600" err="1">
                <a:solidFill>
                  <a:srgbClr val="000000"/>
                </a:solidFill>
                <a:latin typeface="Consolas" panose="020B0609020204030204" pitchFamily="49" charset="0"/>
              </a:rPr>
              <a:t>i</a:t>
            </a:r>
            <a:r>
              <a:rPr lang="en-US" sz="1600">
                <a:solidFill>
                  <a:srgbClr val="000000"/>
                </a:solidFill>
                <a:latin typeface="Consolas" panose="020B0609020204030204" pitchFamily="49" charset="0"/>
              </a:rPr>
              <a:t>;</a:t>
            </a:r>
          </a:p>
          <a:p>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for</a:t>
            </a:r>
            <a:r>
              <a:rPr lang="en-US" sz="1600">
                <a:solidFill>
                  <a:srgbClr val="000000"/>
                </a:solidFill>
                <a:latin typeface="Consolas" panose="020B0609020204030204" pitchFamily="49" charset="0"/>
              </a:rPr>
              <a:t> (j = </a:t>
            </a:r>
            <a:r>
              <a:rPr lang="en-US" sz="1600" err="1">
                <a:solidFill>
                  <a:srgbClr val="000000"/>
                </a:solidFill>
                <a:latin typeface="Consolas" panose="020B0609020204030204" pitchFamily="49" charset="0"/>
              </a:rPr>
              <a:t>i</a:t>
            </a:r>
            <a:r>
              <a:rPr lang="en-US" sz="1600">
                <a:solidFill>
                  <a:srgbClr val="000000"/>
                </a:solidFill>
                <a:latin typeface="Consolas" panose="020B0609020204030204" pitchFamily="49" charset="0"/>
              </a:rPr>
              <a:t> + 1; j &lt; </a:t>
            </a:r>
            <a:r>
              <a:rPr lang="en-US" sz="1600">
                <a:solidFill>
                  <a:srgbClr val="808080"/>
                </a:solidFill>
                <a:latin typeface="Consolas" panose="020B0609020204030204" pitchFamily="49" charset="0"/>
              </a:rPr>
              <a:t>n</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j++</a:t>
            </a:r>
            <a:r>
              <a:rPr lang="en-US" sz="1600">
                <a:solidFill>
                  <a:srgbClr val="000000"/>
                </a:solidFill>
                <a:latin typeface="Consolas" panose="020B0609020204030204" pitchFamily="49" charset="0"/>
              </a:rPr>
              <a:t>)</a:t>
            </a:r>
          </a:p>
          <a:p>
            <a:r>
              <a:rPr lang="sv-SE" sz="1600">
                <a:solidFill>
                  <a:srgbClr val="000000"/>
                </a:solidFill>
                <a:latin typeface="Consolas" panose="020B0609020204030204" pitchFamily="49" charset="0"/>
              </a:rPr>
              <a:t>            </a:t>
            </a:r>
            <a:r>
              <a:rPr lang="sv-SE" sz="1600">
                <a:solidFill>
                  <a:srgbClr val="0000FF"/>
                </a:solidFill>
                <a:latin typeface="Consolas" panose="020B0609020204030204" pitchFamily="49" charset="0"/>
              </a:rPr>
              <a:t>if</a:t>
            </a:r>
            <a:r>
              <a:rPr lang="sv-SE" sz="1600">
                <a:solidFill>
                  <a:srgbClr val="000000"/>
                </a:solidFill>
                <a:latin typeface="Consolas" panose="020B0609020204030204" pitchFamily="49" charset="0"/>
              </a:rPr>
              <a:t> (</a:t>
            </a:r>
            <a:r>
              <a:rPr lang="sv-SE" sz="1600">
                <a:solidFill>
                  <a:srgbClr val="808080"/>
                </a:solidFill>
                <a:latin typeface="Consolas" panose="020B0609020204030204" pitchFamily="49" charset="0"/>
              </a:rPr>
              <a:t>arr</a:t>
            </a:r>
            <a:r>
              <a:rPr lang="sv-SE" sz="1600">
                <a:solidFill>
                  <a:srgbClr val="000000"/>
                </a:solidFill>
                <a:latin typeface="Consolas" panose="020B0609020204030204" pitchFamily="49" charset="0"/>
              </a:rPr>
              <a:t>[j] &lt; </a:t>
            </a:r>
            <a:r>
              <a:rPr lang="sv-SE" sz="1600">
                <a:solidFill>
                  <a:srgbClr val="808080"/>
                </a:solidFill>
                <a:latin typeface="Consolas" panose="020B0609020204030204" pitchFamily="49" charset="0"/>
              </a:rPr>
              <a:t>arr</a:t>
            </a:r>
            <a:r>
              <a:rPr lang="sv-SE" sz="1600">
                <a:solidFill>
                  <a:srgbClr val="000000"/>
                </a:solidFill>
                <a:latin typeface="Consolas" panose="020B0609020204030204" pitchFamily="49" charset="0"/>
              </a:rPr>
              <a:t>[min_idx])</a:t>
            </a:r>
          </a:p>
          <a:p>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min_idx</a:t>
            </a:r>
            <a:r>
              <a:rPr lang="en-US" sz="1600">
                <a:solidFill>
                  <a:srgbClr val="000000"/>
                </a:solidFill>
                <a:latin typeface="Consolas" panose="020B0609020204030204" pitchFamily="49" charset="0"/>
              </a:rPr>
              <a:t> = j;</a:t>
            </a:r>
          </a:p>
          <a:p>
            <a:endParaRPr lang="en-US" sz="1600">
              <a:solidFill>
                <a:srgbClr val="000000"/>
              </a:solidFill>
              <a:latin typeface="Consolas" panose="020B0609020204030204" pitchFamily="49" charset="0"/>
            </a:endParaRPr>
          </a:p>
          <a:p>
            <a:r>
              <a:rPr lang="en-US" sz="1600">
                <a:solidFill>
                  <a:srgbClr val="000000"/>
                </a:solidFill>
                <a:latin typeface="Consolas" panose="020B0609020204030204" pitchFamily="49" charset="0"/>
              </a:rPr>
              <a:t>        </a:t>
            </a:r>
            <a:r>
              <a:rPr lang="en-US" sz="1600">
                <a:solidFill>
                  <a:srgbClr val="008000"/>
                </a:solidFill>
                <a:latin typeface="Consolas" panose="020B0609020204030204" pitchFamily="49" charset="0"/>
              </a:rPr>
              <a:t>// Swap the found minimum element with the first element </a:t>
            </a:r>
            <a:endParaRPr lang="en-US" sz="1600">
              <a:solidFill>
                <a:srgbClr val="000000"/>
              </a:solidFill>
              <a:latin typeface="Consolas" panose="020B0609020204030204" pitchFamily="49" charset="0"/>
            </a:endParaRPr>
          </a:p>
          <a:p>
            <a:r>
              <a:rPr lang="sv-SE" sz="1600">
                <a:solidFill>
                  <a:srgbClr val="000000"/>
                </a:solidFill>
                <a:latin typeface="Consolas" panose="020B0609020204030204" pitchFamily="49" charset="0"/>
              </a:rPr>
              <a:t>        swap(&amp;</a:t>
            </a:r>
            <a:r>
              <a:rPr lang="sv-SE" sz="1600">
                <a:solidFill>
                  <a:srgbClr val="808080"/>
                </a:solidFill>
                <a:latin typeface="Consolas" panose="020B0609020204030204" pitchFamily="49" charset="0"/>
              </a:rPr>
              <a:t>arr</a:t>
            </a:r>
            <a:r>
              <a:rPr lang="sv-SE" sz="1600">
                <a:solidFill>
                  <a:srgbClr val="000000"/>
                </a:solidFill>
                <a:latin typeface="Consolas" panose="020B0609020204030204" pitchFamily="49" charset="0"/>
              </a:rPr>
              <a:t>[min_idx], &amp;</a:t>
            </a:r>
            <a:r>
              <a:rPr lang="sv-SE" sz="1600">
                <a:solidFill>
                  <a:srgbClr val="808080"/>
                </a:solidFill>
                <a:latin typeface="Consolas" panose="020B0609020204030204" pitchFamily="49" charset="0"/>
              </a:rPr>
              <a:t>arr</a:t>
            </a:r>
            <a:r>
              <a:rPr lang="sv-SE" sz="1600">
                <a:solidFill>
                  <a:srgbClr val="000000"/>
                </a:solidFill>
                <a:latin typeface="Consolas" panose="020B0609020204030204" pitchFamily="49" charset="0"/>
              </a:rPr>
              <a:t>[i]);</a:t>
            </a:r>
          </a:p>
          <a:p>
            <a:r>
              <a:rPr lang="en-US" sz="1600">
                <a:solidFill>
                  <a:srgbClr val="000000"/>
                </a:solidFill>
                <a:latin typeface="Consolas" panose="020B0609020204030204" pitchFamily="49" charset="0"/>
              </a:rPr>
              <a:t>    }</a:t>
            </a:r>
          </a:p>
          <a:p>
            <a:r>
              <a:rPr lang="en-US" sz="1600">
                <a:solidFill>
                  <a:srgbClr val="000000"/>
                </a:solidFill>
                <a:latin typeface="Consolas" panose="020B0609020204030204" pitchFamily="49" charset="0"/>
              </a:rPr>
              <a:t>}</a:t>
            </a:r>
            <a:endParaRPr lang="en-US" sz="1600"/>
          </a:p>
        </p:txBody>
      </p:sp>
    </p:spTree>
    <p:extLst>
      <p:ext uri="{BB962C8B-B14F-4D97-AF65-F5344CB8AC3E}">
        <p14:creationId xmlns:p14="http://schemas.microsoft.com/office/powerpoint/2010/main" val="28201172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27</a:t>
            </a:fld>
            <a:endParaRPr lang="en-US"/>
          </a:p>
        </p:txBody>
      </p:sp>
      <p:sp>
        <p:nvSpPr>
          <p:cNvPr id="2" name="Title 1"/>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kiểu</a:t>
            </a:r>
            <a:r>
              <a:rPr lang="en-US"/>
              <a:t> </a:t>
            </a:r>
            <a:r>
              <a:rPr lang="en-US" err="1"/>
              <a:t>thêm</a:t>
            </a:r>
            <a:r>
              <a:rPr lang="en-US"/>
              <a:t> </a:t>
            </a:r>
            <a:r>
              <a:rPr lang="en-US" err="1"/>
              <a:t>dần</a:t>
            </a:r>
            <a:r>
              <a:rPr lang="en-US"/>
              <a:t>/chèn (Insertion sort)</a:t>
            </a:r>
          </a:p>
        </p:txBody>
      </p:sp>
      <p:sp>
        <p:nvSpPr>
          <p:cNvPr id="3" name="Chỗ dành sẵn cho Văn bản 2">
            <a:extLst>
              <a:ext uri="{FF2B5EF4-FFF2-40B4-BE49-F238E27FC236}">
                <a16:creationId xmlns:a16="http://schemas.microsoft.com/office/drawing/2014/main" id="{51E11F92-07BF-F60C-F775-ED9B10F840E5}"/>
              </a:ext>
            </a:extLst>
          </p:cNvPr>
          <p:cNvSpPr>
            <a:spLocks noGrp="1"/>
          </p:cNvSpPr>
          <p:nvPr>
            <p:ph type="body" sz="quarter" idx="13"/>
          </p:nvPr>
        </p:nvSpPr>
        <p:spPr/>
        <p:txBody>
          <a:bodyPr/>
          <a:lstStyle/>
          <a:p>
            <a:endParaRPr lang="vi-VN"/>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4036813335"/>
              </p:ext>
            </p:extLst>
          </p:nvPr>
        </p:nvGraphicFramePr>
        <p:xfrm>
          <a:off x="457200" y="1976362"/>
          <a:ext cx="8229600" cy="3230880"/>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tblGrid>
              <a:tr h="370840">
                <a:tc>
                  <a:txBody>
                    <a:bodyPr/>
                    <a:lstStyle/>
                    <a:p>
                      <a:r>
                        <a:rPr lang="en-US"/>
                        <a:t>No.</a:t>
                      </a:r>
                    </a:p>
                  </a:txBody>
                  <a:tcPr/>
                </a:tc>
                <a:tc>
                  <a:txBody>
                    <a:bodyPr/>
                    <a:lstStyle/>
                    <a:p>
                      <a:r>
                        <a:rPr lang="en-US" err="1"/>
                        <a:t>Số</a:t>
                      </a:r>
                      <a:r>
                        <a:rPr lang="en-US"/>
                        <a:t> so </a:t>
                      </a:r>
                      <a:r>
                        <a:rPr lang="en-US" err="1"/>
                        <a:t>sánh</a:t>
                      </a:r>
                      <a:endParaRPr lang="en-US"/>
                    </a:p>
                  </a:txBody>
                  <a:tcPr/>
                </a:tc>
                <a:tc>
                  <a:txBody>
                    <a:bodyPr/>
                    <a:lstStyle/>
                    <a:p>
                      <a:r>
                        <a:rPr lang="en-US"/>
                        <a:t>A[1]</a:t>
                      </a:r>
                    </a:p>
                    <a:p>
                      <a:r>
                        <a:rPr lang="en-US"/>
                        <a:t>32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A[2]</a:t>
                      </a:r>
                    </a:p>
                    <a:p>
                      <a:r>
                        <a:rPr lang="en-US"/>
                        <a:t>51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A[3]</a:t>
                      </a:r>
                    </a:p>
                    <a:p>
                      <a:r>
                        <a:rPr lang="en-US"/>
                        <a:t>27</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A[4]</a:t>
                      </a:r>
                    </a:p>
                    <a:p>
                      <a:r>
                        <a:rPr lang="en-US"/>
                        <a:t>83</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A[5]</a:t>
                      </a:r>
                    </a:p>
                    <a:p>
                      <a:r>
                        <a:rPr lang="en-US"/>
                        <a:t>66</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A[6]</a:t>
                      </a:r>
                    </a:p>
                    <a:p>
                      <a:r>
                        <a:rPr lang="en-US"/>
                        <a:t>11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A[7]</a:t>
                      </a:r>
                    </a:p>
                    <a:p>
                      <a:r>
                        <a:rPr lang="en-US"/>
                        <a:t>45</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A[8]</a:t>
                      </a:r>
                    </a:p>
                    <a:p>
                      <a:r>
                        <a:rPr lang="en-US"/>
                        <a:t>75</a:t>
                      </a:r>
                    </a:p>
                  </a:txBody>
                  <a:tcPr/>
                </a:tc>
                <a:extLst>
                  <a:ext uri="{0D108BD9-81ED-4DB2-BD59-A6C34878D82A}">
                    <a16:rowId xmlns:a16="http://schemas.microsoft.com/office/drawing/2014/main" val="10000"/>
                  </a:ext>
                </a:extLst>
              </a:tr>
              <a:tr h="286352">
                <a:tc>
                  <a:txBody>
                    <a:bodyPr/>
                    <a:lstStyle/>
                    <a:p>
                      <a:r>
                        <a:rPr lang="en-US"/>
                        <a:t>1</a:t>
                      </a:r>
                    </a:p>
                  </a:txBody>
                  <a:tcPr/>
                </a:tc>
                <a:tc>
                  <a:txBody>
                    <a:bodyPr/>
                    <a:lstStyle/>
                    <a:p>
                      <a:r>
                        <a:rPr lang="en-US"/>
                        <a:t>51</a:t>
                      </a:r>
                    </a:p>
                  </a:txBody>
                  <a:tcPr/>
                </a:tc>
                <a:tc>
                  <a:txBody>
                    <a:bodyPr/>
                    <a:lstStyle/>
                    <a:p>
                      <a:r>
                        <a:rPr lang="en-US"/>
                        <a:t>32</a:t>
                      </a:r>
                    </a:p>
                  </a:txBody>
                  <a:tcPr/>
                </a:tc>
                <a:tc>
                  <a:txBody>
                    <a:bodyPr/>
                    <a:lstStyle/>
                    <a:p>
                      <a:r>
                        <a:rPr lang="en-US"/>
                        <a:t>51</a:t>
                      </a:r>
                    </a:p>
                  </a:txBody>
                  <a:tcPr/>
                </a:tc>
                <a:tc>
                  <a:txBody>
                    <a:bodyPr/>
                    <a:lstStyle/>
                    <a:p>
                      <a:r>
                        <a:rPr lang="en-US"/>
                        <a:t>27</a:t>
                      </a:r>
                    </a:p>
                  </a:txBody>
                  <a:tcPr/>
                </a:tc>
                <a:tc>
                  <a:txBody>
                    <a:bodyPr/>
                    <a:lstStyle/>
                    <a:p>
                      <a:r>
                        <a:rPr lang="en-US"/>
                        <a:t>83</a:t>
                      </a:r>
                    </a:p>
                  </a:txBody>
                  <a:tcPr/>
                </a:tc>
                <a:tc>
                  <a:txBody>
                    <a:bodyPr/>
                    <a:lstStyle/>
                    <a:p>
                      <a:r>
                        <a:rPr lang="en-US"/>
                        <a:t>66</a:t>
                      </a:r>
                    </a:p>
                  </a:txBody>
                  <a:tcPr/>
                </a:tc>
                <a:tc>
                  <a:txBody>
                    <a:bodyPr/>
                    <a:lstStyle/>
                    <a:p>
                      <a:r>
                        <a:rPr lang="en-US"/>
                        <a:t>11</a:t>
                      </a:r>
                    </a:p>
                  </a:txBody>
                  <a:tcPr/>
                </a:tc>
                <a:tc>
                  <a:txBody>
                    <a:bodyPr/>
                    <a:lstStyle/>
                    <a:p>
                      <a:r>
                        <a:rPr lang="en-US"/>
                        <a:t>45</a:t>
                      </a:r>
                    </a:p>
                  </a:txBody>
                  <a:tcPr/>
                </a:tc>
                <a:tc>
                  <a:txBody>
                    <a:bodyPr/>
                    <a:lstStyle/>
                    <a:p>
                      <a:r>
                        <a:rPr lang="en-US"/>
                        <a:t>75</a:t>
                      </a:r>
                    </a:p>
                  </a:txBody>
                  <a:tcPr/>
                </a:tc>
                <a:extLst>
                  <a:ext uri="{0D108BD9-81ED-4DB2-BD59-A6C34878D82A}">
                    <a16:rowId xmlns:a16="http://schemas.microsoft.com/office/drawing/2014/main" val="10001"/>
                  </a:ext>
                </a:extLst>
              </a:tr>
              <a:tr h="370840">
                <a:tc>
                  <a:txBody>
                    <a:bodyPr/>
                    <a:lstStyle/>
                    <a:p>
                      <a:r>
                        <a:rPr lang="en-US"/>
                        <a:t>2</a:t>
                      </a:r>
                    </a:p>
                  </a:txBody>
                  <a:tcPr/>
                </a:tc>
                <a:tc>
                  <a:txBody>
                    <a:bodyPr/>
                    <a:lstStyle/>
                    <a:p>
                      <a:r>
                        <a:rPr lang="en-US"/>
                        <a:t>27</a:t>
                      </a:r>
                    </a:p>
                  </a:txBody>
                  <a:tcPr/>
                </a:tc>
                <a:tc>
                  <a:txBody>
                    <a:bodyPr/>
                    <a:lstStyle/>
                    <a:p>
                      <a:r>
                        <a:rPr lang="en-US"/>
                        <a:t>27</a:t>
                      </a:r>
                    </a:p>
                  </a:txBody>
                  <a:tcPr/>
                </a:tc>
                <a:tc>
                  <a:txBody>
                    <a:bodyPr/>
                    <a:lstStyle/>
                    <a:p>
                      <a:r>
                        <a:rPr lang="en-US"/>
                        <a:t>32</a:t>
                      </a:r>
                    </a:p>
                  </a:txBody>
                  <a:tcPr/>
                </a:tc>
                <a:tc>
                  <a:txBody>
                    <a:bodyPr/>
                    <a:lstStyle/>
                    <a:p>
                      <a:r>
                        <a:rPr lang="en-US"/>
                        <a:t>51</a:t>
                      </a:r>
                    </a:p>
                  </a:txBody>
                  <a:tcPr/>
                </a:tc>
                <a:tc>
                  <a:txBody>
                    <a:bodyPr/>
                    <a:lstStyle/>
                    <a:p>
                      <a:r>
                        <a:rPr lang="en-US"/>
                        <a:t>83</a:t>
                      </a:r>
                    </a:p>
                  </a:txBody>
                  <a:tcPr/>
                </a:tc>
                <a:tc>
                  <a:txBody>
                    <a:bodyPr/>
                    <a:lstStyle/>
                    <a:p>
                      <a:r>
                        <a:rPr lang="en-US"/>
                        <a:t>66</a:t>
                      </a:r>
                    </a:p>
                  </a:txBody>
                  <a:tcPr/>
                </a:tc>
                <a:tc>
                  <a:txBody>
                    <a:bodyPr/>
                    <a:lstStyle/>
                    <a:p>
                      <a:r>
                        <a:rPr lang="en-US"/>
                        <a:t>11</a:t>
                      </a:r>
                    </a:p>
                  </a:txBody>
                  <a:tcPr/>
                </a:tc>
                <a:tc>
                  <a:txBody>
                    <a:bodyPr/>
                    <a:lstStyle/>
                    <a:p>
                      <a:r>
                        <a:rPr lang="en-US"/>
                        <a:t>45</a:t>
                      </a:r>
                    </a:p>
                  </a:txBody>
                  <a:tcPr/>
                </a:tc>
                <a:tc>
                  <a:txBody>
                    <a:bodyPr/>
                    <a:lstStyle/>
                    <a:p>
                      <a:r>
                        <a:rPr lang="en-US"/>
                        <a:t>75</a:t>
                      </a:r>
                    </a:p>
                  </a:txBody>
                  <a:tcPr/>
                </a:tc>
                <a:extLst>
                  <a:ext uri="{0D108BD9-81ED-4DB2-BD59-A6C34878D82A}">
                    <a16:rowId xmlns:a16="http://schemas.microsoft.com/office/drawing/2014/main" val="10002"/>
                  </a:ext>
                </a:extLst>
              </a:tr>
              <a:tr h="370840">
                <a:tc>
                  <a:txBody>
                    <a:bodyPr/>
                    <a:lstStyle/>
                    <a:p>
                      <a:r>
                        <a:rPr lang="en-US"/>
                        <a:t>3</a:t>
                      </a:r>
                    </a:p>
                  </a:txBody>
                  <a:tcPr/>
                </a:tc>
                <a:tc>
                  <a:txBody>
                    <a:bodyPr/>
                    <a:lstStyle/>
                    <a:p>
                      <a:r>
                        <a:rPr lang="en-US"/>
                        <a:t>83</a:t>
                      </a:r>
                    </a:p>
                  </a:txBody>
                  <a:tcPr/>
                </a:tc>
                <a:tc>
                  <a:txBody>
                    <a:bodyPr/>
                    <a:lstStyle/>
                    <a:p>
                      <a:r>
                        <a:rPr lang="en-US"/>
                        <a:t>27</a:t>
                      </a:r>
                    </a:p>
                  </a:txBody>
                  <a:tcPr/>
                </a:tc>
                <a:tc>
                  <a:txBody>
                    <a:bodyPr/>
                    <a:lstStyle/>
                    <a:p>
                      <a:r>
                        <a:rPr lang="en-US"/>
                        <a:t>32</a:t>
                      </a:r>
                    </a:p>
                  </a:txBody>
                  <a:tcPr/>
                </a:tc>
                <a:tc>
                  <a:txBody>
                    <a:bodyPr/>
                    <a:lstStyle/>
                    <a:p>
                      <a:r>
                        <a:rPr lang="en-US"/>
                        <a:t>51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83</a:t>
                      </a:r>
                    </a:p>
                  </a:txBody>
                  <a:tcPr/>
                </a:tc>
                <a:tc>
                  <a:txBody>
                    <a:bodyPr/>
                    <a:lstStyle/>
                    <a:p>
                      <a:r>
                        <a:rPr lang="en-US"/>
                        <a:t>66</a:t>
                      </a:r>
                    </a:p>
                  </a:txBody>
                  <a:tcPr/>
                </a:tc>
                <a:tc>
                  <a:txBody>
                    <a:bodyPr/>
                    <a:lstStyle/>
                    <a:p>
                      <a:r>
                        <a:rPr lang="en-US"/>
                        <a:t>11</a:t>
                      </a:r>
                    </a:p>
                  </a:txBody>
                  <a:tcPr/>
                </a:tc>
                <a:tc>
                  <a:txBody>
                    <a:bodyPr/>
                    <a:lstStyle/>
                    <a:p>
                      <a:r>
                        <a:rPr lang="en-US"/>
                        <a:t>45</a:t>
                      </a:r>
                    </a:p>
                  </a:txBody>
                  <a:tcPr/>
                </a:tc>
                <a:tc>
                  <a:txBody>
                    <a:bodyPr/>
                    <a:lstStyle/>
                    <a:p>
                      <a:r>
                        <a:rPr lang="en-US"/>
                        <a:t>75</a:t>
                      </a:r>
                    </a:p>
                  </a:txBody>
                  <a:tcPr/>
                </a:tc>
                <a:extLst>
                  <a:ext uri="{0D108BD9-81ED-4DB2-BD59-A6C34878D82A}">
                    <a16:rowId xmlns:a16="http://schemas.microsoft.com/office/drawing/2014/main" val="10003"/>
                  </a:ext>
                </a:extLst>
              </a:tr>
              <a:tr h="370840">
                <a:tc>
                  <a:txBody>
                    <a:bodyPr/>
                    <a:lstStyle/>
                    <a:p>
                      <a:r>
                        <a:rPr lang="en-US"/>
                        <a:t>4</a:t>
                      </a:r>
                    </a:p>
                  </a:txBody>
                  <a:tcPr/>
                </a:tc>
                <a:tc>
                  <a:txBody>
                    <a:bodyPr/>
                    <a:lstStyle/>
                    <a:p>
                      <a:r>
                        <a:rPr lang="en-US"/>
                        <a:t>66</a:t>
                      </a:r>
                    </a:p>
                  </a:txBody>
                  <a:tcPr/>
                </a:tc>
                <a:tc>
                  <a:txBody>
                    <a:bodyPr/>
                    <a:lstStyle/>
                    <a:p>
                      <a:r>
                        <a:rPr lang="en-US"/>
                        <a:t>27</a:t>
                      </a:r>
                    </a:p>
                  </a:txBody>
                  <a:tcPr/>
                </a:tc>
                <a:tc>
                  <a:txBody>
                    <a:bodyPr/>
                    <a:lstStyle/>
                    <a:p>
                      <a:r>
                        <a:rPr lang="en-US"/>
                        <a:t>32</a:t>
                      </a:r>
                    </a:p>
                  </a:txBody>
                  <a:tcPr/>
                </a:tc>
                <a:tc>
                  <a:txBody>
                    <a:bodyPr/>
                    <a:lstStyle/>
                    <a:p>
                      <a:r>
                        <a:rPr lang="en-US"/>
                        <a:t>51</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66</a:t>
                      </a:r>
                    </a:p>
                  </a:txBody>
                  <a:tcPr/>
                </a:tc>
                <a:tc>
                  <a:txBody>
                    <a:bodyPr/>
                    <a:lstStyle/>
                    <a:p>
                      <a:r>
                        <a:rPr lang="en-US"/>
                        <a:t>83</a:t>
                      </a:r>
                    </a:p>
                  </a:txBody>
                  <a:tcPr/>
                </a:tc>
                <a:tc>
                  <a:txBody>
                    <a:bodyPr/>
                    <a:lstStyle/>
                    <a:p>
                      <a:r>
                        <a:rPr lang="en-US"/>
                        <a:t>11</a:t>
                      </a:r>
                    </a:p>
                  </a:txBody>
                  <a:tcPr/>
                </a:tc>
                <a:tc>
                  <a:txBody>
                    <a:bodyPr/>
                    <a:lstStyle/>
                    <a:p>
                      <a:r>
                        <a:rPr lang="en-US"/>
                        <a:t>45</a:t>
                      </a:r>
                    </a:p>
                  </a:txBody>
                  <a:tcPr/>
                </a:tc>
                <a:tc>
                  <a:txBody>
                    <a:bodyPr/>
                    <a:lstStyle/>
                    <a:p>
                      <a:r>
                        <a:rPr lang="en-US"/>
                        <a:t>75</a:t>
                      </a:r>
                    </a:p>
                  </a:txBody>
                  <a:tcPr/>
                </a:tc>
                <a:extLst>
                  <a:ext uri="{0D108BD9-81ED-4DB2-BD59-A6C34878D82A}">
                    <a16:rowId xmlns:a16="http://schemas.microsoft.com/office/drawing/2014/main" val="10004"/>
                  </a:ext>
                </a:extLst>
              </a:tr>
              <a:tr h="370840">
                <a:tc>
                  <a:txBody>
                    <a:bodyPr/>
                    <a:lstStyle/>
                    <a:p>
                      <a:r>
                        <a:rPr lang="en-US"/>
                        <a:t>5</a:t>
                      </a:r>
                    </a:p>
                  </a:txBody>
                  <a:tcPr/>
                </a:tc>
                <a:tc>
                  <a:txBody>
                    <a:bodyPr/>
                    <a:lstStyle/>
                    <a:p>
                      <a:r>
                        <a:rPr lang="en-US"/>
                        <a:t>11</a:t>
                      </a:r>
                    </a:p>
                  </a:txBody>
                  <a:tcPr/>
                </a:tc>
                <a:tc>
                  <a:txBody>
                    <a:bodyPr/>
                    <a:lstStyle/>
                    <a:p>
                      <a:r>
                        <a:rPr lang="en-US"/>
                        <a:t>11</a:t>
                      </a:r>
                    </a:p>
                  </a:txBody>
                  <a:tcPr/>
                </a:tc>
                <a:tc>
                  <a:txBody>
                    <a:bodyPr/>
                    <a:lstStyle/>
                    <a:p>
                      <a:r>
                        <a:rPr lang="en-US"/>
                        <a:t>27</a:t>
                      </a:r>
                    </a:p>
                  </a:txBody>
                  <a:tcPr/>
                </a:tc>
                <a:tc>
                  <a:txBody>
                    <a:bodyPr/>
                    <a:lstStyle/>
                    <a:p>
                      <a:r>
                        <a:rPr lang="en-US"/>
                        <a:t>32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51</a:t>
                      </a:r>
                    </a:p>
                  </a:txBody>
                  <a:tcPr/>
                </a:tc>
                <a:tc>
                  <a:txBody>
                    <a:bodyPr/>
                    <a:lstStyle/>
                    <a:p>
                      <a:r>
                        <a:rPr lang="en-US"/>
                        <a:t>66</a:t>
                      </a:r>
                    </a:p>
                  </a:txBody>
                  <a:tcPr/>
                </a:tc>
                <a:tc>
                  <a:txBody>
                    <a:bodyPr/>
                    <a:lstStyle/>
                    <a:p>
                      <a:r>
                        <a:rPr lang="en-US"/>
                        <a:t>83</a:t>
                      </a:r>
                    </a:p>
                  </a:txBody>
                  <a:tcPr/>
                </a:tc>
                <a:tc>
                  <a:txBody>
                    <a:bodyPr/>
                    <a:lstStyle/>
                    <a:p>
                      <a:r>
                        <a:rPr lang="en-US"/>
                        <a:t>45</a:t>
                      </a:r>
                    </a:p>
                  </a:txBody>
                  <a:tcPr/>
                </a:tc>
                <a:tc>
                  <a:txBody>
                    <a:bodyPr/>
                    <a:lstStyle/>
                    <a:p>
                      <a:r>
                        <a:rPr lang="en-US"/>
                        <a:t>75</a:t>
                      </a:r>
                    </a:p>
                  </a:txBody>
                  <a:tcPr/>
                </a:tc>
                <a:extLst>
                  <a:ext uri="{0D108BD9-81ED-4DB2-BD59-A6C34878D82A}">
                    <a16:rowId xmlns:a16="http://schemas.microsoft.com/office/drawing/2014/main" val="10005"/>
                  </a:ext>
                </a:extLst>
              </a:tr>
              <a:tr h="370840">
                <a:tc>
                  <a:txBody>
                    <a:bodyPr/>
                    <a:lstStyle/>
                    <a:p>
                      <a:r>
                        <a:rPr lang="en-US"/>
                        <a:t>6</a:t>
                      </a:r>
                    </a:p>
                  </a:txBody>
                  <a:tcPr/>
                </a:tc>
                <a:tc>
                  <a:txBody>
                    <a:bodyPr/>
                    <a:lstStyle/>
                    <a:p>
                      <a:r>
                        <a:rPr lang="en-US"/>
                        <a:t>45</a:t>
                      </a:r>
                    </a:p>
                  </a:txBody>
                  <a:tcPr/>
                </a:tc>
                <a:tc>
                  <a:txBody>
                    <a:bodyPr/>
                    <a:lstStyle/>
                    <a:p>
                      <a:r>
                        <a:rPr lang="en-US"/>
                        <a:t>11</a:t>
                      </a:r>
                    </a:p>
                  </a:txBody>
                  <a:tcPr/>
                </a:tc>
                <a:tc>
                  <a:txBody>
                    <a:bodyPr/>
                    <a:lstStyle/>
                    <a:p>
                      <a:r>
                        <a:rPr lang="en-US"/>
                        <a:t>27</a:t>
                      </a:r>
                    </a:p>
                  </a:txBody>
                  <a:tcPr/>
                </a:tc>
                <a:tc>
                  <a:txBody>
                    <a:bodyPr/>
                    <a:lstStyle/>
                    <a:p>
                      <a:r>
                        <a:rPr lang="en-US"/>
                        <a:t>32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45</a:t>
                      </a:r>
                    </a:p>
                  </a:txBody>
                  <a:tcPr/>
                </a:tc>
                <a:tc>
                  <a:txBody>
                    <a:bodyPr/>
                    <a:lstStyle/>
                    <a:p>
                      <a:r>
                        <a:rPr lang="en-US"/>
                        <a:t>51</a:t>
                      </a:r>
                    </a:p>
                  </a:txBody>
                  <a:tcPr/>
                </a:tc>
                <a:tc>
                  <a:txBody>
                    <a:bodyPr/>
                    <a:lstStyle/>
                    <a:p>
                      <a:r>
                        <a:rPr lang="en-US"/>
                        <a:t>66</a:t>
                      </a:r>
                    </a:p>
                  </a:txBody>
                  <a:tcPr/>
                </a:tc>
                <a:tc>
                  <a:txBody>
                    <a:bodyPr/>
                    <a:lstStyle/>
                    <a:p>
                      <a:r>
                        <a:rPr lang="en-US"/>
                        <a:t>83</a:t>
                      </a:r>
                    </a:p>
                  </a:txBody>
                  <a:tcPr/>
                </a:tc>
                <a:tc>
                  <a:txBody>
                    <a:bodyPr/>
                    <a:lstStyle/>
                    <a:p>
                      <a:r>
                        <a:rPr lang="en-US"/>
                        <a:t>75</a:t>
                      </a:r>
                    </a:p>
                  </a:txBody>
                  <a:tcPr/>
                </a:tc>
                <a:extLst>
                  <a:ext uri="{0D108BD9-81ED-4DB2-BD59-A6C34878D82A}">
                    <a16:rowId xmlns:a16="http://schemas.microsoft.com/office/drawing/2014/main" val="10006"/>
                  </a:ext>
                </a:extLst>
              </a:tr>
              <a:tr h="370840">
                <a:tc>
                  <a:txBody>
                    <a:bodyPr/>
                    <a:lstStyle/>
                    <a:p>
                      <a:r>
                        <a:rPr lang="en-US"/>
                        <a:t>7</a:t>
                      </a:r>
                    </a:p>
                  </a:txBody>
                  <a:tcPr/>
                </a:tc>
                <a:tc>
                  <a:txBody>
                    <a:bodyPr/>
                    <a:lstStyle/>
                    <a:p>
                      <a:r>
                        <a:rPr lang="en-US"/>
                        <a:t>75</a:t>
                      </a:r>
                    </a:p>
                  </a:txBody>
                  <a:tcPr/>
                </a:tc>
                <a:tc>
                  <a:txBody>
                    <a:bodyPr/>
                    <a:lstStyle/>
                    <a:p>
                      <a:r>
                        <a:rPr lang="en-US"/>
                        <a:t>11</a:t>
                      </a:r>
                    </a:p>
                  </a:txBody>
                  <a:tcPr/>
                </a:tc>
                <a:tc>
                  <a:txBody>
                    <a:bodyPr/>
                    <a:lstStyle/>
                    <a:p>
                      <a:r>
                        <a:rPr lang="en-US"/>
                        <a:t>27</a:t>
                      </a:r>
                    </a:p>
                  </a:txBody>
                  <a:tcPr/>
                </a:tc>
                <a:tc>
                  <a:txBody>
                    <a:bodyPr/>
                    <a:lstStyle/>
                    <a:p>
                      <a:r>
                        <a:rPr lang="en-US"/>
                        <a:t>32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45</a:t>
                      </a:r>
                    </a:p>
                  </a:txBody>
                  <a:tcPr/>
                </a:tc>
                <a:tc>
                  <a:txBody>
                    <a:bodyPr/>
                    <a:lstStyle/>
                    <a:p>
                      <a:r>
                        <a:rPr lang="en-US"/>
                        <a:t>51</a:t>
                      </a:r>
                    </a:p>
                  </a:txBody>
                  <a:tcPr/>
                </a:tc>
                <a:tc>
                  <a:txBody>
                    <a:bodyPr/>
                    <a:lstStyle/>
                    <a:p>
                      <a:r>
                        <a:rPr lang="en-US"/>
                        <a:t>66</a:t>
                      </a:r>
                    </a:p>
                  </a:txBody>
                  <a:tcPr/>
                </a:tc>
                <a:tc>
                  <a:txBody>
                    <a:bodyPr/>
                    <a:lstStyle/>
                    <a:p>
                      <a:r>
                        <a:rPr lang="en-US"/>
                        <a:t>75</a:t>
                      </a:r>
                    </a:p>
                  </a:txBody>
                  <a:tcPr/>
                </a:tc>
                <a:tc>
                  <a:txBody>
                    <a:bodyPr/>
                    <a:lstStyle/>
                    <a:p>
                      <a:r>
                        <a:rPr lang="en-US"/>
                        <a:t>83</a:t>
                      </a:r>
                    </a:p>
                  </a:txBody>
                  <a:tcPr/>
                </a:tc>
                <a:extLst>
                  <a:ext uri="{0D108BD9-81ED-4DB2-BD59-A6C34878D82A}">
                    <a16:rowId xmlns:a16="http://schemas.microsoft.com/office/drawing/2014/main" val="10007"/>
                  </a:ext>
                </a:extLst>
              </a:tr>
            </a:tbl>
          </a:graphicData>
        </a:graphic>
      </p:graphicFrame>
      <p:sp>
        <p:nvSpPr>
          <p:cNvPr id="8" name="Oval 7"/>
          <p:cNvSpPr/>
          <p:nvPr/>
        </p:nvSpPr>
        <p:spPr>
          <a:xfrm>
            <a:off x="4563979" y="3002537"/>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p:cNvSpPr/>
          <p:nvPr/>
        </p:nvSpPr>
        <p:spPr>
          <a:xfrm>
            <a:off x="3740484" y="2622878"/>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2919663" y="2269955"/>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p:cNvSpPr/>
          <p:nvPr/>
        </p:nvSpPr>
        <p:spPr>
          <a:xfrm>
            <a:off x="5406189" y="3355460"/>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p:cNvSpPr/>
          <p:nvPr/>
        </p:nvSpPr>
        <p:spPr>
          <a:xfrm>
            <a:off x="7053177" y="4096085"/>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p:cNvSpPr/>
          <p:nvPr/>
        </p:nvSpPr>
        <p:spPr>
          <a:xfrm>
            <a:off x="6245726" y="3740483"/>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p:nvSpPr>
        <p:spPr>
          <a:xfrm>
            <a:off x="7855282" y="4502477"/>
            <a:ext cx="409074" cy="294105"/>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2192421" y="2564060"/>
            <a:ext cx="39837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192421" y="2916983"/>
            <a:ext cx="104273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2192421" y="3296642"/>
            <a:ext cx="17512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192421" y="3649565"/>
            <a:ext cx="262021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2192421" y="4034588"/>
            <a:ext cx="34624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2192421" y="4390190"/>
            <a:ext cx="436077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2192421" y="4817975"/>
            <a:ext cx="516021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2192421" y="5258866"/>
            <a:ext cx="5962316"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B37A0D2-8DB7-4F9E-A500-3FA54E11EBC5}"/>
              </a:ext>
            </a:extLst>
          </p:cNvPr>
          <p:cNvSpPr txBox="1"/>
          <p:nvPr/>
        </p:nvSpPr>
        <p:spPr>
          <a:xfrm>
            <a:off x="457200" y="5625511"/>
            <a:ext cx="8339221" cy="646331"/>
          </a:xfrm>
          <a:prstGeom prst="rect">
            <a:avLst/>
          </a:prstGeom>
          <a:noFill/>
        </p:spPr>
        <p:txBody>
          <a:bodyPr wrap="square" rtlCol="0">
            <a:spAutoFit/>
          </a:bodyPr>
          <a:lstStyle/>
          <a:p>
            <a:r>
              <a:rPr lang="en-US" err="1"/>
              <a:t>Chiến</a:t>
            </a:r>
            <a:r>
              <a:rPr lang="en-US"/>
              <a:t> </a:t>
            </a:r>
            <a:r>
              <a:rPr lang="en-US" err="1"/>
              <a:t>thuật</a:t>
            </a:r>
            <a:r>
              <a:rPr lang="en-US"/>
              <a:t>: </a:t>
            </a:r>
            <a:r>
              <a:rPr lang="en-US" err="1"/>
              <a:t>chọn</a:t>
            </a:r>
            <a:r>
              <a:rPr lang="en-US"/>
              <a:t> </a:t>
            </a:r>
            <a:r>
              <a:rPr lang="en-US" err="1"/>
              <a:t>số</a:t>
            </a:r>
            <a:r>
              <a:rPr lang="en-US"/>
              <a:t> </a:t>
            </a:r>
            <a:r>
              <a:rPr lang="en-US" err="1"/>
              <a:t>đầu</a:t>
            </a:r>
            <a:r>
              <a:rPr lang="en-US"/>
              <a:t> </a:t>
            </a:r>
            <a:r>
              <a:rPr lang="en-US" err="1"/>
              <a:t>tiên</a:t>
            </a:r>
            <a:r>
              <a:rPr lang="en-US"/>
              <a:t> </a:t>
            </a:r>
            <a:r>
              <a:rPr lang="en-US" err="1"/>
              <a:t>của</a:t>
            </a:r>
            <a:r>
              <a:rPr lang="en-US"/>
              <a:t> </a:t>
            </a:r>
            <a:r>
              <a:rPr lang="en-US" err="1"/>
              <a:t>dãy</a:t>
            </a:r>
            <a:r>
              <a:rPr lang="en-US"/>
              <a:t> </a:t>
            </a:r>
            <a:r>
              <a:rPr lang="en-US" err="1"/>
              <a:t>chưa</a:t>
            </a:r>
            <a:r>
              <a:rPr lang="en-US"/>
              <a:t> </a:t>
            </a:r>
            <a:r>
              <a:rPr lang="en-US" err="1"/>
              <a:t>được</a:t>
            </a:r>
            <a:r>
              <a:rPr lang="en-US"/>
              <a:t> </a:t>
            </a:r>
            <a:r>
              <a:rPr lang="en-US" err="1"/>
              <a:t>sắp</a:t>
            </a:r>
            <a:r>
              <a:rPr lang="en-US"/>
              <a:t> </a:t>
            </a:r>
            <a:r>
              <a:rPr lang="en-US" err="1"/>
              <a:t>xếp</a:t>
            </a:r>
            <a:r>
              <a:rPr lang="en-US"/>
              <a:t> so </a:t>
            </a:r>
            <a:r>
              <a:rPr lang="en-US" err="1"/>
              <a:t>sánh</a:t>
            </a:r>
            <a:r>
              <a:rPr lang="en-US"/>
              <a:t> </a:t>
            </a:r>
            <a:r>
              <a:rPr lang="en-US" err="1"/>
              <a:t>lần</a:t>
            </a:r>
            <a:r>
              <a:rPr lang="en-US"/>
              <a:t> </a:t>
            </a:r>
            <a:r>
              <a:rPr lang="en-US" err="1"/>
              <a:t>lượt</a:t>
            </a:r>
            <a:r>
              <a:rPr lang="en-US"/>
              <a:t> </a:t>
            </a:r>
            <a:r>
              <a:rPr lang="en-US" err="1"/>
              <a:t>với</a:t>
            </a:r>
            <a:r>
              <a:rPr lang="en-US"/>
              <a:t> </a:t>
            </a:r>
            <a:r>
              <a:rPr lang="en-US" err="1"/>
              <a:t>các</a:t>
            </a:r>
            <a:r>
              <a:rPr lang="en-US"/>
              <a:t> </a:t>
            </a:r>
            <a:r>
              <a:rPr lang="en-US" err="1"/>
              <a:t>phần</a:t>
            </a:r>
            <a:r>
              <a:rPr lang="en-US"/>
              <a:t> </a:t>
            </a:r>
            <a:r>
              <a:rPr lang="en-US" err="1"/>
              <a:t>tử</a:t>
            </a:r>
            <a:r>
              <a:rPr lang="en-US"/>
              <a:t> </a:t>
            </a:r>
            <a:r>
              <a:rPr lang="en-US" err="1"/>
              <a:t>còn</a:t>
            </a:r>
            <a:r>
              <a:rPr lang="en-US"/>
              <a:t> </a:t>
            </a:r>
            <a:r>
              <a:rPr lang="en-US" err="1"/>
              <a:t>lại</a:t>
            </a:r>
            <a:r>
              <a:rPr lang="en-US"/>
              <a:t> </a:t>
            </a:r>
            <a:r>
              <a:rPr lang="en-US" err="1"/>
              <a:t>của</a:t>
            </a:r>
            <a:r>
              <a:rPr lang="en-US"/>
              <a:t> </a:t>
            </a:r>
            <a:r>
              <a:rPr lang="en-US" err="1"/>
              <a:t>dãy</a:t>
            </a:r>
            <a:r>
              <a:rPr lang="en-US"/>
              <a:t> </a:t>
            </a:r>
            <a:r>
              <a:rPr lang="en-US" err="1"/>
              <a:t>được</a:t>
            </a:r>
            <a:r>
              <a:rPr lang="en-US"/>
              <a:t> </a:t>
            </a:r>
            <a:r>
              <a:rPr lang="en-US" err="1"/>
              <a:t>sắp</a:t>
            </a:r>
            <a:r>
              <a:rPr lang="en-US"/>
              <a:t> </a:t>
            </a:r>
            <a:r>
              <a:rPr lang="en-US" err="1"/>
              <a:t>xếp</a:t>
            </a:r>
            <a:r>
              <a:rPr lang="en-US"/>
              <a:t> </a:t>
            </a:r>
            <a:r>
              <a:rPr lang="en-US" err="1"/>
              <a:t>và</a:t>
            </a:r>
            <a:r>
              <a:rPr lang="en-US"/>
              <a:t> </a:t>
            </a:r>
            <a:r>
              <a:rPr lang="en-US" err="1"/>
              <a:t>chèn</a:t>
            </a:r>
            <a:r>
              <a:rPr lang="en-US"/>
              <a:t> </a:t>
            </a:r>
            <a:r>
              <a:rPr lang="en-US" err="1"/>
              <a:t>vào</a:t>
            </a:r>
            <a:r>
              <a:rPr lang="en-US"/>
              <a:t> </a:t>
            </a:r>
            <a:r>
              <a:rPr lang="en-US" err="1"/>
              <a:t>đúng</a:t>
            </a:r>
            <a:r>
              <a:rPr lang="en-US"/>
              <a:t> </a:t>
            </a:r>
            <a:r>
              <a:rPr lang="en-US" err="1"/>
              <a:t>vị</a:t>
            </a:r>
            <a:r>
              <a:rPr lang="en-US"/>
              <a:t> </a:t>
            </a:r>
            <a:r>
              <a:rPr lang="en-US" err="1"/>
              <a:t>trí</a:t>
            </a:r>
            <a:r>
              <a:rPr lang="en-US"/>
              <a:t> </a:t>
            </a:r>
            <a:r>
              <a:rPr lang="en-US" err="1"/>
              <a:t>phù</a:t>
            </a:r>
            <a:r>
              <a:rPr lang="en-US"/>
              <a:t> </a:t>
            </a:r>
            <a:r>
              <a:rPr lang="en-US" err="1"/>
              <a:t>hợp</a:t>
            </a:r>
            <a:r>
              <a:rPr lang="en-US"/>
              <a:t> </a:t>
            </a:r>
          </a:p>
        </p:txBody>
      </p:sp>
      <mc:AlternateContent xmlns:mc="http://schemas.openxmlformats.org/markup-compatibility/2006" xmlns:p14="http://schemas.microsoft.com/office/powerpoint/2010/main">
        <mc:Choice Requires="p14">
          <p:contentPart p14:bwMode="auto" r:id="rId3">
            <p14:nvContentPartPr>
              <p14:cNvPr id="64" name="Ink 63">
                <a:extLst>
                  <a:ext uri="{FF2B5EF4-FFF2-40B4-BE49-F238E27FC236}">
                    <a16:creationId xmlns:a16="http://schemas.microsoft.com/office/drawing/2014/main" id="{8F820667-CC51-443E-8421-8C744A534A01}"/>
                  </a:ext>
                </a:extLst>
              </p14:cNvPr>
              <p14:cNvContentPartPr/>
              <p14:nvPr/>
            </p14:nvContentPartPr>
            <p14:xfrm>
              <a:off x="8513581" y="4940514"/>
              <a:ext cx="9720" cy="36720"/>
            </p14:xfrm>
          </p:contentPart>
        </mc:Choice>
        <mc:Fallback xmlns="">
          <p:pic>
            <p:nvPicPr>
              <p:cNvPr id="64" name="Ink 63">
                <a:extLst>
                  <a:ext uri="{FF2B5EF4-FFF2-40B4-BE49-F238E27FC236}">
                    <a16:creationId xmlns:a16="http://schemas.microsoft.com/office/drawing/2014/main" id="{8F820667-CC51-443E-8421-8C744A534A01}"/>
                  </a:ext>
                </a:extLst>
              </p:cNvPr>
              <p:cNvPicPr/>
              <p:nvPr/>
            </p:nvPicPr>
            <p:blipFill>
              <a:blip r:embed="rId4"/>
              <a:stretch>
                <a:fillRect/>
              </a:stretch>
            </p:blipFill>
            <p:spPr>
              <a:xfrm>
                <a:off x="8504581" y="4931514"/>
                <a:ext cx="27360" cy="54360"/>
              </a:xfrm>
              <a:prstGeom prst="rect">
                <a:avLst/>
              </a:prstGeom>
            </p:spPr>
          </p:pic>
        </mc:Fallback>
      </mc:AlternateContent>
    </p:spTree>
    <p:extLst>
      <p:ext uri="{BB962C8B-B14F-4D97-AF65-F5344CB8AC3E}">
        <p14:creationId xmlns:p14="http://schemas.microsoft.com/office/powerpoint/2010/main" val="125679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28</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chèn</a:t>
            </a:r>
            <a:endParaRPr lang="en-US"/>
          </a:p>
        </p:txBody>
      </p:sp>
      <p:sp>
        <p:nvSpPr>
          <p:cNvPr id="3" name="Content Placeholder 2"/>
          <p:cNvSpPr>
            <a:spLocks noGrp="1"/>
          </p:cNvSpPr>
          <p:nvPr>
            <p:ph type="body" sz="quarter" idx="13"/>
          </p:nvPr>
        </p:nvSpPr>
        <p:spPr/>
        <p:txBody>
          <a:bodyPr>
            <a:normAutofit/>
          </a:bodyPr>
          <a:lstStyle/>
          <a:p>
            <a:r>
              <a:rPr lang="en-US" err="1"/>
              <a:t>Bước</a:t>
            </a:r>
            <a:r>
              <a:rPr lang="en-US"/>
              <a:t> 1: </a:t>
            </a:r>
            <a:r>
              <a:rPr lang="en-US" err="1"/>
              <a:t>Xét</a:t>
            </a:r>
            <a:r>
              <a:rPr lang="en-US"/>
              <a:t> A[1] </a:t>
            </a:r>
            <a:r>
              <a:rPr lang="en-US" err="1"/>
              <a:t>là</a:t>
            </a:r>
            <a:r>
              <a:rPr lang="en-US"/>
              <a:t> </a:t>
            </a:r>
            <a:r>
              <a:rPr lang="en-US" err="1"/>
              <a:t>dãy</a:t>
            </a:r>
            <a:r>
              <a:rPr lang="en-US"/>
              <a:t> con ban </a:t>
            </a:r>
            <a:r>
              <a:rPr lang="en-US" err="1"/>
              <a:t>đầu</a:t>
            </a:r>
            <a:r>
              <a:rPr lang="en-US"/>
              <a:t> </a:t>
            </a:r>
            <a:r>
              <a:rPr lang="en-US" err="1"/>
              <a:t>đã</a:t>
            </a:r>
            <a:r>
              <a:rPr lang="en-US"/>
              <a:t> </a:t>
            </a:r>
            <a:r>
              <a:rPr lang="en-US" err="1"/>
              <a:t>được</a:t>
            </a:r>
            <a:r>
              <a:rPr lang="en-US"/>
              <a:t> </a:t>
            </a:r>
            <a:r>
              <a:rPr lang="en-US" err="1"/>
              <a:t>sắp</a:t>
            </a:r>
            <a:r>
              <a:rPr lang="en-US"/>
              <a:t> </a:t>
            </a:r>
            <a:r>
              <a:rPr lang="en-US" err="1"/>
              <a:t>xếp</a:t>
            </a:r>
            <a:endParaRPr lang="en-US"/>
          </a:p>
          <a:p>
            <a:r>
              <a:rPr lang="en-US" err="1"/>
              <a:t>Bước</a:t>
            </a:r>
            <a:r>
              <a:rPr lang="en-US"/>
              <a:t> 2: </a:t>
            </a:r>
            <a:r>
              <a:rPr lang="en-US" err="1"/>
              <a:t>Xét</a:t>
            </a:r>
            <a:r>
              <a:rPr lang="en-US"/>
              <a:t> A[2], </a:t>
            </a:r>
            <a:r>
              <a:rPr lang="en-US" err="1"/>
              <a:t>nếu</a:t>
            </a:r>
            <a:r>
              <a:rPr lang="en-US"/>
              <a:t> A[2] &lt; A[1] </a:t>
            </a:r>
            <a:r>
              <a:rPr lang="en-US" err="1"/>
              <a:t>chèn</a:t>
            </a:r>
            <a:r>
              <a:rPr lang="en-US"/>
              <a:t> </a:t>
            </a:r>
            <a:r>
              <a:rPr lang="en-US" err="1"/>
              <a:t>vào</a:t>
            </a:r>
            <a:r>
              <a:rPr lang="en-US"/>
              <a:t> </a:t>
            </a:r>
            <a:r>
              <a:rPr lang="en-US" err="1"/>
              <a:t>trước</a:t>
            </a:r>
            <a:r>
              <a:rPr lang="en-US"/>
              <a:t> A[1], </a:t>
            </a:r>
            <a:r>
              <a:rPr lang="en-US" err="1"/>
              <a:t>còn</a:t>
            </a:r>
            <a:r>
              <a:rPr lang="en-US"/>
              <a:t> </a:t>
            </a:r>
            <a:r>
              <a:rPr lang="en-US" err="1"/>
              <a:t>lại</a:t>
            </a:r>
            <a:r>
              <a:rPr lang="en-US"/>
              <a:t> </a:t>
            </a:r>
            <a:r>
              <a:rPr lang="en-US" err="1"/>
              <a:t>thì</a:t>
            </a:r>
            <a:r>
              <a:rPr lang="en-US"/>
              <a:t> </a:t>
            </a:r>
            <a:r>
              <a:rPr lang="en-US" err="1"/>
              <a:t>giữ</a:t>
            </a:r>
            <a:r>
              <a:rPr lang="en-US"/>
              <a:t> </a:t>
            </a:r>
            <a:r>
              <a:rPr lang="en-US" err="1"/>
              <a:t>nguyên</a:t>
            </a:r>
            <a:r>
              <a:rPr lang="en-US"/>
              <a:t> A[2] </a:t>
            </a:r>
            <a:r>
              <a:rPr lang="en-US" err="1"/>
              <a:t>tại</a:t>
            </a:r>
            <a:r>
              <a:rPr lang="en-US"/>
              <a:t> </a:t>
            </a:r>
            <a:r>
              <a:rPr lang="en-US" err="1"/>
              <a:t>chỗ</a:t>
            </a:r>
            <a:r>
              <a:rPr lang="en-US"/>
              <a:t> </a:t>
            </a:r>
          </a:p>
          <a:p>
            <a:r>
              <a:rPr lang="en-US" err="1"/>
              <a:t>Bước</a:t>
            </a:r>
            <a:r>
              <a:rPr lang="en-US"/>
              <a:t> 3: </a:t>
            </a:r>
            <a:r>
              <a:rPr lang="en-US" err="1"/>
              <a:t>Xét</a:t>
            </a:r>
            <a:r>
              <a:rPr lang="en-US"/>
              <a:t> A[1], A[2] </a:t>
            </a:r>
            <a:r>
              <a:rPr lang="en-US" err="1"/>
              <a:t>là</a:t>
            </a:r>
            <a:r>
              <a:rPr lang="en-US"/>
              <a:t> </a:t>
            </a:r>
            <a:r>
              <a:rPr lang="en-US" err="1"/>
              <a:t>dãy</a:t>
            </a:r>
            <a:r>
              <a:rPr lang="en-US"/>
              <a:t> con </a:t>
            </a:r>
            <a:r>
              <a:rPr lang="en-US" err="1"/>
              <a:t>được</a:t>
            </a:r>
            <a:r>
              <a:rPr lang="en-US"/>
              <a:t> </a:t>
            </a:r>
            <a:r>
              <a:rPr lang="en-US" err="1"/>
              <a:t>sắp</a:t>
            </a:r>
            <a:r>
              <a:rPr lang="en-US"/>
              <a:t> </a:t>
            </a:r>
            <a:r>
              <a:rPr lang="en-US" err="1"/>
              <a:t>xếp</a:t>
            </a:r>
            <a:endParaRPr lang="en-US"/>
          </a:p>
          <a:p>
            <a:r>
              <a:rPr lang="en-US" err="1"/>
              <a:t>Bước</a:t>
            </a:r>
            <a:r>
              <a:rPr lang="en-US"/>
              <a:t> 4: </a:t>
            </a:r>
            <a:r>
              <a:rPr lang="en-US" err="1"/>
              <a:t>Xét</a:t>
            </a:r>
            <a:r>
              <a:rPr lang="en-US"/>
              <a:t> A[3], so </a:t>
            </a:r>
            <a:r>
              <a:rPr lang="en-US" err="1"/>
              <a:t>sánh</a:t>
            </a:r>
            <a:r>
              <a:rPr lang="en-US"/>
              <a:t> </a:t>
            </a:r>
            <a:r>
              <a:rPr lang="en-US" err="1"/>
              <a:t>với</a:t>
            </a:r>
            <a:r>
              <a:rPr lang="en-US"/>
              <a:t> A[1], A[2] </a:t>
            </a:r>
            <a:r>
              <a:rPr lang="en-US" err="1"/>
              <a:t>và</a:t>
            </a:r>
            <a:r>
              <a:rPr lang="en-US"/>
              <a:t> </a:t>
            </a:r>
            <a:r>
              <a:rPr lang="en-US" err="1"/>
              <a:t>tìm</a:t>
            </a:r>
            <a:r>
              <a:rPr lang="en-US"/>
              <a:t> </a:t>
            </a:r>
            <a:r>
              <a:rPr lang="en-US" err="1"/>
              <a:t>vị</a:t>
            </a:r>
            <a:r>
              <a:rPr lang="en-US"/>
              <a:t> </a:t>
            </a:r>
            <a:r>
              <a:rPr lang="en-US" err="1"/>
              <a:t>trí</a:t>
            </a:r>
            <a:r>
              <a:rPr lang="en-US"/>
              <a:t> </a:t>
            </a:r>
            <a:r>
              <a:rPr lang="en-US" err="1"/>
              <a:t>chèn</a:t>
            </a:r>
            <a:r>
              <a:rPr lang="en-US"/>
              <a:t> </a:t>
            </a:r>
          </a:p>
          <a:p>
            <a:r>
              <a:rPr lang="en-US" err="1"/>
              <a:t>Bước</a:t>
            </a:r>
            <a:r>
              <a:rPr lang="en-US"/>
              <a:t> 5: </a:t>
            </a:r>
            <a:r>
              <a:rPr lang="en-US" err="1"/>
              <a:t>Lặp</a:t>
            </a:r>
            <a:r>
              <a:rPr lang="en-US"/>
              <a:t> </a:t>
            </a:r>
            <a:r>
              <a:rPr lang="en-US" err="1"/>
              <a:t>lại</a:t>
            </a:r>
            <a:r>
              <a:rPr lang="en-US"/>
              <a:t> </a:t>
            </a:r>
            <a:r>
              <a:rPr lang="en-US" err="1"/>
              <a:t>với</a:t>
            </a:r>
            <a:r>
              <a:rPr lang="en-US"/>
              <a:t> A[4], … </a:t>
            </a:r>
            <a:r>
              <a:rPr lang="en-US" err="1"/>
              <a:t>đến</a:t>
            </a:r>
            <a:r>
              <a:rPr lang="en-US"/>
              <a:t> </a:t>
            </a:r>
            <a:r>
              <a:rPr lang="en-US" err="1"/>
              <a:t>khi</a:t>
            </a:r>
            <a:r>
              <a:rPr lang="en-US"/>
              <a:t> </a:t>
            </a:r>
            <a:r>
              <a:rPr lang="en-US" err="1"/>
              <a:t>dãy</a:t>
            </a:r>
            <a:r>
              <a:rPr lang="en-US"/>
              <a:t> </a:t>
            </a:r>
            <a:r>
              <a:rPr lang="en-US" err="1"/>
              <a:t>được</a:t>
            </a:r>
            <a:r>
              <a:rPr lang="en-US"/>
              <a:t> </a:t>
            </a:r>
            <a:r>
              <a:rPr lang="en-US" err="1"/>
              <a:t>sắp</a:t>
            </a:r>
            <a:r>
              <a:rPr lang="en-US"/>
              <a:t> </a:t>
            </a:r>
            <a:r>
              <a:rPr lang="en-US" err="1"/>
              <a:t>xếp</a:t>
            </a:r>
            <a:r>
              <a:rPr lang="en-US"/>
              <a:t> </a:t>
            </a:r>
            <a:r>
              <a:rPr lang="en-US" err="1"/>
              <a:t>hết</a:t>
            </a:r>
            <a:r>
              <a:rPr lang="en-US"/>
              <a:t> </a:t>
            </a:r>
          </a:p>
          <a:p>
            <a:endParaRPr lang="en-US"/>
          </a:p>
        </p:txBody>
      </p:sp>
    </p:spTree>
    <p:extLst>
      <p:ext uri="{BB962C8B-B14F-4D97-AF65-F5344CB8AC3E}">
        <p14:creationId xmlns:p14="http://schemas.microsoft.com/office/powerpoint/2010/main" val="103484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29</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chèn</a:t>
            </a:r>
            <a:endParaRPr lang="en-US"/>
          </a:p>
        </p:txBody>
      </p:sp>
      <p:sp>
        <p:nvSpPr>
          <p:cNvPr id="3" name="Content Placeholder 2"/>
          <p:cNvSpPr>
            <a:spLocks noGrp="1"/>
          </p:cNvSpPr>
          <p:nvPr>
            <p:ph type="body" sz="quarter" idx="13"/>
          </p:nvPr>
        </p:nvSpPr>
        <p:spPr>
          <a:xfrm>
            <a:off x="234950" y="963168"/>
            <a:ext cx="4713568" cy="5132832"/>
          </a:xfrm>
        </p:spPr>
        <p:txBody>
          <a:bodyPr>
            <a:normAutofit/>
          </a:bodyPr>
          <a:lstStyle/>
          <a:p>
            <a:pPr marL="0" indent="0">
              <a:buNone/>
            </a:pPr>
            <a:r>
              <a:rPr lang="en-US" sz="2400" b="1"/>
              <a:t>Procedure</a:t>
            </a:r>
            <a:r>
              <a:rPr lang="en-US" sz="2400"/>
              <a:t> INSERT_SORT(</a:t>
            </a:r>
            <a:r>
              <a:rPr lang="en-US" sz="2400" err="1"/>
              <a:t>A,n</a:t>
            </a:r>
            <a:r>
              <a:rPr lang="en-US" sz="2400"/>
              <a:t>);</a:t>
            </a:r>
          </a:p>
          <a:p>
            <a:pPr marL="0" indent="0">
              <a:buNone/>
            </a:pPr>
            <a:r>
              <a:rPr lang="en-US" sz="2400"/>
              <a:t>Int x;</a:t>
            </a:r>
          </a:p>
          <a:p>
            <a:pPr marL="514350" indent="-514350">
              <a:buAutoNum type="arabicPeriod"/>
            </a:pPr>
            <a:r>
              <a:rPr lang="en-US" sz="2400"/>
              <a:t>For </a:t>
            </a:r>
            <a:r>
              <a:rPr lang="en-US" sz="2400" err="1"/>
              <a:t>i</a:t>
            </a:r>
            <a:r>
              <a:rPr lang="en-US" sz="2400"/>
              <a:t> = 1 do n {</a:t>
            </a:r>
          </a:p>
          <a:p>
            <a:pPr marL="514350" indent="-514350">
              <a:buAutoNum type="arabicPeriod"/>
            </a:pPr>
            <a:r>
              <a:rPr lang="en-US" sz="2400"/>
              <a:t>x = A[</a:t>
            </a:r>
            <a:r>
              <a:rPr lang="en-US" sz="2400" err="1"/>
              <a:t>i</a:t>
            </a:r>
            <a:r>
              <a:rPr lang="en-US" sz="2400"/>
              <a:t>]; j = </a:t>
            </a:r>
            <a:r>
              <a:rPr lang="en-US" sz="2400" err="1"/>
              <a:t>i</a:t>
            </a:r>
            <a:r>
              <a:rPr lang="en-US" sz="2400"/>
              <a:t>;</a:t>
            </a:r>
          </a:p>
          <a:p>
            <a:pPr marL="514350" indent="-514350">
              <a:buAutoNum type="arabicPeriod"/>
            </a:pPr>
            <a:r>
              <a:rPr lang="en-US" sz="2400"/>
              <a:t>While j&gt;0 and A[j-1] &gt; x do {</a:t>
            </a:r>
          </a:p>
          <a:p>
            <a:pPr marL="514350" indent="-514350">
              <a:buAutoNum type="arabicPeriod"/>
            </a:pPr>
            <a:r>
              <a:rPr lang="en-US" sz="2400"/>
              <a:t>A[j] = A[j-1]; j = j-1;}</a:t>
            </a:r>
          </a:p>
          <a:p>
            <a:pPr marL="514350" indent="-514350">
              <a:buAutoNum type="arabicPeriod"/>
            </a:pPr>
            <a:r>
              <a:rPr lang="en-US" sz="2400"/>
              <a:t>A[j] = x;}</a:t>
            </a:r>
          </a:p>
          <a:p>
            <a:pPr marL="514350" indent="-514350">
              <a:buAutoNum type="arabicPeriod"/>
            </a:pPr>
            <a:r>
              <a:rPr lang="en-US" sz="2400"/>
              <a:t>Return End;</a:t>
            </a:r>
          </a:p>
          <a:p>
            <a:pPr marL="0" indent="0">
              <a:buNone/>
            </a:pPr>
            <a:endParaRPr lang="en-US" sz="2400"/>
          </a:p>
          <a:p>
            <a:pPr marL="0" indent="0">
              <a:buNone/>
            </a:pPr>
            <a:r>
              <a:rPr lang="en-US" sz="2400" err="1">
                <a:solidFill>
                  <a:srgbClr val="FF0000"/>
                </a:solidFill>
              </a:rPr>
              <a:t>Đánh</a:t>
            </a:r>
            <a:r>
              <a:rPr lang="en-US" sz="2400">
                <a:solidFill>
                  <a:srgbClr val="FF0000"/>
                </a:solidFill>
              </a:rPr>
              <a:t> </a:t>
            </a:r>
            <a:r>
              <a:rPr lang="en-US" sz="2400" err="1">
                <a:solidFill>
                  <a:srgbClr val="FF0000"/>
                </a:solidFill>
              </a:rPr>
              <a:t>giá</a:t>
            </a:r>
            <a:r>
              <a:rPr lang="en-US" sz="2400">
                <a:solidFill>
                  <a:srgbClr val="FF0000"/>
                </a:solidFill>
              </a:rPr>
              <a:t> </a:t>
            </a:r>
            <a:r>
              <a:rPr lang="en-US" sz="2400" err="1">
                <a:solidFill>
                  <a:srgbClr val="FF0000"/>
                </a:solidFill>
              </a:rPr>
              <a:t>độ</a:t>
            </a:r>
            <a:r>
              <a:rPr lang="en-US" sz="2400">
                <a:solidFill>
                  <a:srgbClr val="FF0000"/>
                </a:solidFill>
              </a:rPr>
              <a:t> </a:t>
            </a:r>
            <a:r>
              <a:rPr lang="en-US" sz="2400" err="1">
                <a:solidFill>
                  <a:srgbClr val="FF0000"/>
                </a:solidFill>
              </a:rPr>
              <a:t>phức</a:t>
            </a:r>
            <a:r>
              <a:rPr lang="en-US" sz="2400">
                <a:solidFill>
                  <a:srgbClr val="FF0000"/>
                </a:solidFill>
              </a:rPr>
              <a:t> </a:t>
            </a:r>
            <a:r>
              <a:rPr lang="en-US" sz="2400" err="1">
                <a:solidFill>
                  <a:srgbClr val="FF0000"/>
                </a:solidFill>
              </a:rPr>
              <a:t>tạp</a:t>
            </a:r>
            <a:r>
              <a:rPr lang="en-US" sz="2400">
                <a:solidFill>
                  <a:srgbClr val="FF0000"/>
                </a:solidFill>
              </a:rPr>
              <a:t> </a:t>
            </a:r>
          </a:p>
          <a:p>
            <a:pPr marL="0" indent="0">
              <a:buNone/>
            </a:pPr>
            <a:r>
              <a:rPr lang="en-US" sz="2400">
                <a:solidFill>
                  <a:srgbClr val="FF0000"/>
                </a:solidFill>
              </a:rPr>
              <a:t>T(n)  = O(n</a:t>
            </a:r>
            <a:r>
              <a:rPr lang="en-US" sz="2400" baseline="30000">
                <a:solidFill>
                  <a:srgbClr val="FF0000"/>
                </a:solidFill>
              </a:rPr>
              <a:t>2</a:t>
            </a:r>
            <a:r>
              <a:rPr lang="en-US" sz="2400">
                <a:solidFill>
                  <a:srgbClr val="FF0000"/>
                </a:solidFill>
              </a:rPr>
              <a:t>)</a:t>
            </a:r>
          </a:p>
          <a:p>
            <a:pPr marL="514350" indent="-514350">
              <a:buAutoNum type="arabicPeriod"/>
            </a:pPr>
            <a:endParaRPr lang="en-US" sz="2400"/>
          </a:p>
          <a:p>
            <a:pPr marL="514350" indent="-514350">
              <a:buAutoNum type="arabicPeriod"/>
            </a:pPr>
            <a:endParaRPr lang="en-US" sz="2400"/>
          </a:p>
          <a:p>
            <a:pPr marL="514350" indent="-514350">
              <a:buAutoNum type="arabicPeriod"/>
            </a:pPr>
            <a:endParaRPr lang="en-US" sz="2400"/>
          </a:p>
          <a:p>
            <a:pPr marL="514350" indent="-514350">
              <a:buAutoNum type="arabicPeriod"/>
            </a:pPr>
            <a:endParaRPr lang="en-US" sz="2400"/>
          </a:p>
          <a:p>
            <a:pPr marL="514350" indent="-514350">
              <a:buAutoNum type="arabicPeriod"/>
            </a:pPr>
            <a:endParaRPr lang="en-US" sz="2400"/>
          </a:p>
        </p:txBody>
      </p:sp>
      <p:sp>
        <p:nvSpPr>
          <p:cNvPr id="7" name="Content Placeholder 6"/>
          <p:cNvSpPr>
            <a:spLocks noGrp="1"/>
          </p:cNvSpPr>
          <p:nvPr>
            <p:ph sz="half" idx="4294967295"/>
          </p:nvPr>
        </p:nvSpPr>
        <p:spPr>
          <a:xfrm>
            <a:off x="5221008" y="1093156"/>
            <a:ext cx="3609227" cy="4525963"/>
          </a:xfrm>
          <a:ln>
            <a:solidFill>
              <a:schemeClr val="accent1"/>
            </a:solidFill>
          </a:ln>
        </p:spPr>
        <p:txBody>
          <a:bodyPr>
            <a:normAutofit fontScale="70000" lnSpcReduction="20000"/>
          </a:bodyPr>
          <a:lstStyle/>
          <a:p>
            <a:pPr marL="0" indent="0">
              <a:buNone/>
            </a:pPr>
            <a:r>
              <a:rPr lang="en-US">
                <a:solidFill>
                  <a:srgbClr val="0000FF"/>
                </a:solidFill>
              </a:rPr>
              <a:t>void </a:t>
            </a:r>
            <a:r>
              <a:rPr lang="en-US" err="1">
                <a:solidFill>
                  <a:srgbClr val="0000FF"/>
                </a:solidFill>
              </a:rPr>
              <a:t>InsertionSort</a:t>
            </a:r>
            <a:r>
              <a:rPr lang="en-US">
                <a:solidFill>
                  <a:srgbClr val="0000FF"/>
                </a:solidFill>
              </a:rPr>
              <a:t>(</a:t>
            </a:r>
            <a:r>
              <a:rPr lang="en-US" err="1">
                <a:solidFill>
                  <a:srgbClr val="0000FF"/>
                </a:solidFill>
              </a:rPr>
              <a:t>int</a:t>
            </a:r>
            <a:r>
              <a:rPr lang="en-US">
                <a:solidFill>
                  <a:srgbClr val="0000FF"/>
                </a:solidFill>
              </a:rPr>
              <a:t> A[], </a:t>
            </a:r>
            <a:r>
              <a:rPr lang="en-US" err="1">
                <a:solidFill>
                  <a:srgbClr val="0000FF"/>
                </a:solidFill>
              </a:rPr>
              <a:t>int</a:t>
            </a:r>
            <a:r>
              <a:rPr lang="en-US">
                <a:solidFill>
                  <a:srgbClr val="0000FF"/>
                </a:solidFill>
              </a:rPr>
              <a:t> n)</a:t>
            </a:r>
          </a:p>
          <a:p>
            <a:pPr marL="0" indent="0">
              <a:buNone/>
            </a:pPr>
            <a:r>
              <a:rPr lang="en-US">
                <a:solidFill>
                  <a:srgbClr val="0000FF"/>
                </a:solidFill>
              </a:rPr>
              <a:t>{   </a:t>
            </a:r>
          </a:p>
          <a:p>
            <a:pPr marL="0" indent="0">
              <a:buNone/>
            </a:pPr>
            <a:r>
              <a:rPr lang="en-US">
                <a:solidFill>
                  <a:srgbClr val="0000FF"/>
                </a:solidFill>
              </a:rPr>
              <a:t>     </a:t>
            </a:r>
            <a:r>
              <a:rPr lang="da-DK">
                <a:solidFill>
                  <a:srgbClr val="0000FF"/>
                </a:solidFill>
              </a:rPr>
              <a:t>for (</a:t>
            </a:r>
            <a:r>
              <a:rPr lang="da-DK" err="1">
                <a:solidFill>
                  <a:srgbClr val="0000FF"/>
                </a:solidFill>
              </a:rPr>
              <a:t>int</a:t>
            </a:r>
            <a:r>
              <a:rPr lang="da-DK">
                <a:solidFill>
                  <a:srgbClr val="0000FF"/>
                </a:solidFill>
              </a:rPr>
              <a:t> i = 1; i &lt; n; i++)</a:t>
            </a:r>
            <a:r>
              <a:rPr lang="en-US">
                <a:solidFill>
                  <a:srgbClr val="0000FF"/>
                </a:solidFill>
              </a:rPr>
              <a:t>{</a:t>
            </a:r>
          </a:p>
          <a:p>
            <a:pPr marL="0" indent="0">
              <a:buNone/>
            </a:pPr>
            <a:r>
              <a:rPr lang="fr-FR">
                <a:solidFill>
                  <a:srgbClr val="0000FF"/>
                </a:solidFill>
              </a:rPr>
              <a:t>           int x = A[i];</a:t>
            </a:r>
          </a:p>
          <a:p>
            <a:pPr marL="0" indent="0">
              <a:buNone/>
            </a:pPr>
            <a:r>
              <a:rPr lang="fr-FR">
                <a:solidFill>
                  <a:srgbClr val="0000FF"/>
                </a:solidFill>
              </a:rPr>
              <a:t>           int j = i;</a:t>
            </a:r>
          </a:p>
          <a:p>
            <a:pPr marL="0" indent="0">
              <a:buNone/>
            </a:pPr>
            <a:r>
              <a:rPr lang="fr-FR">
                <a:solidFill>
                  <a:srgbClr val="0000FF"/>
                </a:solidFill>
              </a:rPr>
              <a:t>           </a:t>
            </a:r>
            <a:r>
              <a:rPr lang="en-US">
                <a:solidFill>
                  <a:srgbClr val="0000FF"/>
                </a:solidFill>
              </a:rPr>
              <a:t>while (j &gt; 0 &amp;&amp; A[j - 1] &gt; x){</a:t>
            </a:r>
          </a:p>
          <a:p>
            <a:pPr marL="0" indent="0">
              <a:buNone/>
            </a:pPr>
            <a:r>
              <a:rPr lang="en-US">
                <a:solidFill>
                  <a:srgbClr val="0000FF"/>
                </a:solidFill>
              </a:rPr>
              <a:t>            A[j] = A[j - 1];</a:t>
            </a:r>
          </a:p>
          <a:p>
            <a:pPr marL="0" indent="0">
              <a:buNone/>
            </a:pPr>
            <a:r>
              <a:rPr lang="en-US">
                <a:solidFill>
                  <a:srgbClr val="0000FF"/>
                </a:solidFill>
              </a:rPr>
              <a:t>             j--;</a:t>
            </a:r>
          </a:p>
          <a:p>
            <a:pPr marL="0" indent="0">
              <a:buNone/>
            </a:pPr>
            <a:r>
              <a:rPr lang="en-US">
                <a:solidFill>
                  <a:srgbClr val="0000FF"/>
                </a:solidFill>
              </a:rPr>
              <a:t>            }</a:t>
            </a:r>
          </a:p>
          <a:p>
            <a:pPr marL="0" indent="0">
              <a:buNone/>
            </a:pPr>
            <a:r>
              <a:rPr lang="en-US">
                <a:solidFill>
                  <a:srgbClr val="0000FF"/>
                </a:solidFill>
              </a:rPr>
              <a:t>            A[j] = x;</a:t>
            </a:r>
          </a:p>
          <a:p>
            <a:pPr marL="0" indent="0">
              <a:buNone/>
            </a:pPr>
            <a:r>
              <a:rPr lang="en-US">
                <a:solidFill>
                  <a:srgbClr val="0000FF"/>
                </a:solidFill>
              </a:rPr>
              <a:t>      }</a:t>
            </a:r>
          </a:p>
          <a:p>
            <a:pPr marL="0" indent="0">
              <a:buNone/>
            </a:pPr>
            <a:r>
              <a:rPr lang="en-US">
                <a:solidFill>
                  <a:srgbClr val="0000FF"/>
                </a:solidFill>
              </a:rPr>
              <a:t>}</a:t>
            </a:r>
          </a:p>
        </p:txBody>
      </p:sp>
    </p:spTree>
    <p:extLst>
      <p:ext uri="{BB962C8B-B14F-4D97-AF65-F5344CB8AC3E}">
        <p14:creationId xmlns:p14="http://schemas.microsoft.com/office/powerpoint/2010/main" val="1541273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30</a:t>
            </a:fld>
            <a:endParaRPr lang="en-US"/>
          </a:p>
        </p:txBody>
      </p:sp>
      <p:sp>
        <p:nvSpPr>
          <p:cNvPr id="2" name="Title 1"/>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đổi</a:t>
            </a:r>
            <a:r>
              <a:rPr lang="en-US"/>
              <a:t> </a:t>
            </a:r>
            <a:r>
              <a:rPr lang="en-US" err="1"/>
              <a:t>chỗ</a:t>
            </a:r>
            <a:r>
              <a:rPr lang="en-US"/>
              <a:t>/</a:t>
            </a:r>
            <a:r>
              <a:rPr lang="en-US" err="1"/>
              <a:t>nổi</a:t>
            </a:r>
            <a:r>
              <a:rPr lang="en-US"/>
              <a:t> </a:t>
            </a:r>
            <a:r>
              <a:rPr lang="en-US" err="1"/>
              <a:t>bọt</a:t>
            </a:r>
            <a:r>
              <a:rPr lang="en-US"/>
              <a:t>  (Exchange/Bubble sort)</a:t>
            </a:r>
          </a:p>
        </p:txBody>
      </p:sp>
      <p:sp>
        <p:nvSpPr>
          <p:cNvPr id="8" name="Chỗ dành sẵn cho Văn bản 7">
            <a:extLst>
              <a:ext uri="{FF2B5EF4-FFF2-40B4-BE49-F238E27FC236}">
                <a16:creationId xmlns:a16="http://schemas.microsoft.com/office/drawing/2014/main" id="{100A60E4-69CF-288D-D0B2-0C17595C7266}"/>
              </a:ext>
            </a:extLst>
          </p:cNvPr>
          <p:cNvSpPr>
            <a:spLocks noGrp="1"/>
          </p:cNvSpPr>
          <p:nvPr>
            <p:ph type="body" sz="quarter" idx="13"/>
          </p:nvPr>
        </p:nvSpPr>
        <p:spPr/>
        <p:txBody>
          <a:bodyPr/>
          <a:lstStyle/>
          <a:p>
            <a:endParaRPr lang="vi-VN"/>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3988771080"/>
              </p:ext>
            </p:extLst>
          </p:nvPr>
        </p:nvGraphicFramePr>
        <p:xfrm>
          <a:off x="712129" y="1909551"/>
          <a:ext cx="7406640" cy="3327683"/>
        </p:xfrm>
        <a:graphic>
          <a:graphicData uri="http://schemas.openxmlformats.org/drawingml/2006/table">
            <a:tbl>
              <a:tblPr firstRow="1" bandRow="1">
                <a:tableStyleId>{2D5ABB26-0587-4C30-8999-92F81FD0307C}</a:tableStyleId>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tblGrid>
              <a:tr h="370840">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8635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36604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A[8]</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pSp>
        <p:nvGrpSpPr>
          <p:cNvPr id="60" name="Group 59"/>
          <p:cNvGrpSpPr/>
          <p:nvPr/>
        </p:nvGrpSpPr>
        <p:grpSpPr>
          <a:xfrm>
            <a:off x="1590791" y="2442386"/>
            <a:ext cx="4921814" cy="2633579"/>
            <a:chOff x="1671053" y="2499895"/>
            <a:chExt cx="4921814" cy="2633579"/>
          </a:xfrm>
        </p:grpSpPr>
        <p:cxnSp>
          <p:nvCxnSpPr>
            <p:cNvPr id="11" name="Straight Connector 10"/>
            <p:cNvCxnSpPr/>
            <p:nvPr/>
          </p:nvCxnSpPr>
          <p:spPr>
            <a:xfrm flipV="1">
              <a:off x="2138947" y="2609374"/>
              <a:ext cx="451853"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2951745" y="2975669"/>
              <a:ext cx="451853"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flipV="1">
              <a:off x="3740616" y="3683893"/>
              <a:ext cx="451853"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flipV="1">
              <a:off x="4594162" y="4780103"/>
              <a:ext cx="451853"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V="1">
              <a:off x="5432926" y="4071879"/>
              <a:ext cx="451853"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flipV="1">
              <a:off x="6219435" y="4459563"/>
              <a:ext cx="373432"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1671053" y="4459563"/>
              <a:ext cx="21389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flipV="1">
              <a:off x="1884947" y="2499895"/>
              <a:ext cx="0" cy="196796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1884947" y="2499895"/>
              <a:ext cx="254000"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2497224" y="3710932"/>
              <a:ext cx="24330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2740529" y="2820737"/>
              <a:ext cx="0" cy="89019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2740529" y="2820737"/>
              <a:ext cx="290095"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3275263" y="4071879"/>
              <a:ext cx="262019" cy="830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flipV="1">
              <a:off x="3537282" y="3609474"/>
              <a:ext cx="0" cy="47070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a:off x="3537282" y="3609474"/>
              <a:ext cx="251328"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p:nvPr/>
          </p:nvCxnSpPr>
          <p:spPr>
            <a:xfrm>
              <a:off x="4104105" y="5133474"/>
              <a:ext cx="320842"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flipV="1">
              <a:off x="4424947" y="4705684"/>
              <a:ext cx="0" cy="42779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4424947" y="4705684"/>
              <a:ext cx="307474" cy="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3" name="TextBox 2"/>
          <p:cNvSpPr txBox="1"/>
          <p:nvPr/>
        </p:nvSpPr>
        <p:spPr>
          <a:xfrm>
            <a:off x="457200" y="5761789"/>
            <a:ext cx="7406640" cy="646331"/>
          </a:xfrm>
          <a:prstGeom prst="rect">
            <a:avLst/>
          </a:prstGeom>
          <a:noFill/>
        </p:spPr>
        <p:txBody>
          <a:bodyPr wrap="square" rtlCol="0">
            <a:spAutoFit/>
          </a:bodyPr>
          <a:lstStyle/>
          <a:p>
            <a:r>
              <a:rPr lang="en-US" err="1"/>
              <a:t>Chiến</a:t>
            </a:r>
            <a:r>
              <a:rPr lang="en-US"/>
              <a:t> </a:t>
            </a:r>
            <a:r>
              <a:rPr lang="en-US" err="1"/>
              <a:t>thuật</a:t>
            </a:r>
            <a:r>
              <a:rPr lang="en-US"/>
              <a:t>: </a:t>
            </a:r>
            <a:r>
              <a:rPr lang="en-US" err="1"/>
              <a:t>Dựa</a:t>
            </a:r>
            <a:r>
              <a:rPr lang="en-US"/>
              <a:t> </a:t>
            </a:r>
            <a:r>
              <a:rPr lang="en-US" err="1"/>
              <a:t>trên</a:t>
            </a:r>
            <a:r>
              <a:rPr lang="en-US"/>
              <a:t> </a:t>
            </a:r>
            <a:r>
              <a:rPr lang="en-US" err="1"/>
              <a:t>việc</a:t>
            </a:r>
            <a:r>
              <a:rPr lang="en-US"/>
              <a:t> so </a:t>
            </a:r>
            <a:r>
              <a:rPr lang="en-US" err="1"/>
              <a:t>sánh</a:t>
            </a:r>
            <a:r>
              <a:rPr lang="en-US"/>
              <a:t> </a:t>
            </a:r>
            <a:r>
              <a:rPr lang="en-US" err="1"/>
              <a:t>cặp</a:t>
            </a:r>
            <a:r>
              <a:rPr lang="en-US"/>
              <a:t> </a:t>
            </a:r>
            <a:r>
              <a:rPr lang="en-US" err="1"/>
              <a:t>phần</a:t>
            </a:r>
            <a:r>
              <a:rPr lang="en-US"/>
              <a:t> </a:t>
            </a:r>
            <a:r>
              <a:rPr lang="en-US" err="1"/>
              <a:t>từ</a:t>
            </a:r>
            <a:r>
              <a:rPr lang="en-US"/>
              <a:t> </a:t>
            </a:r>
            <a:r>
              <a:rPr lang="en-US" err="1"/>
              <a:t>liên</a:t>
            </a:r>
            <a:r>
              <a:rPr lang="en-US"/>
              <a:t> </a:t>
            </a:r>
            <a:r>
              <a:rPr lang="en-US" err="1"/>
              <a:t>kề</a:t>
            </a:r>
            <a:r>
              <a:rPr lang="en-US"/>
              <a:t> </a:t>
            </a:r>
            <a:r>
              <a:rPr lang="en-US" err="1"/>
              <a:t>nhau</a:t>
            </a:r>
            <a:r>
              <a:rPr lang="en-US"/>
              <a:t> </a:t>
            </a:r>
            <a:r>
              <a:rPr lang="en-US" err="1"/>
              <a:t>và</a:t>
            </a:r>
            <a:r>
              <a:rPr lang="en-US"/>
              <a:t> </a:t>
            </a:r>
            <a:r>
              <a:rPr lang="en-US" err="1"/>
              <a:t>tráo</a:t>
            </a:r>
            <a:r>
              <a:rPr lang="en-US"/>
              <a:t> </a:t>
            </a:r>
            <a:r>
              <a:rPr lang="en-US" err="1"/>
              <a:t>đổi</a:t>
            </a:r>
            <a:r>
              <a:rPr lang="en-US"/>
              <a:t> </a:t>
            </a:r>
            <a:r>
              <a:rPr lang="en-US" err="1"/>
              <a:t>vị</a:t>
            </a:r>
            <a:r>
              <a:rPr lang="en-US"/>
              <a:t> </a:t>
            </a:r>
            <a:r>
              <a:rPr lang="en-US" err="1"/>
              <a:t>trí</a:t>
            </a:r>
            <a:r>
              <a:rPr lang="en-US"/>
              <a:t> </a:t>
            </a:r>
            <a:r>
              <a:rPr lang="en-US" err="1"/>
              <a:t>nếu</a:t>
            </a:r>
            <a:r>
              <a:rPr lang="en-US"/>
              <a:t> </a:t>
            </a:r>
            <a:r>
              <a:rPr lang="en-US" err="1"/>
              <a:t>chúng</a:t>
            </a:r>
            <a:r>
              <a:rPr lang="en-US"/>
              <a:t> </a:t>
            </a:r>
            <a:r>
              <a:rPr lang="en-US" err="1"/>
              <a:t>không</a:t>
            </a:r>
            <a:r>
              <a:rPr lang="en-US"/>
              <a:t> </a:t>
            </a:r>
            <a:r>
              <a:rPr lang="en-US" err="1"/>
              <a:t>theo</a:t>
            </a:r>
            <a:r>
              <a:rPr lang="en-US"/>
              <a:t> </a:t>
            </a:r>
            <a:r>
              <a:rPr lang="en-US" err="1"/>
              <a:t>thứ</a:t>
            </a:r>
            <a:r>
              <a:rPr lang="en-US"/>
              <a:t> </a:t>
            </a:r>
            <a:r>
              <a:rPr lang="en-US" err="1"/>
              <a:t>tự</a:t>
            </a:r>
            <a:r>
              <a:rPr lang="en-US"/>
              <a:t> </a:t>
            </a:r>
          </a:p>
        </p:txBody>
      </p:sp>
    </p:spTree>
    <p:extLst>
      <p:ext uri="{BB962C8B-B14F-4D97-AF65-F5344CB8AC3E}">
        <p14:creationId xmlns:p14="http://schemas.microsoft.com/office/powerpoint/2010/main" val="1442513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B5D079-B018-D8BE-23A8-63E69796BAE2}"/>
              </a:ext>
            </a:extLst>
          </p:cNvPr>
          <p:cNvSpPr>
            <a:spLocks noGrp="1"/>
          </p:cNvSpPr>
          <p:nvPr>
            <p:ph type="dt" sz="half" idx="10"/>
          </p:nvPr>
        </p:nvSpPr>
        <p:spPr/>
        <p:txBody>
          <a:bodyPr/>
          <a:lstStyle/>
          <a:p>
            <a:fld id="{1F08F515-62EF-DE45-9E05-883F1744AD72}" type="datetime1">
              <a:rPr lang="en-US" smtClean="0"/>
              <a:t>11/6/2025</a:t>
            </a:fld>
            <a:endParaRPr lang="en-US"/>
          </a:p>
        </p:txBody>
      </p:sp>
      <p:sp>
        <p:nvSpPr>
          <p:cNvPr id="3" name="Footer Placeholder 2">
            <a:extLst>
              <a:ext uri="{FF2B5EF4-FFF2-40B4-BE49-F238E27FC236}">
                <a16:creationId xmlns:a16="http://schemas.microsoft.com/office/drawing/2014/main" id="{E8238FFD-896D-DCC9-4E29-BD5782FF0CBA}"/>
              </a:ext>
            </a:extLst>
          </p:cNvPr>
          <p:cNvSpPr>
            <a:spLocks noGrp="1"/>
          </p:cNvSpPr>
          <p:nvPr>
            <p:ph type="ftr" sz="quarter" idx="11"/>
          </p:nvPr>
        </p:nvSpPr>
        <p:spPr/>
        <p:txBody>
          <a:bodyPr/>
          <a:lstStyle/>
          <a:p>
            <a:r>
              <a:rPr lang="is-IS"/>
              <a:t>Cấu trúc dữ liệu và giải thuật</a:t>
            </a:r>
            <a:endParaRPr lang="en-US"/>
          </a:p>
        </p:txBody>
      </p:sp>
      <p:sp>
        <p:nvSpPr>
          <p:cNvPr id="4" name="Slide Number Placeholder 3">
            <a:extLst>
              <a:ext uri="{FF2B5EF4-FFF2-40B4-BE49-F238E27FC236}">
                <a16:creationId xmlns:a16="http://schemas.microsoft.com/office/drawing/2014/main" id="{4D797C34-F02B-23D9-A646-21B4DA3BDCCE}"/>
              </a:ext>
            </a:extLst>
          </p:cNvPr>
          <p:cNvSpPr>
            <a:spLocks noGrp="1"/>
          </p:cNvSpPr>
          <p:nvPr>
            <p:ph type="sldNum" sz="quarter" idx="12"/>
          </p:nvPr>
        </p:nvSpPr>
        <p:spPr/>
        <p:txBody>
          <a:bodyPr/>
          <a:lstStyle/>
          <a:p>
            <a:fld id="{BA7BC09B-FE30-A349-B1D2-5A364F511F98}" type="slidenum">
              <a:rPr lang="en-US" smtClean="0"/>
              <a:t>31</a:t>
            </a:fld>
            <a:endParaRPr lang="en-US"/>
          </a:p>
        </p:txBody>
      </p:sp>
      <p:sp>
        <p:nvSpPr>
          <p:cNvPr id="5" name="Title 4">
            <a:extLst>
              <a:ext uri="{FF2B5EF4-FFF2-40B4-BE49-F238E27FC236}">
                <a16:creationId xmlns:a16="http://schemas.microsoft.com/office/drawing/2014/main" id="{D30F83EB-DC9F-83A6-A84B-7E9BBBA02008}"/>
              </a:ext>
            </a:extLst>
          </p:cNvPr>
          <p:cNvSpPr>
            <a:spLocks noGrp="1"/>
          </p:cNvSpPr>
          <p:nvPr>
            <p:ph type="title"/>
          </p:nvPr>
        </p:nvSpPr>
        <p:spPr/>
        <p:txBody>
          <a:bodyPr/>
          <a:lstStyle/>
          <a:p>
            <a:endParaRPr/>
          </a:p>
        </p:txBody>
      </p:sp>
      <p:sp>
        <p:nvSpPr>
          <p:cNvPr id="6" name="Text Placeholder 5">
            <a:extLst>
              <a:ext uri="{FF2B5EF4-FFF2-40B4-BE49-F238E27FC236}">
                <a16:creationId xmlns:a16="http://schemas.microsoft.com/office/drawing/2014/main" id="{6F807C2D-F46E-6F93-04D5-AEBE3FC76435}"/>
              </a:ext>
            </a:extLst>
          </p:cNvPr>
          <p:cNvSpPr>
            <a:spLocks noGrp="1"/>
          </p:cNvSpPr>
          <p:nvPr>
            <p:ph type="body" sz="quarter" idx="13"/>
          </p:nvPr>
        </p:nvSpPr>
        <p:spPr/>
        <p:txBody>
          <a:bodyPr/>
          <a:lstStyle/>
          <a:p>
            <a:endParaRPr/>
          </a:p>
        </p:txBody>
      </p:sp>
      <p:graphicFrame>
        <p:nvGraphicFramePr>
          <p:cNvPr id="9" name="Content Placeholder 6">
            <a:extLst>
              <a:ext uri="{FF2B5EF4-FFF2-40B4-BE49-F238E27FC236}">
                <a16:creationId xmlns:a16="http://schemas.microsoft.com/office/drawing/2014/main" id="{468E2558-C5CB-36D0-0FFB-98FC6BA4295A}"/>
              </a:ext>
            </a:extLst>
          </p:cNvPr>
          <p:cNvGraphicFramePr>
            <a:graphicFrameLocks/>
          </p:cNvGraphicFramePr>
          <p:nvPr>
            <p:extLst>
              <p:ext uri="{D42A27DB-BD31-4B8C-83A1-F6EECF244321}">
                <p14:modId xmlns:p14="http://schemas.microsoft.com/office/powerpoint/2010/main" val="2953380422"/>
              </p:ext>
            </p:extLst>
          </p:nvPr>
        </p:nvGraphicFramePr>
        <p:xfrm>
          <a:off x="589471" y="-201283"/>
          <a:ext cx="7963366" cy="5486400"/>
        </p:xfrm>
        <a:graphic>
          <a:graphicData uri="http://schemas.openxmlformats.org/drawingml/2006/table">
            <a:tbl>
              <a:tblPr firstRow="1" bandRow="1">
                <a:tableStyleId>{2D5ABB26-0587-4C30-8999-92F81FD0307C}</a:tableStyleId>
              </a:tblPr>
              <a:tblGrid>
                <a:gridCol w="760342">
                  <a:extLst>
                    <a:ext uri="{9D8B030D-6E8A-4147-A177-3AD203B41FA5}">
                      <a16:colId xmlns:a16="http://schemas.microsoft.com/office/drawing/2014/main" val="20000"/>
                    </a:ext>
                  </a:extLst>
                </a:gridCol>
                <a:gridCol w="1304225">
                  <a:extLst>
                    <a:ext uri="{9D8B030D-6E8A-4147-A177-3AD203B41FA5}">
                      <a16:colId xmlns:a16="http://schemas.microsoft.com/office/drawing/2014/main" val="20001"/>
                    </a:ext>
                  </a:extLst>
                </a:gridCol>
                <a:gridCol w="216458">
                  <a:extLst>
                    <a:ext uri="{9D8B030D-6E8A-4147-A177-3AD203B41FA5}">
                      <a16:colId xmlns:a16="http://schemas.microsoft.com/office/drawing/2014/main" val="4020093037"/>
                    </a:ext>
                  </a:extLst>
                </a:gridCol>
                <a:gridCol w="760342">
                  <a:extLst>
                    <a:ext uri="{9D8B030D-6E8A-4147-A177-3AD203B41FA5}">
                      <a16:colId xmlns:a16="http://schemas.microsoft.com/office/drawing/2014/main" val="20002"/>
                    </a:ext>
                  </a:extLst>
                </a:gridCol>
                <a:gridCol w="748249">
                  <a:extLst>
                    <a:ext uri="{9D8B030D-6E8A-4147-A177-3AD203B41FA5}">
                      <a16:colId xmlns:a16="http://schemas.microsoft.com/office/drawing/2014/main" val="20003"/>
                    </a:ext>
                  </a:extLst>
                </a:gridCol>
                <a:gridCol w="772433">
                  <a:extLst>
                    <a:ext uri="{9D8B030D-6E8A-4147-A177-3AD203B41FA5}">
                      <a16:colId xmlns:a16="http://schemas.microsoft.com/office/drawing/2014/main" val="20004"/>
                    </a:ext>
                  </a:extLst>
                </a:gridCol>
                <a:gridCol w="760342">
                  <a:extLst>
                    <a:ext uri="{9D8B030D-6E8A-4147-A177-3AD203B41FA5}">
                      <a16:colId xmlns:a16="http://schemas.microsoft.com/office/drawing/2014/main" val="20005"/>
                    </a:ext>
                  </a:extLst>
                </a:gridCol>
                <a:gridCol w="760342">
                  <a:extLst>
                    <a:ext uri="{9D8B030D-6E8A-4147-A177-3AD203B41FA5}">
                      <a16:colId xmlns:a16="http://schemas.microsoft.com/office/drawing/2014/main" val="20006"/>
                    </a:ext>
                  </a:extLst>
                </a:gridCol>
                <a:gridCol w="760342">
                  <a:extLst>
                    <a:ext uri="{9D8B030D-6E8A-4147-A177-3AD203B41FA5}">
                      <a16:colId xmlns:a16="http://schemas.microsoft.com/office/drawing/2014/main" val="20007"/>
                    </a:ext>
                  </a:extLst>
                </a:gridCol>
                <a:gridCol w="1120291">
                  <a:extLst>
                    <a:ext uri="{9D8B030D-6E8A-4147-A177-3AD203B41FA5}">
                      <a16:colId xmlns:a16="http://schemas.microsoft.com/office/drawing/2014/main" val="20008"/>
                    </a:ext>
                  </a:extLst>
                </a:gridCol>
              </a:tblGrid>
              <a:tr h="340455">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endParaRPr lang="en-US"/>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8</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32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27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51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11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A[7]</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45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66</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5517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A[8]</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FFFF00"/>
                    </a:solidFill>
                  </a:tcPr>
                </a:tc>
                <a:tc>
                  <a:txBody>
                    <a:bodyPr/>
                    <a:lstStyle/>
                    <a:p>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75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solidFill>
                            <a:srgbClr val="FF0000"/>
                          </a:solidFill>
                        </a:rPr>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a:solidFill>
                            <a:srgbClr val="FF0000"/>
                          </a:solidFill>
                        </a:rPr>
                        <a:t>83</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73056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32</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nổi</a:t>
            </a:r>
            <a:r>
              <a:rPr lang="en-US"/>
              <a:t> </a:t>
            </a:r>
            <a:r>
              <a:rPr lang="en-US" err="1"/>
              <a:t>bọt</a:t>
            </a:r>
            <a:endParaRPr lang="en-US"/>
          </a:p>
        </p:txBody>
      </p:sp>
      <p:sp>
        <p:nvSpPr>
          <p:cNvPr id="3" name="Content Placeholder 2"/>
          <p:cNvSpPr>
            <a:spLocks noGrp="1"/>
          </p:cNvSpPr>
          <p:nvPr>
            <p:ph type="body" sz="quarter" idx="13"/>
          </p:nvPr>
        </p:nvSpPr>
        <p:spPr>
          <a:xfrm>
            <a:off x="234950" y="963168"/>
            <a:ext cx="3781238" cy="5132832"/>
          </a:xfrm>
        </p:spPr>
        <p:txBody>
          <a:bodyPr>
            <a:normAutofit/>
          </a:bodyPr>
          <a:lstStyle/>
          <a:p>
            <a:r>
              <a:rPr lang="en-US" err="1"/>
              <a:t>Duyệt</a:t>
            </a:r>
            <a:r>
              <a:rPr lang="en-US"/>
              <a:t> </a:t>
            </a:r>
            <a:r>
              <a:rPr lang="en-US" err="1"/>
              <a:t>từ</a:t>
            </a:r>
            <a:r>
              <a:rPr lang="en-US"/>
              <a:t> </a:t>
            </a:r>
            <a:r>
              <a:rPr lang="en-US" err="1"/>
              <a:t>dưới</a:t>
            </a:r>
            <a:r>
              <a:rPr lang="en-US"/>
              <a:t> </a:t>
            </a:r>
            <a:r>
              <a:rPr lang="en-US" err="1"/>
              <a:t>lên</a:t>
            </a:r>
            <a:r>
              <a:rPr lang="en-US"/>
              <a:t>.</a:t>
            </a:r>
          </a:p>
          <a:p>
            <a:r>
              <a:rPr lang="en-US" err="1"/>
              <a:t>Hình</a:t>
            </a:r>
            <a:r>
              <a:rPr lang="en-US"/>
              <a:t> </a:t>
            </a:r>
            <a:r>
              <a:rPr lang="en-US" err="1"/>
              <a:t>ảnh</a:t>
            </a:r>
            <a:r>
              <a:rPr lang="en-US"/>
              <a:t> </a:t>
            </a:r>
            <a:r>
              <a:rPr lang="en-US" err="1"/>
              <a:t>các</a:t>
            </a:r>
            <a:r>
              <a:rPr lang="en-US"/>
              <a:t> </a:t>
            </a:r>
            <a:r>
              <a:rPr lang="en-US" err="1"/>
              <a:t>phần</a:t>
            </a:r>
            <a:r>
              <a:rPr lang="en-US"/>
              <a:t> </a:t>
            </a:r>
            <a:r>
              <a:rPr lang="en-US" err="1"/>
              <a:t>tử</a:t>
            </a:r>
            <a:r>
              <a:rPr lang="en-US"/>
              <a:t> </a:t>
            </a:r>
            <a:r>
              <a:rPr lang="en-US" err="1"/>
              <a:t>nhỏ</a:t>
            </a:r>
            <a:r>
              <a:rPr lang="en-US"/>
              <a:t> </a:t>
            </a:r>
            <a:r>
              <a:rPr lang="en-US" err="1"/>
              <a:t>dịch</a:t>
            </a:r>
            <a:r>
              <a:rPr lang="en-US"/>
              <a:t> </a:t>
            </a:r>
            <a:r>
              <a:rPr lang="en-US" err="1"/>
              <a:t>chuyển</a:t>
            </a:r>
            <a:r>
              <a:rPr lang="en-US"/>
              <a:t> </a:t>
            </a:r>
            <a:r>
              <a:rPr lang="en-US" err="1"/>
              <a:t>dần</a:t>
            </a:r>
            <a:r>
              <a:rPr lang="en-US"/>
              <a:t> </a:t>
            </a:r>
            <a:r>
              <a:rPr lang="en-US" err="1"/>
              <a:t>lên</a:t>
            </a:r>
            <a:r>
              <a:rPr lang="en-US"/>
              <a:t> </a:t>
            </a:r>
            <a:r>
              <a:rPr lang="en-US" err="1"/>
              <a:t>trên</a:t>
            </a:r>
            <a:r>
              <a:rPr lang="en-US"/>
              <a:t> </a:t>
            </a:r>
            <a:r>
              <a:rPr lang="en-US" err="1"/>
              <a:t>giống</a:t>
            </a:r>
            <a:r>
              <a:rPr lang="en-US"/>
              <a:t> </a:t>
            </a:r>
            <a:r>
              <a:rPr lang="en-US" err="1"/>
              <a:t>các</a:t>
            </a:r>
            <a:r>
              <a:rPr lang="en-US"/>
              <a:t> “</a:t>
            </a:r>
            <a:r>
              <a:rPr lang="en-US" err="1"/>
              <a:t>bọt</a:t>
            </a:r>
            <a:r>
              <a:rPr lang="en-US"/>
              <a:t> </a:t>
            </a:r>
            <a:r>
              <a:rPr lang="en-US" err="1"/>
              <a:t>nước</a:t>
            </a:r>
            <a:r>
              <a:rPr lang="en-US"/>
              <a:t> </a:t>
            </a:r>
            <a:r>
              <a:rPr lang="en-US" err="1"/>
              <a:t>nổi</a:t>
            </a:r>
            <a:r>
              <a:rPr lang="en-US"/>
              <a:t>”</a:t>
            </a:r>
          </a:p>
          <a:p>
            <a:endParaRPr lang="en-US"/>
          </a:p>
        </p:txBody>
      </p:sp>
      <p:sp>
        <p:nvSpPr>
          <p:cNvPr id="7" name="Content Placeholder 6"/>
          <p:cNvSpPr>
            <a:spLocks noGrp="1"/>
          </p:cNvSpPr>
          <p:nvPr>
            <p:ph sz="half" idx="4294967295"/>
          </p:nvPr>
        </p:nvSpPr>
        <p:spPr>
          <a:xfrm>
            <a:off x="4118188" y="1034960"/>
            <a:ext cx="5157787" cy="4525963"/>
          </a:xfrm>
        </p:spPr>
        <p:txBody>
          <a:bodyPr>
            <a:normAutofit fontScale="92500"/>
          </a:bodyPr>
          <a:lstStyle/>
          <a:p>
            <a:pPr marL="0" indent="0">
              <a:buNone/>
            </a:pPr>
            <a:r>
              <a:rPr lang="en-US" err="1">
                <a:solidFill>
                  <a:srgbClr val="FF0000"/>
                </a:solidFill>
              </a:rPr>
              <a:t>Sắp</a:t>
            </a:r>
            <a:r>
              <a:rPr lang="en-US">
                <a:solidFill>
                  <a:srgbClr val="FF0000"/>
                </a:solidFill>
              </a:rPr>
              <a:t> </a:t>
            </a:r>
            <a:r>
              <a:rPr lang="en-US" err="1">
                <a:solidFill>
                  <a:srgbClr val="FF0000"/>
                </a:solidFill>
              </a:rPr>
              <a:t>xếp</a:t>
            </a:r>
            <a:r>
              <a:rPr lang="en-US">
                <a:solidFill>
                  <a:srgbClr val="FF0000"/>
                </a:solidFill>
              </a:rPr>
              <a:t> </a:t>
            </a:r>
            <a:r>
              <a:rPr lang="en-US" err="1">
                <a:solidFill>
                  <a:srgbClr val="FF0000"/>
                </a:solidFill>
              </a:rPr>
              <a:t>từ</a:t>
            </a:r>
            <a:r>
              <a:rPr lang="en-US">
                <a:solidFill>
                  <a:srgbClr val="FF0000"/>
                </a:solidFill>
              </a:rPr>
              <a:t> </a:t>
            </a:r>
            <a:r>
              <a:rPr lang="en-US" err="1">
                <a:solidFill>
                  <a:srgbClr val="FF0000"/>
                </a:solidFill>
              </a:rPr>
              <a:t>dưới</a:t>
            </a:r>
            <a:r>
              <a:rPr lang="en-US">
                <a:solidFill>
                  <a:srgbClr val="FF0000"/>
                </a:solidFill>
              </a:rPr>
              <a:t> </a:t>
            </a:r>
            <a:r>
              <a:rPr lang="en-US" err="1">
                <a:solidFill>
                  <a:srgbClr val="FF0000"/>
                </a:solidFill>
              </a:rPr>
              <a:t>lên</a:t>
            </a:r>
            <a:endParaRPr lang="en-US">
              <a:solidFill>
                <a:srgbClr val="FF0000"/>
              </a:solidFill>
            </a:endParaRPr>
          </a:p>
          <a:p>
            <a:r>
              <a:rPr lang="pt-BR" err="1"/>
              <a:t>Bước</a:t>
            </a:r>
            <a:r>
              <a:rPr lang="pt-BR"/>
              <a:t> 1: </a:t>
            </a:r>
            <a:r>
              <a:rPr lang="pt-BR" err="1"/>
              <a:t>i</a:t>
            </a:r>
            <a:r>
              <a:rPr lang="pt-BR"/>
              <a:t>=1; //</a:t>
            </a:r>
            <a:r>
              <a:rPr lang="pt-BR" err="1"/>
              <a:t>Phần</a:t>
            </a:r>
            <a:r>
              <a:rPr lang="pt-BR"/>
              <a:t> </a:t>
            </a:r>
            <a:r>
              <a:rPr lang="pt-BR" err="1"/>
              <a:t>tử</a:t>
            </a:r>
            <a:r>
              <a:rPr lang="pt-BR"/>
              <a:t> </a:t>
            </a:r>
            <a:r>
              <a:rPr lang="pt-BR" err="1"/>
              <a:t>đầu</a:t>
            </a:r>
            <a:r>
              <a:rPr lang="pt-BR"/>
              <a:t> </a:t>
            </a:r>
            <a:r>
              <a:rPr lang="pt-BR" err="1"/>
              <a:t>tiên</a:t>
            </a:r>
            <a:endParaRPr lang="pt-BR"/>
          </a:p>
          <a:p>
            <a:r>
              <a:rPr lang="cs-CZ" err="1"/>
              <a:t>Bước</a:t>
            </a:r>
            <a:r>
              <a:rPr lang="cs-CZ"/>
              <a:t> 2: </a:t>
            </a:r>
            <a:r>
              <a:rPr lang="cs-CZ" err="1"/>
              <a:t>Lần</a:t>
            </a:r>
            <a:r>
              <a:rPr lang="cs-CZ"/>
              <a:t> </a:t>
            </a:r>
            <a:r>
              <a:rPr lang="cs-CZ" err="1"/>
              <a:t>lượt</a:t>
            </a:r>
            <a:r>
              <a:rPr lang="cs-CZ"/>
              <a:t> so </a:t>
            </a:r>
            <a:r>
              <a:rPr lang="cs-CZ" err="1"/>
              <a:t>sánh</a:t>
            </a:r>
            <a:r>
              <a:rPr lang="cs-CZ"/>
              <a:t> </a:t>
            </a:r>
            <a:r>
              <a:rPr lang="cs-CZ" err="1"/>
              <a:t>và</a:t>
            </a:r>
            <a:r>
              <a:rPr lang="cs-CZ"/>
              <a:t> </a:t>
            </a:r>
            <a:r>
              <a:rPr lang="cs-CZ" err="1"/>
              <a:t>đổi</a:t>
            </a:r>
            <a:r>
              <a:rPr lang="cs-CZ"/>
              <a:t> </a:t>
            </a:r>
            <a:r>
              <a:rPr lang="cs-CZ" err="1"/>
              <a:t>chỗ</a:t>
            </a:r>
            <a:r>
              <a:rPr lang="cs-CZ"/>
              <a:t> (</a:t>
            </a:r>
            <a:r>
              <a:rPr lang="cs-CZ" err="1"/>
              <a:t>nếu</a:t>
            </a:r>
            <a:r>
              <a:rPr lang="cs-CZ"/>
              <a:t> </a:t>
            </a:r>
            <a:r>
              <a:rPr lang="cs-CZ" err="1"/>
              <a:t>cần</a:t>
            </a:r>
            <a:r>
              <a:rPr lang="cs-CZ"/>
              <a:t>) </a:t>
            </a:r>
            <a:r>
              <a:rPr lang="cs-CZ" err="1"/>
              <a:t>từ</a:t>
            </a:r>
            <a:r>
              <a:rPr lang="cs-CZ"/>
              <a:t> </a:t>
            </a:r>
            <a:r>
              <a:rPr lang="cs-CZ" err="1"/>
              <a:t>phải</a:t>
            </a:r>
            <a:r>
              <a:rPr lang="cs-CZ"/>
              <a:t> </a:t>
            </a:r>
            <a:r>
              <a:rPr lang="cs-CZ" err="1"/>
              <a:t>sang</a:t>
            </a:r>
            <a:r>
              <a:rPr lang="cs-CZ"/>
              <a:t> </a:t>
            </a:r>
            <a:r>
              <a:rPr lang="cs-CZ" err="1"/>
              <a:t>trái</a:t>
            </a:r>
            <a:r>
              <a:rPr lang="cs-CZ"/>
              <a:t> </a:t>
            </a:r>
            <a:r>
              <a:rPr lang="cs-CZ" err="1"/>
              <a:t>đối</a:t>
            </a:r>
            <a:r>
              <a:rPr lang="cs-CZ"/>
              <a:t> </a:t>
            </a:r>
            <a:r>
              <a:rPr lang="cs-CZ" err="1"/>
              <a:t>với</a:t>
            </a:r>
            <a:r>
              <a:rPr lang="cs-CZ"/>
              <a:t> </a:t>
            </a:r>
            <a:r>
              <a:rPr lang="cs-CZ" err="1"/>
              <a:t>các</a:t>
            </a:r>
            <a:r>
              <a:rPr lang="cs-CZ"/>
              <a:t> </a:t>
            </a:r>
            <a:r>
              <a:rPr lang="cs-CZ" err="1"/>
              <a:t>phần</a:t>
            </a:r>
            <a:r>
              <a:rPr lang="cs-CZ"/>
              <a:t> </a:t>
            </a:r>
            <a:r>
              <a:rPr lang="cs-CZ" err="1"/>
              <a:t>từ</a:t>
            </a:r>
            <a:r>
              <a:rPr lang="cs-CZ"/>
              <a:t> </a:t>
            </a:r>
            <a:r>
              <a:rPr lang="cs-CZ" err="1"/>
              <a:t>từ</a:t>
            </a:r>
            <a:r>
              <a:rPr lang="cs-CZ"/>
              <a:t> A[n] </a:t>
            </a:r>
            <a:r>
              <a:rPr lang="cs-CZ" err="1"/>
              <a:t>đến</a:t>
            </a:r>
            <a:r>
              <a:rPr lang="cs-CZ"/>
              <a:t> A[i]. </a:t>
            </a:r>
            <a:r>
              <a:rPr lang="cs-CZ" err="1"/>
              <a:t>với</a:t>
            </a:r>
            <a:r>
              <a:rPr lang="cs-CZ"/>
              <a:t> </a:t>
            </a:r>
            <a:r>
              <a:rPr lang="cs-CZ" err="1"/>
              <a:t>biến</a:t>
            </a:r>
            <a:r>
              <a:rPr lang="cs-CZ"/>
              <a:t> </a:t>
            </a:r>
            <a:r>
              <a:rPr lang="cs-CZ" err="1"/>
              <a:t>gán</a:t>
            </a:r>
            <a:r>
              <a:rPr lang="cs-CZ"/>
              <a:t> j=n-i. </a:t>
            </a:r>
            <a:r>
              <a:rPr lang="cs-CZ" err="1"/>
              <a:t>và</a:t>
            </a:r>
            <a:r>
              <a:rPr lang="cs-CZ"/>
              <a:t> </a:t>
            </a:r>
            <a:r>
              <a:rPr lang="cs-CZ" err="1"/>
              <a:t>lặp</a:t>
            </a:r>
            <a:r>
              <a:rPr lang="cs-CZ"/>
              <a:t> </a:t>
            </a:r>
            <a:r>
              <a:rPr lang="cs-CZ" err="1"/>
              <a:t>lại</a:t>
            </a:r>
            <a:r>
              <a:rPr lang="cs-CZ"/>
              <a:t> </a:t>
            </a:r>
            <a:r>
              <a:rPr lang="cs-CZ" err="1"/>
              <a:t>khi</a:t>
            </a:r>
            <a:r>
              <a:rPr lang="cs-CZ"/>
              <a:t> j&gt;i.</a:t>
            </a:r>
          </a:p>
          <a:p>
            <a:r>
              <a:rPr lang="en-US" err="1"/>
              <a:t>Bước</a:t>
            </a:r>
            <a:r>
              <a:rPr lang="en-US"/>
              <a:t> 3: </a:t>
            </a:r>
            <a:r>
              <a:rPr lang="en-US" err="1"/>
              <a:t>i</a:t>
            </a:r>
            <a:r>
              <a:rPr lang="en-US"/>
              <a:t>=i+1</a:t>
            </a:r>
          </a:p>
          <a:p>
            <a:r>
              <a:rPr lang="en-US" err="1"/>
              <a:t>Bước</a:t>
            </a:r>
            <a:r>
              <a:rPr lang="en-US"/>
              <a:t> 4: </a:t>
            </a:r>
            <a:r>
              <a:rPr lang="it-IT" err="1"/>
              <a:t>Nếu</a:t>
            </a:r>
            <a:r>
              <a:rPr lang="it-IT"/>
              <a:t> i &lt; </a:t>
            </a:r>
            <a:r>
              <a:rPr lang="it-IT" err="1"/>
              <a:t>n</a:t>
            </a:r>
            <a:r>
              <a:rPr lang="it-IT"/>
              <a:t>, </a:t>
            </a:r>
            <a:r>
              <a:rPr lang="it-IT" err="1"/>
              <a:t>quay</a:t>
            </a:r>
            <a:r>
              <a:rPr lang="it-IT"/>
              <a:t> </a:t>
            </a:r>
            <a:r>
              <a:rPr lang="it-IT" err="1"/>
              <a:t>lại</a:t>
            </a:r>
            <a:r>
              <a:rPr lang="it-IT"/>
              <a:t> </a:t>
            </a:r>
            <a:r>
              <a:rPr lang="it-IT" err="1"/>
              <a:t>Bước</a:t>
            </a:r>
            <a:r>
              <a:rPr lang="it-IT"/>
              <a:t> 2.</a:t>
            </a:r>
          </a:p>
          <a:p>
            <a:r>
              <a:rPr lang="pt-BR"/>
              <a:t>Bước 5: Dừng, khi dãy đã cho đã sắp xếp đúng vị trí.</a:t>
            </a:r>
            <a:endParaRPr lang="en-US"/>
          </a:p>
          <a:p>
            <a:endParaRPr lang="en-US"/>
          </a:p>
        </p:txBody>
      </p:sp>
    </p:spTree>
    <p:extLst>
      <p:ext uri="{BB962C8B-B14F-4D97-AF65-F5344CB8AC3E}">
        <p14:creationId xmlns:p14="http://schemas.microsoft.com/office/powerpoint/2010/main" val="3394863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8CF92E8-93D1-4246-9203-88234E64793C}" type="datetime1">
              <a:rPr lang="en-US" smtClean="0"/>
              <a:t>11/6/2025</a:t>
            </a:fld>
            <a:endParaRPr lang="en-US"/>
          </a:p>
        </p:txBody>
      </p:sp>
      <p:sp>
        <p:nvSpPr>
          <p:cNvPr id="6" name="Footer Placeholder 5"/>
          <p:cNvSpPr>
            <a:spLocks noGrp="1"/>
          </p:cNvSpPr>
          <p:nvPr>
            <p:ph type="ftr" sz="quarter" idx="11"/>
          </p:nvPr>
        </p:nvSpPr>
        <p:spPr/>
        <p:txBody>
          <a:bodyPr/>
          <a:lstStyle/>
          <a:p>
            <a:r>
              <a:rPr lang="is-IS"/>
              <a:t>Cấu trúc dữ liệu và giải thuật</a:t>
            </a:r>
            <a:endParaRPr lang="en-US"/>
          </a:p>
        </p:txBody>
      </p:sp>
      <p:sp>
        <p:nvSpPr>
          <p:cNvPr id="7" name="Slide Number Placeholder 6"/>
          <p:cNvSpPr>
            <a:spLocks noGrp="1"/>
          </p:cNvSpPr>
          <p:nvPr>
            <p:ph type="sldNum" sz="quarter" idx="12"/>
          </p:nvPr>
        </p:nvSpPr>
        <p:spPr/>
        <p:txBody>
          <a:bodyPr/>
          <a:lstStyle/>
          <a:p>
            <a:fld id="{BA7BC09B-FE30-A349-B1D2-5A364F511F98}" type="slidenum">
              <a:rPr lang="en-US" smtClean="0"/>
              <a:t>33</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sắp</a:t>
            </a:r>
            <a:r>
              <a:rPr lang="en-US"/>
              <a:t> </a:t>
            </a:r>
            <a:r>
              <a:rPr lang="en-US" err="1"/>
              <a:t>xếp</a:t>
            </a:r>
            <a:r>
              <a:rPr lang="en-US"/>
              <a:t> </a:t>
            </a:r>
            <a:r>
              <a:rPr lang="en-US" err="1"/>
              <a:t>nổi</a:t>
            </a:r>
            <a:r>
              <a:rPr lang="en-US"/>
              <a:t> </a:t>
            </a:r>
            <a:r>
              <a:rPr lang="en-US" err="1"/>
              <a:t>bọt</a:t>
            </a:r>
            <a:endParaRPr lang="en-US"/>
          </a:p>
        </p:txBody>
      </p:sp>
      <p:sp>
        <p:nvSpPr>
          <p:cNvPr id="3" name="Content Placeholder 2"/>
          <p:cNvSpPr>
            <a:spLocks noGrp="1"/>
          </p:cNvSpPr>
          <p:nvPr>
            <p:ph type="body" sz="quarter" idx="13"/>
          </p:nvPr>
        </p:nvSpPr>
        <p:spPr/>
        <p:txBody>
          <a:bodyPr>
            <a:normAutofit/>
          </a:bodyPr>
          <a:lstStyle/>
          <a:p>
            <a:pPr marL="0" indent="0">
              <a:buNone/>
            </a:pPr>
            <a:r>
              <a:rPr lang="en-US" b="1"/>
              <a:t>Procedure </a:t>
            </a:r>
            <a:r>
              <a:rPr lang="en-US" err="1"/>
              <a:t>Bubble_sort</a:t>
            </a:r>
            <a:r>
              <a:rPr lang="en-US"/>
              <a:t>(</a:t>
            </a:r>
            <a:r>
              <a:rPr lang="en-US" err="1"/>
              <a:t>A,n</a:t>
            </a:r>
            <a:r>
              <a:rPr lang="en-US"/>
              <a:t>)</a:t>
            </a:r>
          </a:p>
          <a:p>
            <a:pPr marL="514350" indent="-514350">
              <a:buAutoNum type="arabicPeriod"/>
            </a:pPr>
            <a:r>
              <a:rPr lang="en-US"/>
              <a:t>For </a:t>
            </a:r>
            <a:r>
              <a:rPr lang="en-US" err="1"/>
              <a:t>i</a:t>
            </a:r>
            <a:r>
              <a:rPr lang="en-US"/>
              <a:t> = 1 to n-1 do</a:t>
            </a:r>
          </a:p>
          <a:p>
            <a:pPr marL="514350" indent="-514350">
              <a:buAutoNum type="arabicPeriod"/>
            </a:pPr>
            <a:r>
              <a:rPr lang="en-US"/>
              <a:t>For j = n to i+1 do</a:t>
            </a:r>
          </a:p>
          <a:p>
            <a:pPr marL="514350" indent="-514350">
              <a:buAutoNum type="arabicPeriod"/>
            </a:pPr>
            <a:r>
              <a:rPr lang="en-US"/>
              <a:t>If A[j] &lt; A[j-1] {</a:t>
            </a:r>
          </a:p>
          <a:p>
            <a:pPr marL="514350" indent="-514350">
              <a:buAutoNum type="arabicPeriod"/>
            </a:pPr>
            <a:r>
              <a:rPr lang="en-US" err="1"/>
              <a:t>Đổi</a:t>
            </a:r>
            <a:r>
              <a:rPr lang="en-US"/>
              <a:t> </a:t>
            </a:r>
            <a:r>
              <a:rPr lang="en-US" err="1"/>
              <a:t>chỗ</a:t>
            </a:r>
            <a:r>
              <a:rPr lang="en-US"/>
              <a:t> A[j] </a:t>
            </a:r>
            <a:r>
              <a:rPr lang="en-US" err="1"/>
              <a:t>và</a:t>
            </a:r>
            <a:r>
              <a:rPr lang="en-US"/>
              <a:t> A[j-1]}</a:t>
            </a:r>
          </a:p>
          <a:p>
            <a:pPr marL="514350" indent="-514350">
              <a:buAutoNum type="arabicPeriod"/>
            </a:pPr>
            <a:r>
              <a:rPr lang="en-US"/>
              <a:t>Return end. </a:t>
            </a:r>
          </a:p>
          <a:p>
            <a:pPr marL="0" indent="0">
              <a:buNone/>
            </a:pPr>
            <a:r>
              <a:rPr lang="en-US" err="1">
                <a:solidFill>
                  <a:srgbClr val="FF0000"/>
                </a:solidFill>
              </a:rPr>
              <a:t>Đánh</a:t>
            </a:r>
            <a:r>
              <a:rPr lang="en-US">
                <a:solidFill>
                  <a:srgbClr val="FF0000"/>
                </a:solidFill>
              </a:rPr>
              <a:t> </a:t>
            </a:r>
            <a:r>
              <a:rPr lang="en-US" err="1">
                <a:solidFill>
                  <a:srgbClr val="FF0000"/>
                </a:solidFill>
              </a:rPr>
              <a:t>giá</a:t>
            </a:r>
            <a:r>
              <a:rPr lang="en-US">
                <a:solidFill>
                  <a:srgbClr val="FF0000"/>
                </a:solidFill>
              </a:rPr>
              <a:t> </a:t>
            </a:r>
            <a:r>
              <a:rPr lang="en-US" err="1">
                <a:solidFill>
                  <a:srgbClr val="FF0000"/>
                </a:solidFill>
              </a:rPr>
              <a:t>độ</a:t>
            </a:r>
            <a:r>
              <a:rPr lang="en-US">
                <a:solidFill>
                  <a:srgbClr val="FF0000"/>
                </a:solidFill>
              </a:rPr>
              <a:t> </a:t>
            </a:r>
            <a:r>
              <a:rPr lang="en-US" err="1">
                <a:solidFill>
                  <a:srgbClr val="FF0000"/>
                </a:solidFill>
              </a:rPr>
              <a:t>phức</a:t>
            </a:r>
            <a:r>
              <a:rPr lang="en-US">
                <a:solidFill>
                  <a:srgbClr val="FF0000"/>
                </a:solidFill>
              </a:rPr>
              <a:t> </a:t>
            </a:r>
            <a:r>
              <a:rPr lang="en-US" err="1">
                <a:solidFill>
                  <a:srgbClr val="FF0000"/>
                </a:solidFill>
              </a:rPr>
              <a:t>tạp</a:t>
            </a:r>
            <a:r>
              <a:rPr lang="en-US">
                <a:solidFill>
                  <a:srgbClr val="FF0000"/>
                </a:solidFill>
              </a:rPr>
              <a:t> </a:t>
            </a:r>
          </a:p>
          <a:p>
            <a:pPr marL="0" indent="0">
              <a:buNone/>
            </a:pPr>
            <a:r>
              <a:rPr lang="en-US">
                <a:solidFill>
                  <a:srgbClr val="FF0000"/>
                </a:solidFill>
              </a:rPr>
              <a:t>T(n) = O(n</a:t>
            </a:r>
            <a:r>
              <a:rPr lang="en-US" baseline="30000">
                <a:solidFill>
                  <a:srgbClr val="FF0000"/>
                </a:solidFill>
              </a:rPr>
              <a:t>2</a:t>
            </a:r>
            <a:r>
              <a:rPr lang="en-US">
                <a:solidFill>
                  <a:srgbClr val="FF0000"/>
                </a:solidFill>
              </a:rPr>
              <a:t>)</a:t>
            </a:r>
          </a:p>
        </p:txBody>
      </p:sp>
      <p:sp>
        <p:nvSpPr>
          <p:cNvPr id="4" name="Content Placeholder 3"/>
          <p:cNvSpPr>
            <a:spLocks noGrp="1"/>
          </p:cNvSpPr>
          <p:nvPr>
            <p:ph sz="half" idx="4294967295"/>
          </p:nvPr>
        </p:nvSpPr>
        <p:spPr>
          <a:xfrm>
            <a:off x="5105400" y="1600200"/>
            <a:ext cx="4038600" cy="4525963"/>
          </a:xfrm>
        </p:spPr>
        <p:txBody>
          <a:bodyPr>
            <a:normAutofit fontScale="92500" lnSpcReduction="20000"/>
          </a:bodyPr>
          <a:lstStyle/>
          <a:p>
            <a:pPr marL="0" indent="0">
              <a:buNone/>
            </a:pPr>
            <a:r>
              <a:rPr lang="en-US">
                <a:solidFill>
                  <a:srgbClr val="0000FF"/>
                </a:solidFill>
              </a:rPr>
              <a:t>void </a:t>
            </a:r>
            <a:r>
              <a:rPr lang="en-US" err="1">
                <a:solidFill>
                  <a:srgbClr val="0000FF"/>
                </a:solidFill>
              </a:rPr>
              <a:t>Sapxep</a:t>
            </a:r>
            <a:r>
              <a:rPr lang="en-US">
                <a:solidFill>
                  <a:srgbClr val="0000FF"/>
                </a:solidFill>
              </a:rPr>
              <a:t>(</a:t>
            </a:r>
            <a:r>
              <a:rPr lang="en-US" err="1">
                <a:solidFill>
                  <a:srgbClr val="0000FF"/>
                </a:solidFill>
              </a:rPr>
              <a:t>int</a:t>
            </a:r>
            <a:r>
              <a:rPr lang="en-US">
                <a:solidFill>
                  <a:srgbClr val="0000FF"/>
                </a:solidFill>
              </a:rPr>
              <a:t> a[], </a:t>
            </a:r>
            <a:r>
              <a:rPr lang="en-US" err="1">
                <a:solidFill>
                  <a:srgbClr val="0000FF"/>
                </a:solidFill>
              </a:rPr>
              <a:t>int</a:t>
            </a:r>
            <a:r>
              <a:rPr lang="en-US">
                <a:solidFill>
                  <a:srgbClr val="0000FF"/>
                </a:solidFill>
              </a:rPr>
              <a:t> n)</a:t>
            </a:r>
          </a:p>
          <a:p>
            <a:pPr marL="0" indent="0">
              <a:buNone/>
            </a:pPr>
            <a:r>
              <a:rPr lang="en-US">
                <a:solidFill>
                  <a:srgbClr val="0000FF"/>
                </a:solidFill>
              </a:rPr>
              <a:t>{</a:t>
            </a:r>
          </a:p>
          <a:p>
            <a:pPr marL="0" indent="0">
              <a:buNone/>
            </a:pPr>
            <a:r>
              <a:rPr lang="fr-FR">
                <a:solidFill>
                  <a:srgbClr val="0000FF"/>
                </a:solidFill>
              </a:rPr>
              <a:t>    </a:t>
            </a:r>
            <a:r>
              <a:rPr lang="fr-FR" err="1">
                <a:solidFill>
                  <a:srgbClr val="0000FF"/>
                </a:solidFill>
              </a:rPr>
              <a:t>int</a:t>
            </a:r>
            <a:r>
              <a:rPr lang="fr-FR">
                <a:solidFill>
                  <a:srgbClr val="0000FF"/>
                </a:solidFill>
              </a:rPr>
              <a:t> i, j;</a:t>
            </a:r>
          </a:p>
          <a:p>
            <a:pPr marL="0" indent="0">
              <a:buNone/>
            </a:pPr>
            <a:r>
              <a:rPr lang="da-DK">
                <a:solidFill>
                  <a:srgbClr val="0000FF"/>
                </a:solidFill>
              </a:rPr>
              <a:t>    for (</a:t>
            </a:r>
            <a:r>
              <a:rPr lang="da-DK" err="1">
                <a:solidFill>
                  <a:srgbClr val="0000FF"/>
                </a:solidFill>
              </a:rPr>
              <a:t>int</a:t>
            </a:r>
            <a:r>
              <a:rPr lang="da-DK">
                <a:solidFill>
                  <a:srgbClr val="0000FF"/>
                </a:solidFill>
              </a:rPr>
              <a:t> i = 0; i&lt;n - 2; i++){</a:t>
            </a:r>
          </a:p>
          <a:p>
            <a:pPr marL="0" indent="0">
              <a:buNone/>
            </a:pPr>
            <a:r>
              <a:rPr lang="en-US">
                <a:solidFill>
                  <a:srgbClr val="0000FF"/>
                </a:solidFill>
              </a:rPr>
              <a:t>        for (</a:t>
            </a:r>
            <a:r>
              <a:rPr lang="en-US" err="1">
                <a:solidFill>
                  <a:srgbClr val="0000FF"/>
                </a:solidFill>
              </a:rPr>
              <a:t>int</a:t>
            </a:r>
            <a:r>
              <a:rPr lang="en-US">
                <a:solidFill>
                  <a:srgbClr val="0000FF"/>
                </a:solidFill>
              </a:rPr>
              <a:t> j = n - 1; j&gt;</a:t>
            </a:r>
            <a:r>
              <a:rPr lang="en-US" err="1">
                <a:solidFill>
                  <a:srgbClr val="0000FF"/>
                </a:solidFill>
              </a:rPr>
              <a:t>i</a:t>
            </a:r>
            <a:r>
              <a:rPr lang="en-US">
                <a:solidFill>
                  <a:srgbClr val="0000FF"/>
                </a:solidFill>
              </a:rPr>
              <a:t>; j--){</a:t>
            </a:r>
          </a:p>
          <a:p>
            <a:pPr marL="0" indent="0">
              <a:buNone/>
            </a:pPr>
            <a:r>
              <a:rPr lang="en-US">
                <a:solidFill>
                  <a:srgbClr val="0000FF"/>
                </a:solidFill>
              </a:rPr>
              <a:t>            if (a[j] &lt; a[j - 1]){</a:t>
            </a:r>
          </a:p>
          <a:p>
            <a:pPr marL="0" indent="0">
              <a:buNone/>
            </a:pPr>
            <a:r>
              <a:rPr lang="pl-PL">
                <a:solidFill>
                  <a:srgbClr val="0000FF"/>
                </a:solidFill>
              </a:rPr>
              <a:t>                </a:t>
            </a:r>
            <a:r>
              <a:rPr lang="pl-PL" err="1">
                <a:solidFill>
                  <a:srgbClr val="0000FF"/>
                </a:solidFill>
              </a:rPr>
              <a:t>swap</a:t>
            </a:r>
            <a:r>
              <a:rPr lang="pl-PL">
                <a:solidFill>
                  <a:srgbClr val="0000FF"/>
                </a:solidFill>
              </a:rPr>
              <a:t>(a[j], a[j - 1]);</a:t>
            </a:r>
          </a:p>
          <a:p>
            <a:pPr marL="0" indent="0">
              <a:buNone/>
            </a:pPr>
            <a:r>
              <a:rPr lang="en-US">
                <a:solidFill>
                  <a:srgbClr val="0000FF"/>
                </a:solidFill>
              </a:rPr>
              <a:t>            }</a:t>
            </a:r>
          </a:p>
          <a:p>
            <a:pPr marL="0" indent="0">
              <a:buNone/>
            </a:pPr>
            <a:r>
              <a:rPr lang="en-US">
                <a:solidFill>
                  <a:srgbClr val="0000FF"/>
                </a:solidFill>
              </a:rPr>
              <a:t>        }</a:t>
            </a:r>
          </a:p>
          <a:p>
            <a:pPr marL="0" indent="0">
              <a:buNone/>
            </a:pPr>
            <a:r>
              <a:rPr lang="en-US">
                <a:solidFill>
                  <a:srgbClr val="0000FF"/>
                </a:solidFill>
              </a:rPr>
              <a:t>    }</a:t>
            </a:r>
          </a:p>
          <a:p>
            <a:pPr marL="0" indent="0">
              <a:buNone/>
            </a:pPr>
            <a:r>
              <a:rPr lang="en-US">
                <a:solidFill>
                  <a:srgbClr val="0000FF"/>
                </a:solidFill>
              </a:rPr>
              <a:t>}</a:t>
            </a:r>
          </a:p>
          <a:p>
            <a:endParaRPr lang="en-US"/>
          </a:p>
        </p:txBody>
      </p:sp>
    </p:spTree>
    <p:extLst>
      <p:ext uri="{BB962C8B-B14F-4D97-AF65-F5344CB8AC3E}">
        <p14:creationId xmlns:p14="http://schemas.microsoft.com/office/powerpoint/2010/main" val="2837900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250C88F-B06A-4319-8F38-68CE1C917C19}"/>
              </a:ext>
            </a:extLst>
          </p:cNvPr>
          <p:cNvSpPr>
            <a:spLocks noGrp="1"/>
          </p:cNvSpPr>
          <p:nvPr>
            <p:ph type="dt" sz="half" idx="10"/>
          </p:nvPr>
        </p:nvSpPr>
        <p:spPr/>
        <p:txBody>
          <a:bodyPr/>
          <a:lstStyle/>
          <a:p>
            <a:pPr>
              <a:defRPr/>
            </a:pPr>
            <a:r>
              <a:rPr lang="en-US"/>
              <a:t>Trường ĐHBK Hà nội</a:t>
            </a:r>
          </a:p>
          <a:p>
            <a:pPr>
              <a:defRPr/>
            </a:pPr>
            <a:r>
              <a:rPr lang="en-US"/>
              <a:t>Khoa Điện tử Viễn thông</a:t>
            </a:r>
            <a:endParaRPr lang="en-US" altLang="en-US"/>
          </a:p>
        </p:txBody>
      </p:sp>
      <p:sp>
        <p:nvSpPr>
          <p:cNvPr id="5" name="Footer Placeholder 4">
            <a:extLst>
              <a:ext uri="{FF2B5EF4-FFF2-40B4-BE49-F238E27FC236}">
                <a16:creationId xmlns:a16="http://schemas.microsoft.com/office/drawing/2014/main" id="{3F7185EE-DE49-4541-A9CB-03CFD2486480}"/>
              </a:ext>
            </a:extLst>
          </p:cNvPr>
          <p:cNvSpPr>
            <a:spLocks noGrp="1"/>
          </p:cNvSpPr>
          <p:nvPr>
            <p:ph type="ftr" sz="quarter" idx="11"/>
          </p:nvPr>
        </p:nvSpPr>
        <p:spPr/>
        <p:txBody>
          <a:bodyPr/>
          <a:lstStyle/>
          <a:p>
            <a:pPr>
              <a:defRPr/>
            </a:pPr>
            <a:r>
              <a:rPr lang="en-US" altLang="en-US"/>
              <a:t>Bộ môn Điện tử Tin học</a:t>
            </a:r>
          </a:p>
        </p:txBody>
      </p:sp>
      <p:sp>
        <p:nvSpPr>
          <p:cNvPr id="24580" name="Slide Number Placeholder 5">
            <a:extLst>
              <a:ext uri="{FF2B5EF4-FFF2-40B4-BE49-F238E27FC236}">
                <a16:creationId xmlns:a16="http://schemas.microsoft.com/office/drawing/2014/main" id="{5A6734D9-8CBC-7348-802A-05C2814D49A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ClrTx/>
              <a:buSzTx/>
              <a:buFontTx/>
              <a:buNone/>
            </a:pPr>
            <a:fld id="{82186CBC-95E9-C945-9274-B32C763A3412}" type="slidenum">
              <a:rPr lang="en-US" altLang="en-US" sz="1200">
                <a:latin typeface="Garamond" panose="02020404030301010803" pitchFamily="18" charset="0"/>
              </a:rPr>
              <a:pPr>
                <a:spcBef>
                  <a:spcPct val="0"/>
                </a:spcBef>
                <a:buClrTx/>
                <a:buSzTx/>
                <a:buFontTx/>
                <a:buNone/>
              </a:pPr>
              <a:t>34</a:t>
            </a:fld>
            <a:endParaRPr lang="en-US" altLang="en-US" sz="1200">
              <a:latin typeface="Garamond" panose="02020404030301010803" pitchFamily="18" charset="0"/>
            </a:endParaRPr>
          </a:p>
        </p:txBody>
      </p:sp>
      <p:sp>
        <p:nvSpPr>
          <p:cNvPr id="24581" name="Rectangle 2">
            <a:extLst>
              <a:ext uri="{FF2B5EF4-FFF2-40B4-BE49-F238E27FC236}">
                <a16:creationId xmlns:a16="http://schemas.microsoft.com/office/drawing/2014/main" id="{448C8738-FFB9-4E46-9781-CA552D21E09B}"/>
              </a:ext>
            </a:extLst>
          </p:cNvPr>
          <p:cNvSpPr>
            <a:spLocks noGrp="1" noChangeArrowheads="1"/>
          </p:cNvSpPr>
          <p:nvPr>
            <p:ph type="title"/>
          </p:nvPr>
        </p:nvSpPr>
        <p:spPr/>
        <p:txBody>
          <a:bodyPr/>
          <a:lstStyle/>
          <a:p>
            <a:pPr eaLnBrk="1" hangingPunct="1"/>
            <a:r>
              <a:rPr lang="en-US" altLang="en-US"/>
              <a:t>Các giải thuật sắp xếp nâng cao</a:t>
            </a:r>
          </a:p>
        </p:txBody>
      </p:sp>
      <p:sp>
        <p:nvSpPr>
          <p:cNvPr id="24582" name="Rectangle 3">
            <a:extLst>
              <a:ext uri="{FF2B5EF4-FFF2-40B4-BE49-F238E27FC236}">
                <a16:creationId xmlns:a16="http://schemas.microsoft.com/office/drawing/2014/main" id="{0FACCF0B-3783-9C4D-BA5D-067EB942F7D2}"/>
              </a:ext>
            </a:extLst>
          </p:cNvPr>
          <p:cNvSpPr>
            <a:spLocks noGrp="1" noChangeArrowheads="1"/>
          </p:cNvSpPr>
          <p:nvPr>
            <p:ph type="body" sz="quarter" idx="13"/>
          </p:nvPr>
        </p:nvSpPr>
        <p:spPr/>
        <p:txBody>
          <a:bodyPr/>
          <a:lstStyle/>
          <a:p>
            <a:pPr eaLnBrk="1" hangingPunct="1"/>
            <a:r>
              <a:rPr lang="en-US" altLang="en-US"/>
              <a:t>Sắp xếp nhanh (Quick Sort)</a:t>
            </a:r>
          </a:p>
          <a:p>
            <a:pPr eaLnBrk="1" hangingPunct="1"/>
            <a:r>
              <a:rPr lang="en-US" altLang="en-US"/>
              <a:t>Sắp xếp trộn (Merge Sort)</a:t>
            </a:r>
          </a:p>
          <a:p>
            <a:pPr eaLnBrk="1" hangingPunct="1"/>
            <a:r>
              <a:rPr lang="en-US" altLang="en-US"/>
              <a:t>Sắp xếp vun đống (Heap Sort)</a:t>
            </a:r>
          </a:p>
        </p:txBody>
      </p:sp>
    </p:spTree>
    <p:extLst>
      <p:ext uri="{BB962C8B-B14F-4D97-AF65-F5344CB8AC3E}">
        <p14:creationId xmlns:p14="http://schemas.microsoft.com/office/powerpoint/2010/main" val="2515688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35</a:t>
            </a:fld>
            <a:endParaRPr lang="en-US"/>
          </a:p>
        </p:txBody>
      </p:sp>
      <p:sp>
        <p:nvSpPr>
          <p:cNvPr id="2" name="Title 1"/>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nhanh</a:t>
            </a:r>
            <a:r>
              <a:rPr lang="en-US"/>
              <a:t>  (Quick sort)</a:t>
            </a:r>
          </a:p>
        </p:txBody>
      </p:sp>
      <p:sp>
        <p:nvSpPr>
          <p:cNvPr id="3" name="Content Placeholder 2"/>
          <p:cNvSpPr>
            <a:spLocks noGrp="1"/>
          </p:cNvSpPr>
          <p:nvPr>
            <p:ph type="body" sz="quarter" idx="13"/>
          </p:nvPr>
        </p:nvSpPr>
        <p:spPr/>
        <p:txBody>
          <a:bodyPr>
            <a:normAutofit lnSpcReduction="10000"/>
          </a:bodyPr>
          <a:lstStyle/>
          <a:p>
            <a:r>
              <a:rPr lang="en-US" err="1"/>
              <a:t>Hiệu</a:t>
            </a:r>
            <a:r>
              <a:rPr lang="en-US"/>
              <a:t> </a:t>
            </a:r>
            <a:r>
              <a:rPr lang="en-US" err="1"/>
              <a:t>năng</a:t>
            </a:r>
            <a:r>
              <a:rPr lang="en-US"/>
              <a:t> </a:t>
            </a:r>
            <a:r>
              <a:rPr lang="en-US" err="1"/>
              <a:t>thực</a:t>
            </a:r>
            <a:r>
              <a:rPr lang="en-US"/>
              <a:t> </a:t>
            </a:r>
            <a:r>
              <a:rPr lang="en-US" err="1"/>
              <a:t>thi</a:t>
            </a:r>
            <a:r>
              <a:rPr lang="en-US"/>
              <a:t> </a:t>
            </a:r>
            <a:r>
              <a:rPr lang="en-US" err="1"/>
              <a:t>tốt</a:t>
            </a:r>
            <a:r>
              <a:rPr lang="en-US"/>
              <a:t> </a:t>
            </a:r>
            <a:r>
              <a:rPr lang="en-US" err="1"/>
              <a:t>hơn</a:t>
            </a:r>
            <a:endParaRPr lang="en-US"/>
          </a:p>
          <a:p>
            <a:pPr lvl="1"/>
            <a:r>
              <a:rPr lang="en-US"/>
              <a:t>Chia </a:t>
            </a:r>
            <a:r>
              <a:rPr lang="en-US" err="1"/>
              <a:t>để</a:t>
            </a:r>
            <a:r>
              <a:rPr lang="en-US"/>
              <a:t> </a:t>
            </a:r>
            <a:r>
              <a:rPr lang="en-US" err="1"/>
              <a:t>trị</a:t>
            </a:r>
            <a:endParaRPr lang="en-US"/>
          </a:p>
          <a:p>
            <a:pPr lvl="1"/>
            <a:r>
              <a:rPr lang="en-US" err="1"/>
              <a:t>Giải</a:t>
            </a:r>
            <a:r>
              <a:rPr lang="en-US"/>
              <a:t> </a:t>
            </a:r>
            <a:r>
              <a:rPr lang="en-US" err="1"/>
              <a:t>thuật</a:t>
            </a:r>
            <a:r>
              <a:rPr lang="en-US"/>
              <a:t> </a:t>
            </a:r>
            <a:r>
              <a:rPr lang="en-US" err="1"/>
              <a:t>sắp</a:t>
            </a:r>
            <a:r>
              <a:rPr lang="en-US"/>
              <a:t> </a:t>
            </a:r>
            <a:r>
              <a:rPr lang="en-US" err="1"/>
              <a:t>xếp</a:t>
            </a:r>
            <a:r>
              <a:rPr lang="en-US"/>
              <a:t> </a:t>
            </a:r>
            <a:r>
              <a:rPr lang="en-US" err="1"/>
              <a:t>đệ</a:t>
            </a:r>
            <a:r>
              <a:rPr lang="en-US"/>
              <a:t> </a:t>
            </a:r>
            <a:r>
              <a:rPr lang="en-US" err="1"/>
              <a:t>quy</a:t>
            </a:r>
            <a:endParaRPr lang="en-US"/>
          </a:p>
          <a:p>
            <a:r>
              <a:rPr lang="en-US" err="1"/>
              <a:t>Phần</a:t>
            </a:r>
            <a:r>
              <a:rPr lang="en-US"/>
              <a:t> </a:t>
            </a:r>
            <a:r>
              <a:rPr lang="en-US" err="1"/>
              <a:t>tử</a:t>
            </a:r>
            <a:r>
              <a:rPr lang="en-US"/>
              <a:t> </a:t>
            </a:r>
            <a:r>
              <a:rPr lang="en-US" err="1"/>
              <a:t>được</a:t>
            </a:r>
            <a:r>
              <a:rPr lang="en-US"/>
              <a:t> </a:t>
            </a:r>
            <a:r>
              <a:rPr lang="en-US" err="1"/>
              <a:t>chọn</a:t>
            </a:r>
            <a:r>
              <a:rPr lang="en-US"/>
              <a:t> </a:t>
            </a:r>
            <a:r>
              <a:rPr lang="en-US" err="1"/>
              <a:t>là</a:t>
            </a:r>
            <a:r>
              <a:rPr lang="en-US"/>
              <a:t> </a:t>
            </a:r>
            <a:r>
              <a:rPr lang="en-US" err="1"/>
              <a:t>bất</a:t>
            </a:r>
            <a:r>
              <a:rPr lang="en-US"/>
              <a:t> </a:t>
            </a:r>
            <a:r>
              <a:rPr lang="en-US" err="1"/>
              <a:t>kỳ</a:t>
            </a:r>
            <a:r>
              <a:rPr lang="en-US"/>
              <a:t> </a:t>
            </a:r>
            <a:r>
              <a:rPr lang="en-US" err="1"/>
              <a:t>được</a:t>
            </a:r>
            <a:r>
              <a:rPr lang="en-US"/>
              <a:t> </a:t>
            </a:r>
            <a:r>
              <a:rPr lang="en-US" err="1"/>
              <a:t>gọi</a:t>
            </a:r>
            <a:r>
              <a:rPr lang="en-US"/>
              <a:t> </a:t>
            </a:r>
            <a:r>
              <a:rPr lang="en-US" err="1"/>
              <a:t>là</a:t>
            </a:r>
            <a:r>
              <a:rPr lang="en-US"/>
              <a:t> </a:t>
            </a:r>
            <a:r>
              <a:rPr lang="en-US">
                <a:solidFill>
                  <a:srgbClr val="FF0000"/>
                </a:solidFill>
              </a:rPr>
              <a:t>“</a:t>
            </a:r>
            <a:r>
              <a:rPr lang="en-US" err="1">
                <a:solidFill>
                  <a:srgbClr val="FF0000"/>
                </a:solidFill>
              </a:rPr>
              <a:t>chốt</a:t>
            </a:r>
            <a:r>
              <a:rPr lang="en-US">
                <a:solidFill>
                  <a:srgbClr val="FF0000"/>
                </a:solidFill>
              </a:rPr>
              <a:t>” </a:t>
            </a:r>
            <a:r>
              <a:rPr lang="en-US"/>
              <a:t>(pivot)</a:t>
            </a:r>
          </a:p>
          <a:p>
            <a:r>
              <a:rPr lang="en-US" err="1"/>
              <a:t>Mọi</a:t>
            </a:r>
            <a:r>
              <a:rPr lang="en-US"/>
              <a:t> </a:t>
            </a:r>
            <a:r>
              <a:rPr lang="en-US" err="1"/>
              <a:t>phần</a:t>
            </a:r>
            <a:r>
              <a:rPr lang="en-US"/>
              <a:t> </a:t>
            </a:r>
            <a:r>
              <a:rPr lang="en-US" err="1"/>
              <a:t>tử</a:t>
            </a:r>
            <a:r>
              <a:rPr lang="en-US"/>
              <a:t> </a:t>
            </a:r>
            <a:r>
              <a:rPr lang="en-US" err="1"/>
              <a:t>nhỏ</a:t>
            </a:r>
            <a:r>
              <a:rPr lang="en-US"/>
              <a:t> </a:t>
            </a:r>
            <a:r>
              <a:rPr lang="en-US" err="1"/>
              <a:t>hơn</a:t>
            </a:r>
            <a:r>
              <a:rPr lang="en-US"/>
              <a:t> </a:t>
            </a:r>
            <a:r>
              <a:rPr lang="en-US" err="1">
                <a:solidFill>
                  <a:srgbClr val="FF0000"/>
                </a:solidFill>
              </a:rPr>
              <a:t>chốt</a:t>
            </a:r>
            <a:r>
              <a:rPr lang="en-US"/>
              <a:t> </a:t>
            </a:r>
            <a:r>
              <a:rPr lang="en-US" err="1"/>
              <a:t>sẽ</a:t>
            </a:r>
            <a:r>
              <a:rPr lang="en-US"/>
              <a:t> </a:t>
            </a:r>
            <a:r>
              <a:rPr lang="en-US" err="1"/>
              <a:t>được</a:t>
            </a:r>
            <a:r>
              <a:rPr lang="en-US"/>
              <a:t> </a:t>
            </a:r>
            <a:r>
              <a:rPr lang="en-US" err="1"/>
              <a:t>đẩy</a:t>
            </a:r>
            <a:r>
              <a:rPr lang="en-US"/>
              <a:t> </a:t>
            </a:r>
            <a:r>
              <a:rPr lang="en-US" err="1"/>
              <a:t>lên</a:t>
            </a:r>
            <a:r>
              <a:rPr lang="en-US"/>
              <a:t> </a:t>
            </a:r>
            <a:r>
              <a:rPr lang="en-US" err="1"/>
              <a:t>phía</a:t>
            </a:r>
            <a:r>
              <a:rPr lang="en-US"/>
              <a:t> </a:t>
            </a:r>
            <a:r>
              <a:rPr lang="en-US" err="1"/>
              <a:t>trước</a:t>
            </a:r>
            <a:r>
              <a:rPr lang="en-US"/>
              <a:t> </a:t>
            </a:r>
            <a:r>
              <a:rPr lang="en-US" err="1">
                <a:solidFill>
                  <a:srgbClr val="FF0000"/>
                </a:solidFill>
              </a:rPr>
              <a:t>chốt</a:t>
            </a:r>
            <a:r>
              <a:rPr lang="en-US">
                <a:solidFill>
                  <a:srgbClr val="FF0000"/>
                </a:solidFill>
              </a:rPr>
              <a:t> </a:t>
            </a:r>
          </a:p>
          <a:p>
            <a:r>
              <a:rPr lang="en-US" err="1"/>
              <a:t>Hai</a:t>
            </a:r>
            <a:r>
              <a:rPr lang="en-US"/>
              <a:t> </a:t>
            </a:r>
            <a:r>
              <a:rPr lang="en-US" err="1"/>
              <a:t>mảng</a:t>
            </a:r>
            <a:r>
              <a:rPr lang="en-US"/>
              <a:t> con:</a:t>
            </a:r>
          </a:p>
          <a:p>
            <a:pPr lvl="1"/>
            <a:r>
              <a:rPr lang="en-US" err="1"/>
              <a:t>Mảng</a:t>
            </a:r>
            <a:r>
              <a:rPr lang="en-US"/>
              <a:t> con </a:t>
            </a:r>
            <a:r>
              <a:rPr lang="en-US" err="1"/>
              <a:t>nhỏ</a:t>
            </a:r>
            <a:r>
              <a:rPr lang="en-US"/>
              <a:t> </a:t>
            </a:r>
            <a:r>
              <a:rPr lang="en-US" err="1"/>
              <a:t>hơn</a:t>
            </a:r>
            <a:r>
              <a:rPr lang="en-US"/>
              <a:t> </a:t>
            </a:r>
            <a:r>
              <a:rPr lang="en-US" err="1">
                <a:solidFill>
                  <a:srgbClr val="FF0000"/>
                </a:solidFill>
              </a:rPr>
              <a:t>chốt</a:t>
            </a:r>
            <a:r>
              <a:rPr lang="en-US"/>
              <a:t> </a:t>
            </a:r>
            <a:r>
              <a:rPr lang="en-US" err="1"/>
              <a:t>ở</a:t>
            </a:r>
            <a:r>
              <a:rPr lang="en-US"/>
              <a:t> </a:t>
            </a:r>
            <a:r>
              <a:rPr lang="en-US" err="1"/>
              <a:t>phía</a:t>
            </a:r>
            <a:r>
              <a:rPr lang="en-US"/>
              <a:t> </a:t>
            </a:r>
            <a:r>
              <a:rPr lang="en-US" err="1"/>
              <a:t>trước</a:t>
            </a:r>
            <a:r>
              <a:rPr lang="en-US"/>
              <a:t> </a:t>
            </a:r>
            <a:r>
              <a:rPr lang="en-US" err="1">
                <a:solidFill>
                  <a:srgbClr val="FF0000"/>
                </a:solidFill>
              </a:rPr>
              <a:t>chốt</a:t>
            </a:r>
            <a:endParaRPr lang="en-US">
              <a:solidFill>
                <a:srgbClr val="FF0000"/>
              </a:solidFill>
            </a:endParaRPr>
          </a:p>
          <a:p>
            <a:pPr lvl="1"/>
            <a:r>
              <a:rPr lang="en-US" err="1"/>
              <a:t>Mảng</a:t>
            </a:r>
            <a:r>
              <a:rPr lang="en-US"/>
              <a:t> con </a:t>
            </a:r>
            <a:r>
              <a:rPr lang="en-US" err="1"/>
              <a:t>lớn</a:t>
            </a:r>
            <a:r>
              <a:rPr lang="en-US"/>
              <a:t> </a:t>
            </a:r>
            <a:r>
              <a:rPr lang="en-US" err="1"/>
              <a:t>hơn</a:t>
            </a:r>
            <a:r>
              <a:rPr lang="en-US"/>
              <a:t> </a:t>
            </a:r>
            <a:r>
              <a:rPr lang="en-US" err="1">
                <a:solidFill>
                  <a:srgbClr val="FF0000"/>
                </a:solidFill>
              </a:rPr>
              <a:t>chốt</a:t>
            </a:r>
            <a:r>
              <a:rPr lang="en-US"/>
              <a:t> </a:t>
            </a:r>
            <a:r>
              <a:rPr lang="en-US" err="1"/>
              <a:t>ở</a:t>
            </a:r>
            <a:r>
              <a:rPr lang="en-US"/>
              <a:t> </a:t>
            </a:r>
            <a:r>
              <a:rPr lang="en-US" err="1"/>
              <a:t>phía</a:t>
            </a:r>
            <a:r>
              <a:rPr lang="en-US"/>
              <a:t> </a:t>
            </a:r>
            <a:r>
              <a:rPr lang="en-US" err="1"/>
              <a:t>sau</a:t>
            </a:r>
            <a:r>
              <a:rPr lang="en-US"/>
              <a:t> </a:t>
            </a:r>
            <a:r>
              <a:rPr lang="en-US" err="1">
                <a:solidFill>
                  <a:srgbClr val="FF0000"/>
                </a:solidFill>
              </a:rPr>
              <a:t>chốt</a:t>
            </a:r>
            <a:endParaRPr lang="en-US">
              <a:solidFill>
                <a:srgbClr val="FF0000"/>
              </a:solidFill>
            </a:endParaRPr>
          </a:p>
          <a:p>
            <a:r>
              <a:rPr lang="en-US" err="1"/>
              <a:t>Chiến</a:t>
            </a:r>
            <a:r>
              <a:rPr lang="en-US"/>
              <a:t> </a:t>
            </a:r>
            <a:r>
              <a:rPr lang="en-US" err="1"/>
              <a:t>thuật</a:t>
            </a:r>
            <a:r>
              <a:rPr lang="en-US"/>
              <a:t> </a:t>
            </a:r>
            <a:r>
              <a:rPr lang="en-US" err="1"/>
              <a:t>tương</a:t>
            </a:r>
            <a:r>
              <a:rPr lang="en-US"/>
              <a:t> </a:t>
            </a:r>
            <a:r>
              <a:rPr lang="en-US" err="1"/>
              <a:t>tự</a:t>
            </a:r>
            <a:r>
              <a:rPr lang="en-US"/>
              <a:t> </a:t>
            </a:r>
            <a:r>
              <a:rPr lang="en-US" err="1"/>
              <a:t>với</a:t>
            </a:r>
            <a:r>
              <a:rPr lang="en-US"/>
              <a:t> </a:t>
            </a:r>
            <a:r>
              <a:rPr lang="en-US" err="1"/>
              <a:t>từng</a:t>
            </a:r>
            <a:r>
              <a:rPr lang="en-US"/>
              <a:t> </a:t>
            </a:r>
            <a:r>
              <a:rPr lang="en-US" err="1"/>
              <a:t>mảng</a:t>
            </a:r>
            <a:r>
              <a:rPr lang="en-US"/>
              <a:t> con, </a:t>
            </a:r>
            <a:r>
              <a:rPr lang="en-US" err="1"/>
              <a:t>đến</a:t>
            </a:r>
            <a:r>
              <a:rPr lang="en-US"/>
              <a:t> </a:t>
            </a:r>
            <a:r>
              <a:rPr lang="en-US" err="1"/>
              <a:t>khi</a:t>
            </a:r>
            <a:r>
              <a:rPr lang="en-US"/>
              <a:t> </a:t>
            </a:r>
            <a:r>
              <a:rPr lang="en-US" err="1"/>
              <a:t>mảng</a:t>
            </a:r>
            <a:r>
              <a:rPr lang="en-US"/>
              <a:t> con </a:t>
            </a:r>
            <a:r>
              <a:rPr lang="en-US" err="1"/>
              <a:t>chỉ</a:t>
            </a:r>
            <a:r>
              <a:rPr lang="en-US"/>
              <a:t> </a:t>
            </a:r>
            <a:r>
              <a:rPr lang="en-US" err="1"/>
              <a:t>còn</a:t>
            </a:r>
            <a:r>
              <a:rPr lang="en-US"/>
              <a:t> </a:t>
            </a:r>
            <a:r>
              <a:rPr lang="en-US" err="1"/>
              <a:t>một</a:t>
            </a:r>
            <a:r>
              <a:rPr lang="en-US"/>
              <a:t> </a:t>
            </a:r>
            <a:r>
              <a:rPr lang="en-US" err="1"/>
              <a:t>phần</a:t>
            </a:r>
            <a:r>
              <a:rPr lang="en-US"/>
              <a:t> </a:t>
            </a:r>
            <a:r>
              <a:rPr lang="en-US" err="1"/>
              <a:t>tử</a:t>
            </a:r>
            <a:endParaRPr lang="en-US"/>
          </a:p>
          <a:p>
            <a:pPr lvl="1"/>
            <a:endParaRPr lang="en-US">
              <a:solidFill>
                <a:srgbClr val="FF0000"/>
              </a:solidFill>
            </a:endParaRPr>
          </a:p>
          <a:p>
            <a:endParaRPr lang="en-US">
              <a:solidFill>
                <a:srgbClr val="FF0000"/>
              </a:solidFill>
            </a:endParaRPr>
          </a:p>
        </p:txBody>
      </p:sp>
    </p:spTree>
    <p:extLst>
      <p:ext uri="{BB962C8B-B14F-4D97-AF65-F5344CB8AC3E}">
        <p14:creationId xmlns:p14="http://schemas.microsoft.com/office/powerpoint/2010/main" val="1907781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Slide Number Placeholder 5">
            <a:extLst>
              <a:ext uri="{FF2B5EF4-FFF2-40B4-BE49-F238E27FC236}">
                <a16:creationId xmlns:a16="http://schemas.microsoft.com/office/drawing/2014/main" id="{75222796-19F7-7949-8990-952ABC9CE66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ClrTx/>
              <a:buSzTx/>
              <a:buFontTx/>
              <a:buNone/>
            </a:pPr>
            <a:fld id="{BC157D01-EE3E-C94E-8194-4338F017DBCC}" type="slidenum">
              <a:rPr lang="en-US" altLang="en-US" sz="1200">
                <a:latin typeface="Garamond" panose="02020404030301010803" pitchFamily="18" charset="0"/>
              </a:rPr>
              <a:pPr>
                <a:spcBef>
                  <a:spcPct val="0"/>
                </a:spcBef>
                <a:buClrTx/>
                <a:buSzTx/>
                <a:buFontTx/>
                <a:buNone/>
              </a:pPr>
              <a:t>36</a:t>
            </a:fld>
            <a:endParaRPr lang="en-US" altLang="en-US" sz="1200">
              <a:latin typeface="Garamond" panose="02020404030301010803" pitchFamily="18" charset="0"/>
            </a:endParaRPr>
          </a:p>
        </p:txBody>
      </p:sp>
      <p:sp>
        <p:nvSpPr>
          <p:cNvPr id="26626" name="Title 1">
            <a:extLst>
              <a:ext uri="{FF2B5EF4-FFF2-40B4-BE49-F238E27FC236}">
                <a16:creationId xmlns:a16="http://schemas.microsoft.com/office/drawing/2014/main" id="{6A368A27-7EA0-C740-8614-4739AC5A4D17}"/>
              </a:ext>
            </a:extLst>
          </p:cNvPr>
          <p:cNvSpPr>
            <a:spLocks noGrp="1" noChangeArrowheads="1"/>
          </p:cNvSpPr>
          <p:nvPr>
            <p:ph type="title"/>
          </p:nvPr>
        </p:nvSpPr>
        <p:spPr/>
        <p:txBody>
          <a:bodyPr/>
          <a:lstStyle/>
          <a:p>
            <a:pPr eaLnBrk="1" hangingPunct="1"/>
            <a:r>
              <a:rPr lang="en-US" altLang="en-US"/>
              <a:t>Sắp xếp nhanh</a:t>
            </a:r>
          </a:p>
        </p:txBody>
      </p:sp>
      <p:sp>
        <p:nvSpPr>
          <p:cNvPr id="26627" name="Content Placeholder 2">
            <a:extLst>
              <a:ext uri="{FF2B5EF4-FFF2-40B4-BE49-F238E27FC236}">
                <a16:creationId xmlns:a16="http://schemas.microsoft.com/office/drawing/2014/main" id="{190DBAB3-E04D-C64D-9B0D-78ED698C63E9}"/>
              </a:ext>
            </a:extLst>
          </p:cNvPr>
          <p:cNvSpPr>
            <a:spLocks noGrp="1" noChangeArrowheads="1"/>
          </p:cNvSpPr>
          <p:nvPr>
            <p:ph type="body" sz="quarter" idx="13"/>
          </p:nvPr>
        </p:nvSpPr>
        <p:spPr/>
        <p:txBody>
          <a:bodyPr/>
          <a:lstStyle/>
          <a:p>
            <a:pPr eaLnBrk="1" hangingPunct="1"/>
            <a:r>
              <a:rPr lang="en-US" altLang="en-US"/>
              <a:t>Mô tả ý tưởng giải thuật</a:t>
            </a:r>
          </a:p>
          <a:p>
            <a:pPr eaLnBrk="1" hangingPunct="1"/>
            <a:endParaRPr lang="en-US" altLang="en-US"/>
          </a:p>
        </p:txBody>
      </p:sp>
      <p:sp>
        <p:nvSpPr>
          <p:cNvPr id="26631" name="Rounded Rectangle 6">
            <a:extLst>
              <a:ext uri="{FF2B5EF4-FFF2-40B4-BE49-F238E27FC236}">
                <a16:creationId xmlns:a16="http://schemas.microsoft.com/office/drawing/2014/main" id="{444B4D93-A2A5-4142-94EB-46373B793EA4}"/>
              </a:ext>
            </a:extLst>
          </p:cNvPr>
          <p:cNvSpPr>
            <a:spLocks noChangeArrowheads="1"/>
          </p:cNvSpPr>
          <p:nvPr/>
        </p:nvSpPr>
        <p:spPr bwMode="auto">
          <a:xfrm>
            <a:off x="3429000" y="2362200"/>
            <a:ext cx="2590800" cy="533400"/>
          </a:xfrm>
          <a:prstGeom prst="roundRect">
            <a:avLst>
              <a:gd name="adj" fmla="val 16667"/>
            </a:avLst>
          </a:prstGeom>
          <a:solidFill>
            <a:srgbClr val="FFFF00"/>
          </a:solidFill>
          <a:ln w="9525" algn="ctr">
            <a:solidFill>
              <a:schemeClr val="tx1"/>
            </a:solidFill>
            <a:round/>
            <a:headEnd/>
            <a:tailEnd/>
          </a:ln>
        </p:spPr>
        <p:txBody>
          <a:bodyPr/>
          <a:lstStyle>
            <a:lvl1pPr marL="342900" indent="-342900">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marL="0" lvl="1" algn="ctr" eaLnBrk="1" hangingPunct="1">
              <a:spcBef>
                <a:spcPct val="0"/>
              </a:spcBef>
              <a:buClrTx/>
              <a:buSzTx/>
              <a:buFontTx/>
              <a:buNone/>
            </a:pPr>
            <a:r>
              <a:rPr lang="en-US" altLang="en-US" sz="2200">
                <a:latin typeface="Arial" panose="020B0604020202020204" pitchFamily="34" charset="0"/>
              </a:rPr>
              <a:t>a</a:t>
            </a:r>
            <a:r>
              <a:rPr lang="en-US" altLang="en-US" sz="2200" baseline="-25000">
                <a:latin typeface="Arial" panose="020B0604020202020204" pitchFamily="34" charset="0"/>
              </a:rPr>
              <a:t>0</a:t>
            </a:r>
            <a:r>
              <a:rPr lang="en-US" altLang="en-US" sz="2200">
                <a:latin typeface="Arial" panose="020B0604020202020204" pitchFamily="34" charset="0"/>
              </a:rPr>
              <a:t>,a</a:t>
            </a:r>
            <a:r>
              <a:rPr lang="en-US" altLang="en-US" sz="2200" baseline="-25000">
                <a:latin typeface="Arial" panose="020B0604020202020204" pitchFamily="34" charset="0"/>
              </a:rPr>
              <a:t>1</a:t>
            </a:r>
            <a:r>
              <a:rPr lang="en-US" altLang="en-US" sz="2200">
                <a:latin typeface="Arial" panose="020B0604020202020204" pitchFamily="34" charset="0"/>
              </a:rPr>
              <a:t>,…,a</a:t>
            </a:r>
            <a:r>
              <a:rPr lang="en-US" altLang="en-US" sz="2200" baseline="-25000">
                <a:latin typeface="Arial" panose="020B0604020202020204" pitchFamily="34" charset="0"/>
              </a:rPr>
              <a:t>N-1</a:t>
            </a:r>
          </a:p>
        </p:txBody>
      </p:sp>
      <p:sp>
        <p:nvSpPr>
          <p:cNvPr id="26632" name="Rounded Rectangle 7">
            <a:extLst>
              <a:ext uri="{FF2B5EF4-FFF2-40B4-BE49-F238E27FC236}">
                <a16:creationId xmlns:a16="http://schemas.microsoft.com/office/drawing/2014/main" id="{74827850-B5C9-2847-B2A9-5431437AEAF4}"/>
              </a:ext>
            </a:extLst>
          </p:cNvPr>
          <p:cNvSpPr>
            <a:spLocks noChangeArrowheads="1"/>
          </p:cNvSpPr>
          <p:nvPr/>
        </p:nvSpPr>
        <p:spPr bwMode="auto">
          <a:xfrm>
            <a:off x="2667000" y="3429000"/>
            <a:ext cx="4114800" cy="838200"/>
          </a:xfrm>
          <a:prstGeom prst="roundRect">
            <a:avLst>
              <a:gd name="adj" fmla="val 16667"/>
            </a:avLst>
          </a:prstGeom>
          <a:solidFill>
            <a:srgbClr val="FFFF00"/>
          </a:solidFill>
          <a:ln w="9525" algn="ctr">
            <a:solidFill>
              <a:schemeClr val="tx1"/>
            </a:solidFill>
            <a:round/>
            <a:headEnd/>
            <a:tailEnd/>
          </a:ln>
        </p:spPr>
        <p:txBody>
          <a:bodyPr/>
          <a:lstStyle>
            <a:lvl1pPr marL="342900" indent="-342900">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marL="0" lvl="1" algn="ctr" eaLnBrk="1" hangingPunct="1">
              <a:spcBef>
                <a:spcPct val="0"/>
              </a:spcBef>
              <a:buClrTx/>
              <a:buSzTx/>
              <a:buFontTx/>
              <a:buNone/>
            </a:pPr>
            <a:r>
              <a:rPr lang="en-US" altLang="en-US" sz="2200">
                <a:latin typeface="Arial" panose="020B0604020202020204" pitchFamily="34" charset="0"/>
              </a:rPr>
              <a:t>Chọn chốt c là một trong </a:t>
            </a:r>
          </a:p>
          <a:p>
            <a:pPr marL="0" lvl="1" algn="ctr" eaLnBrk="1" hangingPunct="1">
              <a:spcBef>
                <a:spcPct val="0"/>
              </a:spcBef>
              <a:buClrTx/>
              <a:buSzTx/>
              <a:buFontTx/>
              <a:buNone/>
            </a:pPr>
            <a:r>
              <a:rPr lang="en-US" altLang="en-US" sz="2200">
                <a:latin typeface="Arial" panose="020B0604020202020204" pitchFamily="34" charset="0"/>
              </a:rPr>
              <a:t>các số của dãy vào</a:t>
            </a:r>
            <a:endParaRPr lang="en-US" altLang="en-US" sz="2200" baseline="-25000">
              <a:latin typeface="Arial" panose="020B0604020202020204" pitchFamily="34" charset="0"/>
            </a:endParaRPr>
          </a:p>
        </p:txBody>
      </p:sp>
      <p:sp>
        <p:nvSpPr>
          <p:cNvPr id="26633" name="Rounded Rectangle 8">
            <a:extLst>
              <a:ext uri="{FF2B5EF4-FFF2-40B4-BE49-F238E27FC236}">
                <a16:creationId xmlns:a16="http://schemas.microsoft.com/office/drawing/2014/main" id="{935FC71E-428E-D549-8064-9AD4F10012D2}"/>
              </a:ext>
            </a:extLst>
          </p:cNvPr>
          <p:cNvSpPr>
            <a:spLocks noChangeArrowheads="1"/>
          </p:cNvSpPr>
          <p:nvPr/>
        </p:nvSpPr>
        <p:spPr bwMode="auto">
          <a:xfrm>
            <a:off x="1371600" y="4953000"/>
            <a:ext cx="2438400" cy="685800"/>
          </a:xfrm>
          <a:prstGeom prst="roundRect">
            <a:avLst>
              <a:gd name="adj" fmla="val 16667"/>
            </a:avLst>
          </a:prstGeom>
          <a:solidFill>
            <a:srgbClr val="FFFF00"/>
          </a:solidFill>
          <a:ln w="9525" algn="ctr">
            <a:solidFill>
              <a:schemeClr val="tx1"/>
            </a:solidFill>
            <a:round/>
            <a:headEnd/>
            <a:tailEnd/>
          </a:ln>
        </p:spPr>
        <p:txBody>
          <a:bodyPr/>
          <a:lstStyle>
            <a:lvl1pPr marL="342900" indent="-342900">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marL="0" lvl="1" algn="ctr" eaLnBrk="1" hangingPunct="1">
              <a:spcBef>
                <a:spcPct val="0"/>
              </a:spcBef>
              <a:buClrTx/>
              <a:buSzTx/>
              <a:buFontTx/>
              <a:buNone/>
            </a:pPr>
            <a:r>
              <a:rPr lang="en-US" altLang="en-US" sz="2200">
                <a:latin typeface="Arial" panose="020B0604020202020204" pitchFamily="34" charset="0"/>
              </a:rPr>
              <a:t>a</a:t>
            </a:r>
            <a:r>
              <a:rPr lang="en-US" altLang="en-US" sz="2200" baseline="-25000">
                <a:latin typeface="Arial" panose="020B0604020202020204" pitchFamily="34" charset="0"/>
              </a:rPr>
              <a:t>0</a:t>
            </a:r>
            <a:r>
              <a:rPr lang="en-US" altLang="en-US" sz="2200">
                <a:latin typeface="Arial" panose="020B0604020202020204" pitchFamily="34" charset="0"/>
              </a:rPr>
              <a:t>,a</a:t>
            </a:r>
            <a:r>
              <a:rPr lang="en-US" altLang="en-US" sz="2200" baseline="-25000">
                <a:latin typeface="Arial" panose="020B0604020202020204" pitchFamily="34" charset="0"/>
              </a:rPr>
              <a:t>1</a:t>
            </a:r>
            <a:r>
              <a:rPr lang="en-US" altLang="en-US" sz="2200">
                <a:latin typeface="Arial" panose="020B0604020202020204" pitchFamily="34" charset="0"/>
              </a:rPr>
              <a:t>,…,a</a:t>
            </a:r>
            <a:r>
              <a:rPr lang="en-US" altLang="en-US" sz="2200" baseline="-25000">
                <a:latin typeface="Arial" panose="020B0604020202020204" pitchFamily="34" charset="0"/>
              </a:rPr>
              <a:t>j-1</a:t>
            </a:r>
          </a:p>
        </p:txBody>
      </p:sp>
      <p:sp>
        <p:nvSpPr>
          <p:cNvPr id="26634" name="Rounded Rectangle 10">
            <a:extLst>
              <a:ext uri="{FF2B5EF4-FFF2-40B4-BE49-F238E27FC236}">
                <a16:creationId xmlns:a16="http://schemas.microsoft.com/office/drawing/2014/main" id="{C374C817-DF81-7B44-ABB4-405BEAD2CAF9}"/>
              </a:ext>
            </a:extLst>
          </p:cNvPr>
          <p:cNvSpPr>
            <a:spLocks noChangeArrowheads="1"/>
          </p:cNvSpPr>
          <p:nvPr/>
        </p:nvSpPr>
        <p:spPr bwMode="auto">
          <a:xfrm>
            <a:off x="5486400" y="4953000"/>
            <a:ext cx="2590800" cy="685800"/>
          </a:xfrm>
          <a:prstGeom prst="roundRect">
            <a:avLst>
              <a:gd name="adj" fmla="val 16667"/>
            </a:avLst>
          </a:prstGeom>
          <a:solidFill>
            <a:srgbClr val="FFFF00"/>
          </a:solidFill>
          <a:ln w="9525" algn="ctr">
            <a:solidFill>
              <a:schemeClr val="tx1"/>
            </a:solidFill>
            <a:round/>
            <a:headEnd/>
            <a:tailEnd/>
          </a:ln>
        </p:spPr>
        <p:txBody>
          <a:bodyPr/>
          <a:lstStyle>
            <a:lvl1pPr marL="342900" indent="-342900">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marL="0" lvl="1" algn="ctr" eaLnBrk="1" hangingPunct="1">
              <a:spcBef>
                <a:spcPct val="0"/>
              </a:spcBef>
              <a:buClrTx/>
              <a:buSzTx/>
              <a:buFontTx/>
              <a:buNone/>
            </a:pPr>
            <a:r>
              <a:rPr lang="en-US" altLang="en-US" sz="2200">
                <a:latin typeface="Arial" panose="020B0604020202020204" pitchFamily="34" charset="0"/>
              </a:rPr>
              <a:t>a</a:t>
            </a:r>
            <a:r>
              <a:rPr lang="en-US" altLang="en-US" sz="2200" baseline="-25000">
                <a:latin typeface="Arial" panose="020B0604020202020204" pitchFamily="34" charset="0"/>
              </a:rPr>
              <a:t>j+1</a:t>
            </a:r>
            <a:r>
              <a:rPr lang="en-US" altLang="en-US" sz="2200">
                <a:latin typeface="Arial" panose="020B0604020202020204" pitchFamily="34" charset="0"/>
              </a:rPr>
              <a:t>,a</a:t>
            </a:r>
            <a:r>
              <a:rPr lang="en-US" altLang="en-US" sz="2200" baseline="-25000">
                <a:latin typeface="Arial" panose="020B0604020202020204" pitchFamily="34" charset="0"/>
              </a:rPr>
              <a:t>j+2</a:t>
            </a:r>
            <a:r>
              <a:rPr lang="en-US" altLang="en-US" sz="2200">
                <a:latin typeface="Arial" panose="020B0604020202020204" pitchFamily="34" charset="0"/>
              </a:rPr>
              <a:t>,…,a</a:t>
            </a:r>
            <a:r>
              <a:rPr lang="en-US" altLang="en-US" sz="2200" baseline="-25000">
                <a:latin typeface="Arial" panose="020B0604020202020204" pitchFamily="34" charset="0"/>
              </a:rPr>
              <a:t>N-1</a:t>
            </a:r>
          </a:p>
        </p:txBody>
      </p:sp>
      <p:sp>
        <p:nvSpPr>
          <p:cNvPr id="26635" name="Rounded Rectangle 11">
            <a:extLst>
              <a:ext uri="{FF2B5EF4-FFF2-40B4-BE49-F238E27FC236}">
                <a16:creationId xmlns:a16="http://schemas.microsoft.com/office/drawing/2014/main" id="{2C16107A-6EA9-CC47-AEFA-3929F1E1B5AF}"/>
              </a:ext>
            </a:extLst>
          </p:cNvPr>
          <p:cNvSpPr>
            <a:spLocks noChangeArrowheads="1"/>
          </p:cNvSpPr>
          <p:nvPr/>
        </p:nvSpPr>
        <p:spPr bwMode="auto">
          <a:xfrm>
            <a:off x="4419600" y="4953000"/>
            <a:ext cx="609600" cy="685800"/>
          </a:xfrm>
          <a:prstGeom prst="roundRect">
            <a:avLst>
              <a:gd name="adj" fmla="val 16667"/>
            </a:avLst>
          </a:prstGeom>
          <a:solidFill>
            <a:srgbClr val="FF3399"/>
          </a:solidFill>
          <a:ln w="9525" algn="ctr">
            <a:solidFill>
              <a:schemeClr val="tx1"/>
            </a:solidFill>
            <a:round/>
            <a:headEnd/>
            <a:tailEnd/>
          </a:ln>
        </p:spPr>
        <p:txBody>
          <a:bodyPr/>
          <a:lstStyle>
            <a:lvl1pPr marL="342900" indent="-342900">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marL="0" lvl="1" algn="ctr" eaLnBrk="1" hangingPunct="1">
              <a:spcBef>
                <a:spcPct val="0"/>
              </a:spcBef>
              <a:buClrTx/>
              <a:buSzTx/>
              <a:buFontTx/>
              <a:buNone/>
            </a:pPr>
            <a:r>
              <a:rPr lang="en-US" altLang="en-US" sz="2200">
                <a:solidFill>
                  <a:schemeClr val="bg1"/>
                </a:solidFill>
                <a:latin typeface="Arial" panose="020B0604020202020204" pitchFamily="34" charset="0"/>
              </a:rPr>
              <a:t>a</a:t>
            </a:r>
            <a:r>
              <a:rPr lang="en-US" altLang="en-US" sz="2200" baseline="-25000">
                <a:solidFill>
                  <a:schemeClr val="bg1"/>
                </a:solidFill>
                <a:latin typeface="Arial" panose="020B0604020202020204" pitchFamily="34" charset="0"/>
              </a:rPr>
              <a:t>j</a:t>
            </a:r>
          </a:p>
        </p:txBody>
      </p:sp>
      <p:sp>
        <p:nvSpPr>
          <p:cNvPr id="26636" name="TextBox 12">
            <a:extLst>
              <a:ext uri="{FF2B5EF4-FFF2-40B4-BE49-F238E27FC236}">
                <a16:creationId xmlns:a16="http://schemas.microsoft.com/office/drawing/2014/main" id="{52946008-D65F-114F-9344-B8FA73C13BFC}"/>
              </a:ext>
            </a:extLst>
          </p:cNvPr>
          <p:cNvSpPr txBox="1">
            <a:spLocks noChangeArrowheads="1"/>
          </p:cNvSpPr>
          <p:nvPr/>
        </p:nvSpPr>
        <p:spPr bwMode="auto">
          <a:xfrm>
            <a:off x="3886200" y="51054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1800">
                <a:latin typeface="Arial" panose="020B0604020202020204" pitchFamily="34" charset="0"/>
              </a:rPr>
              <a:t>≤</a:t>
            </a:r>
          </a:p>
        </p:txBody>
      </p:sp>
      <p:sp>
        <p:nvSpPr>
          <p:cNvPr id="26637" name="TextBox 13">
            <a:extLst>
              <a:ext uri="{FF2B5EF4-FFF2-40B4-BE49-F238E27FC236}">
                <a16:creationId xmlns:a16="http://schemas.microsoft.com/office/drawing/2014/main" id="{A7410EFA-F859-6646-A95E-E82DDCC66C0F}"/>
              </a:ext>
            </a:extLst>
          </p:cNvPr>
          <p:cNvSpPr txBox="1">
            <a:spLocks noChangeArrowheads="1"/>
          </p:cNvSpPr>
          <p:nvPr/>
        </p:nvSpPr>
        <p:spPr bwMode="auto">
          <a:xfrm>
            <a:off x="5029200" y="510540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1800">
                <a:latin typeface="Arial" panose="020B0604020202020204" pitchFamily="34" charset="0"/>
              </a:rPr>
              <a:t>&lt;</a:t>
            </a:r>
          </a:p>
        </p:txBody>
      </p:sp>
      <p:cxnSp>
        <p:nvCxnSpPr>
          <p:cNvPr id="26638" name="Straight Arrow Connector 15">
            <a:extLst>
              <a:ext uri="{FF2B5EF4-FFF2-40B4-BE49-F238E27FC236}">
                <a16:creationId xmlns:a16="http://schemas.microsoft.com/office/drawing/2014/main" id="{E626725A-274E-C247-AE91-04FBC37D00E3}"/>
              </a:ext>
            </a:extLst>
          </p:cNvPr>
          <p:cNvCxnSpPr>
            <a:cxnSpLocks noChangeShapeType="1"/>
            <a:stCxn id="26631" idx="2"/>
            <a:endCxn id="26632" idx="0"/>
          </p:cNvCxnSpPr>
          <p:nvPr/>
        </p:nvCxnSpPr>
        <p:spPr bwMode="auto">
          <a:xfrm rot="5400000">
            <a:off x="4457701" y="3162300"/>
            <a:ext cx="533400" cy="31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39" name="Straight Arrow Connector 17">
            <a:extLst>
              <a:ext uri="{FF2B5EF4-FFF2-40B4-BE49-F238E27FC236}">
                <a16:creationId xmlns:a16="http://schemas.microsoft.com/office/drawing/2014/main" id="{C9F57FC9-A93E-E340-A11D-FB5813969CA7}"/>
              </a:ext>
            </a:extLst>
          </p:cNvPr>
          <p:cNvCxnSpPr>
            <a:cxnSpLocks noChangeShapeType="1"/>
            <a:stCxn id="26632" idx="2"/>
            <a:endCxn id="26635" idx="0"/>
          </p:cNvCxnSpPr>
          <p:nvPr/>
        </p:nvCxnSpPr>
        <p:spPr bwMode="auto">
          <a:xfrm rot="5400000">
            <a:off x="4381501" y="4610100"/>
            <a:ext cx="685800" cy="31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40" name="Straight Arrow Connector 19">
            <a:extLst>
              <a:ext uri="{FF2B5EF4-FFF2-40B4-BE49-F238E27FC236}">
                <a16:creationId xmlns:a16="http://schemas.microsoft.com/office/drawing/2014/main" id="{7DFA6536-0A88-A649-8411-C3ED637DF808}"/>
              </a:ext>
            </a:extLst>
          </p:cNvPr>
          <p:cNvCxnSpPr>
            <a:cxnSpLocks noChangeShapeType="1"/>
            <a:stCxn id="26632" idx="2"/>
            <a:endCxn id="26633" idx="0"/>
          </p:cNvCxnSpPr>
          <p:nvPr/>
        </p:nvCxnSpPr>
        <p:spPr bwMode="auto">
          <a:xfrm rot="5400000">
            <a:off x="3314700" y="3543300"/>
            <a:ext cx="685800" cy="2133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41" name="Straight Arrow Connector 21">
            <a:extLst>
              <a:ext uri="{FF2B5EF4-FFF2-40B4-BE49-F238E27FC236}">
                <a16:creationId xmlns:a16="http://schemas.microsoft.com/office/drawing/2014/main" id="{8684D642-D5CC-2745-89DA-E53415ED1672}"/>
              </a:ext>
            </a:extLst>
          </p:cNvPr>
          <p:cNvCxnSpPr>
            <a:cxnSpLocks noChangeShapeType="1"/>
            <a:stCxn id="26632" idx="2"/>
            <a:endCxn id="26634" idx="0"/>
          </p:cNvCxnSpPr>
          <p:nvPr/>
        </p:nvCxnSpPr>
        <p:spPr bwMode="auto">
          <a:xfrm rot="16200000" flipH="1">
            <a:off x="5410200" y="3581400"/>
            <a:ext cx="685800" cy="20574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42" name="Elbow Connector 20">
            <a:extLst>
              <a:ext uri="{FF2B5EF4-FFF2-40B4-BE49-F238E27FC236}">
                <a16:creationId xmlns:a16="http://schemas.microsoft.com/office/drawing/2014/main" id="{32B03FED-F234-A04E-8740-664C0AB0F8CF}"/>
              </a:ext>
            </a:extLst>
          </p:cNvPr>
          <p:cNvCxnSpPr>
            <a:cxnSpLocks noChangeShapeType="1"/>
            <a:stCxn id="26633" idx="2"/>
          </p:cNvCxnSpPr>
          <p:nvPr/>
        </p:nvCxnSpPr>
        <p:spPr bwMode="auto">
          <a:xfrm rot="5400000" flipH="1" flipV="1">
            <a:off x="1752600" y="4267200"/>
            <a:ext cx="2209800" cy="533400"/>
          </a:xfrm>
          <a:prstGeom prst="bentConnector5">
            <a:avLst>
              <a:gd name="adj1" fmla="val -10347"/>
              <a:gd name="adj2" fmla="val -302597"/>
              <a:gd name="adj3" fmla="val 116926"/>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643" name="Shape 35">
            <a:extLst>
              <a:ext uri="{FF2B5EF4-FFF2-40B4-BE49-F238E27FC236}">
                <a16:creationId xmlns:a16="http://schemas.microsoft.com/office/drawing/2014/main" id="{F4C08485-BCDD-7942-B30D-85F5FB5511E9}"/>
              </a:ext>
            </a:extLst>
          </p:cNvPr>
          <p:cNvCxnSpPr>
            <a:cxnSpLocks noChangeShapeType="1"/>
            <a:stCxn id="26634" idx="2"/>
          </p:cNvCxnSpPr>
          <p:nvPr/>
        </p:nvCxnSpPr>
        <p:spPr bwMode="auto">
          <a:xfrm rot="5400000" flipH="1">
            <a:off x="5448300" y="4305300"/>
            <a:ext cx="2209800" cy="457200"/>
          </a:xfrm>
          <a:prstGeom prst="bentConnector5">
            <a:avLst>
              <a:gd name="adj1" fmla="val -10347"/>
              <a:gd name="adj2" fmla="val -366667"/>
              <a:gd name="adj3" fmla="val 117556"/>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43987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4" name="Slide Number Placeholder 5">
            <a:extLst>
              <a:ext uri="{FF2B5EF4-FFF2-40B4-BE49-F238E27FC236}">
                <a16:creationId xmlns:a16="http://schemas.microsoft.com/office/drawing/2014/main" id="{1536A782-C725-0048-BA7C-7365D774147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ClrTx/>
              <a:buSzTx/>
              <a:buFontTx/>
              <a:buNone/>
            </a:pPr>
            <a:fld id="{385541C8-824C-B945-B00D-6D5D681A1904}" type="slidenum">
              <a:rPr lang="en-US" altLang="en-US" sz="1200">
                <a:latin typeface="Garamond" panose="02020404030301010803" pitchFamily="18" charset="0"/>
              </a:rPr>
              <a:pPr>
                <a:spcBef>
                  <a:spcPct val="0"/>
                </a:spcBef>
                <a:buClrTx/>
                <a:buSzTx/>
                <a:buFontTx/>
                <a:buNone/>
              </a:pPr>
              <a:t>37</a:t>
            </a:fld>
            <a:endParaRPr lang="en-US" altLang="en-US" sz="1200">
              <a:latin typeface="Garamond" panose="02020404030301010803" pitchFamily="18" charset="0"/>
            </a:endParaRPr>
          </a:p>
        </p:txBody>
      </p:sp>
      <p:sp>
        <p:nvSpPr>
          <p:cNvPr id="27650" name="Title 1">
            <a:extLst>
              <a:ext uri="{FF2B5EF4-FFF2-40B4-BE49-F238E27FC236}">
                <a16:creationId xmlns:a16="http://schemas.microsoft.com/office/drawing/2014/main" id="{DE77B2EB-E2AE-CA43-8841-7F99350E816D}"/>
              </a:ext>
            </a:extLst>
          </p:cNvPr>
          <p:cNvSpPr>
            <a:spLocks noGrp="1" noChangeArrowheads="1"/>
          </p:cNvSpPr>
          <p:nvPr>
            <p:ph type="title"/>
          </p:nvPr>
        </p:nvSpPr>
        <p:spPr/>
        <p:txBody>
          <a:bodyPr/>
          <a:lstStyle/>
          <a:p>
            <a:pPr eaLnBrk="1" hangingPunct="1"/>
            <a:r>
              <a:rPr lang="en-US" altLang="en-US"/>
              <a:t>Giải thuật phân đoạn</a:t>
            </a:r>
          </a:p>
        </p:txBody>
      </p:sp>
      <p:sp>
        <p:nvSpPr>
          <p:cNvPr id="27651" name="Content Placeholder 2">
            <a:extLst>
              <a:ext uri="{FF2B5EF4-FFF2-40B4-BE49-F238E27FC236}">
                <a16:creationId xmlns:a16="http://schemas.microsoft.com/office/drawing/2014/main" id="{85A29492-7583-E240-92AF-92C226D6FD3D}"/>
              </a:ext>
            </a:extLst>
          </p:cNvPr>
          <p:cNvSpPr>
            <a:spLocks noGrp="1" noChangeArrowheads="1"/>
          </p:cNvSpPr>
          <p:nvPr>
            <p:ph type="body" sz="quarter" idx="13"/>
          </p:nvPr>
        </p:nvSpPr>
        <p:spPr/>
        <p:txBody>
          <a:bodyPr/>
          <a:lstStyle/>
          <a:p>
            <a:pPr eaLnBrk="1" hangingPunct="1">
              <a:lnSpc>
                <a:spcPct val="80000"/>
              </a:lnSpc>
            </a:pPr>
            <a:r>
              <a:rPr lang="en-US" altLang="en-US" sz="2400" b="1" err="1"/>
              <a:t>Đầu</a:t>
            </a:r>
            <a:r>
              <a:rPr lang="en-US" altLang="en-US" sz="2400" b="1"/>
              <a:t> </a:t>
            </a:r>
            <a:r>
              <a:rPr lang="en-US" altLang="en-US" sz="2400" b="1" err="1"/>
              <a:t>vào</a:t>
            </a:r>
            <a:r>
              <a:rPr lang="en-US" altLang="en-US" sz="2400" b="1"/>
              <a:t>: </a:t>
            </a:r>
            <a:r>
              <a:rPr lang="en-US" altLang="en-US" sz="2400" err="1"/>
              <a:t>Dãy</a:t>
            </a:r>
            <a:r>
              <a:rPr lang="en-US" altLang="en-US" sz="2400"/>
              <a:t> (</a:t>
            </a:r>
            <a:r>
              <a:rPr lang="en-US" altLang="en-US" sz="2400" err="1"/>
              <a:t>a</a:t>
            </a:r>
            <a:r>
              <a:rPr lang="en-US" altLang="en-US" sz="2400" baseline="-25000" err="1"/>
              <a:t>f</a:t>
            </a:r>
            <a:r>
              <a:rPr lang="en-US" altLang="en-US" sz="2400"/>
              <a:t>, a</a:t>
            </a:r>
            <a:r>
              <a:rPr lang="en-US" altLang="en-US" sz="2400" baseline="-25000"/>
              <a:t>f+1</a:t>
            </a:r>
            <a:r>
              <a:rPr lang="en-US" altLang="en-US" sz="2400"/>
              <a:t>,…, a</a:t>
            </a:r>
            <a:r>
              <a:rPr lang="en-US" altLang="en-US" sz="2400" baseline="-25000"/>
              <a:t>h</a:t>
            </a:r>
            <a:r>
              <a:rPr lang="en-US" altLang="en-US" sz="2400"/>
              <a:t>)</a:t>
            </a:r>
          </a:p>
          <a:p>
            <a:pPr eaLnBrk="1" hangingPunct="1">
              <a:lnSpc>
                <a:spcPct val="80000"/>
              </a:lnSpc>
            </a:pPr>
            <a:r>
              <a:rPr lang="en-US" altLang="en-US" sz="2400" b="1" err="1"/>
              <a:t>Đầu</a:t>
            </a:r>
            <a:r>
              <a:rPr lang="en-US" altLang="en-US" sz="2400" b="1"/>
              <a:t> ra: </a:t>
            </a:r>
            <a:r>
              <a:rPr lang="en-US" altLang="en-US" sz="2400" err="1"/>
              <a:t>Dãy</a:t>
            </a:r>
            <a:r>
              <a:rPr lang="en-US" altLang="en-US" sz="2400"/>
              <a:t> (</a:t>
            </a:r>
            <a:r>
              <a:rPr lang="en-US" altLang="en-US" sz="2400" err="1"/>
              <a:t>a</a:t>
            </a:r>
            <a:r>
              <a:rPr lang="en-US" altLang="en-US" sz="2400" baseline="-25000" err="1"/>
              <a:t>f</a:t>
            </a:r>
            <a:r>
              <a:rPr lang="en-US" altLang="en-US" sz="2400"/>
              <a:t>, a</a:t>
            </a:r>
            <a:r>
              <a:rPr lang="en-US" altLang="en-US" sz="2400" baseline="-25000"/>
              <a:t>f+1</a:t>
            </a:r>
            <a:r>
              <a:rPr lang="en-US" altLang="en-US" sz="2400"/>
              <a:t>,…, a</a:t>
            </a:r>
            <a:r>
              <a:rPr lang="en-US" altLang="en-US" sz="2400" baseline="-25000"/>
              <a:t>j-1</a:t>
            </a:r>
            <a:r>
              <a:rPr lang="en-US" altLang="en-US" sz="2400"/>
              <a:t>, </a:t>
            </a:r>
            <a:r>
              <a:rPr lang="en-US" altLang="en-US" sz="2400" err="1"/>
              <a:t>a</a:t>
            </a:r>
            <a:r>
              <a:rPr lang="en-US" altLang="en-US" sz="2400" baseline="-25000" err="1"/>
              <a:t>j</a:t>
            </a:r>
            <a:r>
              <a:rPr lang="en-US" altLang="en-US" sz="2400"/>
              <a:t>, a</a:t>
            </a:r>
            <a:r>
              <a:rPr lang="en-US" altLang="en-US" sz="2400" baseline="-25000"/>
              <a:t>j+1</a:t>
            </a:r>
            <a:r>
              <a:rPr lang="en-US" altLang="en-US" sz="2400"/>
              <a:t>, …, a</a:t>
            </a:r>
            <a:r>
              <a:rPr lang="en-US" altLang="en-US" sz="2400" baseline="-25000"/>
              <a:t>h</a:t>
            </a:r>
            <a:r>
              <a:rPr lang="en-US" altLang="en-US" sz="2400"/>
              <a:t>) </a:t>
            </a:r>
            <a:r>
              <a:rPr lang="en-US" altLang="en-US" sz="2400" err="1"/>
              <a:t>sao</a:t>
            </a:r>
            <a:r>
              <a:rPr lang="en-US" altLang="en-US" sz="2400"/>
              <a:t> </a:t>
            </a:r>
            <a:r>
              <a:rPr lang="en-US" altLang="en-US" sz="2400" err="1"/>
              <a:t>cho</a:t>
            </a:r>
            <a:r>
              <a:rPr lang="en-US" altLang="en-US" sz="2400"/>
              <a:t>: </a:t>
            </a:r>
          </a:p>
          <a:p>
            <a:pPr lvl="1" algn="ctr" eaLnBrk="1" hangingPunct="1">
              <a:lnSpc>
                <a:spcPct val="80000"/>
              </a:lnSpc>
              <a:buFont typeface="Wingdings" pitchFamily="2" charset="2"/>
              <a:buNone/>
            </a:pPr>
            <a:r>
              <a:rPr lang="en-US" altLang="en-US" sz="2400"/>
              <a:t>(</a:t>
            </a:r>
            <a:r>
              <a:rPr lang="en-US" altLang="en-US" sz="2400" err="1"/>
              <a:t>a</a:t>
            </a:r>
            <a:r>
              <a:rPr lang="en-US" altLang="en-US" sz="2400" baseline="-25000" err="1"/>
              <a:t>f</a:t>
            </a:r>
            <a:r>
              <a:rPr lang="en-US" altLang="en-US" sz="2400"/>
              <a:t>, a</a:t>
            </a:r>
            <a:r>
              <a:rPr lang="en-US" altLang="en-US" sz="2400" baseline="-25000"/>
              <a:t>f+1</a:t>
            </a:r>
            <a:r>
              <a:rPr lang="en-US" altLang="en-US" sz="2400"/>
              <a:t>,…, a</a:t>
            </a:r>
            <a:r>
              <a:rPr lang="en-US" altLang="en-US" sz="2400" baseline="-25000"/>
              <a:t>j-1</a:t>
            </a:r>
            <a:r>
              <a:rPr lang="en-US" altLang="en-US" sz="2400"/>
              <a:t>) ≤ </a:t>
            </a:r>
            <a:r>
              <a:rPr lang="en-US" altLang="en-US" sz="2400" err="1"/>
              <a:t>a</a:t>
            </a:r>
            <a:r>
              <a:rPr lang="en-US" altLang="en-US" sz="2400" baseline="-25000" err="1"/>
              <a:t>j</a:t>
            </a:r>
            <a:r>
              <a:rPr lang="en-US" altLang="en-US" sz="2400"/>
              <a:t> &lt; (a</a:t>
            </a:r>
            <a:r>
              <a:rPr lang="en-US" altLang="en-US" sz="2400" baseline="-25000"/>
              <a:t>j+1</a:t>
            </a:r>
            <a:r>
              <a:rPr lang="en-US" altLang="en-US" sz="2400"/>
              <a:t>, …, a</a:t>
            </a:r>
            <a:r>
              <a:rPr lang="en-US" altLang="en-US" sz="2400" baseline="-25000"/>
              <a:t>h</a:t>
            </a:r>
            <a:r>
              <a:rPr lang="en-US" altLang="en-US" sz="2400"/>
              <a:t>) </a:t>
            </a:r>
          </a:p>
          <a:p>
            <a:pPr eaLnBrk="1" hangingPunct="1">
              <a:lnSpc>
                <a:spcPct val="80000"/>
              </a:lnSpc>
            </a:pPr>
            <a:r>
              <a:rPr lang="en-US" altLang="en-US" sz="2400" b="1" err="1"/>
              <a:t>Giải</a:t>
            </a:r>
            <a:r>
              <a:rPr lang="en-US" altLang="en-US" sz="2400" b="1"/>
              <a:t> </a:t>
            </a:r>
            <a:r>
              <a:rPr lang="en-US" altLang="en-US" sz="2400" b="1" err="1"/>
              <a:t>thuật</a:t>
            </a:r>
            <a:r>
              <a:rPr lang="en-US" altLang="en-US" sz="2400" b="1"/>
              <a:t>:</a:t>
            </a:r>
          </a:p>
          <a:p>
            <a:pPr lvl="1" eaLnBrk="1" hangingPunct="1">
              <a:lnSpc>
                <a:spcPct val="80000"/>
              </a:lnSpc>
            </a:pPr>
            <a:r>
              <a:rPr lang="en-US" altLang="en-US" sz="2000" err="1"/>
              <a:t>Chọn</a:t>
            </a:r>
            <a:r>
              <a:rPr lang="en-US" altLang="en-US" sz="2000"/>
              <a:t> </a:t>
            </a:r>
            <a:r>
              <a:rPr lang="en-US" altLang="en-US" sz="2000" err="1"/>
              <a:t>chốt</a:t>
            </a:r>
            <a:r>
              <a:rPr lang="en-US" altLang="en-US" sz="2000"/>
              <a:t> c = </a:t>
            </a:r>
            <a:r>
              <a:rPr lang="en-US" altLang="en-US" sz="2000" err="1"/>
              <a:t>a</a:t>
            </a:r>
            <a:r>
              <a:rPr lang="en-US" altLang="en-US" sz="2000" baseline="-25000" err="1"/>
              <a:t>f</a:t>
            </a:r>
            <a:r>
              <a:rPr lang="en-US" altLang="en-US" sz="2000"/>
              <a:t>;</a:t>
            </a:r>
          </a:p>
          <a:p>
            <a:pPr lvl="1" eaLnBrk="1" hangingPunct="1">
              <a:lnSpc>
                <a:spcPct val="80000"/>
              </a:lnSpc>
            </a:pPr>
            <a:r>
              <a:rPr lang="en-US" altLang="en-US" sz="2000" err="1"/>
              <a:t>Dùng</a:t>
            </a:r>
            <a:r>
              <a:rPr lang="en-US" altLang="en-US" sz="2000"/>
              <a:t> 2 </a:t>
            </a:r>
            <a:r>
              <a:rPr lang="en-US" altLang="en-US" sz="2000" err="1"/>
              <a:t>biến</a:t>
            </a:r>
            <a:r>
              <a:rPr lang="en-US" altLang="en-US" sz="2000"/>
              <a:t> </a:t>
            </a:r>
            <a:r>
              <a:rPr lang="en-US" altLang="en-US" sz="2000" err="1"/>
              <a:t>chạy</a:t>
            </a:r>
            <a:r>
              <a:rPr lang="en-US" altLang="en-US" sz="2000"/>
              <a:t> </a:t>
            </a:r>
            <a:r>
              <a:rPr lang="en-US" altLang="en-US" sz="2000" err="1"/>
              <a:t>i</a:t>
            </a:r>
            <a:r>
              <a:rPr lang="en-US" altLang="en-US" sz="2000"/>
              <a:t> = f+1; </a:t>
            </a:r>
            <a:r>
              <a:rPr lang="en-US" altLang="en-US" sz="2000" err="1"/>
              <a:t>và</a:t>
            </a:r>
            <a:r>
              <a:rPr lang="en-US" altLang="en-US" sz="2000"/>
              <a:t> j=h</a:t>
            </a:r>
          </a:p>
          <a:p>
            <a:pPr lvl="1" eaLnBrk="1" hangingPunct="1">
              <a:lnSpc>
                <a:spcPct val="80000"/>
              </a:lnSpc>
            </a:pPr>
            <a:r>
              <a:rPr lang="en-US" altLang="en-US" sz="2000" err="1"/>
              <a:t>Đưa</a:t>
            </a:r>
            <a:r>
              <a:rPr lang="en-US" altLang="en-US" sz="2000"/>
              <a:t> </a:t>
            </a:r>
            <a:r>
              <a:rPr lang="en-US" altLang="en-US" sz="2000" err="1"/>
              <a:t>các</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khác</a:t>
            </a:r>
            <a:r>
              <a:rPr lang="en-US" altLang="en-US" sz="2000"/>
              <a:t> </a:t>
            </a:r>
            <a:r>
              <a:rPr lang="en-US" altLang="en-US" sz="2000" err="1"/>
              <a:t>chốt</a:t>
            </a:r>
            <a:r>
              <a:rPr lang="en-US" altLang="en-US" sz="2000"/>
              <a:t> </a:t>
            </a:r>
            <a:r>
              <a:rPr lang="en-US" altLang="en-US" sz="2000" err="1"/>
              <a:t>vào</a:t>
            </a:r>
            <a:r>
              <a:rPr lang="en-US" altLang="en-US" sz="2000"/>
              <a:t> </a:t>
            </a:r>
            <a:r>
              <a:rPr lang="en-US" altLang="en-US" sz="2000" err="1"/>
              <a:t>đúng</a:t>
            </a:r>
            <a:r>
              <a:rPr lang="en-US" altLang="en-US" sz="2000"/>
              <a:t> </a:t>
            </a:r>
            <a:r>
              <a:rPr lang="en-US" altLang="en-US" sz="2000" err="1"/>
              <a:t>vị</a:t>
            </a:r>
            <a:r>
              <a:rPr lang="en-US" altLang="en-US" sz="2000"/>
              <a:t> </a:t>
            </a:r>
            <a:r>
              <a:rPr lang="en-US" altLang="en-US" sz="2000" err="1"/>
              <a:t>trí</a:t>
            </a:r>
            <a:r>
              <a:rPr lang="en-US" altLang="en-US" sz="2000"/>
              <a:t>:</a:t>
            </a:r>
          </a:p>
          <a:p>
            <a:pPr lvl="2" eaLnBrk="1" hangingPunct="1">
              <a:lnSpc>
                <a:spcPct val="80000"/>
              </a:lnSpc>
              <a:buFont typeface="Wingdings" pitchFamily="2" charset="2"/>
              <a:buNone/>
            </a:pPr>
            <a:r>
              <a:rPr lang="en-US" altLang="en-US" sz="1800" err="1"/>
              <a:t>Chừng</a:t>
            </a:r>
            <a:r>
              <a:rPr lang="en-US" altLang="en-US" sz="1800"/>
              <a:t> </a:t>
            </a:r>
            <a:r>
              <a:rPr lang="en-US" altLang="en-US" sz="1800" err="1"/>
              <a:t>nào</a:t>
            </a:r>
            <a:r>
              <a:rPr lang="en-US" altLang="en-US" sz="1800"/>
              <a:t> (</a:t>
            </a:r>
            <a:r>
              <a:rPr lang="en-US" altLang="en-US" sz="1800" err="1"/>
              <a:t>i</a:t>
            </a:r>
            <a:r>
              <a:rPr lang="en-US" altLang="en-US" sz="1800"/>
              <a:t> ≤ j) {</a:t>
            </a:r>
          </a:p>
          <a:p>
            <a:pPr lvl="3" eaLnBrk="1" hangingPunct="1">
              <a:lnSpc>
                <a:spcPct val="80000"/>
              </a:lnSpc>
              <a:buFont typeface="Wingdings" pitchFamily="2" charset="2"/>
              <a:buNone/>
            </a:pPr>
            <a:r>
              <a:rPr lang="en-US" altLang="en-US" sz="1800" err="1"/>
              <a:t>Chừng</a:t>
            </a:r>
            <a:r>
              <a:rPr lang="en-US" altLang="en-US" sz="1800"/>
              <a:t> </a:t>
            </a:r>
            <a:r>
              <a:rPr lang="en-US" altLang="en-US" sz="1800" err="1"/>
              <a:t>nào</a:t>
            </a:r>
            <a:r>
              <a:rPr lang="en-US" altLang="en-US" sz="1800"/>
              <a:t> (a</a:t>
            </a:r>
            <a:r>
              <a:rPr lang="en-US" altLang="en-US" sz="1800" baseline="-25000"/>
              <a:t>i</a:t>
            </a:r>
            <a:r>
              <a:rPr lang="en-US" altLang="en-US" sz="1800"/>
              <a:t> ≤ c) </a:t>
            </a:r>
            <a:r>
              <a:rPr lang="en-US" altLang="en-US" sz="1800" err="1"/>
              <a:t>i</a:t>
            </a:r>
            <a:r>
              <a:rPr lang="en-US" altLang="en-US" sz="1800"/>
              <a:t>++;</a:t>
            </a:r>
          </a:p>
          <a:p>
            <a:pPr lvl="3" eaLnBrk="1" hangingPunct="1">
              <a:lnSpc>
                <a:spcPct val="80000"/>
              </a:lnSpc>
              <a:buFont typeface="Wingdings" pitchFamily="2" charset="2"/>
              <a:buNone/>
            </a:pPr>
            <a:r>
              <a:rPr lang="en-US" altLang="en-US" sz="1800" err="1"/>
              <a:t>Chừng</a:t>
            </a:r>
            <a:r>
              <a:rPr lang="en-US" altLang="en-US" sz="1800"/>
              <a:t> </a:t>
            </a:r>
            <a:r>
              <a:rPr lang="en-US" altLang="en-US" sz="1800" err="1"/>
              <a:t>nào</a:t>
            </a:r>
            <a:r>
              <a:rPr lang="en-US" altLang="en-US" sz="1800"/>
              <a:t> (</a:t>
            </a:r>
            <a:r>
              <a:rPr lang="en-US" altLang="en-US" sz="1800" err="1"/>
              <a:t>a</a:t>
            </a:r>
            <a:r>
              <a:rPr lang="en-US" altLang="en-US" sz="1800" baseline="-25000" err="1"/>
              <a:t>j</a:t>
            </a:r>
            <a:r>
              <a:rPr lang="en-US" altLang="en-US" sz="1800"/>
              <a:t> &gt; c) j--;</a:t>
            </a:r>
          </a:p>
          <a:p>
            <a:pPr lvl="3" eaLnBrk="1" hangingPunct="1">
              <a:lnSpc>
                <a:spcPct val="80000"/>
              </a:lnSpc>
              <a:buFont typeface="Wingdings" pitchFamily="2" charset="2"/>
              <a:buNone/>
            </a:pPr>
            <a:r>
              <a:rPr lang="en-US" altLang="en-US" sz="1800" err="1"/>
              <a:t>Nếu</a:t>
            </a:r>
            <a:r>
              <a:rPr lang="en-US" altLang="en-US" sz="1800"/>
              <a:t> (</a:t>
            </a:r>
            <a:r>
              <a:rPr lang="en-US" altLang="en-US" sz="1800" err="1"/>
              <a:t>i</a:t>
            </a:r>
            <a:r>
              <a:rPr lang="en-US" altLang="en-US" sz="1800"/>
              <a:t>&lt;j) </a:t>
            </a:r>
            <a:r>
              <a:rPr lang="en-US" altLang="en-US" sz="1800" err="1"/>
              <a:t>Hoán</a:t>
            </a:r>
            <a:r>
              <a:rPr lang="en-US" altLang="en-US" sz="1800"/>
              <a:t> </a:t>
            </a:r>
            <a:r>
              <a:rPr lang="en-US" altLang="en-US" sz="1800" err="1"/>
              <a:t>Đổi</a:t>
            </a:r>
            <a:r>
              <a:rPr lang="en-US" altLang="en-US" sz="1800"/>
              <a:t> (</a:t>
            </a:r>
            <a:r>
              <a:rPr lang="en-US" altLang="en-US" sz="1800" err="1"/>
              <a:t>a</a:t>
            </a:r>
            <a:r>
              <a:rPr lang="en-US" altLang="en-US" sz="1800" baseline="-25000" err="1"/>
              <a:t>i</a:t>
            </a:r>
            <a:r>
              <a:rPr lang="en-US" altLang="en-US" sz="1800" err="1"/>
              <a:t>,a</a:t>
            </a:r>
            <a:r>
              <a:rPr lang="en-US" altLang="en-US" sz="1800" baseline="-25000" err="1"/>
              <a:t>j</a:t>
            </a:r>
            <a:r>
              <a:rPr lang="en-US" altLang="en-US" sz="1800"/>
              <a:t>);</a:t>
            </a:r>
          </a:p>
          <a:p>
            <a:pPr lvl="2" eaLnBrk="1" hangingPunct="1">
              <a:lnSpc>
                <a:spcPct val="80000"/>
              </a:lnSpc>
              <a:buFont typeface="Wingdings" pitchFamily="2" charset="2"/>
              <a:buNone/>
            </a:pPr>
            <a:r>
              <a:rPr lang="en-US" altLang="en-US" sz="1800"/>
              <a:t>}</a:t>
            </a:r>
          </a:p>
          <a:p>
            <a:pPr lvl="1" eaLnBrk="1" hangingPunct="1">
              <a:lnSpc>
                <a:spcPct val="80000"/>
              </a:lnSpc>
            </a:pPr>
            <a:r>
              <a:rPr lang="en-US" altLang="en-US" sz="2000" err="1"/>
              <a:t>Đưa</a:t>
            </a:r>
            <a:r>
              <a:rPr lang="en-US" altLang="en-US" sz="2000"/>
              <a:t> </a:t>
            </a:r>
            <a:r>
              <a:rPr lang="en-US" altLang="en-US" sz="2000" err="1"/>
              <a:t>chốt</a:t>
            </a:r>
            <a:r>
              <a:rPr lang="en-US" altLang="en-US" sz="2000"/>
              <a:t> </a:t>
            </a:r>
            <a:r>
              <a:rPr lang="en-US" altLang="en-US" sz="2000" err="1"/>
              <a:t>vào</a:t>
            </a:r>
            <a:r>
              <a:rPr lang="en-US" altLang="en-US" sz="2000"/>
              <a:t> </a:t>
            </a:r>
            <a:r>
              <a:rPr lang="en-US" altLang="en-US" sz="2000" err="1"/>
              <a:t>đúng</a:t>
            </a:r>
            <a:r>
              <a:rPr lang="en-US" altLang="en-US" sz="2000"/>
              <a:t> </a:t>
            </a:r>
            <a:r>
              <a:rPr lang="en-US" altLang="en-US" sz="2000" err="1"/>
              <a:t>vị</a:t>
            </a:r>
            <a:r>
              <a:rPr lang="en-US" altLang="en-US" sz="2000"/>
              <a:t> </a:t>
            </a:r>
            <a:r>
              <a:rPr lang="en-US" altLang="en-US" sz="2000" err="1"/>
              <a:t>trí</a:t>
            </a:r>
            <a:r>
              <a:rPr lang="en-US" altLang="en-US" sz="2000"/>
              <a:t>: </a:t>
            </a:r>
            <a:r>
              <a:rPr lang="en-US" altLang="en-US" sz="2000" err="1"/>
              <a:t>Hoán</a:t>
            </a:r>
            <a:r>
              <a:rPr lang="en-US" altLang="en-US" sz="2000"/>
              <a:t> </a:t>
            </a:r>
            <a:r>
              <a:rPr lang="en-US" altLang="en-US" sz="2000" err="1"/>
              <a:t>đổi</a:t>
            </a:r>
            <a:r>
              <a:rPr lang="en-US" altLang="en-US" sz="2000"/>
              <a:t> (</a:t>
            </a:r>
            <a:r>
              <a:rPr lang="en-US" altLang="en-US" sz="2000" err="1"/>
              <a:t>a</a:t>
            </a:r>
            <a:r>
              <a:rPr lang="en-US" altLang="en-US" sz="2000" baseline="-25000" err="1"/>
              <a:t>f</a:t>
            </a:r>
            <a:r>
              <a:rPr lang="en-US" altLang="en-US" sz="2000"/>
              <a:t>, </a:t>
            </a:r>
            <a:r>
              <a:rPr lang="en-US" altLang="en-US" sz="2000" err="1"/>
              <a:t>a</a:t>
            </a:r>
            <a:r>
              <a:rPr lang="en-US" altLang="en-US" sz="2000" baseline="-25000" err="1"/>
              <a:t>j</a:t>
            </a:r>
            <a:r>
              <a:rPr lang="en-US" altLang="en-US" sz="2000"/>
              <a:t>);  </a:t>
            </a:r>
          </a:p>
          <a:p>
            <a:pPr lvl="1" eaLnBrk="1" hangingPunct="1">
              <a:lnSpc>
                <a:spcPct val="80000"/>
              </a:lnSpc>
            </a:pPr>
            <a:r>
              <a:rPr lang="en-US" altLang="en-US" sz="2000" b="1" err="1"/>
              <a:t>Lưu</a:t>
            </a:r>
            <a:r>
              <a:rPr lang="en-US" altLang="en-US" sz="2000" b="1"/>
              <a:t> ý</a:t>
            </a:r>
            <a:r>
              <a:rPr lang="en-US" altLang="en-US" sz="2000"/>
              <a:t>: </a:t>
            </a:r>
            <a:r>
              <a:rPr lang="en-US" altLang="en-US" sz="2000" err="1"/>
              <a:t>giải</a:t>
            </a:r>
            <a:r>
              <a:rPr lang="en-US" altLang="en-US" sz="2000"/>
              <a:t> </a:t>
            </a:r>
            <a:r>
              <a:rPr lang="en-US" altLang="en-US" sz="2000" err="1"/>
              <a:t>thuật</a:t>
            </a:r>
            <a:r>
              <a:rPr lang="en-US" altLang="en-US" sz="2000"/>
              <a:t> </a:t>
            </a:r>
            <a:r>
              <a:rPr lang="en-US" altLang="en-US" sz="2000" err="1"/>
              <a:t>này</a:t>
            </a:r>
            <a:r>
              <a:rPr lang="en-US" altLang="en-US" sz="2000"/>
              <a:t> </a:t>
            </a:r>
            <a:r>
              <a:rPr lang="en-US" altLang="en-US" sz="2000" err="1"/>
              <a:t>dừng</a:t>
            </a:r>
            <a:r>
              <a:rPr lang="en-US" altLang="en-US" sz="2000"/>
              <a:t> </a:t>
            </a:r>
            <a:r>
              <a:rPr lang="en-US" altLang="en-US" sz="2000" err="1"/>
              <a:t>lại</a:t>
            </a:r>
            <a:r>
              <a:rPr lang="en-US" altLang="en-US" sz="2000"/>
              <a:t> </a:t>
            </a:r>
            <a:r>
              <a:rPr lang="en-US" altLang="en-US" sz="2000" err="1"/>
              <a:t>khi</a:t>
            </a:r>
            <a:r>
              <a:rPr lang="en-US" altLang="en-US" sz="2000"/>
              <a:t> </a:t>
            </a:r>
            <a:r>
              <a:rPr lang="en-US" altLang="en-US" sz="2000" err="1"/>
              <a:t>dãy</a:t>
            </a:r>
            <a:r>
              <a:rPr lang="en-US" altLang="en-US" sz="2000"/>
              <a:t> </a:t>
            </a:r>
            <a:r>
              <a:rPr lang="en-US" altLang="en-US" sz="2000" err="1"/>
              <a:t>chỉ</a:t>
            </a:r>
            <a:r>
              <a:rPr lang="en-US" altLang="en-US" sz="2000"/>
              <a:t> </a:t>
            </a:r>
            <a:r>
              <a:rPr lang="en-US" altLang="en-US" sz="2000" err="1"/>
              <a:t>có</a:t>
            </a:r>
            <a:r>
              <a:rPr lang="en-US" altLang="en-US" sz="2000"/>
              <a:t> 1 </a:t>
            </a:r>
            <a:r>
              <a:rPr lang="en-US" altLang="en-US" sz="2000" err="1"/>
              <a:t>hoặc</a:t>
            </a:r>
            <a:r>
              <a:rPr lang="en-US" altLang="en-US" sz="2000"/>
              <a:t> 0 </a:t>
            </a:r>
            <a:r>
              <a:rPr lang="en-US" altLang="en-US" sz="2000" err="1"/>
              <a:t>có</a:t>
            </a:r>
            <a:r>
              <a:rPr lang="en-US" altLang="en-US" sz="2000"/>
              <a:t> </a:t>
            </a:r>
            <a:r>
              <a:rPr lang="en-US" altLang="en-US" sz="2000" err="1"/>
              <a:t>phần</a:t>
            </a:r>
            <a:r>
              <a:rPr lang="en-US" altLang="en-US" sz="2000"/>
              <a:t> </a:t>
            </a:r>
            <a:r>
              <a:rPr lang="en-US" altLang="en-US" sz="2000" err="1"/>
              <a:t>tử</a:t>
            </a:r>
            <a:r>
              <a:rPr lang="en-US" altLang="en-US" sz="2000"/>
              <a:t> </a:t>
            </a:r>
            <a:r>
              <a:rPr lang="en-US" altLang="en-US" sz="2000" err="1"/>
              <a:t>nào</a:t>
            </a:r>
            <a:endParaRPr lang="en-US" altLang="en-US" sz="2000"/>
          </a:p>
          <a:p>
            <a:pPr eaLnBrk="1" hangingPunct="1"/>
            <a:endParaRPr lang="en-US" altLang="en-US" sz="4000"/>
          </a:p>
        </p:txBody>
      </p:sp>
    </p:spTree>
    <p:extLst>
      <p:ext uri="{BB962C8B-B14F-4D97-AF65-F5344CB8AC3E}">
        <p14:creationId xmlns:p14="http://schemas.microsoft.com/office/powerpoint/2010/main" val="2935409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38</a:t>
            </a:fld>
            <a:endParaRPr lang="en-US"/>
          </a:p>
        </p:txBody>
      </p:sp>
      <p:sp>
        <p:nvSpPr>
          <p:cNvPr id="2" name="Title 1"/>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nhanh</a:t>
            </a:r>
            <a:r>
              <a:rPr lang="en-US"/>
              <a:t> (Quick sort)</a:t>
            </a:r>
          </a:p>
        </p:txBody>
      </p:sp>
      <p:sp>
        <p:nvSpPr>
          <p:cNvPr id="3" name="Content Placeholder 2"/>
          <p:cNvSpPr>
            <a:spLocks noGrp="1"/>
          </p:cNvSpPr>
          <p:nvPr>
            <p:ph type="body" sz="quarter" idx="13"/>
          </p:nvPr>
        </p:nvSpPr>
        <p:spPr/>
        <p:txBody>
          <a:bodyPr>
            <a:normAutofit/>
          </a:bodyPr>
          <a:lstStyle/>
          <a:p>
            <a:r>
              <a:rPr lang="en-US" err="1"/>
              <a:t>Xét</a:t>
            </a:r>
            <a:r>
              <a:rPr lang="en-US"/>
              <a:t> </a:t>
            </a:r>
            <a:r>
              <a:rPr lang="en-US" err="1"/>
              <a:t>mảng</a:t>
            </a:r>
            <a:r>
              <a:rPr lang="en-US"/>
              <a:t> A </a:t>
            </a:r>
            <a:r>
              <a:rPr lang="en-US" err="1"/>
              <a:t>có</a:t>
            </a:r>
            <a:r>
              <a:rPr lang="en-US"/>
              <a:t> </a:t>
            </a:r>
            <a:r>
              <a:rPr lang="en-US" err="1"/>
              <a:t>các</a:t>
            </a:r>
            <a:r>
              <a:rPr lang="en-US"/>
              <a:t> </a:t>
            </a:r>
            <a:r>
              <a:rPr lang="en-US" err="1"/>
              <a:t>phần</a:t>
            </a:r>
            <a:r>
              <a:rPr lang="en-US"/>
              <a:t> </a:t>
            </a:r>
            <a:r>
              <a:rPr lang="en-US" err="1"/>
              <a:t>tử</a:t>
            </a:r>
            <a:r>
              <a:rPr lang="en-US"/>
              <a:t> </a:t>
            </a:r>
            <a:r>
              <a:rPr lang="en-US" err="1"/>
              <a:t>sau</a:t>
            </a:r>
            <a:r>
              <a:rPr lang="en-US"/>
              <a:t>: </a:t>
            </a:r>
          </a:p>
          <a:p>
            <a:pPr marL="0" indent="0">
              <a:buNone/>
            </a:pPr>
            <a:r>
              <a:rPr lang="en-US">
                <a:solidFill>
                  <a:srgbClr val="0000FF"/>
                </a:solidFill>
              </a:rPr>
              <a:t>75, 70, 65, 84, 98, 78, 100, 93, 55, 61, 81, 68 </a:t>
            </a:r>
            <a:endParaRPr lang="en-US"/>
          </a:p>
          <a:p>
            <a:pPr marL="0" indent="0">
              <a:buNone/>
            </a:pPr>
            <a:r>
              <a:rPr lang="en-US" err="1"/>
              <a:t>Bước</a:t>
            </a:r>
            <a:r>
              <a:rPr lang="en-US"/>
              <a:t> 1: </a:t>
            </a:r>
            <a:r>
              <a:rPr lang="en-US" err="1"/>
              <a:t>Giả</a:t>
            </a:r>
            <a:r>
              <a:rPr lang="en-US"/>
              <a:t> </a:t>
            </a:r>
            <a:r>
              <a:rPr lang="en-US" err="1"/>
              <a:t>sử</a:t>
            </a:r>
            <a:r>
              <a:rPr lang="en-US"/>
              <a:t> </a:t>
            </a:r>
            <a:r>
              <a:rPr lang="en-US" err="1"/>
              <a:t>chọn</a:t>
            </a:r>
            <a:r>
              <a:rPr lang="en-US"/>
              <a:t> 75 </a:t>
            </a:r>
            <a:r>
              <a:rPr lang="en-US" err="1"/>
              <a:t>làm</a:t>
            </a:r>
            <a:r>
              <a:rPr lang="en-US"/>
              <a:t> </a:t>
            </a:r>
            <a:r>
              <a:rPr lang="en-US" err="1"/>
              <a:t>chốt</a:t>
            </a:r>
            <a:r>
              <a:rPr lang="en-US"/>
              <a:t> </a:t>
            </a:r>
          </a:p>
          <a:p>
            <a:pPr marL="0" indent="0">
              <a:buNone/>
            </a:pPr>
            <a:r>
              <a:rPr lang="en-US" err="1"/>
              <a:t>Bước</a:t>
            </a:r>
            <a:r>
              <a:rPr lang="en-US"/>
              <a:t> 2: </a:t>
            </a:r>
            <a:r>
              <a:rPr lang="en-US" err="1"/>
              <a:t>Thực</a:t>
            </a:r>
            <a:r>
              <a:rPr lang="en-US"/>
              <a:t> </a:t>
            </a:r>
            <a:r>
              <a:rPr lang="en-US" err="1"/>
              <a:t>hiện</a:t>
            </a:r>
            <a:r>
              <a:rPr lang="en-US"/>
              <a:t> </a:t>
            </a:r>
            <a:r>
              <a:rPr lang="en-US" err="1"/>
              <a:t>phép</a:t>
            </a:r>
            <a:r>
              <a:rPr lang="en-US"/>
              <a:t> </a:t>
            </a:r>
            <a:r>
              <a:rPr lang="en-US" err="1"/>
              <a:t>tìm</a:t>
            </a:r>
            <a:r>
              <a:rPr lang="en-US"/>
              <a:t> </a:t>
            </a:r>
            <a:r>
              <a:rPr lang="en-US" err="1"/>
              <a:t>kiếm</a:t>
            </a:r>
            <a:r>
              <a:rPr lang="en-US"/>
              <a:t> </a:t>
            </a:r>
            <a:r>
              <a:rPr lang="en-US" err="1"/>
              <a:t>các</a:t>
            </a:r>
            <a:r>
              <a:rPr lang="en-US"/>
              <a:t> </a:t>
            </a:r>
            <a:r>
              <a:rPr lang="en-US" err="1"/>
              <a:t>số</a:t>
            </a:r>
            <a:r>
              <a:rPr lang="en-US"/>
              <a:t> </a:t>
            </a:r>
            <a:r>
              <a:rPr lang="en-US" err="1"/>
              <a:t>nhỏ</a:t>
            </a:r>
            <a:r>
              <a:rPr lang="en-US"/>
              <a:t> </a:t>
            </a:r>
            <a:r>
              <a:rPr lang="en-US" err="1"/>
              <a:t>hơn</a:t>
            </a:r>
            <a:r>
              <a:rPr lang="en-US"/>
              <a:t> 75 </a:t>
            </a:r>
            <a:r>
              <a:rPr lang="en-US" err="1"/>
              <a:t>và</a:t>
            </a:r>
            <a:r>
              <a:rPr lang="en-US"/>
              <a:t> </a:t>
            </a:r>
            <a:r>
              <a:rPr lang="en-US" err="1"/>
              <a:t>lớn</a:t>
            </a:r>
            <a:r>
              <a:rPr lang="en-US"/>
              <a:t> </a:t>
            </a:r>
            <a:r>
              <a:rPr lang="en-US" err="1"/>
              <a:t>hơn</a:t>
            </a:r>
            <a:r>
              <a:rPr lang="en-US"/>
              <a:t> 75</a:t>
            </a:r>
          </a:p>
          <a:p>
            <a:pPr marL="0" indent="0">
              <a:buNone/>
            </a:pPr>
            <a:r>
              <a:rPr lang="en-US" err="1"/>
              <a:t>Bước</a:t>
            </a:r>
            <a:r>
              <a:rPr lang="en-US"/>
              <a:t> 3: Thu </a:t>
            </a:r>
            <a:r>
              <a:rPr lang="en-US" err="1"/>
              <a:t>được</a:t>
            </a:r>
            <a:r>
              <a:rPr lang="en-US"/>
              <a:t> 2 </a:t>
            </a:r>
            <a:r>
              <a:rPr lang="en-US" err="1"/>
              <a:t>mảng</a:t>
            </a:r>
            <a:r>
              <a:rPr lang="en-US"/>
              <a:t> con </a:t>
            </a:r>
            <a:r>
              <a:rPr lang="en-US" err="1"/>
              <a:t>sau</a:t>
            </a:r>
            <a:endParaRPr lang="en-US"/>
          </a:p>
          <a:p>
            <a:pPr marL="0" indent="0">
              <a:buNone/>
            </a:pPr>
            <a:r>
              <a:rPr lang="en-US"/>
              <a:t>70, 65, 55, 61, 68 </a:t>
            </a:r>
            <a:r>
              <a:rPr lang="en-US" err="1"/>
              <a:t>và</a:t>
            </a:r>
            <a:r>
              <a:rPr lang="en-US"/>
              <a:t> 78, 84, 98, 100, 93, 81</a:t>
            </a:r>
          </a:p>
          <a:p>
            <a:pPr marL="0" indent="0">
              <a:buNone/>
            </a:pPr>
            <a:r>
              <a:rPr lang="en-US" err="1"/>
              <a:t>Bước</a:t>
            </a:r>
            <a:r>
              <a:rPr lang="en-US"/>
              <a:t> 4: </a:t>
            </a:r>
            <a:r>
              <a:rPr lang="en-US" err="1"/>
              <a:t>Quá</a:t>
            </a:r>
            <a:r>
              <a:rPr lang="en-US"/>
              <a:t> </a:t>
            </a:r>
            <a:r>
              <a:rPr lang="en-US" err="1"/>
              <a:t>trình</a:t>
            </a:r>
            <a:r>
              <a:rPr lang="en-US"/>
              <a:t> </a:t>
            </a:r>
            <a:r>
              <a:rPr lang="en-US" err="1"/>
              <a:t>sắp</a:t>
            </a:r>
            <a:r>
              <a:rPr lang="en-US"/>
              <a:t> </a:t>
            </a:r>
            <a:r>
              <a:rPr lang="en-US" err="1"/>
              <a:t>xếp</a:t>
            </a:r>
            <a:r>
              <a:rPr lang="en-US"/>
              <a:t> </a:t>
            </a:r>
            <a:r>
              <a:rPr lang="en-US" err="1"/>
              <a:t>tương</a:t>
            </a:r>
            <a:r>
              <a:rPr lang="en-US"/>
              <a:t> </a:t>
            </a:r>
            <a:r>
              <a:rPr lang="en-US" err="1"/>
              <a:t>tự</a:t>
            </a:r>
            <a:r>
              <a:rPr lang="en-US"/>
              <a:t> </a:t>
            </a:r>
            <a:r>
              <a:rPr lang="en-US" err="1"/>
              <a:t>với</a:t>
            </a:r>
            <a:r>
              <a:rPr lang="en-US"/>
              <a:t> 2 </a:t>
            </a:r>
            <a:r>
              <a:rPr lang="en-US" err="1"/>
              <a:t>mảng</a:t>
            </a:r>
            <a:r>
              <a:rPr lang="en-US"/>
              <a:t> con </a:t>
            </a:r>
            <a:r>
              <a:rPr lang="en-US" err="1"/>
              <a:t>trên</a:t>
            </a:r>
            <a:r>
              <a:rPr lang="en-US"/>
              <a:t>  </a:t>
            </a:r>
          </a:p>
          <a:p>
            <a:pPr marL="0" indent="0">
              <a:buNone/>
            </a:pPr>
            <a:endParaRPr lang="en-US"/>
          </a:p>
          <a:p>
            <a:endParaRPr lang="en-US"/>
          </a:p>
        </p:txBody>
      </p:sp>
    </p:spTree>
    <p:extLst>
      <p:ext uri="{BB962C8B-B14F-4D97-AF65-F5344CB8AC3E}">
        <p14:creationId xmlns:p14="http://schemas.microsoft.com/office/powerpoint/2010/main" val="42780312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39</a:t>
            </a:fld>
            <a:endParaRPr lang="en-US"/>
          </a:p>
        </p:txBody>
      </p:sp>
      <p:sp>
        <p:nvSpPr>
          <p:cNvPr id="2" name="Title 1"/>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nhanh</a:t>
            </a:r>
            <a:r>
              <a:rPr lang="en-US"/>
              <a:t> (Quick sort)</a:t>
            </a:r>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2743208236"/>
              </p:ext>
            </p:extLst>
          </p:nvPr>
        </p:nvGraphicFramePr>
        <p:xfrm>
          <a:off x="0" y="0"/>
          <a:ext cx="0" cy="0"/>
        </p:xfrm>
        <a:graphic>
          <a:graphicData uri="http://schemas.openxmlformats.org/drawingml/2006/table">
            <a:tbl>
              <a:tblPr firstRow="1" bandRow="1">
                <a:tableStyleId>{2D5ABB26-0587-4C30-8999-92F81FD0307C}</a:tableStyleId>
              </a:tblPr>
              <a:tblGrid>
                <a:gridCol w="25400">
                  <a:extLst>
                    <a:ext uri="{9D8B030D-6E8A-4147-A177-3AD203B41FA5}">
                      <a16:colId xmlns:a16="http://schemas.microsoft.com/office/drawing/2014/main" val="20000"/>
                    </a:ext>
                  </a:extLst>
                </a:gridCol>
                <a:gridCol w="25400">
                  <a:extLst>
                    <a:ext uri="{9D8B030D-6E8A-4147-A177-3AD203B41FA5}">
                      <a16:colId xmlns:a16="http://schemas.microsoft.com/office/drawing/2014/main" val="20001"/>
                    </a:ext>
                  </a:extLst>
                </a:gridCol>
                <a:gridCol w="25400">
                  <a:extLst>
                    <a:ext uri="{9D8B030D-6E8A-4147-A177-3AD203B41FA5}">
                      <a16:colId xmlns:a16="http://schemas.microsoft.com/office/drawing/2014/main" val="20002"/>
                    </a:ext>
                  </a:extLst>
                </a:gridCol>
                <a:gridCol w="25400">
                  <a:extLst>
                    <a:ext uri="{9D8B030D-6E8A-4147-A177-3AD203B41FA5}">
                      <a16:colId xmlns:a16="http://schemas.microsoft.com/office/drawing/2014/main" val="20003"/>
                    </a:ext>
                  </a:extLst>
                </a:gridCol>
                <a:gridCol w="25400">
                  <a:extLst>
                    <a:ext uri="{9D8B030D-6E8A-4147-A177-3AD203B41FA5}">
                      <a16:colId xmlns:a16="http://schemas.microsoft.com/office/drawing/2014/main" val="20004"/>
                    </a:ext>
                  </a:extLst>
                </a:gridCol>
                <a:gridCol w="25400">
                  <a:extLst>
                    <a:ext uri="{9D8B030D-6E8A-4147-A177-3AD203B41FA5}">
                      <a16:colId xmlns:a16="http://schemas.microsoft.com/office/drawing/2014/main" val="20005"/>
                    </a:ext>
                  </a:extLst>
                </a:gridCol>
                <a:gridCol w="25400">
                  <a:extLst>
                    <a:ext uri="{9D8B030D-6E8A-4147-A177-3AD203B41FA5}">
                      <a16:colId xmlns:a16="http://schemas.microsoft.com/office/drawing/2014/main" val="20006"/>
                    </a:ext>
                  </a:extLst>
                </a:gridCol>
                <a:gridCol w="25400">
                  <a:extLst>
                    <a:ext uri="{9D8B030D-6E8A-4147-A177-3AD203B41FA5}">
                      <a16:colId xmlns:a16="http://schemas.microsoft.com/office/drawing/2014/main" val="20007"/>
                    </a:ext>
                  </a:extLst>
                </a:gridCol>
                <a:gridCol w="25400">
                  <a:extLst>
                    <a:ext uri="{9D8B030D-6E8A-4147-A177-3AD203B41FA5}">
                      <a16:colId xmlns:a16="http://schemas.microsoft.com/office/drawing/2014/main" val="20008"/>
                    </a:ext>
                  </a:extLst>
                </a:gridCol>
                <a:gridCol w="25400">
                  <a:extLst>
                    <a:ext uri="{9D8B030D-6E8A-4147-A177-3AD203B41FA5}">
                      <a16:colId xmlns:a16="http://schemas.microsoft.com/office/drawing/2014/main" val="20009"/>
                    </a:ext>
                  </a:extLst>
                </a:gridCol>
                <a:gridCol w="25400">
                  <a:extLst>
                    <a:ext uri="{9D8B030D-6E8A-4147-A177-3AD203B41FA5}">
                      <a16:colId xmlns:a16="http://schemas.microsoft.com/office/drawing/2014/main" val="20010"/>
                    </a:ext>
                  </a:extLst>
                </a:gridCol>
                <a:gridCol w="25400">
                  <a:extLst>
                    <a:ext uri="{9D8B030D-6E8A-4147-A177-3AD203B41FA5}">
                      <a16:colId xmlns:a16="http://schemas.microsoft.com/office/drawing/2014/main" val="20011"/>
                    </a:ext>
                  </a:extLst>
                </a:gridCol>
              </a:tblGrid>
              <a:tr h="370840">
                <a:tc>
                  <a:txBody>
                    <a:bodyPr/>
                    <a:lstStyle/>
                    <a:p>
                      <a:r>
                        <a:rPr lang="en-US"/>
                        <a:t>75</a:t>
                      </a:r>
                    </a:p>
                  </a:txBody>
                  <a:tcPr marL="0" marR="0"/>
                </a:tc>
                <a:tc>
                  <a:txBody>
                    <a:bodyPr/>
                    <a:lstStyle/>
                    <a:p>
                      <a:r>
                        <a:rPr lang="en-US"/>
                        <a:t>70</a:t>
                      </a:r>
                    </a:p>
                  </a:txBody>
                  <a:tcPr marL="0" marR="0"/>
                </a:tc>
                <a:tc>
                  <a:txBody>
                    <a:bodyPr/>
                    <a:lstStyle/>
                    <a:p>
                      <a:r>
                        <a:rPr lang="en-US"/>
                        <a:t>65</a:t>
                      </a:r>
                    </a:p>
                  </a:txBody>
                  <a:tcPr marL="0" marR="0"/>
                </a:tc>
                <a:tc>
                  <a:txBody>
                    <a:bodyPr/>
                    <a:lstStyle/>
                    <a:p>
                      <a:r>
                        <a:rPr lang="en-US"/>
                        <a:t>84</a:t>
                      </a:r>
                    </a:p>
                  </a:txBody>
                  <a:tcPr marL="0" marR="0"/>
                </a:tc>
                <a:tc>
                  <a:txBody>
                    <a:bodyPr/>
                    <a:lstStyle/>
                    <a:p>
                      <a:r>
                        <a:rPr lang="en-US"/>
                        <a:t>98</a:t>
                      </a:r>
                    </a:p>
                  </a:txBody>
                  <a:tcPr marL="0" marR="0"/>
                </a:tc>
                <a:tc>
                  <a:txBody>
                    <a:bodyPr/>
                    <a:lstStyle/>
                    <a:p>
                      <a:r>
                        <a:rPr lang="en-US"/>
                        <a:t>78</a:t>
                      </a:r>
                    </a:p>
                  </a:txBody>
                  <a:tcPr marL="0" marR="0"/>
                </a:tc>
                <a:tc>
                  <a:txBody>
                    <a:bodyPr/>
                    <a:lstStyle/>
                    <a:p>
                      <a:r>
                        <a:rPr lang="en-US"/>
                        <a:t>100</a:t>
                      </a:r>
                    </a:p>
                  </a:txBody>
                  <a:tcPr marL="0" marR="0"/>
                </a:tc>
                <a:tc>
                  <a:txBody>
                    <a:bodyPr/>
                    <a:lstStyle/>
                    <a:p>
                      <a:r>
                        <a:rPr lang="en-US"/>
                        <a:t>93</a:t>
                      </a:r>
                    </a:p>
                  </a:txBody>
                  <a:tcPr marL="0" marR="0"/>
                </a:tc>
                <a:tc>
                  <a:txBody>
                    <a:bodyPr/>
                    <a:lstStyle/>
                    <a:p>
                      <a:r>
                        <a:rPr lang="en-US"/>
                        <a:t>55</a:t>
                      </a:r>
                    </a:p>
                  </a:txBody>
                  <a:tcPr marL="0" marR="0"/>
                </a:tc>
                <a:tc>
                  <a:txBody>
                    <a:bodyPr/>
                    <a:lstStyle/>
                    <a:p>
                      <a:r>
                        <a:rPr lang="en-US"/>
                        <a:t>61</a:t>
                      </a:r>
                    </a:p>
                  </a:txBody>
                  <a:tcPr marL="0" marR="0"/>
                </a:tc>
                <a:tc>
                  <a:txBody>
                    <a:bodyPr/>
                    <a:lstStyle/>
                    <a:p>
                      <a:r>
                        <a:rPr lang="en-US"/>
                        <a:t>81</a:t>
                      </a:r>
                    </a:p>
                  </a:txBody>
                  <a:tcPr marL="0" marR="0"/>
                </a:tc>
                <a:tc>
                  <a:txBody>
                    <a:bodyPr/>
                    <a:lstStyle/>
                    <a:p>
                      <a:r>
                        <a:rPr lang="en-US"/>
                        <a:t>68</a:t>
                      </a:r>
                    </a:p>
                    <a:p>
                      <a:endParaRPr lang="en-US"/>
                    </a:p>
                  </a:txBody>
                  <a:tcPr marL="0" marR="0"/>
                </a:tc>
                <a:extLst>
                  <a:ext uri="{0D108BD9-81ED-4DB2-BD59-A6C34878D82A}">
                    <a16:rowId xmlns:a16="http://schemas.microsoft.com/office/drawing/2014/main" val="10000"/>
                  </a:ext>
                </a:extLst>
              </a:tr>
              <a:tr h="370840">
                <a:tc>
                  <a:txBody>
                    <a:bodyPr/>
                    <a:lstStyle/>
                    <a:p>
                      <a:r>
                        <a:rPr lang="en-US"/>
                        <a:t>75</a:t>
                      </a:r>
                    </a:p>
                  </a:txBody>
                  <a:tcPr marL="0" marR="0"/>
                </a:tc>
                <a:tc>
                  <a:txBody>
                    <a:bodyPr/>
                    <a:lstStyle/>
                    <a:p>
                      <a:r>
                        <a:rPr lang="en-US"/>
                        <a:t>70</a:t>
                      </a:r>
                    </a:p>
                  </a:txBody>
                  <a:tcPr marL="0" marR="0"/>
                </a:tc>
                <a:tc>
                  <a:txBody>
                    <a:bodyPr/>
                    <a:lstStyle/>
                    <a:p>
                      <a:r>
                        <a:rPr lang="en-US"/>
                        <a:t>65</a:t>
                      </a:r>
                    </a:p>
                  </a:txBody>
                  <a:tcPr marL="0" marR="0"/>
                </a:tc>
                <a:tc>
                  <a:txBody>
                    <a:bodyPr/>
                    <a:lstStyle/>
                    <a:p>
                      <a:r>
                        <a:rPr lang="en-US"/>
                        <a:t>68</a:t>
                      </a:r>
                    </a:p>
                  </a:txBody>
                  <a:tcPr marL="0" marR="0"/>
                </a:tc>
                <a:tc>
                  <a:txBody>
                    <a:bodyPr/>
                    <a:lstStyle/>
                    <a:p>
                      <a:r>
                        <a:rPr lang="en-US"/>
                        <a:t>98</a:t>
                      </a:r>
                    </a:p>
                  </a:txBody>
                  <a:tcPr marL="0" marR="0"/>
                </a:tc>
                <a:tc>
                  <a:txBody>
                    <a:bodyPr/>
                    <a:lstStyle/>
                    <a:p>
                      <a:r>
                        <a:rPr lang="en-US"/>
                        <a:t>78</a:t>
                      </a:r>
                    </a:p>
                  </a:txBody>
                  <a:tcPr marL="0" marR="0"/>
                </a:tc>
                <a:tc>
                  <a:txBody>
                    <a:bodyPr/>
                    <a:lstStyle/>
                    <a:p>
                      <a:r>
                        <a:rPr lang="en-US"/>
                        <a:t>100</a:t>
                      </a:r>
                    </a:p>
                  </a:txBody>
                  <a:tcPr marL="0" marR="0"/>
                </a:tc>
                <a:tc>
                  <a:txBody>
                    <a:bodyPr/>
                    <a:lstStyle/>
                    <a:p>
                      <a:r>
                        <a:rPr lang="en-US"/>
                        <a:t>93</a:t>
                      </a:r>
                    </a:p>
                  </a:txBody>
                  <a:tcPr marL="0" marR="0"/>
                </a:tc>
                <a:tc>
                  <a:txBody>
                    <a:bodyPr/>
                    <a:lstStyle/>
                    <a:p>
                      <a:r>
                        <a:rPr lang="en-US"/>
                        <a:t>55</a:t>
                      </a:r>
                    </a:p>
                  </a:txBody>
                  <a:tcPr marL="0" marR="0"/>
                </a:tc>
                <a:tc>
                  <a:txBody>
                    <a:bodyPr/>
                    <a:lstStyle/>
                    <a:p>
                      <a:r>
                        <a:rPr lang="en-US"/>
                        <a:t>61</a:t>
                      </a:r>
                    </a:p>
                  </a:txBody>
                  <a:tcPr marL="0" marR="0"/>
                </a:tc>
                <a:tc>
                  <a:txBody>
                    <a:bodyPr/>
                    <a:lstStyle/>
                    <a:p>
                      <a:r>
                        <a:rPr lang="en-US"/>
                        <a:t>81</a:t>
                      </a:r>
                    </a:p>
                    <a:p>
                      <a:endParaRPr lang="en-US"/>
                    </a:p>
                  </a:txBody>
                  <a:tcPr marL="0" marR="0"/>
                </a:tc>
                <a:tc>
                  <a:txBody>
                    <a:bodyPr/>
                    <a:lstStyle/>
                    <a:p>
                      <a:r>
                        <a:rPr lang="en-US"/>
                        <a:t>84</a:t>
                      </a:r>
                    </a:p>
                  </a:txBody>
                  <a:tcPr marL="0" marR="0"/>
                </a:tc>
                <a:extLst>
                  <a:ext uri="{0D108BD9-81ED-4DB2-BD59-A6C34878D82A}">
                    <a16:rowId xmlns:a16="http://schemas.microsoft.com/office/drawing/2014/main" val="10001"/>
                  </a:ext>
                </a:extLst>
              </a:tr>
              <a:tr h="370840">
                <a:tc>
                  <a:txBody>
                    <a:bodyPr/>
                    <a:lstStyle/>
                    <a:p>
                      <a:r>
                        <a:rPr lang="en-US"/>
                        <a:t>75</a:t>
                      </a:r>
                    </a:p>
                  </a:txBody>
                  <a:tcPr marL="0" marR="0"/>
                </a:tc>
                <a:tc>
                  <a:txBody>
                    <a:bodyPr/>
                    <a:lstStyle/>
                    <a:p>
                      <a:r>
                        <a:rPr lang="en-US"/>
                        <a:t>70</a:t>
                      </a:r>
                    </a:p>
                  </a:txBody>
                  <a:tcPr marL="0" marR="0"/>
                </a:tc>
                <a:tc>
                  <a:txBody>
                    <a:bodyPr/>
                    <a:lstStyle/>
                    <a:p>
                      <a:r>
                        <a:rPr lang="en-US"/>
                        <a:t>65</a:t>
                      </a:r>
                    </a:p>
                  </a:txBody>
                  <a:tcPr marL="0" marR="0"/>
                </a:tc>
                <a:tc>
                  <a:txBody>
                    <a:bodyPr/>
                    <a:lstStyle/>
                    <a:p>
                      <a:r>
                        <a:rPr lang="en-US"/>
                        <a:t>68</a:t>
                      </a:r>
                    </a:p>
                  </a:txBody>
                  <a:tcPr marL="0" marR="0"/>
                </a:tc>
                <a:tc>
                  <a:txBody>
                    <a:bodyPr/>
                    <a:lstStyle/>
                    <a:p>
                      <a:r>
                        <a:rPr lang="en-US"/>
                        <a:t>98</a:t>
                      </a:r>
                    </a:p>
                  </a:txBody>
                  <a:tcPr marL="0" marR="0"/>
                </a:tc>
                <a:tc>
                  <a:txBody>
                    <a:bodyPr/>
                    <a:lstStyle/>
                    <a:p>
                      <a:r>
                        <a:rPr lang="en-US"/>
                        <a:t>78</a:t>
                      </a:r>
                    </a:p>
                  </a:txBody>
                  <a:tcPr marL="0" marR="0"/>
                </a:tc>
                <a:tc>
                  <a:txBody>
                    <a:bodyPr/>
                    <a:lstStyle/>
                    <a:p>
                      <a:r>
                        <a:rPr lang="en-US"/>
                        <a:t>100</a:t>
                      </a:r>
                    </a:p>
                  </a:txBody>
                  <a:tcPr marL="0" marR="0"/>
                </a:tc>
                <a:tc>
                  <a:txBody>
                    <a:bodyPr/>
                    <a:lstStyle/>
                    <a:p>
                      <a:r>
                        <a:rPr lang="en-US"/>
                        <a:t>93</a:t>
                      </a:r>
                    </a:p>
                  </a:txBody>
                  <a:tcPr marL="0" marR="0"/>
                </a:tc>
                <a:tc>
                  <a:txBody>
                    <a:bodyPr/>
                    <a:lstStyle/>
                    <a:p>
                      <a:r>
                        <a:rPr lang="en-US"/>
                        <a:t>55</a:t>
                      </a:r>
                    </a:p>
                  </a:txBody>
                  <a:tcPr marL="0" marR="0"/>
                </a:tc>
                <a:tc>
                  <a:txBody>
                    <a:bodyPr/>
                    <a:lstStyle/>
                    <a:p>
                      <a:r>
                        <a:rPr lang="en-US"/>
                        <a:t>61</a:t>
                      </a:r>
                    </a:p>
                  </a:txBody>
                  <a:tcPr marL="0" marR="0"/>
                </a:tc>
                <a:tc>
                  <a:txBody>
                    <a:bodyPr/>
                    <a:lstStyle/>
                    <a:p>
                      <a:r>
                        <a:rPr lang="en-US"/>
                        <a:t>81</a:t>
                      </a:r>
                    </a:p>
                  </a:txBody>
                  <a:tcPr marL="0" marR="0"/>
                </a:tc>
                <a:tc>
                  <a:txBody>
                    <a:bodyPr/>
                    <a:lstStyle/>
                    <a:p>
                      <a:r>
                        <a:rPr lang="en-US"/>
                        <a:t>84</a:t>
                      </a:r>
                    </a:p>
                    <a:p>
                      <a:endParaRPr lang="en-US"/>
                    </a:p>
                  </a:txBody>
                  <a:tcPr marL="0" marR="0"/>
                </a:tc>
                <a:extLst>
                  <a:ext uri="{0D108BD9-81ED-4DB2-BD59-A6C34878D82A}">
                    <a16:rowId xmlns:a16="http://schemas.microsoft.com/office/drawing/2014/main" val="10002"/>
                  </a:ext>
                </a:extLst>
              </a:tr>
              <a:tr h="370840">
                <a:tc>
                  <a:txBody>
                    <a:bodyPr/>
                    <a:lstStyle/>
                    <a:p>
                      <a:r>
                        <a:rPr lang="en-US"/>
                        <a:t>75</a:t>
                      </a:r>
                    </a:p>
                  </a:txBody>
                  <a:tcPr marL="0" marR="0"/>
                </a:tc>
                <a:tc>
                  <a:txBody>
                    <a:bodyPr/>
                    <a:lstStyle/>
                    <a:p>
                      <a:r>
                        <a:rPr lang="en-US"/>
                        <a:t>70</a:t>
                      </a:r>
                    </a:p>
                  </a:txBody>
                  <a:tcPr marL="0" marR="0"/>
                </a:tc>
                <a:tc>
                  <a:txBody>
                    <a:bodyPr/>
                    <a:lstStyle/>
                    <a:p>
                      <a:r>
                        <a:rPr lang="en-US"/>
                        <a:t>65</a:t>
                      </a:r>
                    </a:p>
                  </a:txBody>
                  <a:tcPr marL="0" marR="0"/>
                </a:tc>
                <a:tc>
                  <a:txBody>
                    <a:bodyPr/>
                    <a:lstStyle/>
                    <a:p>
                      <a:r>
                        <a:rPr lang="en-US"/>
                        <a:t>68</a:t>
                      </a:r>
                    </a:p>
                  </a:txBody>
                  <a:tcPr marL="0" marR="0"/>
                </a:tc>
                <a:tc>
                  <a:txBody>
                    <a:bodyPr/>
                    <a:lstStyle/>
                    <a:p>
                      <a:r>
                        <a:rPr lang="en-US"/>
                        <a:t>61</a:t>
                      </a:r>
                    </a:p>
                  </a:txBody>
                  <a:tcPr marL="0" marR="0"/>
                </a:tc>
                <a:tc>
                  <a:txBody>
                    <a:bodyPr/>
                    <a:lstStyle/>
                    <a:p>
                      <a:r>
                        <a:rPr lang="en-US"/>
                        <a:t>78</a:t>
                      </a:r>
                    </a:p>
                  </a:txBody>
                  <a:tcPr marL="0" marR="0"/>
                </a:tc>
                <a:tc>
                  <a:txBody>
                    <a:bodyPr/>
                    <a:lstStyle/>
                    <a:p>
                      <a:r>
                        <a:rPr lang="en-US"/>
                        <a:t>100</a:t>
                      </a:r>
                    </a:p>
                  </a:txBody>
                  <a:tcPr marL="0" marR="0"/>
                </a:tc>
                <a:tc>
                  <a:txBody>
                    <a:bodyPr/>
                    <a:lstStyle/>
                    <a:p>
                      <a:r>
                        <a:rPr lang="en-US"/>
                        <a:t>93</a:t>
                      </a:r>
                    </a:p>
                  </a:txBody>
                  <a:tcPr marL="0" marR="0"/>
                </a:tc>
                <a:tc>
                  <a:txBody>
                    <a:bodyPr/>
                    <a:lstStyle/>
                    <a:p>
                      <a:r>
                        <a:rPr lang="en-US"/>
                        <a:t>55</a:t>
                      </a:r>
                    </a:p>
                  </a:txBody>
                  <a:tcPr marL="0" marR="0"/>
                </a:tc>
                <a:tc>
                  <a:txBody>
                    <a:bodyPr/>
                    <a:lstStyle/>
                    <a:p>
                      <a:r>
                        <a:rPr lang="en-US"/>
                        <a:t>98</a:t>
                      </a:r>
                    </a:p>
                  </a:txBody>
                  <a:tcPr marL="0" marR="0"/>
                </a:tc>
                <a:tc>
                  <a:txBody>
                    <a:bodyPr/>
                    <a:lstStyle/>
                    <a:p>
                      <a:r>
                        <a:rPr lang="en-US"/>
                        <a:t>81</a:t>
                      </a:r>
                    </a:p>
                  </a:txBody>
                  <a:tcPr marL="0" marR="0"/>
                </a:tc>
                <a:tc>
                  <a:txBody>
                    <a:bodyPr/>
                    <a:lstStyle/>
                    <a:p>
                      <a:r>
                        <a:rPr lang="en-US"/>
                        <a:t>84</a:t>
                      </a:r>
                    </a:p>
                    <a:p>
                      <a:endParaRPr lang="en-US"/>
                    </a:p>
                  </a:txBody>
                  <a:tcPr marL="0" marR="0"/>
                </a:tc>
                <a:extLst>
                  <a:ext uri="{0D108BD9-81ED-4DB2-BD59-A6C34878D82A}">
                    <a16:rowId xmlns:a16="http://schemas.microsoft.com/office/drawing/2014/main" val="10003"/>
                  </a:ext>
                </a:extLst>
              </a:tr>
              <a:tr h="370840">
                <a:tc>
                  <a:txBody>
                    <a:bodyPr/>
                    <a:lstStyle/>
                    <a:p>
                      <a:r>
                        <a:rPr lang="en-US"/>
                        <a:t>75</a:t>
                      </a:r>
                    </a:p>
                  </a:txBody>
                  <a:tcPr marL="0" marR="0"/>
                </a:tc>
                <a:tc>
                  <a:txBody>
                    <a:bodyPr/>
                    <a:lstStyle/>
                    <a:p>
                      <a:r>
                        <a:rPr lang="en-US"/>
                        <a:t>70</a:t>
                      </a:r>
                    </a:p>
                  </a:txBody>
                  <a:tcPr marL="0" marR="0"/>
                </a:tc>
                <a:tc>
                  <a:txBody>
                    <a:bodyPr/>
                    <a:lstStyle/>
                    <a:p>
                      <a:r>
                        <a:rPr lang="en-US"/>
                        <a:t>65</a:t>
                      </a:r>
                    </a:p>
                  </a:txBody>
                  <a:tcPr marL="0" marR="0"/>
                </a:tc>
                <a:tc>
                  <a:txBody>
                    <a:bodyPr/>
                    <a:lstStyle/>
                    <a:p>
                      <a:r>
                        <a:rPr lang="en-US"/>
                        <a:t>68</a:t>
                      </a:r>
                    </a:p>
                  </a:txBody>
                  <a:tcPr marL="0" marR="0"/>
                </a:tc>
                <a:tc>
                  <a:txBody>
                    <a:bodyPr/>
                    <a:lstStyle/>
                    <a:p>
                      <a:r>
                        <a:rPr lang="en-US"/>
                        <a:t>61</a:t>
                      </a:r>
                    </a:p>
                  </a:txBody>
                  <a:tcPr marL="0" marR="0"/>
                </a:tc>
                <a:tc>
                  <a:txBody>
                    <a:bodyPr/>
                    <a:lstStyle/>
                    <a:p>
                      <a:r>
                        <a:rPr lang="en-US"/>
                        <a:t>78</a:t>
                      </a:r>
                    </a:p>
                  </a:txBody>
                  <a:tcPr marL="0" marR="0"/>
                </a:tc>
                <a:tc>
                  <a:txBody>
                    <a:bodyPr/>
                    <a:lstStyle/>
                    <a:p>
                      <a:r>
                        <a:rPr lang="en-US"/>
                        <a:t>100</a:t>
                      </a:r>
                    </a:p>
                  </a:txBody>
                  <a:tcPr marL="0" marR="0"/>
                </a:tc>
                <a:tc>
                  <a:txBody>
                    <a:bodyPr/>
                    <a:lstStyle/>
                    <a:p>
                      <a:r>
                        <a:rPr lang="en-US"/>
                        <a:t>93</a:t>
                      </a:r>
                    </a:p>
                  </a:txBody>
                  <a:tcPr marL="0" marR="0"/>
                </a:tc>
                <a:tc>
                  <a:txBody>
                    <a:bodyPr/>
                    <a:lstStyle/>
                    <a:p>
                      <a:r>
                        <a:rPr lang="en-US"/>
                        <a:t>55</a:t>
                      </a:r>
                    </a:p>
                  </a:txBody>
                  <a:tcPr marL="0" marR="0"/>
                </a:tc>
                <a:tc>
                  <a:txBody>
                    <a:bodyPr/>
                    <a:lstStyle/>
                    <a:p>
                      <a:r>
                        <a:rPr lang="en-US"/>
                        <a:t>98</a:t>
                      </a:r>
                    </a:p>
                  </a:txBody>
                  <a:tcPr marL="0" marR="0"/>
                </a:tc>
                <a:tc>
                  <a:txBody>
                    <a:bodyPr/>
                    <a:lstStyle/>
                    <a:p>
                      <a:r>
                        <a:rPr lang="en-US"/>
                        <a:t>81</a:t>
                      </a:r>
                    </a:p>
                  </a:txBody>
                  <a:tcPr marL="0" marR="0"/>
                </a:tc>
                <a:tc>
                  <a:txBody>
                    <a:bodyPr/>
                    <a:lstStyle/>
                    <a:p>
                      <a:r>
                        <a:rPr lang="en-US"/>
                        <a:t>84</a:t>
                      </a:r>
                    </a:p>
                    <a:p>
                      <a:endParaRPr lang="en-US"/>
                    </a:p>
                  </a:txBody>
                  <a:tcPr marL="0" marR="0"/>
                </a:tc>
                <a:extLst>
                  <a:ext uri="{0D108BD9-81ED-4DB2-BD59-A6C34878D82A}">
                    <a16:rowId xmlns:a16="http://schemas.microsoft.com/office/drawing/2014/main" val="10004"/>
                  </a:ext>
                </a:extLst>
              </a:tr>
              <a:tr h="370840">
                <a:tc>
                  <a:txBody>
                    <a:bodyPr/>
                    <a:lstStyle/>
                    <a:p>
                      <a:r>
                        <a:rPr lang="en-US"/>
                        <a:t>75</a:t>
                      </a:r>
                    </a:p>
                  </a:txBody>
                  <a:tcPr marL="0" marR="0"/>
                </a:tc>
                <a:tc>
                  <a:txBody>
                    <a:bodyPr/>
                    <a:lstStyle/>
                    <a:p>
                      <a:r>
                        <a:rPr lang="en-US"/>
                        <a:t>70</a:t>
                      </a:r>
                    </a:p>
                  </a:txBody>
                  <a:tcPr marL="0" marR="0"/>
                </a:tc>
                <a:tc>
                  <a:txBody>
                    <a:bodyPr/>
                    <a:lstStyle/>
                    <a:p>
                      <a:r>
                        <a:rPr lang="en-US"/>
                        <a:t>65</a:t>
                      </a:r>
                    </a:p>
                  </a:txBody>
                  <a:tcPr marL="0" marR="0"/>
                </a:tc>
                <a:tc>
                  <a:txBody>
                    <a:bodyPr/>
                    <a:lstStyle/>
                    <a:p>
                      <a:r>
                        <a:rPr lang="en-US"/>
                        <a:t>68</a:t>
                      </a:r>
                    </a:p>
                  </a:txBody>
                  <a:tcPr marL="0" marR="0"/>
                </a:tc>
                <a:tc>
                  <a:txBody>
                    <a:bodyPr/>
                    <a:lstStyle/>
                    <a:p>
                      <a:r>
                        <a:rPr lang="en-US"/>
                        <a:t>61</a:t>
                      </a:r>
                    </a:p>
                  </a:txBody>
                  <a:tcPr marL="0" marR="0"/>
                </a:tc>
                <a:tc>
                  <a:txBody>
                    <a:bodyPr/>
                    <a:lstStyle/>
                    <a:p>
                      <a:r>
                        <a:rPr lang="en-US"/>
                        <a:t>55</a:t>
                      </a:r>
                    </a:p>
                  </a:txBody>
                  <a:tcPr marL="0" marR="0"/>
                </a:tc>
                <a:tc>
                  <a:txBody>
                    <a:bodyPr/>
                    <a:lstStyle/>
                    <a:p>
                      <a:r>
                        <a:rPr lang="en-US"/>
                        <a:t>100</a:t>
                      </a:r>
                    </a:p>
                  </a:txBody>
                  <a:tcPr marL="0" marR="0"/>
                </a:tc>
                <a:tc>
                  <a:txBody>
                    <a:bodyPr/>
                    <a:lstStyle/>
                    <a:p>
                      <a:r>
                        <a:rPr lang="en-US"/>
                        <a:t>93</a:t>
                      </a:r>
                    </a:p>
                  </a:txBody>
                  <a:tcPr marL="0" marR="0"/>
                </a:tc>
                <a:tc>
                  <a:txBody>
                    <a:bodyPr/>
                    <a:lstStyle/>
                    <a:p>
                      <a:r>
                        <a:rPr lang="en-US"/>
                        <a:t>78</a:t>
                      </a:r>
                    </a:p>
                  </a:txBody>
                  <a:tcPr marL="0" marR="0"/>
                </a:tc>
                <a:tc>
                  <a:txBody>
                    <a:bodyPr/>
                    <a:lstStyle/>
                    <a:p>
                      <a:r>
                        <a:rPr lang="en-US"/>
                        <a:t>98</a:t>
                      </a:r>
                    </a:p>
                  </a:txBody>
                  <a:tcPr marL="0" marR="0"/>
                </a:tc>
                <a:tc>
                  <a:txBody>
                    <a:bodyPr/>
                    <a:lstStyle/>
                    <a:p>
                      <a:r>
                        <a:rPr lang="en-US"/>
                        <a:t>81</a:t>
                      </a:r>
                    </a:p>
                  </a:txBody>
                  <a:tcPr marL="0" marR="0"/>
                </a:tc>
                <a:tc>
                  <a:txBody>
                    <a:bodyPr/>
                    <a:lstStyle/>
                    <a:p>
                      <a:r>
                        <a:rPr lang="en-US"/>
                        <a:t>84</a:t>
                      </a:r>
                    </a:p>
                    <a:p>
                      <a:endParaRPr lang="en-US"/>
                    </a:p>
                  </a:txBody>
                  <a:tcPr marL="0" marR="0"/>
                </a:tc>
                <a:extLst>
                  <a:ext uri="{0D108BD9-81ED-4DB2-BD59-A6C34878D82A}">
                    <a16:rowId xmlns:a16="http://schemas.microsoft.com/office/drawing/2014/main" val="10005"/>
                  </a:ext>
                </a:extLst>
              </a:tr>
              <a:tr h="370840">
                <a:tc>
                  <a:txBody>
                    <a:bodyPr/>
                    <a:lstStyle/>
                    <a:p>
                      <a:r>
                        <a:rPr lang="en-US"/>
                        <a:t>55</a:t>
                      </a:r>
                    </a:p>
                  </a:txBody>
                  <a:tcPr marL="0" marR="0"/>
                </a:tc>
                <a:tc>
                  <a:txBody>
                    <a:bodyPr/>
                    <a:lstStyle/>
                    <a:p>
                      <a:r>
                        <a:rPr lang="en-US"/>
                        <a:t>70</a:t>
                      </a:r>
                    </a:p>
                  </a:txBody>
                  <a:tcPr marL="0" marR="0"/>
                </a:tc>
                <a:tc>
                  <a:txBody>
                    <a:bodyPr/>
                    <a:lstStyle/>
                    <a:p>
                      <a:r>
                        <a:rPr lang="en-US"/>
                        <a:t>65</a:t>
                      </a:r>
                    </a:p>
                  </a:txBody>
                  <a:tcPr marL="0" marR="0"/>
                </a:tc>
                <a:tc>
                  <a:txBody>
                    <a:bodyPr/>
                    <a:lstStyle/>
                    <a:p>
                      <a:r>
                        <a:rPr lang="en-US"/>
                        <a:t>68</a:t>
                      </a:r>
                    </a:p>
                  </a:txBody>
                  <a:tcPr marL="0" marR="0"/>
                </a:tc>
                <a:tc>
                  <a:txBody>
                    <a:bodyPr/>
                    <a:lstStyle/>
                    <a:p>
                      <a:r>
                        <a:rPr lang="en-US"/>
                        <a:t>61</a:t>
                      </a:r>
                    </a:p>
                  </a:txBody>
                  <a:tcPr marL="0" marR="0"/>
                </a:tc>
                <a:tc>
                  <a:txBody>
                    <a:bodyPr/>
                    <a:lstStyle/>
                    <a:p>
                      <a:r>
                        <a:rPr lang="en-US"/>
                        <a:t>75</a:t>
                      </a:r>
                    </a:p>
                  </a:txBody>
                  <a:tcPr marL="0" marR="0"/>
                </a:tc>
                <a:tc>
                  <a:txBody>
                    <a:bodyPr/>
                    <a:lstStyle/>
                    <a:p>
                      <a:r>
                        <a:rPr lang="en-US"/>
                        <a:t>100</a:t>
                      </a:r>
                    </a:p>
                  </a:txBody>
                  <a:tcPr marL="0" marR="0"/>
                </a:tc>
                <a:tc>
                  <a:txBody>
                    <a:bodyPr/>
                    <a:lstStyle/>
                    <a:p>
                      <a:r>
                        <a:rPr lang="en-US"/>
                        <a:t>93</a:t>
                      </a:r>
                    </a:p>
                  </a:txBody>
                  <a:tcPr marL="0" marR="0"/>
                </a:tc>
                <a:tc>
                  <a:txBody>
                    <a:bodyPr/>
                    <a:lstStyle/>
                    <a:p>
                      <a:r>
                        <a:rPr lang="en-US"/>
                        <a:t>78</a:t>
                      </a:r>
                    </a:p>
                  </a:txBody>
                  <a:tcPr marL="0" marR="0"/>
                </a:tc>
                <a:tc>
                  <a:txBody>
                    <a:bodyPr/>
                    <a:lstStyle/>
                    <a:p>
                      <a:r>
                        <a:rPr lang="en-US"/>
                        <a:t>98</a:t>
                      </a:r>
                    </a:p>
                  </a:txBody>
                  <a:tcPr marL="0" marR="0"/>
                </a:tc>
                <a:tc>
                  <a:txBody>
                    <a:bodyPr/>
                    <a:lstStyle/>
                    <a:p>
                      <a:r>
                        <a:rPr lang="en-US"/>
                        <a:t>81</a:t>
                      </a:r>
                    </a:p>
                  </a:txBody>
                  <a:tcPr marL="0" marR="0"/>
                </a:tc>
                <a:tc>
                  <a:txBody>
                    <a:bodyPr/>
                    <a:lstStyle/>
                    <a:p>
                      <a:r>
                        <a:rPr lang="en-US"/>
                        <a:t>84</a:t>
                      </a:r>
                    </a:p>
                    <a:p>
                      <a:endParaRPr lang="en-US"/>
                    </a:p>
                  </a:txBody>
                  <a:tcPr marL="0" marR="0"/>
                </a:tc>
                <a:extLst>
                  <a:ext uri="{0D108BD9-81ED-4DB2-BD59-A6C34878D82A}">
                    <a16:rowId xmlns:a16="http://schemas.microsoft.com/office/drawing/2014/main" val="10006"/>
                  </a:ext>
                </a:extLst>
              </a:tr>
            </a:tbl>
          </a:graphicData>
        </a:graphic>
      </p:graphicFrame>
      <p:sp>
        <p:nvSpPr>
          <p:cNvPr id="8" name="Oval 7"/>
          <p:cNvSpPr/>
          <p:nvPr/>
        </p:nvSpPr>
        <p:spPr>
          <a:xfrm>
            <a:off x="457200" y="1641702"/>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8018379" y="1646441"/>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8018379" y="2318079"/>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2568073" y="2318079"/>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2568073" y="1657864"/>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p:cNvCxnSpPr/>
          <p:nvPr/>
        </p:nvCxnSpPr>
        <p:spPr>
          <a:xfrm flipV="1">
            <a:off x="2740526" y="2820735"/>
            <a:ext cx="5454316" cy="1336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8194842" y="2613400"/>
            <a:ext cx="0" cy="20733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V="1">
            <a:off x="2740526" y="2613400"/>
            <a:ext cx="0" cy="20733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43832" y="2318079"/>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3255210" y="2946581"/>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6678861" y="2953139"/>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443832" y="2946581"/>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p:nvSpPr>
        <p:spPr>
          <a:xfrm>
            <a:off x="3900904" y="4862151"/>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6684212" y="3566264"/>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3408947" y="4082714"/>
            <a:ext cx="3449053"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57200" y="3566264"/>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430464" y="4201751"/>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3209756" y="3566264"/>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p:nvSpPr>
        <p:spPr>
          <a:xfrm>
            <a:off x="5991727" y="4862151"/>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Arrow Connector 33"/>
          <p:cNvCxnSpPr/>
          <p:nvPr/>
        </p:nvCxnSpPr>
        <p:spPr>
          <a:xfrm flipV="1">
            <a:off x="6858000" y="3861585"/>
            <a:ext cx="0" cy="22112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V="1">
            <a:off x="3408947" y="3861585"/>
            <a:ext cx="0" cy="221129"/>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30465" y="4862151"/>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p:cNvSpPr/>
          <p:nvPr/>
        </p:nvSpPr>
        <p:spPr>
          <a:xfrm>
            <a:off x="3900904" y="4211104"/>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ctangle 38"/>
          <p:cNvSpPr/>
          <p:nvPr/>
        </p:nvSpPr>
        <p:spPr>
          <a:xfrm>
            <a:off x="5985043" y="4211104"/>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0" name="Straight Connector 39"/>
          <p:cNvCxnSpPr/>
          <p:nvPr/>
        </p:nvCxnSpPr>
        <p:spPr>
          <a:xfrm>
            <a:off x="4077368" y="5371430"/>
            <a:ext cx="2125579"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flipV="1">
            <a:off x="6202947" y="5157472"/>
            <a:ext cx="0" cy="21395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flipV="1">
            <a:off x="4077368" y="5157472"/>
            <a:ext cx="0" cy="21395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3900904" y="5522551"/>
            <a:ext cx="491958" cy="295321"/>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p:nvPr/>
        </p:nvSpPr>
        <p:spPr>
          <a:xfrm>
            <a:off x="478589" y="5533181"/>
            <a:ext cx="350253" cy="29532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9" name="Straight Connector 48"/>
          <p:cNvCxnSpPr/>
          <p:nvPr/>
        </p:nvCxnSpPr>
        <p:spPr>
          <a:xfrm>
            <a:off x="628315" y="6080760"/>
            <a:ext cx="3449053"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flipV="1">
            <a:off x="4077368" y="5828502"/>
            <a:ext cx="0" cy="25225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flipV="1">
            <a:off x="628315" y="5828502"/>
            <a:ext cx="0" cy="252258"/>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2491991" y="1953185"/>
            <a:ext cx="632209" cy="369332"/>
          </a:xfrm>
          <a:prstGeom prst="rect">
            <a:avLst/>
          </a:prstGeom>
          <a:noFill/>
        </p:spPr>
        <p:txBody>
          <a:bodyPr wrap="square" rtlCol="0">
            <a:spAutoFit/>
          </a:bodyPr>
          <a:lstStyle/>
          <a:p>
            <a:r>
              <a:rPr lang="en-US" err="1">
                <a:solidFill>
                  <a:srgbClr val="FF0000"/>
                </a:solidFill>
              </a:rPr>
              <a:t>i</a:t>
            </a:r>
            <a:r>
              <a:rPr lang="en-US">
                <a:solidFill>
                  <a:srgbClr val="FF0000"/>
                </a:solidFill>
              </a:rPr>
              <a:t> = 4</a:t>
            </a:r>
          </a:p>
        </p:txBody>
      </p:sp>
      <p:sp>
        <p:nvSpPr>
          <p:cNvPr id="41" name="TextBox 40"/>
          <p:cNvSpPr txBox="1"/>
          <p:nvPr/>
        </p:nvSpPr>
        <p:spPr>
          <a:xfrm>
            <a:off x="8007492" y="1953185"/>
            <a:ext cx="679307" cy="369332"/>
          </a:xfrm>
          <a:prstGeom prst="rect">
            <a:avLst/>
          </a:prstGeom>
          <a:noFill/>
        </p:spPr>
        <p:txBody>
          <a:bodyPr wrap="square" rtlCol="0">
            <a:spAutoFit/>
          </a:bodyPr>
          <a:lstStyle/>
          <a:p>
            <a:r>
              <a:rPr lang="en-US">
                <a:solidFill>
                  <a:srgbClr val="FF0000"/>
                </a:solidFill>
              </a:rPr>
              <a:t>j =12</a:t>
            </a:r>
          </a:p>
        </p:txBody>
      </p:sp>
      <p:sp>
        <p:nvSpPr>
          <p:cNvPr id="42" name="TextBox 41"/>
          <p:cNvSpPr txBox="1"/>
          <p:nvPr/>
        </p:nvSpPr>
        <p:spPr>
          <a:xfrm>
            <a:off x="3209756" y="3196932"/>
            <a:ext cx="632209" cy="369332"/>
          </a:xfrm>
          <a:prstGeom prst="rect">
            <a:avLst/>
          </a:prstGeom>
          <a:noFill/>
        </p:spPr>
        <p:txBody>
          <a:bodyPr wrap="square" rtlCol="0">
            <a:spAutoFit/>
          </a:bodyPr>
          <a:lstStyle/>
          <a:p>
            <a:r>
              <a:rPr lang="en-US" err="1">
                <a:solidFill>
                  <a:srgbClr val="FF0000"/>
                </a:solidFill>
              </a:rPr>
              <a:t>i</a:t>
            </a:r>
            <a:r>
              <a:rPr lang="en-US">
                <a:solidFill>
                  <a:srgbClr val="FF0000"/>
                </a:solidFill>
              </a:rPr>
              <a:t> = 5</a:t>
            </a:r>
          </a:p>
        </p:txBody>
      </p:sp>
      <p:sp>
        <p:nvSpPr>
          <p:cNvPr id="43" name="TextBox 42"/>
          <p:cNvSpPr txBox="1"/>
          <p:nvPr/>
        </p:nvSpPr>
        <p:spPr>
          <a:xfrm>
            <a:off x="6553200" y="3196932"/>
            <a:ext cx="792145" cy="369332"/>
          </a:xfrm>
          <a:prstGeom prst="rect">
            <a:avLst/>
          </a:prstGeom>
          <a:noFill/>
        </p:spPr>
        <p:txBody>
          <a:bodyPr wrap="square" rtlCol="0">
            <a:spAutoFit/>
          </a:bodyPr>
          <a:lstStyle/>
          <a:p>
            <a:r>
              <a:rPr lang="en-US">
                <a:solidFill>
                  <a:srgbClr val="FF0000"/>
                </a:solidFill>
              </a:rPr>
              <a:t>j = 10</a:t>
            </a:r>
          </a:p>
        </p:txBody>
      </p:sp>
      <p:sp>
        <p:nvSpPr>
          <p:cNvPr id="45" name="TextBox 44"/>
          <p:cNvSpPr txBox="1"/>
          <p:nvPr/>
        </p:nvSpPr>
        <p:spPr>
          <a:xfrm>
            <a:off x="3830778" y="4492819"/>
            <a:ext cx="632209" cy="369332"/>
          </a:xfrm>
          <a:prstGeom prst="rect">
            <a:avLst/>
          </a:prstGeom>
          <a:noFill/>
        </p:spPr>
        <p:txBody>
          <a:bodyPr wrap="square" rtlCol="0">
            <a:spAutoFit/>
          </a:bodyPr>
          <a:lstStyle/>
          <a:p>
            <a:r>
              <a:rPr lang="en-US" err="1">
                <a:solidFill>
                  <a:srgbClr val="FF0000"/>
                </a:solidFill>
              </a:rPr>
              <a:t>i</a:t>
            </a:r>
            <a:r>
              <a:rPr lang="en-US">
                <a:solidFill>
                  <a:srgbClr val="FF0000"/>
                </a:solidFill>
              </a:rPr>
              <a:t> = 6</a:t>
            </a:r>
          </a:p>
        </p:txBody>
      </p:sp>
      <p:sp>
        <p:nvSpPr>
          <p:cNvPr id="50" name="TextBox 49"/>
          <p:cNvSpPr txBox="1"/>
          <p:nvPr/>
        </p:nvSpPr>
        <p:spPr>
          <a:xfrm>
            <a:off x="5886716" y="4497072"/>
            <a:ext cx="792145" cy="369332"/>
          </a:xfrm>
          <a:prstGeom prst="rect">
            <a:avLst/>
          </a:prstGeom>
          <a:noFill/>
        </p:spPr>
        <p:txBody>
          <a:bodyPr wrap="square" rtlCol="0">
            <a:spAutoFit/>
          </a:bodyPr>
          <a:lstStyle/>
          <a:p>
            <a:r>
              <a:rPr lang="en-US">
                <a:solidFill>
                  <a:srgbClr val="FF0000"/>
                </a:solidFill>
              </a:rPr>
              <a:t>j = 9</a:t>
            </a:r>
          </a:p>
        </p:txBody>
      </p:sp>
      <p:graphicFrame>
        <p:nvGraphicFramePr>
          <p:cNvPr id="18" name="Bảng 17">
            <a:extLst>
              <a:ext uri="{FF2B5EF4-FFF2-40B4-BE49-F238E27FC236}">
                <a16:creationId xmlns:a16="http://schemas.microsoft.com/office/drawing/2014/main" id="{88DE3EB3-F0CD-8347-C941-C98C8D843E68}"/>
              </a:ext>
            </a:extLst>
          </p:cNvPr>
          <p:cNvGraphicFramePr>
            <a:graphicFrameLocks noGrp="1"/>
          </p:cNvGraphicFramePr>
          <p:nvPr>
            <p:extLst>
              <p:ext uri="{D42A27DB-BD31-4B8C-83A1-F6EECF244321}">
                <p14:modId xmlns:p14="http://schemas.microsoft.com/office/powerpoint/2010/main" val="2834128203"/>
              </p:ext>
            </p:extLst>
          </p:nvPr>
        </p:nvGraphicFramePr>
        <p:xfrm>
          <a:off x="201283" y="934528"/>
          <a:ext cx="8570155" cy="4961572"/>
        </p:xfrm>
        <a:graphic>
          <a:graphicData uri="http://schemas.openxmlformats.org/drawingml/2006/table">
            <a:tbl>
              <a:tblPr/>
              <a:tblGrid>
                <a:gridCol w="705476">
                  <a:extLst>
                    <a:ext uri="{9D8B030D-6E8A-4147-A177-3AD203B41FA5}">
                      <a16:colId xmlns:a16="http://schemas.microsoft.com/office/drawing/2014/main" val="3421879790"/>
                    </a:ext>
                  </a:extLst>
                </a:gridCol>
                <a:gridCol w="705476">
                  <a:extLst>
                    <a:ext uri="{9D8B030D-6E8A-4147-A177-3AD203B41FA5}">
                      <a16:colId xmlns:a16="http://schemas.microsoft.com/office/drawing/2014/main" val="1270056063"/>
                    </a:ext>
                  </a:extLst>
                </a:gridCol>
                <a:gridCol w="651841">
                  <a:extLst>
                    <a:ext uri="{9D8B030D-6E8A-4147-A177-3AD203B41FA5}">
                      <a16:colId xmlns:a16="http://schemas.microsoft.com/office/drawing/2014/main" val="3217879683"/>
                    </a:ext>
                  </a:extLst>
                </a:gridCol>
                <a:gridCol w="1174194">
                  <a:extLst>
                    <a:ext uri="{9D8B030D-6E8A-4147-A177-3AD203B41FA5}">
                      <a16:colId xmlns:a16="http://schemas.microsoft.com/office/drawing/2014/main" val="2175785725"/>
                    </a:ext>
                  </a:extLst>
                </a:gridCol>
                <a:gridCol w="206282">
                  <a:extLst>
                    <a:ext uri="{9D8B030D-6E8A-4147-A177-3AD203B41FA5}">
                      <a16:colId xmlns:a16="http://schemas.microsoft.com/office/drawing/2014/main" val="1602603356"/>
                    </a:ext>
                  </a:extLst>
                </a:gridCol>
                <a:gridCol w="894030">
                  <a:extLst>
                    <a:ext uri="{9D8B030D-6E8A-4147-A177-3AD203B41FA5}">
                      <a16:colId xmlns:a16="http://schemas.microsoft.com/office/drawing/2014/main" val="3798672131"/>
                    </a:ext>
                  </a:extLst>
                </a:gridCol>
                <a:gridCol w="705476">
                  <a:extLst>
                    <a:ext uri="{9D8B030D-6E8A-4147-A177-3AD203B41FA5}">
                      <a16:colId xmlns:a16="http://schemas.microsoft.com/office/drawing/2014/main" val="1356392779"/>
                    </a:ext>
                  </a:extLst>
                </a:gridCol>
                <a:gridCol w="705476">
                  <a:extLst>
                    <a:ext uri="{9D8B030D-6E8A-4147-A177-3AD203B41FA5}">
                      <a16:colId xmlns:a16="http://schemas.microsoft.com/office/drawing/2014/main" val="2893656238"/>
                    </a:ext>
                  </a:extLst>
                </a:gridCol>
                <a:gridCol w="705476">
                  <a:extLst>
                    <a:ext uri="{9D8B030D-6E8A-4147-A177-3AD203B41FA5}">
                      <a16:colId xmlns:a16="http://schemas.microsoft.com/office/drawing/2014/main" val="3094277972"/>
                    </a:ext>
                  </a:extLst>
                </a:gridCol>
                <a:gridCol w="705476">
                  <a:extLst>
                    <a:ext uri="{9D8B030D-6E8A-4147-A177-3AD203B41FA5}">
                      <a16:colId xmlns:a16="http://schemas.microsoft.com/office/drawing/2014/main" val="3187138268"/>
                    </a:ext>
                  </a:extLst>
                </a:gridCol>
                <a:gridCol w="705476">
                  <a:extLst>
                    <a:ext uri="{9D8B030D-6E8A-4147-A177-3AD203B41FA5}">
                      <a16:colId xmlns:a16="http://schemas.microsoft.com/office/drawing/2014/main" val="3695243639"/>
                    </a:ext>
                  </a:extLst>
                </a:gridCol>
                <a:gridCol w="705476">
                  <a:extLst>
                    <a:ext uri="{9D8B030D-6E8A-4147-A177-3AD203B41FA5}">
                      <a16:colId xmlns:a16="http://schemas.microsoft.com/office/drawing/2014/main" val="378403673"/>
                    </a:ext>
                  </a:extLst>
                </a:gridCol>
              </a:tblGrid>
              <a:tr h="708796">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771902084"/>
                  </a:ext>
                </a:extLst>
              </a:tr>
              <a:tr h="708796">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95879365"/>
                  </a:ext>
                </a:extLst>
              </a:tr>
              <a:tr h="708796">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720449503"/>
                  </a:ext>
                </a:extLst>
              </a:tr>
              <a:tr h="708796">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80211048"/>
                  </a:ext>
                </a:extLst>
              </a:tr>
              <a:tr h="708796">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45166681"/>
                  </a:ext>
                </a:extLst>
              </a:tr>
              <a:tr h="708796">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4688254"/>
                  </a:ext>
                </a:extLst>
              </a:tr>
              <a:tr h="708796">
                <a:tc>
                  <a:txBody>
                    <a:bodyPr/>
                    <a:lstStyle/>
                    <a:p>
                      <a:pPr algn="l" fontAlgn="base"/>
                      <a:r>
                        <a:rPr lang="en-US" sz="1700" b="0" i="0">
                          <a:solidFill>
                            <a:srgbClr val="000000"/>
                          </a:solidFill>
                          <a:effectLst/>
                          <a:latin typeface="Calibri"/>
                        </a:rPr>
                        <a:t>55​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61​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75​</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100​</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93​</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78​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98​</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81​</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l" fontAlgn="base"/>
                      <a:r>
                        <a:rPr lang="en-US" sz="1700" b="0" i="0">
                          <a:solidFill>
                            <a:srgbClr val="000000"/>
                          </a:solidFill>
                          <a:effectLst/>
                          <a:latin typeface="Calibri"/>
                        </a:rPr>
                        <a:t>84​</a:t>
                      </a:r>
                    </a:p>
                    <a:p>
                      <a:pPr algn="l" fontAlgn="base"/>
                      <a:r>
                        <a:rPr lang="en-US" sz="1700" b="0" i="0">
                          <a:solidFill>
                            <a:srgbClr val="000000"/>
                          </a:solidFill>
                          <a:effectLst/>
                          <a:latin typeface="Calibri"/>
                        </a:rPr>
                        <a:t>​</a:t>
                      </a:r>
                    </a:p>
                  </a:txBody>
                  <a:tcPr marL="87630" marR="87630" marT="43815" marB="43815">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97815122"/>
                  </a:ext>
                </a:extLst>
              </a:tr>
            </a:tbl>
          </a:graphicData>
        </a:graphic>
      </p:graphicFrame>
      <p:sp>
        <p:nvSpPr>
          <p:cNvPr id="27" name="Rectangle 1">
            <a:extLst>
              <a:ext uri="{FF2B5EF4-FFF2-40B4-BE49-F238E27FC236}">
                <a16:creationId xmlns:a16="http://schemas.microsoft.com/office/drawing/2014/main" id="{10EDCCA6-EC95-59EB-AE63-71E47B27B9D2}"/>
              </a:ext>
            </a:extLst>
          </p:cNvPr>
          <p:cNvSpPr>
            <a:spLocks noChangeArrowheads="1"/>
          </p:cNvSpPr>
          <p:nvPr/>
        </p:nvSpPr>
        <p:spPr bwMode="auto">
          <a:xfrm>
            <a:off x="527051" y="163781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vi-VN" altLang="vi-VN"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vi-VN" altLang="vi-V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9485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40</a:t>
            </a:fld>
            <a:endParaRPr lang="en-US"/>
          </a:p>
        </p:txBody>
      </p:sp>
      <p:sp>
        <p:nvSpPr>
          <p:cNvPr id="7" name="Title 6"/>
          <p:cNvSpPr>
            <a:spLocks noGrp="1"/>
          </p:cNvSpPr>
          <p:nvPr>
            <p:ph type="title"/>
          </p:nvPr>
        </p:nvSpPr>
        <p:spPr/>
        <p:txBody>
          <a:bodyPr>
            <a:normAutofit fontScale="90000"/>
          </a:bodyPr>
          <a:lstStyle/>
          <a:p>
            <a:r>
              <a:rPr lang="en-US" err="1"/>
              <a:t>Sắp</a:t>
            </a:r>
            <a:r>
              <a:rPr lang="en-US"/>
              <a:t> </a:t>
            </a:r>
            <a:r>
              <a:rPr lang="en-US" err="1"/>
              <a:t>xếp</a:t>
            </a:r>
            <a:r>
              <a:rPr lang="en-US"/>
              <a:t> </a:t>
            </a:r>
            <a:r>
              <a:rPr lang="en-US" err="1"/>
              <a:t>nhanh</a:t>
            </a:r>
            <a:r>
              <a:rPr lang="en-US"/>
              <a:t>  (Quick sort)</a:t>
            </a:r>
          </a:p>
        </p:txBody>
      </p:sp>
      <p:sp>
        <p:nvSpPr>
          <p:cNvPr id="9" name="Text Placeholder 8"/>
          <p:cNvSpPr>
            <a:spLocks noGrp="1"/>
          </p:cNvSpPr>
          <p:nvPr>
            <p:ph type="body" sz="quarter" idx="13"/>
          </p:nvPr>
        </p:nvSpPr>
        <p:spPr/>
        <p:txBody>
          <a:bodyPr/>
          <a:lstStyle/>
          <a:p>
            <a:r>
              <a:rPr lang="en-US" err="1"/>
              <a:t>Hàm</a:t>
            </a:r>
            <a:r>
              <a:rPr lang="en-US"/>
              <a:t> </a:t>
            </a:r>
            <a:r>
              <a:rPr lang="en-US" err="1"/>
              <a:t>phân</a:t>
            </a:r>
            <a:r>
              <a:rPr lang="en-US"/>
              <a:t> </a:t>
            </a:r>
            <a:r>
              <a:rPr lang="en-US" err="1"/>
              <a:t>đoạn</a:t>
            </a:r>
            <a:endParaRPr lang="en-US"/>
          </a:p>
        </p:txBody>
      </p:sp>
      <p:sp>
        <p:nvSpPr>
          <p:cNvPr id="3" name="Content Placeholder 2"/>
          <p:cNvSpPr>
            <a:spLocks noGrp="1"/>
          </p:cNvSpPr>
          <p:nvPr>
            <p:ph sz="half" idx="4294967295"/>
          </p:nvPr>
        </p:nvSpPr>
        <p:spPr>
          <a:xfrm>
            <a:off x="235077" y="1663887"/>
            <a:ext cx="4040188" cy="3951288"/>
          </a:xfrm>
        </p:spPr>
        <p:txBody>
          <a:bodyPr lIns="91440" tIns="45720" rIns="91440" bIns="45720" anchor="t">
            <a:normAutofit fontScale="77500" lnSpcReduction="20000"/>
          </a:bodyPr>
          <a:lstStyle/>
          <a:p>
            <a:pPr marL="0" indent="0">
              <a:buNone/>
            </a:pPr>
            <a:r>
              <a:rPr lang="hr-HR">
                <a:ea typeface="+mn-lt"/>
                <a:cs typeface="+mn-lt"/>
              </a:rPr>
              <a:t>PartitionFunc(A, left, right, pivot)</a:t>
            </a:r>
            <a:endParaRPr lang="vi-VN"/>
          </a:p>
          <a:p>
            <a:pPr marL="0" indent="0">
              <a:buNone/>
            </a:pPr>
            <a:r>
              <a:rPr lang="en-US">
                <a:ea typeface="+mn-lt"/>
                <a:cs typeface="+mn-lt"/>
              </a:rPr>
              <a:t>   </a:t>
            </a:r>
            <a:r>
              <a:rPr lang="en-US" err="1">
                <a:ea typeface="+mn-lt"/>
                <a:cs typeface="+mn-lt"/>
              </a:rPr>
              <a:t>i</a:t>
            </a:r>
            <a:r>
              <a:rPr lang="en-US">
                <a:ea typeface="+mn-lt"/>
                <a:cs typeface="+mn-lt"/>
              </a:rPr>
              <a:t> = left +1;</a:t>
            </a:r>
            <a:endParaRPr lang="hr-HR"/>
          </a:p>
          <a:p>
            <a:pPr marL="0" indent="0">
              <a:buNone/>
            </a:pPr>
            <a:r>
              <a:rPr lang="en-US">
                <a:ea typeface="+mn-lt"/>
                <a:cs typeface="+mn-lt"/>
              </a:rPr>
              <a:t>   j = right;</a:t>
            </a:r>
            <a:endParaRPr lang="hr-HR"/>
          </a:p>
          <a:p>
            <a:pPr marL="0" indent="0">
              <a:buNone/>
            </a:pPr>
            <a:r>
              <a:rPr lang="en-US">
                <a:ea typeface="+mn-lt"/>
                <a:cs typeface="+mn-lt"/>
              </a:rPr>
              <a:t>   while </a:t>
            </a:r>
            <a:r>
              <a:rPr lang="en-US" err="1">
                <a:ea typeface="+mn-lt"/>
                <a:cs typeface="+mn-lt"/>
              </a:rPr>
              <a:t>i</a:t>
            </a:r>
            <a:r>
              <a:rPr lang="en-US">
                <a:ea typeface="+mn-lt"/>
                <a:cs typeface="+mn-lt"/>
              </a:rPr>
              <a:t>&lt;=j {</a:t>
            </a:r>
            <a:endParaRPr lang="hr-HR"/>
          </a:p>
          <a:p>
            <a:pPr marL="0" indent="0">
              <a:buNone/>
            </a:pPr>
            <a:r>
              <a:rPr lang="en-US">
                <a:ea typeface="+mn-lt"/>
                <a:cs typeface="+mn-lt"/>
              </a:rPr>
              <a:t>	while A[</a:t>
            </a:r>
            <a:r>
              <a:rPr lang="en-US" err="1">
                <a:ea typeface="+mn-lt"/>
                <a:cs typeface="+mn-lt"/>
              </a:rPr>
              <a:t>i</a:t>
            </a:r>
            <a:r>
              <a:rPr lang="en-US">
                <a:ea typeface="+mn-lt"/>
                <a:cs typeface="+mn-lt"/>
              </a:rPr>
              <a:t>]&lt;A[pivot] </a:t>
            </a:r>
            <a:r>
              <a:rPr lang="en-US" err="1">
                <a:ea typeface="+mn-lt"/>
                <a:cs typeface="+mn-lt"/>
              </a:rPr>
              <a:t>i</a:t>
            </a:r>
            <a:r>
              <a:rPr lang="en-US">
                <a:ea typeface="+mn-lt"/>
                <a:cs typeface="+mn-lt"/>
              </a:rPr>
              <a:t> = i+1;</a:t>
            </a:r>
            <a:endParaRPr lang="hr-HR"/>
          </a:p>
          <a:p>
            <a:pPr marL="0" indent="0">
              <a:buNone/>
            </a:pPr>
            <a:r>
              <a:rPr lang="en-US">
                <a:ea typeface="+mn-lt"/>
                <a:cs typeface="+mn-lt"/>
              </a:rPr>
              <a:t>	while A[j]&gt;A[pivot] j=j-1;</a:t>
            </a:r>
            <a:endParaRPr lang="hr-HR"/>
          </a:p>
          <a:p>
            <a:pPr marL="0" indent="0">
              <a:buNone/>
            </a:pPr>
            <a:r>
              <a:rPr lang="en-US">
                <a:ea typeface="+mn-lt"/>
                <a:cs typeface="+mn-lt"/>
              </a:rPr>
              <a:t>	if </a:t>
            </a:r>
            <a:r>
              <a:rPr lang="en-US" err="1">
                <a:ea typeface="+mn-lt"/>
                <a:cs typeface="+mn-lt"/>
              </a:rPr>
              <a:t>i</a:t>
            </a:r>
            <a:r>
              <a:rPr lang="en-US">
                <a:ea typeface="+mn-lt"/>
                <a:cs typeface="+mn-lt"/>
              </a:rPr>
              <a:t>&lt;j {swap(A[</a:t>
            </a:r>
            <a:r>
              <a:rPr lang="en-US" err="1">
                <a:ea typeface="+mn-lt"/>
                <a:cs typeface="+mn-lt"/>
              </a:rPr>
              <a:t>i</a:t>
            </a:r>
            <a:r>
              <a:rPr lang="en-US">
                <a:ea typeface="+mn-lt"/>
                <a:cs typeface="+mn-lt"/>
              </a:rPr>
              <a:t>],A[j]);</a:t>
            </a:r>
            <a:r>
              <a:rPr lang="en-US" err="1">
                <a:ea typeface="+mn-lt"/>
                <a:cs typeface="+mn-lt"/>
              </a:rPr>
              <a:t>i</a:t>
            </a:r>
            <a:r>
              <a:rPr lang="en-US">
                <a:ea typeface="+mn-lt"/>
                <a:cs typeface="+mn-lt"/>
              </a:rPr>
              <a:t>=i+1; 	j=j-1;}</a:t>
            </a:r>
            <a:endParaRPr lang="hr-HR"/>
          </a:p>
          <a:p>
            <a:pPr marL="0" indent="0">
              <a:buNone/>
            </a:pPr>
            <a:r>
              <a:rPr lang="en-US">
                <a:ea typeface="+mn-lt"/>
                <a:cs typeface="+mn-lt"/>
              </a:rPr>
              <a:t>  }</a:t>
            </a:r>
            <a:endParaRPr lang="vi-VN"/>
          </a:p>
          <a:p>
            <a:pPr marL="0" indent="0">
              <a:buNone/>
            </a:pPr>
            <a:r>
              <a:rPr lang="en-US">
                <a:ea typeface="Calibri"/>
                <a:cs typeface="Calibri"/>
              </a:rPr>
              <a:t>pivot = j; swap(A[left],A[j])</a:t>
            </a:r>
            <a:endParaRPr lang="en-US"/>
          </a:p>
          <a:p>
            <a:pPr marL="0" indent="0">
              <a:buNone/>
            </a:pPr>
            <a:r>
              <a:rPr lang="en-US">
                <a:ea typeface="Calibri"/>
                <a:cs typeface="Calibri"/>
              </a:rPr>
              <a:t>Return right;</a:t>
            </a:r>
            <a:endParaRPr lang="hr-HR"/>
          </a:p>
          <a:p>
            <a:pPr marL="0" indent="0">
              <a:buNone/>
            </a:pPr>
            <a:endParaRPr lang="en-US"/>
          </a:p>
          <a:p>
            <a:pPr marL="0" indent="0">
              <a:buNone/>
            </a:pPr>
            <a:endParaRPr lang="en-US"/>
          </a:p>
          <a:p>
            <a:endParaRPr lang="en-US"/>
          </a:p>
        </p:txBody>
      </p:sp>
      <p:sp>
        <p:nvSpPr>
          <p:cNvPr id="10" name="Text Placeholder 9"/>
          <p:cNvSpPr>
            <a:spLocks noGrp="1"/>
          </p:cNvSpPr>
          <p:nvPr>
            <p:ph type="body" sz="quarter" idx="4294967295"/>
          </p:nvPr>
        </p:nvSpPr>
        <p:spPr>
          <a:xfrm>
            <a:off x="5102224" y="1032733"/>
            <a:ext cx="4041775" cy="639762"/>
          </a:xfrm>
        </p:spPr>
        <p:txBody>
          <a:bodyPr/>
          <a:lstStyle/>
          <a:p>
            <a:r>
              <a:rPr lang="en-US" err="1"/>
              <a:t>Hàm</a:t>
            </a:r>
            <a:r>
              <a:rPr lang="en-US"/>
              <a:t> </a:t>
            </a:r>
            <a:r>
              <a:rPr lang="en-US" err="1"/>
              <a:t>sắp</a:t>
            </a:r>
            <a:r>
              <a:rPr lang="en-US"/>
              <a:t> </a:t>
            </a:r>
            <a:r>
              <a:rPr lang="en-US" err="1"/>
              <a:t>xếp</a:t>
            </a:r>
            <a:endParaRPr lang="en-US"/>
          </a:p>
        </p:txBody>
      </p:sp>
      <p:sp>
        <p:nvSpPr>
          <p:cNvPr id="8" name="Content Placeholder 7"/>
          <p:cNvSpPr>
            <a:spLocks noGrp="1"/>
          </p:cNvSpPr>
          <p:nvPr>
            <p:ph sz="quarter" idx="4294967295"/>
          </p:nvPr>
        </p:nvSpPr>
        <p:spPr>
          <a:xfrm>
            <a:off x="5100764" y="1672495"/>
            <a:ext cx="4041775" cy="3951288"/>
          </a:xfrm>
        </p:spPr>
        <p:txBody>
          <a:bodyPr>
            <a:normAutofit fontScale="77500" lnSpcReduction="20000"/>
          </a:bodyPr>
          <a:lstStyle/>
          <a:p>
            <a:pPr marL="0" indent="0">
              <a:buNone/>
            </a:pPr>
            <a:r>
              <a:rPr lang="it-IT" err="1"/>
              <a:t>QuickSort</a:t>
            </a:r>
            <a:r>
              <a:rPr lang="it-IT"/>
              <a:t>(A, </a:t>
            </a:r>
            <a:r>
              <a:rPr lang="it-IT" err="1"/>
              <a:t>left</a:t>
            </a:r>
            <a:r>
              <a:rPr lang="it-IT"/>
              <a:t>, right)</a:t>
            </a:r>
            <a:endParaRPr lang="en-US"/>
          </a:p>
          <a:p>
            <a:pPr marL="0" indent="0">
              <a:buNone/>
            </a:pPr>
            <a:r>
              <a:rPr lang="en-US"/>
              <a:t>   if right-left &lt;= 0</a:t>
            </a:r>
          </a:p>
          <a:p>
            <a:pPr marL="0" indent="0">
              <a:buNone/>
            </a:pPr>
            <a:r>
              <a:rPr lang="is-IS"/>
              <a:t>      return</a:t>
            </a:r>
          </a:p>
          <a:p>
            <a:pPr marL="0" indent="0">
              <a:buNone/>
            </a:pPr>
            <a:r>
              <a:rPr lang="da-DK"/>
              <a:t>  </a:t>
            </a:r>
            <a:r>
              <a:rPr lang="da-DK" err="1"/>
              <a:t>else</a:t>
            </a:r>
            <a:r>
              <a:rPr lang="da-DK"/>
              <a:t>     </a:t>
            </a:r>
          </a:p>
          <a:p>
            <a:pPr marL="0" indent="0">
              <a:buNone/>
            </a:pPr>
            <a:r>
              <a:rPr lang="en-US"/>
              <a:t>   pivot = A[left]</a:t>
            </a:r>
          </a:p>
          <a:p>
            <a:pPr marL="0" indent="0">
              <a:buNone/>
            </a:pPr>
            <a:r>
              <a:rPr lang="en-US"/>
              <a:t>partition = </a:t>
            </a:r>
            <a:r>
              <a:rPr lang="en-US" err="1"/>
              <a:t>PartitionFunc</a:t>
            </a:r>
            <a:r>
              <a:rPr lang="en-US"/>
              <a:t>(A, left, right, pivot)</a:t>
            </a:r>
            <a:r>
              <a:rPr lang="fr-FR"/>
              <a:t>      </a:t>
            </a:r>
          </a:p>
          <a:p>
            <a:pPr marL="0" indent="0">
              <a:buNone/>
            </a:pPr>
            <a:r>
              <a:rPr lang="fr-FR" err="1"/>
              <a:t>QuickSort</a:t>
            </a:r>
            <a:r>
              <a:rPr lang="fr-FR"/>
              <a:t>(A, left,partition-1)</a:t>
            </a:r>
          </a:p>
          <a:p>
            <a:pPr marL="0" indent="0">
              <a:buNone/>
            </a:pPr>
            <a:r>
              <a:rPr lang="en-US" err="1"/>
              <a:t>QuickSort</a:t>
            </a:r>
            <a:r>
              <a:rPr lang="en-US"/>
              <a:t>(A, partition+1,right)   </a:t>
            </a:r>
          </a:p>
          <a:p>
            <a:pPr marL="0" indent="0">
              <a:buNone/>
            </a:pPr>
            <a:r>
              <a:rPr lang="en-US" err="1"/>
              <a:t>kết</a:t>
            </a:r>
            <a:r>
              <a:rPr lang="en-US"/>
              <a:t> </a:t>
            </a:r>
            <a:r>
              <a:rPr lang="en-US" err="1"/>
              <a:t>thúc</a:t>
            </a:r>
            <a:r>
              <a:rPr lang="en-US"/>
              <a:t> if		</a:t>
            </a:r>
          </a:p>
          <a:p>
            <a:pPr marL="0" indent="0">
              <a:buNone/>
            </a:pPr>
            <a:r>
              <a:rPr lang="en-US" err="1"/>
              <a:t>Kết</a:t>
            </a:r>
            <a:r>
              <a:rPr lang="en-US"/>
              <a:t> </a:t>
            </a:r>
            <a:r>
              <a:rPr lang="en-US" err="1"/>
              <a:t>thúc</a:t>
            </a:r>
            <a:r>
              <a:rPr lang="en-US"/>
              <a:t> </a:t>
            </a:r>
            <a:r>
              <a:rPr lang="en-US" err="1"/>
              <a:t>hàm</a:t>
            </a:r>
            <a:endParaRPr lang="en-US"/>
          </a:p>
        </p:txBody>
      </p:sp>
    </p:spTree>
    <p:extLst>
      <p:ext uri="{BB962C8B-B14F-4D97-AF65-F5344CB8AC3E}">
        <p14:creationId xmlns:p14="http://schemas.microsoft.com/office/powerpoint/2010/main" val="35905350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E4CF1879-905D-2B42-989F-AEE8E5897B9B}"/>
              </a:ext>
            </a:extLst>
          </p:cNvPr>
          <p:cNvSpPr>
            <a:spLocks noGrp="1"/>
          </p:cNvSpPr>
          <p:nvPr>
            <p:ph type="dt" sz="half" idx="10"/>
          </p:nvPr>
        </p:nvSpPr>
        <p:spPr/>
        <p:txBody>
          <a:bodyPr/>
          <a:lstStyle/>
          <a:p>
            <a:fld id="{C2F7F248-853C-9E42-AF88-3580ABB22B8C}" type="datetime1">
              <a:rPr lang="en-US" smtClean="0"/>
              <a:t>11/6/2025</a:t>
            </a:fld>
            <a:endParaRPr lang="en-US"/>
          </a:p>
        </p:txBody>
      </p:sp>
      <p:sp>
        <p:nvSpPr>
          <p:cNvPr id="8" name="Footer Placeholder 7">
            <a:extLst>
              <a:ext uri="{FF2B5EF4-FFF2-40B4-BE49-F238E27FC236}">
                <a16:creationId xmlns:a16="http://schemas.microsoft.com/office/drawing/2014/main" id="{1D6AD012-AEC3-0F4E-9D86-6A0AF16AB89B}"/>
              </a:ext>
            </a:extLst>
          </p:cNvPr>
          <p:cNvSpPr>
            <a:spLocks noGrp="1"/>
          </p:cNvSpPr>
          <p:nvPr>
            <p:ph type="ftr" sz="quarter" idx="11"/>
          </p:nvPr>
        </p:nvSpPr>
        <p:spPr/>
        <p:txBody>
          <a:bodyPr/>
          <a:lstStyle/>
          <a:p>
            <a:r>
              <a:rPr lang="is-IS"/>
              <a:t>Cấu trúc dữ liệu và giải thuật</a:t>
            </a:r>
            <a:endParaRPr lang="en-US"/>
          </a:p>
        </p:txBody>
      </p:sp>
      <p:sp>
        <p:nvSpPr>
          <p:cNvPr id="9" name="Slide Number Placeholder 8">
            <a:extLst>
              <a:ext uri="{FF2B5EF4-FFF2-40B4-BE49-F238E27FC236}">
                <a16:creationId xmlns:a16="http://schemas.microsoft.com/office/drawing/2014/main" id="{210A060B-0433-C241-BDD6-D7188EB77E6B}"/>
              </a:ext>
            </a:extLst>
          </p:cNvPr>
          <p:cNvSpPr>
            <a:spLocks noGrp="1"/>
          </p:cNvSpPr>
          <p:nvPr>
            <p:ph type="sldNum" sz="quarter" idx="12"/>
          </p:nvPr>
        </p:nvSpPr>
        <p:spPr/>
        <p:txBody>
          <a:bodyPr/>
          <a:lstStyle/>
          <a:p>
            <a:fld id="{BA7BC09B-FE30-A349-B1D2-5A364F511F98}" type="slidenum">
              <a:rPr lang="en-US" smtClean="0"/>
              <a:t>41</a:t>
            </a:fld>
            <a:endParaRPr lang="en-US"/>
          </a:p>
        </p:txBody>
      </p:sp>
      <p:sp>
        <p:nvSpPr>
          <p:cNvPr id="10" name="Title 9">
            <a:extLst>
              <a:ext uri="{FF2B5EF4-FFF2-40B4-BE49-F238E27FC236}">
                <a16:creationId xmlns:a16="http://schemas.microsoft.com/office/drawing/2014/main" id="{DBFB88DF-91D9-D145-BEC8-2D4131DB41AA}"/>
              </a:ext>
            </a:extLst>
          </p:cNvPr>
          <p:cNvSpPr>
            <a:spLocks noGrp="1"/>
          </p:cNvSpPr>
          <p:nvPr>
            <p:ph type="title"/>
          </p:nvPr>
        </p:nvSpPr>
        <p:spPr/>
        <p:txBody>
          <a:bodyPr/>
          <a:lstStyle/>
          <a:p>
            <a:r>
              <a:rPr lang="en-US" err="1"/>
              <a:t>Sắp</a:t>
            </a:r>
            <a:r>
              <a:rPr lang="en-US"/>
              <a:t> </a:t>
            </a:r>
            <a:r>
              <a:rPr lang="en-US" err="1"/>
              <a:t>xếp</a:t>
            </a:r>
            <a:r>
              <a:rPr lang="en-US"/>
              <a:t> </a:t>
            </a:r>
            <a:r>
              <a:rPr lang="en-US" err="1"/>
              <a:t>nhanh</a:t>
            </a:r>
            <a:r>
              <a:rPr lang="en-US"/>
              <a:t> – </a:t>
            </a:r>
            <a:r>
              <a:rPr lang="en-US" err="1"/>
              <a:t>Cài</a:t>
            </a:r>
            <a:r>
              <a:rPr lang="en-US"/>
              <a:t> </a:t>
            </a:r>
            <a:r>
              <a:rPr lang="en-US" err="1"/>
              <a:t>đặt</a:t>
            </a:r>
            <a:r>
              <a:rPr lang="en-US"/>
              <a:t> </a:t>
            </a:r>
          </a:p>
        </p:txBody>
      </p:sp>
      <p:sp>
        <p:nvSpPr>
          <p:cNvPr id="11" name="Content Placeholder 10">
            <a:extLst>
              <a:ext uri="{FF2B5EF4-FFF2-40B4-BE49-F238E27FC236}">
                <a16:creationId xmlns:a16="http://schemas.microsoft.com/office/drawing/2014/main" id="{D09822DB-27C4-8B44-841A-0BD1A22320A5}"/>
              </a:ext>
            </a:extLst>
          </p:cNvPr>
          <p:cNvSpPr>
            <a:spLocks noGrp="1"/>
          </p:cNvSpPr>
          <p:nvPr>
            <p:ph type="body" sz="quarter" idx="13"/>
          </p:nvPr>
        </p:nvSpPr>
        <p:spPr/>
        <p:txBody>
          <a:bodyPr/>
          <a:lstStyle/>
          <a:p>
            <a:r>
              <a:rPr lang="en-US" err="1"/>
              <a:t>Thủ</a:t>
            </a:r>
            <a:r>
              <a:rPr lang="en-US"/>
              <a:t> </a:t>
            </a:r>
            <a:r>
              <a:rPr lang="en-US" err="1"/>
              <a:t>tục</a:t>
            </a:r>
            <a:r>
              <a:rPr lang="en-US"/>
              <a:t> </a:t>
            </a:r>
            <a:r>
              <a:rPr lang="en-US" err="1"/>
              <a:t>phân</a:t>
            </a:r>
            <a:r>
              <a:rPr lang="en-US"/>
              <a:t> </a:t>
            </a:r>
            <a:r>
              <a:rPr lang="en-US" err="1"/>
              <a:t>đoạn</a:t>
            </a:r>
            <a:endParaRPr lang="en-US"/>
          </a:p>
        </p:txBody>
      </p:sp>
      <p:sp>
        <p:nvSpPr>
          <p:cNvPr id="13" name="Rounded Rectangle 6">
            <a:extLst>
              <a:ext uri="{FF2B5EF4-FFF2-40B4-BE49-F238E27FC236}">
                <a16:creationId xmlns:a16="http://schemas.microsoft.com/office/drawing/2014/main" id="{657E17E1-229D-0747-8152-AC86D2272481}"/>
              </a:ext>
            </a:extLst>
          </p:cNvPr>
          <p:cNvSpPr>
            <a:spLocks noChangeArrowheads="1"/>
          </p:cNvSpPr>
          <p:nvPr/>
        </p:nvSpPr>
        <p:spPr bwMode="auto">
          <a:xfrm>
            <a:off x="914400" y="2133600"/>
            <a:ext cx="7162800" cy="3962400"/>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void </a:t>
            </a:r>
            <a:r>
              <a:rPr lang="en-US" altLang="en-US" sz="1800" b="1">
                <a:latin typeface="Courier New" panose="02070309020205020404" pitchFamily="49" charset="0"/>
                <a:cs typeface="Courier New" panose="02070309020205020404" pitchFamily="49" charset="0"/>
              </a:rPr>
              <a:t>Partition</a:t>
            </a:r>
            <a:r>
              <a:rPr lang="en-US" altLang="en-US" sz="1800">
                <a:latin typeface="Courier New" panose="02070309020205020404" pitchFamily="49" charset="0"/>
                <a:cs typeface="Courier New" panose="02070309020205020404" pitchFamily="49" charset="0"/>
              </a:rPr>
              <a:t>(int A[], int first, int last){</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if (first&gt;=last) return;</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int c=A[first];</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int </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=first+1,j=last;</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while (</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&lt;=j){</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while (A[</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]&lt;=c &amp;&amp; </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&lt;=j) </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while (A[j]&gt;c &amp;&amp; </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&lt;=j) j--;</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if (</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&lt;j) swap(A[</a:t>
            </a:r>
            <a:r>
              <a:rPr lang="en-US" altLang="en-US" sz="1800" err="1">
                <a:latin typeface="Courier New" panose="02070309020205020404" pitchFamily="49" charset="0"/>
                <a:cs typeface="Courier New" panose="02070309020205020404" pitchFamily="49" charset="0"/>
              </a:rPr>
              <a:t>i</a:t>
            </a:r>
            <a:r>
              <a:rPr lang="en-US" altLang="en-US" sz="1800">
                <a:latin typeface="Courier New" panose="02070309020205020404" pitchFamily="49" charset="0"/>
                <a:cs typeface="Courier New" panose="02070309020205020404" pitchFamily="49" charset="0"/>
              </a:rPr>
              <a:t>],A[j]);</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swap(A[first],A[j]);</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a:t>
            </a:r>
            <a:r>
              <a:rPr lang="en-US" altLang="en-US" sz="1800" b="1">
                <a:latin typeface="Courier New" panose="02070309020205020404" pitchFamily="49" charset="0"/>
                <a:cs typeface="Courier New" panose="02070309020205020404" pitchFamily="49" charset="0"/>
              </a:rPr>
              <a:t>Partition</a:t>
            </a:r>
            <a:r>
              <a:rPr lang="en-US" altLang="en-US" sz="1800">
                <a:latin typeface="Courier New" panose="02070309020205020404" pitchFamily="49" charset="0"/>
                <a:cs typeface="Courier New" panose="02070309020205020404" pitchFamily="49" charset="0"/>
              </a:rPr>
              <a:t>(A, first,j-1);</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	</a:t>
            </a:r>
            <a:r>
              <a:rPr lang="en-US" altLang="en-US" sz="1800" b="1">
                <a:latin typeface="Courier New" panose="02070309020205020404" pitchFamily="49" charset="0"/>
                <a:cs typeface="Courier New" panose="02070309020205020404" pitchFamily="49" charset="0"/>
              </a:rPr>
              <a:t>Partition</a:t>
            </a:r>
            <a:r>
              <a:rPr lang="en-US" altLang="en-US" sz="1800">
                <a:latin typeface="Courier New" panose="02070309020205020404" pitchFamily="49" charset="0"/>
                <a:cs typeface="Courier New" panose="02070309020205020404" pitchFamily="49" charset="0"/>
              </a:rPr>
              <a:t>(A, j+1,last);</a:t>
            </a:r>
          </a:p>
          <a:p>
            <a:pPr eaLnBrk="1" hangingPunct="1">
              <a:spcBef>
                <a:spcPct val="0"/>
              </a:spcBef>
              <a:buClrTx/>
              <a:buSzTx/>
              <a:buFontTx/>
              <a:buNone/>
            </a:pPr>
            <a:r>
              <a:rPr lang="en-US" altLang="en-US" sz="18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51355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50DA8A4-A48E-9E4D-8C86-AE04FBA2B08A}"/>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9FF58654-A4AF-4947-BE02-9AB7E1005802}"/>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556BF795-7DB9-C24D-BDAE-68BF478A93F8}"/>
              </a:ext>
            </a:extLst>
          </p:cNvPr>
          <p:cNvSpPr>
            <a:spLocks noGrp="1"/>
          </p:cNvSpPr>
          <p:nvPr>
            <p:ph type="sldNum" sz="quarter" idx="12"/>
          </p:nvPr>
        </p:nvSpPr>
        <p:spPr/>
        <p:txBody>
          <a:bodyPr/>
          <a:lstStyle/>
          <a:p>
            <a:fld id="{BA7BC09B-FE30-A349-B1D2-5A364F511F98}" type="slidenum">
              <a:rPr lang="en-US" smtClean="0"/>
              <a:t>42</a:t>
            </a:fld>
            <a:endParaRPr lang="en-US"/>
          </a:p>
        </p:txBody>
      </p:sp>
      <p:sp>
        <p:nvSpPr>
          <p:cNvPr id="2" name="Title 1">
            <a:extLst>
              <a:ext uri="{FF2B5EF4-FFF2-40B4-BE49-F238E27FC236}">
                <a16:creationId xmlns:a16="http://schemas.microsoft.com/office/drawing/2014/main" id="{144C3991-BF0C-7745-B317-375DE8E97D0C}"/>
              </a:ext>
            </a:extLst>
          </p:cNvPr>
          <p:cNvSpPr>
            <a:spLocks noGrp="1"/>
          </p:cNvSpPr>
          <p:nvPr>
            <p:ph type="title"/>
          </p:nvPr>
        </p:nvSpPr>
        <p:spPr/>
        <p:txBody>
          <a:bodyPr/>
          <a:lstStyle/>
          <a:p>
            <a:r>
              <a:rPr lang="en-US" err="1"/>
              <a:t>Sắp</a:t>
            </a:r>
            <a:r>
              <a:rPr lang="en-US"/>
              <a:t> </a:t>
            </a:r>
            <a:r>
              <a:rPr lang="en-US" err="1"/>
              <a:t>xếp</a:t>
            </a:r>
            <a:r>
              <a:rPr lang="en-US"/>
              <a:t> </a:t>
            </a:r>
            <a:r>
              <a:rPr lang="en-US" err="1"/>
              <a:t>nhanh</a:t>
            </a:r>
            <a:r>
              <a:rPr lang="en-US"/>
              <a:t> – </a:t>
            </a:r>
            <a:r>
              <a:rPr lang="en-US" err="1"/>
              <a:t>Cài</a:t>
            </a:r>
            <a:r>
              <a:rPr lang="en-US"/>
              <a:t> </a:t>
            </a:r>
            <a:r>
              <a:rPr lang="en-US" err="1"/>
              <a:t>đặt</a:t>
            </a:r>
            <a:r>
              <a:rPr lang="en-US"/>
              <a:t> </a:t>
            </a:r>
          </a:p>
        </p:txBody>
      </p:sp>
      <p:sp>
        <p:nvSpPr>
          <p:cNvPr id="3" name="Content Placeholder 2">
            <a:extLst>
              <a:ext uri="{FF2B5EF4-FFF2-40B4-BE49-F238E27FC236}">
                <a16:creationId xmlns:a16="http://schemas.microsoft.com/office/drawing/2014/main" id="{414637F6-A0CE-9041-9832-79BE37ECEFFC}"/>
              </a:ext>
            </a:extLst>
          </p:cNvPr>
          <p:cNvSpPr>
            <a:spLocks noGrp="1"/>
          </p:cNvSpPr>
          <p:nvPr>
            <p:ph type="body" sz="quarter" idx="13"/>
          </p:nvPr>
        </p:nvSpPr>
        <p:spPr/>
        <p:txBody>
          <a:bodyPr/>
          <a:lstStyle/>
          <a:p>
            <a:r>
              <a:rPr lang="en-US" err="1"/>
              <a:t>Hàm</a:t>
            </a:r>
            <a:r>
              <a:rPr lang="en-US"/>
              <a:t> </a:t>
            </a:r>
            <a:r>
              <a:rPr lang="en-US" err="1"/>
              <a:t>QuickSort</a:t>
            </a:r>
            <a:endParaRPr lang="en-US"/>
          </a:p>
        </p:txBody>
      </p:sp>
      <p:sp>
        <p:nvSpPr>
          <p:cNvPr id="8" name="Rounded Rectangle 6">
            <a:extLst>
              <a:ext uri="{FF2B5EF4-FFF2-40B4-BE49-F238E27FC236}">
                <a16:creationId xmlns:a16="http://schemas.microsoft.com/office/drawing/2014/main" id="{6BD4DFBC-61C5-2444-BB8B-3AA06D631CD7}"/>
              </a:ext>
            </a:extLst>
          </p:cNvPr>
          <p:cNvSpPr>
            <a:spLocks noChangeArrowheads="1"/>
          </p:cNvSpPr>
          <p:nvPr/>
        </p:nvSpPr>
        <p:spPr bwMode="auto">
          <a:xfrm>
            <a:off x="914400" y="2438400"/>
            <a:ext cx="7162800" cy="1373372"/>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r>
              <a:rPr lang="fr-FR" altLang="en-US" sz="2000">
                <a:latin typeface="Courier New" panose="02070309020205020404" pitchFamily="49" charset="0"/>
                <a:cs typeface="Courier New" panose="02070309020205020404" pitchFamily="49" charset="0"/>
              </a:rPr>
              <a:t>void </a:t>
            </a:r>
            <a:r>
              <a:rPr lang="fr-FR" altLang="en-US" sz="2000" b="1">
                <a:latin typeface="Courier New" panose="02070309020205020404" pitchFamily="49" charset="0"/>
                <a:cs typeface="Courier New" panose="02070309020205020404" pitchFamily="49" charset="0"/>
              </a:rPr>
              <a:t>QuickSort</a:t>
            </a:r>
            <a:r>
              <a:rPr lang="fr-FR" altLang="en-US" sz="2000">
                <a:latin typeface="Courier New" panose="02070309020205020404" pitchFamily="49" charset="0"/>
                <a:cs typeface="Courier New" panose="02070309020205020404" pitchFamily="49" charset="0"/>
              </a:rPr>
              <a:t>(int A[], int N){</a:t>
            </a:r>
          </a:p>
          <a:p>
            <a:pPr eaLnBrk="1" hangingPunct="1">
              <a:spcBef>
                <a:spcPct val="0"/>
              </a:spcBef>
              <a:buClrTx/>
              <a:buSzTx/>
              <a:buFontTx/>
              <a:buNone/>
            </a:pPr>
            <a:r>
              <a:rPr lang="fr-FR" altLang="en-US" sz="2000">
                <a:latin typeface="Courier New" panose="02070309020205020404" pitchFamily="49" charset="0"/>
                <a:cs typeface="Courier New" panose="02070309020205020404" pitchFamily="49" charset="0"/>
              </a:rPr>
              <a:t>	</a:t>
            </a:r>
            <a:r>
              <a:rPr lang="fr-FR" altLang="en-US" sz="2000" b="1">
                <a:latin typeface="Courier New" panose="02070309020205020404" pitchFamily="49" charset="0"/>
                <a:cs typeface="Courier New" panose="02070309020205020404" pitchFamily="49" charset="0"/>
              </a:rPr>
              <a:t>Partition</a:t>
            </a:r>
            <a:r>
              <a:rPr lang="fr-FR" altLang="en-US" sz="2000">
                <a:latin typeface="Courier New" panose="02070309020205020404" pitchFamily="49" charset="0"/>
                <a:cs typeface="Courier New" panose="02070309020205020404" pitchFamily="49" charset="0"/>
              </a:rPr>
              <a:t>(A,0,N-1);</a:t>
            </a:r>
          </a:p>
          <a:p>
            <a:pPr eaLnBrk="1" hangingPunct="1">
              <a:spcBef>
                <a:spcPct val="0"/>
              </a:spcBef>
              <a:buClrTx/>
              <a:buSzTx/>
              <a:buFontTx/>
              <a:buNone/>
            </a:pPr>
            <a:r>
              <a:rPr lang="fr-FR" altLang="en-US" sz="2000">
                <a:latin typeface="Courier New" panose="02070309020205020404" pitchFamily="49" charset="0"/>
                <a:cs typeface="Courier New" panose="02070309020205020404" pitchFamily="49" charset="0"/>
              </a:rPr>
              <a:t>	</a:t>
            </a:r>
          </a:p>
          <a:p>
            <a:pPr eaLnBrk="1" hangingPunct="1">
              <a:spcBef>
                <a:spcPct val="0"/>
              </a:spcBef>
              <a:buClrTx/>
              <a:buSzTx/>
              <a:buFontTx/>
              <a:buNone/>
            </a:pPr>
            <a:r>
              <a:rPr lang="fr-FR" altLang="en-US" sz="2000">
                <a:latin typeface="Courier New" panose="02070309020205020404" pitchFamily="49" charset="0"/>
                <a:cs typeface="Courier New" panose="02070309020205020404" pitchFamily="49" charset="0"/>
              </a:rPr>
              <a:t>}</a:t>
            </a:r>
            <a:endParaRPr lang="en-US" altLang="en-US" sz="20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14073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139ACF-0AD2-46ED-AF51-E199D1049BE1}"/>
              </a:ext>
            </a:extLst>
          </p:cNvPr>
          <p:cNvSpPr>
            <a:spLocks noGrp="1"/>
          </p:cNvSpPr>
          <p:nvPr>
            <p:ph type="dt" sz="half" idx="10"/>
          </p:nvPr>
        </p:nvSpPr>
        <p:spPr/>
        <p:txBody>
          <a:bodyPr/>
          <a:lstStyle/>
          <a:p>
            <a:pPr>
              <a:defRPr/>
            </a:pPr>
            <a:r>
              <a:rPr lang="en-US"/>
              <a:t>Trường ĐHBK Hà nội</a:t>
            </a:r>
          </a:p>
          <a:p>
            <a:pPr>
              <a:defRPr/>
            </a:pPr>
            <a:r>
              <a:rPr lang="en-US"/>
              <a:t>Khoa Điện tử Viễn thông</a:t>
            </a:r>
            <a:endParaRPr lang="en-US" altLang="en-US"/>
          </a:p>
        </p:txBody>
      </p:sp>
      <p:sp>
        <p:nvSpPr>
          <p:cNvPr id="5" name="Footer Placeholder 4">
            <a:extLst>
              <a:ext uri="{FF2B5EF4-FFF2-40B4-BE49-F238E27FC236}">
                <a16:creationId xmlns:a16="http://schemas.microsoft.com/office/drawing/2014/main" id="{BEE2D1F6-D03B-4376-9FFD-E36AD2EA52D7}"/>
              </a:ext>
            </a:extLst>
          </p:cNvPr>
          <p:cNvSpPr>
            <a:spLocks noGrp="1"/>
          </p:cNvSpPr>
          <p:nvPr>
            <p:ph type="ftr" sz="quarter" idx="11"/>
          </p:nvPr>
        </p:nvSpPr>
        <p:spPr/>
        <p:txBody>
          <a:bodyPr/>
          <a:lstStyle/>
          <a:p>
            <a:pPr>
              <a:defRPr/>
            </a:pPr>
            <a:r>
              <a:rPr lang="en-US" altLang="en-US"/>
              <a:t>Bộ môn Điện tử Tin học</a:t>
            </a:r>
          </a:p>
        </p:txBody>
      </p:sp>
      <p:sp>
        <p:nvSpPr>
          <p:cNvPr id="29701" name="Slide Number Placeholder 5">
            <a:extLst>
              <a:ext uri="{FF2B5EF4-FFF2-40B4-BE49-F238E27FC236}">
                <a16:creationId xmlns:a16="http://schemas.microsoft.com/office/drawing/2014/main" id="{E6274276-432F-264B-A1C5-6BE07CD1370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spcBef>
                <a:spcPct val="0"/>
              </a:spcBef>
              <a:buClrTx/>
              <a:buSzTx/>
              <a:buFontTx/>
              <a:buNone/>
            </a:pPr>
            <a:fld id="{B7111AF7-62AB-D241-8EF4-B3932C1D6348}" type="slidenum">
              <a:rPr lang="en-US" altLang="en-US" sz="1200">
                <a:latin typeface="Garamond" panose="02020404030301010803" pitchFamily="18" charset="0"/>
              </a:rPr>
              <a:pPr>
                <a:spcBef>
                  <a:spcPct val="0"/>
                </a:spcBef>
                <a:buClrTx/>
                <a:buSzTx/>
                <a:buFontTx/>
                <a:buNone/>
              </a:pPr>
              <a:t>43</a:t>
            </a:fld>
            <a:endParaRPr lang="en-US" altLang="en-US" sz="1200">
              <a:latin typeface="Garamond" panose="02020404030301010803" pitchFamily="18" charset="0"/>
            </a:endParaRPr>
          </a:p>
        </p:txBody>
      </p:sp>
      <p:sp>
        <p:nvSpPr>
          <p:cNvPr id="29698" name="Title 6">
            <a:extLst>
              <a:ext uri="{FF2B5EF4-FFF2-40B4-BE49-F238E27FC236}">
                <a16:creationId xmlns:a16="http://schemas.microsoft.com/office/drawing/2014/main" id="{D9D2FDBE-76EB-1140-AC3E-959C2AA862E7}"/>
              </a:ext>
            </a:extLst>
          </p:cNvPr>
          <p:cNvSpPr>
            <a:spLocks noGrp="1" noChangeArrowheads="1"/>
          </p:cNvSpPr>
          <p:nvPr>
            <p:ph type="title"/>
          </p:nvPr>
        </p:nvSpPr>
        <p:spPr/>
        <p:txBody>
          <a:bodyPr/>
          <a:lstStyle/>
          <a:p>
            <a:r>
              <a:rPr lang="en-AU" altLang="en-US"/>
              <a:t>Ví dụ</a:t>
            </a:r>
          </a:p>
        </p:txBody>
      </p:sp>
      <p:sp>
        <p:nvSpPr>
          <p:cNvPr id="2" name="Chỗ dành sẵn cho Văn bản 1">
            <a:extLst>
              <a:ext uri="{FF2B5EF4-FFF2-40B4-BE49-F238E27FC236}">
                <a16:creationId xmlns:a16="http://schemas.microsoft.com/office/drawing/2014/main" id="{F8FFD4CD-23A8-EFF2-7E37-1B59CF174876}"/>
              </a:ext>
            </a:extLst>
          </p:cNvPr>
          <p:cNvSpPr>
            <a:spLocks noGrp="1"/>
          </p:cNvSpPr>
          <p:nvPr>
            <p:ph type="body" sz="quarter" idx="13"/>
          </p:nvPr>
        </p:nvSpPr>
        <p:spPr/>
        <p:txBody>
          <a:bodyPr/>
          <a:lstStyle/>
          <a:p>
            <a:endParaRPr lang="vi-VN"/>
          </a:p>
        </p:txBody>
      </p:sp>
      <p:sp>
        <p:nvSpPr>
          <p:cNvPr id="29702" name="Rectangle 4">
            <a:extLst>
              <a:ext uri="{FF2B5EF4-FFF2-40B4-BE49-F238E27FC236}">
                <a16:creationId xmlns:a16="http://schemas.microsoft.com/office/drawing/2014/main" id="{8F852CE0-661A-864B-9980-3E109CE7FCAC}"/>
              </a:ext>
            </a:extLst>
          </p:cNvPr>
          <p:cNvSpPr>
            <a:spLocks noChangeArrowheads="1"/>
          </p:cNvSpPr>
          <p:nvPr/>
        </p:nvSpPr>
        <p:spPr bwMode="auto">
          <a:xfrm>
            <a:off x="11430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29703" name="Rectangle 5">
            <a:extLst>
              <a:ext uri="{FF2B5EF4-FFF2-40B4-BE49-F238E27FC236}">
                <a16:creationId xmlns:a16="http://schemas.microsoft.com/office/drawing/2014/main" id="{D5184F62-FD6F-7E4C-BBA4-B1CB40E25D5B}"/>
              </a:ext>
            </a:extLst>
          </p:cNvPr>
          <p:cNvSpPr>
            <a:spLocks noChangeArrowheads="1"/>
          </p:cNvSpPr>
          <p:nvPr/>
        </p:nvSpPr>
        <p:spPr bwMode="auto">
          <a:xfrm>
            <a:off x="16002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29704" name="Rectangle 6">
            <a:extLst>
              <a:ext uri="{FF2B5EF4-FFF2-40B4-BE49-F238E27FC236}">
                <a16:creationId xmlns:a16="http://schemas.microsoft.com/office/drawing/2014/main" id="{96F00987-6B3C-B34D-8164-B42BE0A74B87}"/>
              </a:ext>
            </a:extLst>
          </p:cNvPr>
          <p:cNvSpPr>
            <a:spLocks noChangeArrowheads="1"/>
          </p:cNvSpPr>
          <p:nvPr/>
        </p:nvSpPr>
        <p:spPr bwMode="auto">
          <a:xfrm>
            <a:off x="20574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29705" name="Rectangle 7">
            <a:extLst>
              <a:ext uri="{FF2B5EF4-FFF2-40B4-BE49-F238E27FC236}">
                <a16:creationId xmlns:a16="http://schemas.microsoft.com/office/drawing/2014/main" id="{5B82142B-374D-4A40-8DCB-72FAC0F282D7}"/>
              </a:ext>
            </a:extLst>
          </p:cNvPr>
          <p:cNvSpPr>
            <a:spLocks noChangeArrowheads="1"/>
          </p:cNvSpPr>
          <p:nvPr/>
        </p:nvSpPr>
        <p:spPr bwMode="auto">
          <a:xfrm>
            <a:off x="25146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29706" name="Rectangle 8">
            <a:extLst>
              <a:ext uri="{FF2B5EF4-FFF2-40B4-BE49-F238E27FC236}">
                <a16:creationId xmlns:a16="http://schemas.microsoft.com/office/drawing/2014/main" id="{EA9A9257-941C-444D-A144-431BB38BE866}"/>
              </a:ext>
            </a:extLst>
          </p:cNvPr>
          <p:cNvSpPr>
            <a:spLocks noChangeArrowheads="1"/>
          </p:cNvSpPr>
          <p:nvPr/>
        </p:nvSpPr>
        <p:spPr bwMode="auto">
          <a:xfrm>
            <a:off x="29718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29707" name="Rectangle 9">
            <a:extLst>
              <a:ext uri="{FF2B5EF4-FFF2-40B4-BE49-F238E27FC236}">
                <a16:creationId xmlns:a16="http://schemas.microsoft.com/office/drawing/2014/main" id="{85F7BD04-8CD3-834E-AF3B-09D46FC9C744}"/>
              </a:ext>
            </a:extLst>
          </p:cNvPr>
          <p:cNvSpPr>
            <a:spLocks noChangeArrowheads="1"/>
          </p:cNvSpPr>
          <p:nvPr/>
        </p:nvSpPr>
        <p:spPr bwMode="auto">
          <a:xfrm>
            <a:off x="34290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9708" name="Rectangle 10">
            <a:extLst>
              <a:ext uri="{FF2B5EF4-FFF2-40B4-BE49-F238E27FC236}">
                <a16:creationId xmlns:a16="http://schemas.microsoft.com/office/drawing/2014/main" id="{82B2D2E2-B5BB-C844-9719-A10728F1CF60}"/>
              </a:ext>
            </a:extLst>
          </p:cNvPr>
          <p:cNvSpPr>
            <a:spLocks noChangeArrowheads="1"/>
          </p:cNvSpPr>
          <p:nvPr/>
        </p:nvSpPr>
        <p:spPr bwMode="auto">
          <a:xfrm>
            <a:off x="3886200" y="1905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9709" name="Text Box 53">
            <a:extLst>
              <a:ext uri="{FF2B5EF4-FFF2-40B4-BE49-F238E27FC236}">
                <a16:creationId xmlns:a16="http://schemas.microsoft.com/office/drawing/2014/main" id="{17EB10E7-962C-FA48-838B-5156BF09237A}"/>
              </a:ext>
            </a:extLst>
          </p:cNvPr>
          <p:cNvSpPr txBox="1">
            <a:spLocks noChangeArrowheads="1"/>
          </p:cNvSpPr>
          <p:nvPr/>
        </p:nvSpPr>
        <p:spPr bwMode="auto">
          <a:xfrm>
            <a:off x="1600200" y="31242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i = 1</a:t>
            </a:r>
          </a:p>
        </p:txBody>
      </p:sp>
      <p:sp>
        <p:nvSpPr>
          <p:cNvPr id="29710" name="Text Box 53">
            <a:extLst>
              <a:ext uri="{FF2B5EF4-FFF2-40B4-BE49-F238E27FC236}">
                <a16:creationId xmlns:a16="http://schemas.microsoft.com/office/drawing/2014/main" id="{EF268BB5-C380-3345-AD15-87A6C1FCC3E4}"/>
              </a:ext>
            </a:extLst>
          </p:cNvPr>
          <p:cNvSpPr txBox="1">
            <a:spLocks noChangeArrowheads="1"/>
          </p:cNvSpPr>
          <p:nvPr/>
        </p:nvSpPr>
        <p:spPr bwMode="auto">
          <a:xfrm>
            <a:off x="228600" y="15240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Chỉ số</a:t>
            </a:r>
          </a:p>
        </p:txBody>
      </p:sp>
      <p:sp>
        <p:nvSpPr>
          <p:cNvPr id="29711" name="Text Box 53">
            <a:extLst>
              <a:ext uri="{FF2B5EF4-FFF2-40B4-BE49-F238E27FC236}">
                <a16:creationId xmlns:a16="http://schemas.microsoft.com/office/drawing/2014/main" id="{FADDA9D0-6DB9-F944-954F-DC2320BC84FF}"/>
              </a:ext>
            </a:extLst>
          </p:cNvPr>
          <p:cNvSpPr txBox="1">
            <a:spLocks noChangeArrowheads="1"/>
          </p:cNvSpPr>
          <p:nvPr/>
        </p:nvSpPr>
        <p:spPr bwMode="auto">
          <a:xfrm>
            <a:off x="12192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0</a:t>
            </a:r>
          </a:p>
        </p:txBody>
      </p:sp>
      <p:sp>
        <p:nvSpPr>
          <p:cNvPr id="29712" name="Text Box 53">
            <a:extLst>
              <a:ext uri="{FF2B5EF4-FFF2-40B4-BE49-F238E27FC236}">
                <a16:creationId xmlns:a16="http://schemas.microsoft.com/office/drawing/2014/main" id="{9DAFBC9A-CF10-F146-BD27-14C9472ED62B}"/>
              </a:ext>
            </a:extLst>
          </p:cNvPr>
          <p:cNvSpPr txBox="1">
            <a:spLocks noChangeArrowheads="1"/>
          </p:cNvSpPr>
          <p:nvPr/>
        </p:nvSpPr>
        <p:spPr bwMode="auto">
          <a:xfrm>
            <a:off x="39624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6</a:t>
            </a:r>
          </a:p>
        </p:txBody>
      </p:sp>
      <p:sp>
        <p:nvSpPr>
          <p:cNvPr id="29713" name="Text Box 53">
            <a:extLst>
              <a:ext uri="{FF2B5EF4-FFF2-40B4-BE49-F238E27FC236}">
                <a16:creationId xmlns:a16="http://schemas.microsoft.com/office/drawing/2014/main" id="{AD8CFA7A-3F5A-3A4F-8905-7E4EDEE4F6EB}"/>
              </a:ext>
            </a:extLst>
          </p:cNvPr>
          <p:cNvSpPr txBox="1">
            <a:spLocks noChangeArrowheads="1"/>
          </p:cNvSpPr>
          <p:nvPr/>
        </p:nvSpPr>
        <p:spPr bwMode="auto">
          <a:xfrm>
            <a:off x="16764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1</a:t>
            </a:r>
          </a:p>
        </p:txBody>
      </p:sp>
      <p:sp>
        <p:nvSpPr>
          <p:cNvPr id="29714" name="Text Box 53">
            <a:extLst>
              <a:ext uri="{FF2B5EF4-FFF2-40B4-BE49-F238E27FC236}">
                <a16:creationId xmlns:a16="http://schemas.microsoft.com/office/drawing/2014/main" id="{DA2AB2EB-A295-B548-BA06-CCD5F8ADED6D}"/>
              </a:ext>
            </a:extLst>
          </p:cNvPr>
          <p:cNvSpPr txBox="1">
            <a:spLocks noChangeArrowheads="1"/>
          </p:cNvSpPr>
          <p:nvPr/>
        </p:nvSpPr>
        <p:spPr bwMode="auto">
          <a:xfrm>
            <a:off x="21336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2</a:t>
            </a:r>
          </a:p>
        </p:txBody>
      </p:sp>
      <p:sp>
        <p:nvSpPr>
          <p:cNvPr id="29715" name="Text Box 53">
            <a:extLst>
              <a:ext uri="{FF2B5EF4-FFF2-40B4-BE49-F238E27FC236}">
                <a16:creationId xmlns:a16="http://schemas.microsoft.com/office/drawing/2014/main" id="{9DB3A205-4AA8-BD4F-ADD8-0C0B9C5F3A9F}"/>
              </a:ext>
            </a:extLst>
          </p:cNvPr>
          <p:cNvSpPr txBox="1">
            <a:spLocks noChangeArrowheads="1"/>
          </p:cNvSpPr>
          <p:nvPr/>
        </p:nvSpPr>
        <p:spPr bwMode="auto">
          <a:xfrm>
            <a:off x="25908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3</a:t>
            </a:r>
          </a:p>
        </p:txBody>
      </p:sp>
      <p:sp>
        <p:nvSpPr>
          <p:cNvPr id="29716" name="Text Box 53">
            <a:extLst>
              <a:ext uri="{FF2B5EF4-FFF2-40B4-BE49-F238E27FC236}">
                <a16:creationId xmlns:a16="http://schemas.microsoft.com/office/drawing/2014/main" id="{D9C31794-319A-6E4B-A7FA-62CC561FA0F5}"/>
              </a:ext>
            </a:extLst>
          </p:cNvPr>
          <p:cNvSpPr txBox="1">
            <a:spLocks noChangeArrowheads="1"/>
          </p:cNvSpPr>
          <p:nvPr/>
        </p:nvSpPr>
        <p:spPr bwMode="auto">
          <a:xfrm>
            <a:off x="30480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4</a:t>
            </a:r>
          </a:p>
        </p:txBody>
      </p:sp>
      <p:sp>
        <p:nvSpPr>
          <p:cNvPr id="29717" name="Text Box 53">
            <a:extLst>
              <a:ext uri="{FF2B5EF4-FFF2-40B4-BE49-F238E27FC236}">
                <a16:creationId xmlns:a16="http://schemas.microsoft.com/office/drawing/2014/main" id="{EF73CAE1-58ED-9C46-9E54-1AC20260F26F}"/>
              </a:ext>
            </a:extLst>
          </p:cNvPr>
          <p:cNvSpPr txBox="1">
            <a:spLocks noChangeArrowheads="1"/>
          </p:cNvSpPr>
          <p:nvPr/>
        </p:nvSpPr>
        <p:spPr bwMode="auto">
          <a:xfrm>
            <a:off x="3505200" y="15240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5</a:t>
            </a:r>
          </a:p>
        </p:txBody>
      </p:sp>
      <p:sp>
        <p:nvSpPr>
          <p:cNvPr id="29718" name="Rectangle 4">
            <a:extLst>
              <a:ext uri="{FF2B5EF4-FFF2-40B4-BE49-F238E27FC236}">
                <a16:creationId xmlns:a16="http://schemas.microsoft.com/office/drawing/2014/main" id="{28CF3428-902C-C54E-8560-62A01AF45855}"/>
              </a:ext>
            </a:extLst>
          </p:cNvPr>
          <p:cNvSpPr>
            <a:spLocks noChangeArrowheads="1"/>
          </p:cNvSpPr>
          <p:nvPr/>
        </p:nvSpPr>
        <p:spPr bwMode="auto">
          <a:xfrm>
            <a:off x="1143000" y="2590800"/>
            <a:ext cx="457200" cy="457200"/>
          </a:xfrm>
          <a:prstGeom prst="rect">
            <a:avLst/>
          </a:prstGeom>
          <a:solidFill>
            <a:srgbClr val="FF66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solidFill>
                  <a:schemeClr val="bg1"/>
                </a:solidFill>
                <a:latin typeface="Arial" panose="020B0604020202020204" pitchFamily="34" charset="0"/>
              </a:rPr>
              <a:t>13</a:t>
            </a:r>
          </a:p>
        </p:txBody>
      </p:sp>
      <p:sp>
        <p:nvSpPr>
          <p:cNvPr id="29719" name="Rectangle 5">
            <a:extLst>
              <a:ext uri="{FF2B5EF4-FFF2-40B4-BE49-F238E27FC236}">
                <a16:creationId xmlns:a16="http://schemas.microsoft.com/office/drawing/2014/main" id="{E8EA2D71-A01F-AB47-8971-3A6BE0BE96F5}"/>
              </a:ext>
            </a:extLst>
          </p:cNvPr>
          <p:cNvSpPr>
            <a:spLocks noChangeArrowheads="1"/>
          </p:cNvSpPr>
          <p:nvPr/>
        </p:nvSpPr>
        <p:spPr bwMode="auto">
          <a:xfrm>
            <a:off x="16002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29720" name="Rectangle 6">
            <a:extLst>
              <a:ext uri="{FF2B5EF4-FFF2-40B4-BE49-F238E27FC236}">
                <a16:creationId xmlns:a16="http://schemas.microsoft.com/office/drawing/2014/main" id="{763B9B58-992E-0D40-B0D7-DE0F3E6F06D0}"/>
              </a:ext>
            </a:extLst>
          </p:cNvPr>
          <p:cNvSpPr>
            <a:spLocks noChangeArrowheads="1"/>
          </p:cNvSpPr>
          <p:nvPr/>
        </p:nvSpPr>
        <p:spPr bwMode="auto">
          <a:xfrm>
            <a:off x="20574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29721" name="Rectangle 7">
            <a:extLst>
              <a:ext uri="{FF2B5EF4-FFF2-40B4-BE49-F238E27FC236}">
                <a16:creationId xmlns:a16="http://schemas.microsoft.com/office/drawing/2014/main" id="{82662D6F-3323-E848-B62C-6D6AEACD5BAE}"/>
              </a:ext>
            </a:extLst>
          </p:cNvPr>
          <p:cNvSpPr>
            <a:spLocks noChangeArrowheads="1"/>
          </p:cNvSpPr>
          <p:nvPr/>
        </p:nvSpPr>
        <p:spPr bwMode="auto">
          <a:xfrm>
            <a:off x="25146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29722" name="Rectangle 8">
            <a:extLst>
              <a:ext uri="{FF2B5EF4-FFF2-40B4-BE49-F238E27FC236}">
                <a16:creationId xmlns:a16="http://schemas.microsoft.com/office/drawing/2014/main" id="{3A0B62F8-219E-CF48-9649-29896C120AAF}"/>
              </a:ext>
            </a:extLst>
          </p:cNvPr>
          <p:cNvSpPr>
            <a:spLocks noChangeArrowheads="1"/>
          </p:cNvSpPr>
          <p:nvPr/>
        </p:nvSpPr>
        <p:spPr bwMode="auto">
          <a:xfrm>
            <a:off x="29718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29723" name="Rectangle 9">
            <a:extLst>
              <a:ext uri="{FF2B5EF4-FFF2-40B4-BE49-F238E27FC236}">
                <a16:creationId xmlns:a16="http://schemas.microsoft.com/office/drawing/2014/main" id="{1855ED71-D9F5-B144-894D-4CD2D4C5162E}"/>
              </a:ext>
            </a:extLst>
          </p:cNvPr>
          <p:cNvSpPr>
            <a:spLocks noChangeArrowheads="1"/>
          </p:cNvSpPr>
          <p:nvPr/>
        </p:nvSpPr>
        <p:spPr bwMode="auto">
          <a:xfrm>
            <a:off x="34290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9724" name="Rectangle 10">
            <a:extLst>
              <a:ext uri="{FF2B5EF4-FFF2-40B4-BE49-F238E27FC236}">
                <a16:creationId xmlns:a16="http://schemas.microsoft.com/office/drawing/2014/main" id="{16214628-D0C4-794A-ADAF-C795D3D3DE2C}"/>
              </a:ext>
            </a:extLst>
          </p:cNvPr>
          <p:cNvSpPr>
            <a:spLocks noChangeArrowheads="1"/>
          </p:cNvSpPr>
          <p:nvPr/>
        </p:nvSpPr>
        <p:spPr bwMode="auto">
          <a:xfrm>
            <a:off x="38862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9725" name="Text Box 53">
            <a:extLst>
              <a:ext uri="{FF2B5EF4-FFF2-40B4-BE49-F238E27FC236}">
                <a16:creationId xmlns:a16="http://schemas.microsoft.com/office/drawing/2014/main" id="{7B522027-6D1D-8A44-8FF7-DB5D2B54587D}"/>
              </a:ext>
            </a:extLst>
          </p:cNvPr>
          <p:cNvSpPr txBox="1">
            <a:spLocks noChangeArrowheads="1"/>
          </p:cNvSpPr>
          <p:nvPr/>
        </p:nvSpPr>
        <p:spPr bwMode="auto">
          <a:xfrm>
            <a:off x="3962400" y="31242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j = 6</a:t>
            </a:r>
          </a:p>
        </p:txBody>
      </p:sp>
      <p:cxnSp>
        <p:nvCxnSpPr>
          <p:cNvPr id="29726" name="Straight Arrow Connector 39">
            <a:extLst>
              <a:ext uri="{FF2B5EF4-FFF2-40B4-BE49-F238E27FC236}">
                <a16:creationId xmlns:a16="http://schemas.microsoft.com/office/drawing/2014/main" id="{66B74270-3E1D-3D47-9CCC-0C2309647143}"/>
              </a:ext>
            </a:extLst>
          </p:cNvPr>
          <p:cNvCxnSpPr>
            <a:cxnSpLocks noChangeShapeType="1"/>
          </p:cNvCxnSpPr>
          <p:nvPr/>
        </p:nvCxnSpPr>
        <p:spPr bwMode="auto">
          <a:xfrm>
            <a:off x="1600200" y="3505200"/>
            <a:ext cx="4572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9727" name="Straight Arrow Connector 40">
            <a:extLst>
              <a:ext uri="{FF2B5EF4-FFF2-40B4-BE49-F238E27FC236}">
                <a16:creationId xmlns:a16="http://schemas.microsoft.com/office/drawing/2014/main" id="{C5C91D03-A683-064B-988F-500DB2368564}"/>
              </a:ext>
            </a:extLst>
          </p:cNvPr>
          <p:cNvCxnSpPr>
            <a:cxnSpLocks noChangeShapeType="1"/>
          </p:cNvCxnSpPr>
          <p:nvPr/>
        </p:nvCxnSpPr>
        <p:spPr bwMode="auto">
          <a:xfrm flipH="1">
            <a:off x="3886200" y="3505200"/>
            <a:ext cx="4572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9728" name="Text Box 53">
            <a:extLst>
              <a:ext uri="{FF2B5EF4-FFF2-40B4-BE49-F238E27FC236}">
                <a16:creationId xmlns:a16="http://schemas.microsoft.com/office/drawing/2014/main" id="{BE79578E-34AD-8544-AEE8-6C18CF89D947}"/>
              </a:ext>
            </a:extLst>
          </p:cNvPr>
          <p:cNvSpPr txBox="1">
            <a:spLocks noChangeArrowheads="1"/>
          </p:cNvSpPr>
          <p:nvPr/>
        </p:nvSpPr>
        <p:spPr bwMode="auto">
          <a:xfrm>
            <a:off x="2057400" y="450691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i = 2</a:t>
            </a:r>
          </a:p>
        </p:txBody>
      </p:sp>
      <p:sp>
        <p:nvSpPr>
          <p:cNvPr id="29729" name="Rectangle 4">
            <a:extLst>
              <a:ext uri="{FF2B5EF4-FFF2-40B4-BE49-F238E27FC236}">
                <a16:creationId xmlns:a16="http://schemas.microsoft.com/office/drawing/2014/main" id="{836D97A8-FB9C-F848-B9A1-06F58ABDE822}"/>
              </a:ext>
            </a:extLst>
          </p:cNvPr>
          <p:cNvSpPr>
            <a:spLocks noChangeArrowheads="1"/>
          </p:cNvSpPr>
          <p:nvPr/>
        </p:nvSpPr>
        <p:spPr bwMode="auto">
          <a:xfrm>
            <a:off x="1143000" y="3973513"/>
            <a:ext cx="457200" cy="457200"/>
          </a:xfrm>
          <a:prstGeom prst="rect">
            <a:avLst/>
          </a:prstGeom>
          <a:solidFill>
            <a:srgbClr val="FF66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solidFill>
                  <a:schemeClr val="bg1"/>
                </a:solidFill>
                <a:latin typeface="Arial" panose="020B0604020202020204" pitchFamily="34" charset="0"/>
              </a:rPr>
              <a:t>13</a:t>
            </a:r>
          </a:p>
        </p:txBody>
      </p:sp>
      <p:sp>
        <p:nvSpPr>
          <p:cNvPr id="29730" name="Rectangle 5">
            <a:extLst>
              <a:ext uri="{FF2B5EF4-FFF2-40B4-BE49-F238E27FC236}">
                <a16:creationId xmlns:a16="http://schemas.microsoft.com/office/drawing/2014/main" id="{0A877619-A322-1447-8CC2-E080182AF841}"/>
              </a:ext>
            </a:extLst>
          </p:cNvPr>
          <p:cNvSpPr>
            <a:spLocks noChangeArrowheads="1"/>
          </p:cNvSpPr>
          <p:nvPr/>
        </p:nvSpPr>
        <p:spPr bwMode="auto">
          <a:xfrm>
            <a:off x="1600200" y="3973513"/>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45" name="Rectangle 6">
            <a:extLst>
              <a:ext uri="{FF2B5EF4-FFF2-40B4-BE49-F238E27FC236}">
                <a16:creationId xmlns:a16="http://schemas.microsoft.com/office/drawing/2014/main" id="{DC60BA56-FE61-496E-8BB1-7A431ED7FDAE}"/>
              </a:ext>
            </a:extLst>
          </p:cNvPr>
          <p:cNvSpPr>
            <a:spLocks noChangeArrowheads="1"/>
          </p:cNvSpPr>
          <p:nvPr/>
        </p:nvSpPr>
        <p:spPr bwMode="auto">
          <a:xfrm>
            <a:off x="2057400" y="3973513"/>
            <a:ext cx="457200" cy="457200"/>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rPr>
              <a:t>14</a:t>
            </a:r>
          </a:p>
        </p:txBody>
      </p:sp>
      <p:sp>
        <p:nvSpPr>
          <p:cNvPr id="29732" name="Rectangle 7">
            <a:extLst>
              <a:ext uri="{FF2B5EF4-FFF2-40B4-BE49-F238E27FC236}">
                <a16:creationId xmlns:a16="http://schemas.microsoft.com/office/drawing/2014/main" id="{108A74D3-9DF8-5849-AAD6-7B47A6CF65CF}"/>
              </a:ext>
            </a:extLst>
          </p:cNvPr>
          <p:cNvSpPr>
            <a:spLocks noChangeArrowheads="1"/>
          </p:cNvSpPr>
          <p:nvPr/>
        </p:nvSpPr>
        <p:spPr bwMode="auto">
          <a:xfrm>
            <a:off x="2514600" y="3973513"/>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47" name="Rectangle 8">
            <a:extLst>
              <a:ext uri="{FF2B5EF4-FFF2-40B4-BE49-F238E27FC236}">
                <a16:creationId xmlns:a16="http://schemas.microsoft.com/office/drawing/2014/main" id="{43B0B8DA-8796-4E39-986B-FE613FE943F9}"/>
              </a:ext>
            </a:extLst>
          </p:cNvPr>
          <p:cNvSpPr>
            <a:spLocks noChangeArrowheads="1"/>
          </p:cNvSpPr>
          <p:nvPr/>
        </p:nvSpPr>
        <p:spPr bwMode="auto">
          <a:xfrm>
            <a:off x="2971800" y="3973513"/>
            <a:ext cx="457200" cy="457200"/>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rPr>
              <a:t>11</a:t>
            </a:r>
          </a:p>
        </p:txBody>
      </p:sp>
      <p:sp>
        <p:nvSpPr>
          <p:cNvPr id="29734" name="Rectangle 9">
            <a:extLst>
              <a:ext uri="{FF2B5EF4-FFF2-40B4-BE49-F238E27FC236}">
                <a16:creationId xmlns:a16="http://schemas.microsoft.com/office/drawing/2014/main" id="{4DB1DA9B-E502-E64F-9D41-5C2416222A0A}"/>
              </a:ext>
            </a:extLst>
          </p:cNvPr>
          <p:cNvSpPr>
            <a:spLocks noChangeArrowheads="1"/>
          </p:cNvSpPr>
          <p:nvPr/>
        </p:nvSpPr>
        <p:spPr bwMode="auto">
          <a:xfrm>
            <a:off x="3429000" y="3973513"/>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9735" name="Rectangle 10">
            <a:extLst>
              <a:ext uri="{FF2B5EF4-FFF2-40B4-BE49-F238E27FC236}">
                <a16:creationId xmlns:a16="http://schemas.microsoft.com/office/drawing/2014/main" id="{BB59F8A3-29F0-D84D-A42C-E398EF8DC89C}"/>
              </a:ext>
            </a:extLst>
          </p:cNvPr>
          <p:cNvSpPr>
            <a:spLocks noChangeArrowheads="1"/>
          </p:cNvSpPr>
          <p:nvPr/>
        </p:nvSpPr>
        <p:spPr bwMode="auto">
          <a:xfrm>
            <a:off x="3886200" y="3973513"/>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9736" name="Text Box 53">
            <a:extLst>
              <a:ext uri="{FF2B5EF4-FFF2-40B4-BE49-F238E27FC236}">
                <a16:creationId xmlns:a16="http://schemas.microsoft.com/office/drawing/2014/main" id="{3C9C46FD-4AD6-DD40-A0C5-6E8FEC7850B5}"/>
              </a:ext>
            </a:extLst>
          </p:cNvPr>
          <p:cNvSpPr txBox="1">
            <a:spLocks noChangeArrowheads="1"/>
          </p:cNvSpPr>
          <p:nvPr/>
        </p:nvSpPr>
        <p:spPr bwMode="auto">
          <a:xfrm>
            <a:off x="3048000" y="450691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j = 4</a:t>
            </a:r>
          </a:p>
        </p:txBody>
      </p:sp>
      <p:sp>
        <p:nvSpPr>
          <p:cNvPr id="29737" name="Freeform 50">
            <a:extLst>
              <a:ext uri="{FF2B5EF4-FFF2-40B4-BE49-F238E27FC236}">
                <a16:creationId xmlns:a16="http://schemas.microsoft.com/office/drawing/2014/main" id="{7A7F0393-C1F1-3E4B-B3BC-195E946B6F4A}"/>
              </a:ext>
            </a:extLst>
          </p:cNvPr>
          <p:cNvSpPr>
            <a:spLocks noChangeArrowheads="1"/>
          </p:cNvSpPr>
          <p:nvPr/>
        </p:nvSpPr>
        <p:spPr bwMode="auto">
          <a:xfrm>
            <a:off x="2300288" y="3714750"/>
            <a:ext cx="914400" cy="252413"/>
          </a:xfrm>
          <a:custGeom>
            <a:avLst/>
            <a:gdLst>
              <a:gd name="T0" fmla="*/ 0 w 914400"/>
              <a:gd name="T1" fmla="*/ 248613 h 253180"/>
              <a:gd name="T2" fmla="*/ 442452 w 914400"/>
              <a:gd name="T3" fmla="*/ 2416 h 253180"/>
              <a:gd name="T4" fmla="*/ 914400 w 914400"/>
              <a:gd name="T5" fmla="*/ 234131 h 253180"/>
              <a:gd name="T6" fmla="*/ 0 60000 65536"/>
              <a:gd name="T7" fmla="*/ 0 60000 65536"/>
              <a:gd name="T8" fmla="*/ 0 60000 65536"/>
              <a:gd name="T9" fmla="*/ 0 w 914400"/>
              <a:gd name="T10" fmla="*/ 0 h 253180"/>
              <a:gd name="T11" fmla="*/ 914400 w 914400"/>
              <a:gd name="T12" fmla="*/ 253180 h 253180"/>
            </a:gdLst>
            <a:ahLst/>
            <a:cxnLst>
              <a:cxn ang="T6">
                <a:pos x="T0" y="T1"/>
              </a:cxn>
              <a:cxn ang="T7">
                <a:pos x="T2" y="T3"/>
              </a:cxn>
              <a:cxn ang="T8">
                <a:pos x="T4" y="T5"/>
              </a:cxn>
            </a:cxnLst>
            <a:rect l="T9" t="T10" r="T11" b="T12"/>
            <a:pathLst>
              <a:path w="914400" h="253180">
                <a:moveTo>
                  <a:pt x="0" y="253180"/>
                </a:moveTo>
                <a:cubicBezTo>
                  <a:pt x="145026" y="129048"/>
                  <a:pt x="290052" y="4916"/>
                  <a:pt x="442452" y="2458"/>
                </a:cubicBezTo>
                <a:cubicBezTo>
                  <a:pt x="594852" y="0"/>
                  <a:pt x="754626" y="119216"/>
                  <a:pt x="914400" y="238432"/>
                </a:cubicBezTo>
              </a:path>
            </a:pathLst>
          </a:custGeom>
          <a:noFill/>
          <a:ln w="25400" algn="ctr">
            <a:solidFill>
              <a:schemeClr val="tx1"/>
            </a:solidFill>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38" name="Text Box 53">
            <a:extLst>
              <a:ext uri="{FF2B5EF4-FFF2-40B4-BE49-F238E27FC236}">
                <a16:creationId xmlns:a16="http://schemas.microsoft.com/office/drawing/2014/main" id="{8B875305-3153-4C4E-A61C-B7C02C89F745}"/>
              </a:ext>
            </a:extLst>
          </p:cNvPr>
          <p:cNvSpPr txBox="1">
            <a:spLocks noChangeArrowheads="1"/>
          </p:cNvSpPr>
          <p:nvPr/>
        </p:nvSpPr>
        <p:spPr bwMode="auto">
          <a:xfrm>
            <a:off x="2057400" y="55626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i = 2</a:t>
            </a:r>
          </a:p>
        </p:txBody>
      </p:sp>
      <p:sp>
        <p:nvSpPr>
          <p:cNvPr id="29739" name="Rectangle 4">
            <a:extLst>
              <a:ext uri="{FF2B5EF4-FFF2-40B4-BE49-F238E27FC236}">
                <a16:creationId xmlns:a16="http://schemas.microsoft.com/office/drawing/2014/main" id="{8B7F3AA4-050D-BA44-B170-59DCB56BA804}"/>
              </a:ext>
            </a:extLst>
          </p:cNvPr>
          <p:cNvSpPr>
            <a:spLocks noChangeArrowheads="1"/>
          </p:cNvSpPr>
          <p:nvPr/>
        </p:nvSpPr>
        <p:spPr bwMode="auto">
          <a:xfrm>
            <a:off x="1143000" y="5029200"/>
            <a:ext cx="457200" cy="457200"/>
          </a:xfrm>
          <a:prstGeom prst="rect">
            <a:avLst/>
          </a:prstGeom>
          <a:solidFill>
            <a:srgbClr val="FF66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solidFill>
                  <a:schemeClr val="bg1"/>
                </a:solidFill>
                <a:latin typeface="Arial" panose="020B0604020202020204" pitchFamily="34" charset="0"/>
              </a:rPr>
              <a:t>13</a:t>
            </a:r>
          </a:p>
        </p:txBody>
      </p:sp>
      <p:sp>
        <p:nvSpPr>
          <p:cNvPr id="29740" name="Rectangle 5">
            <a:extLst>
              <a:ext uri="{FF2B5EF4-FFF2-40B4-BE49-F238E27FC236}">
                <a16:creationId xmlns:a16="http://schemas.microsoft.com/office/drawing/2014/main" id="{6162C84A-862C-AD42-BD70-D4E8C519FB64}"/>
              </a:ext>
            </a:extLst>
          </p:cNvPr>
          <p:cNvSpPr>
            <a:spLocks noChangeArrowheads="1"/>
          </p:cNvSpPr>
          <p:nvPr/>
        </p:nvSpPr>
        <p:spPr bwMode="auto">
          <a:xfrm>
            <a:off x="1600200" y="50292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55" name="Rectangle 6">
            <a:extLst>
              <a:ext uri="{FF2B5EF4-FFF2-40B4-BE49-F238E27FC236}">
                <a16:creationId xmlns:a16="http://schemas.microsoft.com/office/drawing/2014/main" id="{63F4B2C8-B6E1-40A6-A276-9831CFD5FF67}"/>
              </a:ext>
            </a:extLst>
          </p:cNvPr>
          <p:cNvSpPr>
            <a:spLocks noChangeArrowheads="1"/>
          </p:cNvSpPr>
          <p:nvPr/>
        </p:nvSpPr>
        <p:spPr bwMode="auto">
          <a:xfrm>
            <a:off x="2057400" y="5029200"/>
            <a:ext cx="457200" cy="457200"/>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rPr>
              <a:t>11</a:t>
            </a:r>
          </a:p>
        </p:txBody>
      </p:sp>
      <p:sp>
        <p:nvSpPr>
          <p:cNvPr id="29742" name="Rectangle 7">
            <a:extLst>
              <a:ext uri="{FF2B5EF4-FFF2-40B4-BE49-F238E27FC236}">
                <a16:creationId xmlns:a16="http://schemas.microsoft.com/office/drawing/2014/main" id="{35AE7595-A565-2946-8269-921E4048B37E}"/>
              </a:ext>
            </a:extLst>
          </p:cNvPr>
          <p:cNvSpPr>
            <a:spLocks noChangeArrowheads="1"/>
          </p:cNvSpPr>
          <p:nvPr/>
        </p:nvSpPr>
        <p:spPr bwMode="auto">
          <a:xfrm>
            <a:off x="2514600" y="50292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57" name="Rectangle 8">
            <a:extLst>
              <a:ext uri="{FF2B5EF4-FFF2-40B4-BE49-F238E27FC236}">
                <a16:creationId xmlns:a16="http://schemas.microsoft.com/office/drawing/2014/main" id="{8CDDE9AA-202C-48CB-B64E-BD7B827A504D}"/>
              </a:ext>
            </a:extLst>
          </p:cNvPr>
          <p:cNvSpPr>
            <a:spLocks noChangeArrowheads="1"/>
          </p:cNvSpPr>
          <p:nvPr/>
        </p:nvSpPr>
        <p:spPr bwMode="auto">
          <a:xfrm>
            <a:off x="2971800" y="5029200"/>
            <a:ext cx="457200" cy="457200"/>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rPr>
              <a:t>14</a:t>
            </a:r>
          </a:p>
        </p:txBody>
      </p:sp>
      <p:sp>
        <p:nvSpPr>
          <p:cNvPr id="29744" name="Rectangle 9">
            <a:extLst>
              <a:ext uri="{FF2B5EF4-FFF2-40B4-BE49-F238E27FC236}">
                <a16:creationId xmlns:a16="http://schemas.microsoft.com/office/drawing/2014/main" id="{16F2F3F9-0065-1245-AE76-73B3F664719C}"/>
              </a:ext>
            </a:extLst>
          </p:cNvPr>
          <p:cNvSpPr>
            <a:spLocks noChangeArrowheads="1"/>
          </p:cNvSpPr>
          <p:nvPr/>
        </p:nvSpPr>
        <p:spPr bwMode="auto">
          <a:xfrm>
            <a:off x="3429000" y="50292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9745" name="Rectangle 10">
            <a:extLst>
              <a:ext uri="{FF2B5EF4-FFF2-40B4-BE49-F238E27FC236}">
                <a16:creationId xmlns:a16="http://schemas.microsoft.com/office/drawing/2014/main" id="{514B46E9-C51F-194D-B53F-06658F757558}"/>
              </a:ext>
            </a:extLst>
          </p:cNvPr>
          <p:cNvSpPr>
            <a:spLocks noChangeArrowheads="1"/>
          </p:cNvSpPr>
          <p:nvPr/>
        </p:nvSpPr>
        <p:spPr bwMode="auto">
          <a:xfrm>
            <a:off x="3886200" y="50292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9746" name="Text Box 53">
            <a:extLst>
              <a:ext uri="{FF2B5EF4-FFF2-40B4-BE49-F238E27FC236}">
                <a16:creationId xmlns:a16="http://schemas.microsoft.com/office/drawing/2014/main" id="{576F1FC0-4389-B141-93DD-D2599A9FF3E7}"/>
              </a:ext>
            </a:extLst>
          </p:cNvPr>
          <p:cNvSpPr txBox="1">
            <a:spLocks noChangeArrowheads="1"/>
          </p:cNvSpPr>
          <p:nvPr/>
        </p:nvSpPr>
        <p:spPr bwMode="auto">
          <a:xfrm>
            <a:off x="3048000" y="55626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j = 4</a:t>
            </a:r>
          </a:p>
        </p:txBody>
      </p:sp>
      <p:cxnSp>
        <p:nvCxnSpPr>
          <p:cNvPr id="29747" name="Straight Arrow Connector 60">
            <a:extLst>
              <a:ext uri="{FF2B5EF4-FFF2-40B4-BE49-F238E27FC236}">
                <a16:creationId xmlns:a16="http://schemas.microsoft.com/office/drawing/2014/main" id="{30A57749-AABB-F545-949C-98976FDB3C52}"/>
              </a:ext>
            </a:extLst>
          </p:cNvPr>
          <p:cNvCxnSpPr>
            <a:cxnSpLocks noChangeShapeType="1"/>
          </p:cNvCxnSpPr>
          <p:nvPr/>
        </p:nvCxnSpPr>
        <p:spPr bwMode="auto">
          <a:xfrm>
            <a:off x="2057400" y="5943600"/>
            <a:ext cx="4572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9748" name="Straight Arrow Connector 61">
            <a:extLst>
              <a:ext uri="{FF2B5EF4-FFF2-40B4-BE49-F238E27FC236}">
                <a16:creationId xmlns:a16="http://schemas.microsoft.com/office/drawing/2014/main" id="{CDB9DB65-866D-0945-A9F8-723D51EB203F}"/>
              </a:ext>
            </a:extLst>
          </p:cNvPr>
          <p:cNvCxnSpPr>
            <a:cxnSpLocks noChangeShapeType="1"/>
          </p:cNvCxnSpPr>
          <p:nvPr/>
        </p:nvCxnSpPr>
        <p:spPr bwMode="auto">
          <a:xfrm flipH="1">
            <a:off x="2971800" y="5943600"/>
            <a:ext cx="457200"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29749" name="Text Box 53">
            <a:extLst>
              <a:ext uri="{FF2B5EF4-FFF2-40B4-BE49-F238E27FC236}">
                <a16:creationId xmlns:a16="http://schemas.microsoft.com/office/drawing/2014/main" id="{28B01F3A-EE57-8A4C-B4AC-F4FE845381CF}"/>
              </a:ext>
            </a:extLst>
          </p:cNvPr>
          <p:cNvSpPr txBox="1">
            <a:spLocks noChangeArrowheads="1"/>
          </p:cNvSpPr>
          <p:nvPr/>
        </p:nvSpPr>
        <p:spPr bwMode="auto">
          <a:xfrm>
            <a:off x="6477000" y="321151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i = 3</a:t>
            </a:r>
          </a:p>
        </p:txBody>
      </p:sp>
      <p:sp>
        <p:nvSpPr>
          <p:cNvPr id="29750" name="Rectangle 4">
            <a:extLst>
              <a:ext uri="{FF2B5EF4-FFF2-40B4-BE49-F238E27FC236}">
                <a16:creationId xmlns:a16="http://schemas.microsoft.com/office/drawing/2014/main" id="{8EF74583-82DE-8742-AA7D-EAA435631207}"/>
              </a:ext>
            </a:extLst>
          </p:cNvPr>
          <p:cNvSpPr>
            <a:spLocks noChangeArrowheads="1"/>
          </p:cNvSpPr>
          <p:nvPr/>
        </p:nvSpPr>
        <p:spPr bwMode="auto">
          <a:xfrm>
            <a:off x="5105400" y="2590800"/>
            <a:ext cx="457200" cy="457200"/>
          </a:xfrm>
          <a:prstGeom prst="rect">
            <a:avLst/>
          </a:prstGeom>
          <a:solidFill>
            <a:srgbClr val="FF66FF"/>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solidFill>
                  <a:schemeClr val="bg1"/>
                </a:solidFill>
                <a:latin typeface="Arial" panose="020B0604020202020204" pitchFamily="34" charset="0"/>
              </a:rPr>
              <a:t>13</a:t>
            </a:r>
          </a:p>
        </p:txBody>
      </p:sp>
      <p:sp>
        <p:nvSpPr>
          <p:cNvPr id="29751" name="Rectangle 5">
            <a:extLst>
              <a:ext uri="{FF2B5EF4-FFF2-40B4-BE49-F238E27FC236}">
                <a16:creationId xmlns:a16="http://schemas.microsoft.com/office/drawing/2014/main" id="{B21B8E1A-C137-FA44-9A28-13F71662D6FE}"/>
              </a:ext>
            </a:extLst>
          </p:cNvPr>
          <p:cNvSpPr>
            <a:spLocks noChangeArrowheads="1"/>
          </p:cNvSpPr>
          <p:nvPr/>
        </p:nvSpPr>
        <p:spPr bwMode="auto">
          <a:xfrm>
            <a:off x="55626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66" name="Rectangle 6">
            <a:extLst>
              <a:ext uri="{FF2B5EF4-FFF2-40B4-BE49-F238E27FC236}">
                <a16:creationId xmlns:a16="http://schemas.microsoft.com/office/drawing/2014/main" id="{E8CA5A75-8EAC-47FB-AD87-53F0022628E3}"/>
              </a:ext>
            </a:extLst>
          </p:cNvPr>
          <p:cNvSpPr>
            <a:spLocks noChangeArrowheads="1"/>
          </p:cNvSpPr>
          <p:nvPr/>
        </p:nvSpPr>
        <p:spPr bwMode="auto">
          <a:xfrm>
            <a:off x="6019800" y="2590800"/>
            <a:ext cx="457200" cy="457200"/>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rPr>
              <a:t>11</a:t>
            </a:r>
          </a:p>
        </p:txBody>
      </p:sp>
      <p:sp>
        <p:nvSpPr>
          <p:cNvPr id="67" name="Rectangle 7">
            <a:extLst>
              <a:ext uri="{FF2B5EF4-FFF2-40B4-BE49-F238E27FC236}">
                <a16:creationId xmlns:a16="http://schemas.microsoft.com/office/drawing/2014/main" id="{A97397D4-140D-42D3-85C9-766CE61948B7}"/>
              </a:ext>
            </a:extLst>
          </p:cNvPr>
          <p:cNvSpPr>
            <a:spLocks noChangeArrowheads="1"/>
          </p:cNvSpPr>
          <p:nvPr/>
        </p:nvSpPr>
        <p:spPr bwMode="auto">
          <a:xfrm>
            <a:off x="6477000" y="2590800"/>
            <a:ext cx="457200" cy="457200"/>
          </a:xfrm>
          <a:prstGeom prst="rect">
            <a:avLst/>
          </a:prstGeom>
          <a:solidFill>
            <a:schemeClr val="tx2">
              <a:lumMod val="40000"/>
              <a:lumOff val="60000"/>
            </a:schemeClr>
          </a:solidFill>
          <a:ln w="9525">
            <a:solidFill>
              <a:schemeClr val="tx1"/>
            </a:solidFill>
            <a:miter lim="800000"/>
            <a:headEnd/>
            <a:tailEnd/>
          </a:ln>
        </p:spPr>
        <p:txBody>
          <a:bodyPr wrap="none" anchor="ctr"/>
          <a:lstStyle/>
          <a:p>
            <a:pPr algn="ctr" eaLnBrk="1" hangingPunct="1">
              <a:defRPr/>
            </a:pPr>
            <a:r>
              <a:rPr lang="en-US" sz="2000">
                <a:latin typeface="Arial" charset="0"/>
              </a:rPr>
              <a:t>15</a:t>
            </a:r>
          </a:p>
        </p:txBody>
      </p:sp>
      <p:sp>
        <p:nvSpPr>
          <p:cNvPr id="29754" name="Rectangle 8">
            <a:extLst>
              <a:ext uri="{FF2B5EF4-FFF2-40B4-BE49-F238E27FC236}">
                <a16:creationId xmlns:a16="http://schemas.microsoft.com/office/drawing/2014/main" id="{D2C29D94-56CD-0342-A7CE-2B8AD1FD6F5A}"/>
              </a:ext>
            </a:extLst>
          </p:cNvPr>
          <p:cNvSpPr>
            <a:spLocks noChangeArrowheads="1"/>
          </p:cNvSpPr>
          <p:nvPr/>
        </p:nvSpPr>
        <p:spPr bwMode="auto">
          <a:xfrm>
            <a:off x="69342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29755" name="Rectangle 9">
            <a:extLst>
              <a:ext uri="{FF2B5EF4-FFF2-40B4-BE49-F238E27FC236}">
                <a16:creationId xmlns:a16="http://schemas.microsoft.com/office/drawing/2014/main" id="{FB65F158-7CDE-824F-A91D-EF079315F87B}"/>
              </a:ext>
            </a:extLst>
          </p:cNvPr>
          <p:cNvSpPr>
            <a:spLocks noChangeArrowheads="1"/>
          </p:cNvSpPr>
          <p:nvPr/>
        </p:nvSpPr>
        <p:spPr bwMode="auto">
          <a:xfrm>
            <a:off x="73914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9756" name="Rectangle 10">
            <a:extLst>
              <a:ext uri="{FF2B5EF4-FFF2-40B4-BE49-F238E27FC236}">
                <a16:creationId xmlns:a16="http://schemas.microsoft.com/office/drawing/2014/main" id="{296FD7C3-9129-1048-8331-6BEF0F8A96AE}"/>
              </a:ext>
            </a:extLst>
          </p:cNvPr>
          <p:cNvSpPr>
            <a:spLocks noChangeArrowheads="1"/>
          </p:cNvSpPr>
          <p:nvPr/>
        </p:nvSpPr>
        <p:spPr bwMode="auto">
          <a:xfrm>
            <a:off x="7848600" y="25908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9757" name="Text Box 53">
            <a:extLst>
              <a:ext uri="{FF2B5EF4-FFF2-40B4-BE49-F238E27FC236}">
                <a16:creationId xmlns:a16="http://schemas.microsoft.com/office/drawing/2014/main" id="{796D4C96-C631-1F4E-86A3-8F2AA025A3A1}"/>
              </a:ext>
            </a:extLst>
          </p:cNvPr>
          <p:cNvSpPr txBox="1">
            <a:spLocks noChangeArrowheads="1"/>
          </p:cNvSpPr>
          <p:nvPr/>
        </p:nvSpPr>
        <p:spPr bwMode="auto">
          <a:xfrm>
            <a:off x="6019800" y="30480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50000"/>
              </a:spcBef>
              <a:buClrTx/>
              <a:buSzTx/>
              <a:buFontTx/>
              <a:buNone/>
            </a:pPr>
            <a:r>
              <a:rPr lang="en-US" altLang="en-US" sz="1800">
                <a:latin typeface="Arial" panose="020B0604020202020204" pitchFamily="34" charset="0"/>
              </a:rPr>
              <a:t>j = 2</a:t>
            </a:r>
          </a:p>
        </p:txBody>
      </p:sp>
      <p:sp>
        <p:nvSpPr>
          <p:cNvPr id="29758" name="Freeform 71">
            <a:extLst>
              <a:ext uri="{FF2B5EF4-FFF2-40B4-BE49-F238E27FC236}">
                <a16:creationId xmlns:a16="http://schemas.microsoft.com/office/drawing/2014/main" id="{22EADA30-CCBA-2446-89BB-D6471EAC6A38}"/>
              </a:ext>
            </a:extLst>
          </p:cNvPr>
          <p:cNvSpPr>
            <a:spLocks noChangeArrowheads="1"/>
          </p:cNvSpPr>
          <p:nvPr/>
        </p:nvSpPr>
        <p:spPr bwMode="auto">
          <a:xfrm>
            <a:off x="5334000" y="2338388"/>
            <a:ext cx="914400" cy="252412"/>
          </a:xfrm>
          <a:custGeom>
            <a:avLst/>
            <a:gdLst>
              <a:gd name="T0" fmla="*/ 0 w 914400"/>
              <a:gd name="T1" fmla="*/ 248607 h 253180"/>
              <a:gd name="T2" fmla="*/ 442452 w 914400"/>
              <a:gd name="T3" fmla="*/ 2416 h 253180"/>
              <a:gd name="T4" fmla="*/ 914400 w 914400"/>
              <a:gd name="T5" fmla="*/ 234125 h 253180"/>
              <a:gd name="T6" fmla="*/ 0 60000 65536"/>
              <a:gd name="T7" fmla="*/ 0 60000 65536"/>
              <a:gd name="T8" fmla="*/ 0 60000 65536"/>
              <a:gd name="T9" fmla="*/ 0 w 914400"/>
              <a:gd name="T10" fmla="*/ 0 h 253180"/>
              <a:gd name="T11" fmla="*/ 914400 w 914400"/>
              <a:gd name="T12" fmla="*/ 253180 h 253180"/>
            </a:gdLst>
            <a:ahLst/>
            <a:cxnLst>
              <a:cxn ang="T6">
                <a:pos x="T0" y="T1"/>
              </a:cxn>
              <a:cxn ang="T7">
                <a:pos x="T2" y="T3"/>
              </a:cxn>
              <a:cxn ang="T8">
                <a:pos x="T4" y="T5"/>
              </a:cxn>
            </a:cxnLst>
            <a:rect l="T9" t="T10" r="T11" b="T12"/>
            <a:pathLst>
              <a:path w="914400" h="253180">
                <a:moveTo>
                  <a:pt x="0" y="253180"/>
                </a:moveTo>
                <a:cubicBezTo>
                  <a:pt x="145026" y="129048"/>
                  <a:pt x="290052" y="4916"/>
                  <a:pt x="442452" y="2458"/>
                </a:cubicBezTo>
                <a:cubicBezTo>
                  <a:pt x="594852" y="0"/>
                  <a:pt x="754626" y="119216"/>
                  <a:pt x="914400" y="238432"/>
                </a:cubicBezTo>
              </a:path>
            </a:pathLst>
          </a:custGeom>
          <a:noFill/>
          <a:ln w="25400" algn="ctr">
            <a:solidFill>
              <a:schemeClr val="tx1"/>
            </a:solidFill>
            <a:round/>
            <a:headEnd type="arrow"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59" name="Rectangle 4">
            <a:extLst>
              <a:ext uri="{FF2B5EF4-FFF2-40B4-BE49-F238E27FC236}">
                <a16:creationId xmlns:a16="http://schemas.microsoft.com/office/drawing/2014/main" id="{37B53DCF-8092-0340-BEBF-3587B994C00A}"/>
              </a:ext>
            </a:extLst>
          </p:cNvPr>
          <p:cNvSpPr>
            <a:spLocks noChangeArrowheads="1"/>
          </p:cNvSpPr>
          <p:nvPr/>
        </p:nvSpPr>
        <p:spPr bwMode="auto">
          <a:xfrm>
            <a:off x="5105400" y="39624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29760" name="Rectangle 5">
            <a:extLst>
              <a:ext uri="{FF2B5EF4-FFF2-40B4-BE49-F238E27FC236}">
                <a16:creationId xmlns:a16="http://schemas.microsoft.com/office/drawing/2014/main" id="{6229E241-D12D-E54F-8CE6-35063278E25B}"/>
              </a:ext>
            </a:extLst>
          </p:cNvPr>
          <p:cNvSpPr>
            <a:spLocks noChangeArrowheads="1"/>
          </p:cNvSpPr>
          <p:nvPr/>
        </p:nvSpPr>
        <p:spPr bwMode="auto">
          <a:xfrm>
            <a:off x="5562600" y="39624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29761" name="Rectangle 6">
            <a:extLst>
              <a:ext uri="{FF2B5EF4-FFF2-40B4-BE49-F238E27FC236}">
                <a16:creationId xmlns:a16="http://schemas.microsoft.com/office/drawing/2014/main" id="{C5408D87-3284-5144-8636-F04B80D31C37}"/>
              </a:ext>
            </a:extLst>
          </p:cNvPr>
          <p:cNvSpPr>
            <a:spLocks noChangeArrowheads="1"/>
          </p:cNvSpPr>
          <p:nvPr/>
        </p:nvSpPr>
        <p:spPr bwMode="auto">
          <a:xfrm>
            <a:off x="6019800" y="3962400"/>
            <a:ext cx="457200" cy="457200"/>
          </a:xfrm>
          <a:prstGeom prst="rect">
            <a:avLst/>
          </a:prstGeom>
          <a:solidFill>
            <a:srgbClr val="FF3399"/>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solidFill>
                  <a:schemeClr val="bg1"/>
                </a:solidFill>
                <a:latin typeface="Arial" panose="020B0604020202020204" pitchFamily="34" charset="0"/>
              </a:rPr>
              <a:t>13</a:t>
            </a:r>
          </a:p>
        </p:txBody>
      </p:sp>
      <p:sp>
        <p:nvSpPr>
          <p:cNvPr id="29762" name="Rectangle 7">
            <a:extLst>
              <a:ext uri="{FF2B5EF4-FFF2-40B4-BE49-F238E27FC236}">
                <a16:creationId xmlns:a16="http://schemas.microsoft.com/office/drawing/2014/main" id="{1054AB84-A568-3242-B342-8B99C6BE4A43}"/>
              </a:ext>
            </a:extLst>
          </p:cNvPr>
          <p:cNvSpPr>
            <a:spLocks noChangeArrowheads="1"/>
          </p:cNvSpPr>
          <p:nvPr/>
        </p:nvSpPr>
        <p:spPr bwMode="auto">
          <a:xfrm>
            <a:off x="6477000" y="39624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29763" name="Rectangle 8">
            <a:extLst>
              <a:ext uri="{FF2B5EF4-FFF2-40B4-BE49-F238E27FC236}">
                <a16:creationId xmlns:a16="http://schemas.microsoft.com/office/drawing/2014/main" id="{F3B8D622-3EA9-594B-B8CA-6E5A687D7A18}"/>
              </a:ext>
            </a:extLst>
          </p:cNvPr>
          <p:cNvSpPr>
            <a:spLocks noChangeArrowheads="1"/>
          </p:cNvSpPr>
          <p:nvPr/>
        </p:nvSpPr>
        <p:spPr bwMode="auto">
          <a:xfrm>
            <a:off x="6934200" y="39624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29764" name="Rectangle 9">
            <a:extLst>
              <a:ext uri="{FF2B5EF4-FFF2-40B4-BE49-F238E27FC236}">
                <a16:creationId xmlns:a16="http://schemas.microsoft.com/office/drawing/2014/main" id="{67E974A3-7E36-BA43-9E52-34166B850187}"/>
              </a:ext>
            </a:extLst>
          </p:cNvPr>
          <p:cNvSpPr>
            <a:spLocks noChangeArrowheads="1"/>
          </p:cNvSpPr>
          <p:nvPr/>
        </p:nvSpPr>
        <p:spPr bwMode="auto">
          <a:xfrm>
            <a:off x="7391400" y="39624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9765" name="Rectangle 10">
            <a:extLst>
              <a:ext uri="{FF2B5EF4-FFF2-40B4-BE49-F238E27FC236}">
                <a16:creationId xmlns:a16="http://schemas.microsoft.com/office/drawing/2014/main" id="{E9A29629-602B-8248-8A2A-FB9BF89A19C7}"/>
              </a:ext>
            </a:extLst>
          </p:cNvPr>
          <p:cNvSpPr>
            <a:spLocks noChangeArrowheads="1"/>
          </p:cNvSpPr>
          <p:nvPr/>
        </p:nvSpPr>
        <p:spPr bwMode="auto">
          <a:xfrm>
            <a:off x="7848600" y="39624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9766" name="Left Brace 80">
            <a:extLst>
              <a:ext uri="{FF2B5EF4-FFF2-40B4-BE49-F238E27FC236}">
                <a16:creationId xmlns:a16="http://schemas.microsoft.com/office/drawing/2014/main" id="{0459A9E4-36B1-7B45-85D3-CC99180AA7F6}"/>
              </a:ext>
            </a:extLst>
          </p:cNvPr>
          <p:cNvSpPr>
            <a:spLocks/>
          </p:cNvSpPr>
          <p:nvPr/>
        </p:nvSpPr>
        <p:spPr bwMode="auto">
          <a:xfrm rot="-5400000">
            <a:off x="5448300" y="4152900"/>
            <a:ext cx="228600" cy="914400"/>
          </a:xfrm>
          <a:prstGeom prst="leftBrace">
            <a:avLst>
              <a:gd name="adj1" fmla="val 8333"/>
              <a:gd name="adj2" fmla="val 50000"/>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endParaRPr lang="en-AU" altLang="en-US" sz="1800">
              <a:latin typeface="Arial" panose="020B0604020202020204" pitchFamily="34" charset="0"/>
            </a:endParaRPr>
          </a:p>
        </p:txBody>
      </p:sp>
      <p:sp>
        <p:nvSpPr>
          <p:cNvPr id="29767" name="Left Brace 81">
            <a:extLst>
              <a:ext uri="{FF2B5EF4-FFF2-40B4-BE49-F238E27FC236}">
                <a16:creationId xmlns:a16="http://schemas.microsoft.com/office/drawing/2014/main" id="{8822D9D1-C633-9244-B18D-CEE529354B79}"/>
              </a:ext>
            </a:extLst>
          </p:cNvPr>
          <p:cNvSpPr>
            <a:spLocks/>
          </p:cNvSpPr>
          <p:nvPr/>
        </p:nvSpPr>
        <p:spPr bwMode="auto">
          <a:xfrm rot="-5400000">
            <a:off x="7277100" y="3695700"/>
            <a:ext cx="228600" cy="1828800"/>
          </a:xfrm>
          <a:prstGeom prst="leftBrace">
            <a:avLst>
              <a:gd name="adj1" fmla="val 8333"/>
              <a:gd name="adj2" fmla="val 50000"/>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endParaRPr lang="en-AU" altLang="en-US" sz="1800">
              <a:latin typeface="Arial" panose="020B0604020202020204" pitchFamily="34" charset="0"/>
            </a:endParaRPr>
          </a:p>
        </p:txBody>
      </p:sp>
      <p:cxnSp>
        <p:nvCxnSpPr>
          <p:cNvPr id="29768" name="Straight Arrow Connector 83">
            <a:extLst>
              <a:ext uri="{FF2B5EF4-FFF2-40B4-BE49-F238E27FC236}">
                <a16:creationId xmlns:a16="http://schemas.microsoft.com/office/drawing/2014/main" id="{CADFCD3A-5254-4D4A-A116-8D15EB7F56CD}"/>
              </a:ext>
            </a:extLst>
          </p:cNvPr>
          <p:cNvCxnSpPr>
            <a:cxnSpLocks noChangeShapeType="1"/>
          </p:cNvCxnSpPr>
          <p:nvPr/>
        </p:nvCxnSpPr>
        <p:spPr bwMode="auto">
          <a:xfrm rot="5400000">
            <a:off x="-762793" y="3734594"/>
            <a:ext cx="3048000" cy="15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9769" name="Straight Arrow Connector 85">
            <a:extLst>
              <a:ext uri="{FF2B5EF4-FFF2-40B4-BE49-F238E27FC236}">
                <a16:creationId xmlns:a16="http://schemas.microsoft.com/office/drawing/2014/main" id="{F5DEE9AF-89F1-E144-B5F0-533C7284A465}"/>
              </a:ext>
            </a:extLst>
          </p:cNvPr>
          <p:cNvCxnSpPr>
            <a:cxnSpLocks noChangeShapeType="1"/>
          </p:cNvCxnSpPr>
          <p:nvPr/>
        </p:nvCxnSpPr>
        <p:spPr bwMode="auto">
          <a:xfrm rot="5400000" flipH="1" flipV="1">
            <a:off x="3429001" y="4038600"/>
            <a:ext cx="2438400" cy="3175"/>
          </a:xfrm>
          <a:prstGeom prst="straightConnector1">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70" name="Straight Arrow Connector 88">
            <a:extLst>
              <a:ext uri="{FF2B5EF4-FFF2-40B4-BE49-F238E27FC236}">
                <a16:creationId xmlns:a16="http://schemas.microsoft.com/office/drawing/2014/main" id="{25AF6FA7-3F85-6F47-B63E-F7B90F995809}"/>
              </a:ext>
            </a:extLst>
          </p:cNvPr>
          <p:cNvCxnSpPr>
            <a:cxnSpLocks noChangeShapeType="1"/>
          </p:cNvCxnSpPr>
          <p:nvPr/>
        </p:nvCxnSpPr>
        <p:spPr bwMode="auto">
          <a:xfrm>
            <a:off x="4648200" y="2819400"/>
            <a:ext cx="3048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9771" name="Straight Connector 91">
            <a:extLst>
              <a:ext uri="{FF2B5EF4-FFF2-40B4-BE49-F238E27FC236}">
                <a16:creationId xmlns:a16="http://schemas.microsoft.com/office/drawing/2014/main" id="{7CDA0E85-2807-3041-B1B5-443CBA8FD8D0}"/>
              </a:ext>
            </a:extLst>
          </p:cNvPr>
          <p:cNvCxnSpPr>
            <a:cxnSpLocks noChangeShapeType="1"/>
          </p:cNvCxnSpPr>
          <p:nvPr/>
        </p:nvCxnSpPr>
        <p:spPr bwMode="auto">
          <a:xfrm rot="10800000">
            <a:off x="4495800" y="5257800"/>
            <a:ext cx="152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884690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44</a:t>
            </a:fld>
            <a:endParaRPr lang="en-US"/>
          </a:p>
        </p:txBody>
      </p:sp>
      <p:sp>
        <p:nvSpPr>
          <p:cNvPr id="2" name="Title 1"/>
          <p:cNvSpPr>
            <a:spLocks noGrp="1"/>
          </p:cNvSpPr>
          <p:nvPr>
            <p:ph type="title"/>
          </p:nvPr>
        </p:nvSpPr>
        <p:spPr/>
        <p:txBody>
          <a:bodyPr>
            <a:normAutofit fontScale="90000"/>
          </a:bodyPr>
          <a:lstStyle/>
          <a:p>
            <a:r>
              <a:rPr lang="en-US" err="1"/>
              <a:t>Độ</a:t>
            </a:r>
            <a:r>
              <a:rPr lang="en-US"/>
              <a:t> </a:t>
            </a:r>
            <a:r>
              <a:rPr lang="en-US" err="1"/>
              <a:t>phức</a:t>
            </a:r>
            <a:r>
              <a:rPr lang="en-US"/>
              <a:t> </a:t>
            </a:r>
            <a:r>
              <a:rPr lang="en-US" err="1"/>
              <a:t>tạp</a:t>
            </a:r>
            <a:r>
              <a:rPr lang="en-US"/>
              <a:t> </a:t>
            </a:r>
            <a:r>
              <a:rPr lang="en-US" err="1"/>
              <a:t>của</a:t>
            </a:r>
            <a:r>
              <a:rPr lang="en-US"/>
              <a:t> </a:t>
            </a:r>
            <a:r>
              <a:rPr lang="en-US" err="1"/>
              <a:t>giải</a:t>
            </a:r>
            <a:r>
              <a:rPr lang="en-US"/>
              <a:t> </a:t>
            </a:r>
            <a:r>
              <a:rPr lang="en-US" err="1"/>
              <a:t>thuật</a:t>
            </a:r>
            <a:r>
              <a:rPr lang="en-US"/>
              <a:t> </a:t>
            </a:r>
            <a:r>
              <a:rPr lang="en-US" err="1"/>
              <a:t>Quick_sort</a:t>
            </a:r>
            <a:endParaRPr lang="en-US"/>
          </a:p>
        </p:txBody>
      </p:sp>
      <p:sp>
        <p:nvSpPr>
          <p:cNvPr id="3" name="Content Placeholder 2"/>
          <p:cNvSpPr>
            <a:spLocks noGrp="1"/>
          </p:cNvSpPr>
          <p:nvPr>
            <p:ph type="body" sz="quarter" idx="13"/>
          </p:nvPr>
        </p:nvSpPr>
        <p:spPr/>
        <p:txBody>
          <a:bodyPr>
            <a:normAutofit/>
          </a:bodyPr>
          <a:lstStyle/>
          <a:p>
            <a:r>
              <a:rPr lang="en-US" err="1"/>
              <a:t>Độ</a:t>
            </a:r>
            <a:r>
              <a:rPr lang="en-US"/>
              <a:t> </a:t>
            </a:r>
            <a:r>
              <a:rPr lang="en-US" err="1"/>
              <a:t>phức</a:t>
            </a:r>
            <a:r>
              <a:rPr lang="en-US"/>
              <a:t> </a:t>
            </a:r>
            <a:r>
              <a:rPr lang="en-US" err="1"/>
              <a:t>tạp</a:t>
            </a:r>
            <a:r>
              <a:rPr lang="en-US"/>
              <a:t> </a:t>
            </a:r>
            <a:r>
              <a:rPr lang="en-US" err="1"/>
              <a:t>trong</a:t>
            </a:r>
            <a:r>
              <a:rPr lang="en-US"/>
              <a:t> </a:t>
            </a:r>
            <a:r>
              <a:rPr lang="en-US" err="1"/>
              <a:t>trường</a:t>
            </a:r>
            <a:r>
              <a:rPr lang="en-US"/>
              <a:t> </a:t>
            </a:r>
            <a:r>
              <a:rPr lang="en-US" err="1"/>
              <a:t>hợp</a:t>
            </a:r>
            <a:r>
              <a:rPr lang="en-US"/>
              <a:t> </a:t>
            </a:r>
            <a:r>
              <a:rPr lang="en-US" err="1"/>
              <a:t>xấu</a:t>
            </a:r>
            <a:r>
              <a:rPr lang="en-US"/>
              <a:t> </a:t>
            </a:r>
            <a:r>
              <a:rPr lang="en-US" err="1"/>
              <a:t>nhất</a:t>
            </a:r>
            <a:r>
              <a:rPr lang="en-US"/>
              <a:t> </a:t>
            </a:r>
            <a:r>
              <a:rPr lang="en-US" err="1"/>
              <a:t>là</a:t>
            </a:r>
            <a:r>
              <a:rPr lang="en-US"/>
              <a:t> </a:t>
            </a:r>
          </a:p>
          <a:p>
            <a:pPr marL="0" indent="0">
              <a:buNone/>
            </a:pPr>
            <a:r>
              <a:rPr lang="en-US"/>
              <a:t>	T(n) = O(n</a:t>
            </a:r>
            <a:r>
              <a:rPr lang="en-US" baseline="30000"/>
              <a:t>2</a:t>
            </a:r>
            <a:r>
              <a:rPr lang="en-US"/>
              <a:t>)</a:t>
            </a:r>
          </a:p>
          <a:p>
            <a:r>
              <a:rPr lang="en-US" err="1"/>
              <a:t>Độ</a:t>
            </a:r>
            <a:r>
              <a:rPr lang="en-US"/>
              <a:t> </a:t>
            </a:r>
            <a:r>
              <a:rPr lang="en-US" err="1"/>
              <a:t>phức</a:t>
            </a:r>
            <a:r>
              <a:rPr lang="en-US"/>
              <a:t> </a:t>
            </a:r>
            <a:r>
              <a:rPr lang="en-US" err="1"/>
              <a:t>tạp</a:t>
            </a:r>
            <a:r>
              <a:rPr lang="en-US"/>
              <a:t> </a:t>
            </a:r>
            <a:r>
              <a:rPr lang="en-US" err="1"/>
              <a:t>trong</a:t>
            </a:r>
            <a:r>
              <a:rPr lang="en-US"/>
              <a:t> </a:t>
            </a:r>
            <a:r>
              <a:rPr lang="en-US" err="1"/>
              <a:t>trường</a:t>
            </a:r>
            <a:r>
              <a:rPr lang="en-US"/>
              <a:t> </a:t>
            </a:r>
            <a:r>
              <a:rPr lang="en-US" err="1"/>
              <a:t>hợp</a:t>
            </a:r>
            <a:r>
              <a:rPr lang="en-US"/>
              <a:t> </a:t>
            </a:r>
            <a:r>
              <a:rPr lang="en-US" err="1"/>
              <a:t>tốt</a:t>
            </a:r>
            <a:r>
              <a:rPr lang="en-US"/>
              <a:t> </a:t>
            </a:r>
            <a:r>
              <a:rPr lang="en-US" err="1"/>
              <a:t>nhất</a:t>
            </a:r>
            <a:r>
              <a:rPr lang="en-US"/>
              <a:t> </a:t>
            </a:r>
            <a:r>
              <a:rPr lang="en-US" err="1"/>
              <a:t>là</a:t>
            </a:r>
            <a:r>
              <a:rPr lang="en-US"/>
              <a:t> </a:t>
            </a:r>
          </a:p>
          <a:p>
            <a:pPr marL="0" indent="0">
              <a:buNone/>
            </a:pPr>
            <a:r>
              <a:rPr lang="en-US"/>
              <a:t>	T(n) = O(nlog</a:t>
            </a:r>
            <a:r>
              <a:rPr lang="en-US" baseline="-25000"/>
              <a:t>2</a:t>
            </a:r>
            <a:r>
              <a:rPr lang="en-US"/>
              <a:t>n)</a:t>
            </a:r>
          </a:p>
          <a:p>
            <a:r>
              <a:rPr lang="en-US" err="1"/>
              <a:t>Độ</a:t>
            </a:r>
            <a:r>
              <a:rPr lang="en-US"/>
              <a:t> </a:t>
            </a:r>
            <a:r>
              <a:rPr lang="en-US" err="1"/>
              <a:t>phức</a:t>
            </a:r>
            <a:r>
              <a:rPr lang="en-US"/>
              <a:t> </a:t>
            </a:r>
            <a:r>
              <a:rPr lang="en-US" err="1"/>
              <a:t>tạp</a:t>
            </a:r>
            <a:r>
              <a:rPr lang="en-US"/>
              <a:t> </a:t>
            </a:r>
            <a:r>
              <a:rPr lang="en-US" err="1"/>
              <a:t>trung</a:t>
            </a:r>
            <a:r>
              <a:rPr lang="en-US"/>
              <a:t> </a:t>
            </a:r>
            <a:r>
              <a:rPr lang="en-US" err="1"/>
              <a:t>bình</a:t>
            </a:r>
            <a:r>
              <a:rPr lang="en-US"/>
              <a:t> </a:t>
            </a:r>
          </a:p>
          <a:p>
            <a:pPr marL="0" indent="0">
              <a:buNone/>
            </a:pPr>
            <a:r>
              <a:rPr lang="en-US">
                <a:solidFill>
                  <a:srgbClr val="FF0000"/>
                </a:solidFill>
              </a:rPr>
              <a:t>	T(n) = O(nlog</a:t>
            </a:r>
            <a:r>
              <a:rPr lang="en-US" baseline="-25000">
                <a:solidFill>
                  <a:srgbClr val="FF0000"/>
                </a:solidFill>
              </a:rPr>
              <a:t>2</a:t>
            </a:r>
            <a:r>
              <a:rPr lang="en-US">
                <a:solidFill>
                  <a:srgbClr val="FF0000"/>
                </a:solidFill>
              </a:rPr>
              <a:t>n)</a:t>
            </a:r>
            <a:endParaRPr lang="en-US"/>
          </a:p>
          <a:p>
            <a:r>
              <a:rPr lang="en-US" err="1"/>
              <a:t>Khi</a:t>
            </a:r>
            <a:r>
              <a:rPr lang="en-US"/>
              <a:t> n </a:t>
            </a:r>
            <a:r>
              <a:rPr lang="en-US" err="1"/>
              <a:t>lớn</a:t>
            </a:r>
            <a:r>
              <a:rPr lang="en-US"/>
              <a:t> </a:t>
            </a:r>
            <a:r>
              <a:rPr lang="en-US" err="1"/>
              <a:t>thì</a:t>
            </a:r>
            <a:r>
              <a:rPr lang="en-US"/>
              <a:t> </a:t>
            </a:r>
            <a:r>
              <a:rPr lang="en-US" err="1"/>
              <a:t>Quick_sort</a:t>
            </a:r>
            <a:r>
              <a:rPr lang="en-US"/>
              <a:t> </a:t>
            </a:r>
            <a:r>
              <a:rPr lang="en-US" err="1"/>
              <a:t>có</a:t>
            </a:r>
            <a:r>
              <a:rPr lang="en-US"/>
              <a:t> </a:t>
            </a:r>
            <a:r>
              <a:rPr lang="en-US" err="1"/>
              <a:t>hiệu</a:t>
            </a:r>
            <a:r>
              <a:rPr lang="en-US"/>
              <a:t> </a:t>
            </a:r>
            <a:r>
              <a:rPr lang="en-US" err="1"/>
              <a:t>năng</a:t>
            </a:r>
            <a:r>
              <a:rPr lang="en-US"/>
              <a:t> </a:t>
            </a:r>
            <a:r>
              <a:rPr lang="en-US" err="1"/>
              <a:t>tốt</a:t>
            </a:r>
            <a:r>
              <a:rPr lang="en-US"/>
              <a:t> </a:t>
            </a:r>
            <a:r>
              <a:rPr lang="en-US" err="1"/>
              <a:t>hơn</a:t>
            </a:r>
            <a:r>
              <a:rPr lang="en-US"/>
              <a:t> </a:t>
            </a:r>
            <a:r>
              <a:rPr lang="en-US" err="1"/>
              <a:t>các</a:t>
            </a:r>
            <a:r>
              <a:rPr lang="en-US"/>
              <a:t> </a:t>
            </a:r>
            <a:r>
              <a:rPr lang="en-US" err="1"/>
              <a:t>phương</a:t>
            </a:r>
            <a:r>
              <a:rPr lang="en-US"/>
              <a:t> </a:t>
            </a:r>
            <a:r>
              <a:rPr lang="en-US" err="1"/>
              <a:t>pháp</a:t>
            </a:r>
            <a:r>
              <a:rPr lang="en-US"/>
              <a:t> </a:t>
            </a:r>
            <a:r>
              <a:rPr lang="en-US" err="1"/>
              <a:t>còn</a:t>
            </a:r>
            <a:r>
              <a:rPr lang="en-US"/>
              <a:t> </a:t>
            </a:r>
            <a:r>
              <a:rPr lang="en-US" err="1"/>
              <a:t>lại</a:t>
            </a:r>
            <a:r>
              <a:rPr lang="en-US"/>
              <a:t> </a:t>
            </a:r>
            <a:endParaRPr lang="en-US">
              <a:solidFill>
                <a:srgbClr val="FF0000"/>
              </a:solidFill>
            </a:endParaRPr>
          </a:p>
          <a:p>
            <a:endParaRPr lang="en-US"/>
          </a:p>
          <a:p>
            <a:pPr marL="0" indent="0">
              <a:buNone/>
            </a:pPr>
            <a:r>
              <a:rPr lang="en-US"/>
              <a:t>	</a:t>
            </a:r>
            <a:endParaRPr lang="en-US">
              <a:solidFill>
                <a:srgbClr val="FF0000"/>
              </a:solidFill>
            </a:endParaRPr>
          </a:p>
        </p:txBody>
      </p:sp>
    </p:spTree>
    <p:extLst>
      <p:ext uri="{BB962C8B-B14F-4D97-AF65-F5344CB8AC3E}">
        <p14:creationId xmlns:p14="http://schemas.microsoft.com/office/powerpoint/2010/main" val="9023197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50050A6-8A39-584F-821D-3CBAEC04C767}"/>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E0669B62-A5B2-4947-82D2-0FDAE4654CC9}"/>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F0E35288-E870-1147-A6AE-5D507E0A6E63}"/>
              </a:ext>
            </a:extLst>
          </p:cNvPr>
          <p:cNvSpPr>
            <a:spLocks noGrp="1"/>
          </p:cNvSpPr>
          <p:nvPr>
            <p:ph type="sldNum" sz="quarter" idx="12"/>
          </p:nvPr>
        </p:nvSpPr>
        <p:spPr/>
        <p:txBody>
          <a:bodyPr/>
          <a:lstStyle/>
          <a:p>
            <a:fld id="{BA7BC09B-FE30-A349-B1D2-5A364F511F98}" type="slidenum">
              <a:rPr lang="en-US" smtClean="0"/>
              <a:t>45</a:t>
            </a:fld>
            <a:endParaRPr lang="en-US"/>
          </a:p>
        </p:txBody>
      </p:sp>
      <p:sp>
        <p:nvSpPr>
          <p:cNvPr id="2" name="Title 1">
            <a:extLst>
              <a:ext uri="{FF2B5EF4-FFF2-40B4-BE49-F238E27FC236}">
                <a16:creationId xmlns:a16="http://schemas.microsoft.com/office/drawing/2014/main" id="{0820B057-89C5-1C49-A86C-B66D0E27CD72}"/>
              </a:ext>
            </a:extLst>
          </p:cNvPr>
          <p:cNvSpPr>
            <a:spLocks noGrp="1"/>
          </p:cNvSpPr>
          <p:nvPr>
            <p:ph type="title"/>
          </p:nvPr>
        </p:nvSpPr>
        <p:spPr/>
        <p:txBody>
          <a:bodyPr lIns="91440" tIns="45720" rIns="91440" bIns="45720" anchor="t"/>
          <a:lstStyle/>
          <a:p>
            <a:r>
              <a:rPr lang="en-US" altLang="en-US" err="1">
                <a:latin typeface="Lato"/>
                <a:ea typeface="Lato"/>
                <a:cs typeface="Lato"/>
              </a:rPr>
              <a:t>Sắp</a:t>
            </a:r>
            <a:r>
              <a:rPr lang="en-US" altLang="en-US">
                <a:latin typeface="Lato"/>
                <a:ea typeface="Lato"/>
                <a:cs typeface="Lato"/>
              </a:rPr>
              <a:t> </a:t>
            </a:r>
            <a:r>
              <a:rPr lang="en-US" altLang="en-US" err="1">
                <a:latin typeface="Lato"/>
                <a:ea typeface="Lato"/>
                <a:cs typeface="Lato"/>
              </a:rPr>
              <a:t>xếp</a:t>
            </a:r>
            <a:r>
              <a:rPr lang="en-US" altLang="en-US">
                <a:latin typeface="Lato"/>
                <a:ea typeface="Lato"/>
                <a:cs typeface="Lato"/>
              </a:rPr>
              <a:t> </a:t>
            </a:r>
            <a:r>
              <a:rPr lang="en-US" altLang="en-US" err="1">
                <a:latin typeface="Lato"/>
                <a:ea typeface="Lato"/>
                <a:cs typeface="Lato"/>
              </a:rPr>
              <a:t>trộn</a:t>
            </a:r>
            <a:r>
              <a:rPr lang="en-US" altLang="en-US">
                <a:latin typeface="Lato"/>
                <a:ea typeface="Lato"/>
                <a:cs typeface="Lato"/>
              </a:rPr>
              <a:t> (Merge Sort)</a:t>
            </a:r>
            <a:endParaRPr lang="en-US"/>
          </a:p>
        </p:txBody>
      </p:sp>
      <p:sp>
        <p:nvSpPr>
          <p:cNvPr id="3" name="Content Placeholder 2">
            <a:extLst>
              <a:ext uri="{FF2B5EF4-FFF2-40B4-BE49-F238E27FC236}">
                <a16:creationId xmlns:a16="http://schemas.microsoft.com/office/drawing/2014/main" id="{910E0FE6-007A-9943-8D82-19EE790C1DFC}"/>
              </a:ext>
            </a:extLst>
          </p:cNvPr>
          <p:cNvSpPr>
            <a:spLocks noGrp="1"/>
          </p:cNvSpPr>
          <p:nvPr>
            <p:ph type="body" sz="quarter" idx="13"/>
          </p:nvPr>
        </p:nvSpPr>
        <p:spPr/>
        <p:txBody>
          <a:bodyPr/>
          <a:lstStyle/>
          <a:p>
            <a:r>
              <a:rPr lang="en-US" altLang="en-US" err="1"/>
              <a:t>Ý</a:t>
            </a:r>
            <a:r>
              <a:rPr lang="en-US" altLang="en-US"/>
              <a:t> </a:t>
            </a:r>
            <a:r>
              <a:rPr lang="en-US" altLang="en-US" err="1"/>
              <a:t>tưởng</a:t>
            </a:r>
            <a:r>
              <a:rPr lang="en-US" altLang="en-US"/>
              <a:t> </a:t>
            </a:r>
            <a:r>
              <a:rPr lang="en-US" altLang="en-US" err="1"/>
              <a:t>giải</a:t>
            </a:r>
            <a:r>
              <a:rPr lang="en-US" altLang="en-US"/>
              <a:t> </a:t>
            </a:r>
            <a:r>
              <a:rPr lang="en-US" altLang="en-US" err="1"/>
              <a:t>thuật</a:t>
            </a:r>
            <a:r>
              <a:rPr lang="en-US" altLang="en-US"/>
              <a:t>: </a:t>
            </a:r>
            <a:r>
              <a:rPr lang="en-US" altLang="en-US" err="1"/>
              <a:t>sử</a:t>
            </a:r>
            <a:r>
              <a:rPr lang="en-US" altLang="en-US"/>
              <a:t> </a:t>
            </a:r>
            <a:r>
              <a:rPr lang="en-US" altLang="en-US" err="1"/>
              <a:t>dụng</a:t>
            </a:r>
            <a:r>
              <a:rPr lang="en-US" altLang="en-US"/>
              <a:t> </a:t>
            </a:r>
            <a:r>
              <a:rPr lang="en-US" altLang="en-US" err="1"/>
              <a:t>giải</a:t>
            </a:r>
            <a:r>
              <a:rPr lang="en-US" altLang="en-US"/>
              <a:t> </a:t>
            </a:r>
            <a:r>
              <a:rPr lang="en-US" altLang="en-US" err="1"/>
              <a:t>thuật</a:t>
            </a:r>
            <a:r>
              <a:rPr lang="en-US" altLang="en-US"/>
              <a:t> </a:t>
            </a:r>
            <a:r>
              <a:rPr lang="en-US" altLang="en-US" err="1"/>
              <a:t>đệ</a:t>
            </a:r>
            <a:r>
              <a:rPr lang="en-US" altLang="en-US"/>
              <a:t> </a:t>
            </a:r>
            <a:r>
              <a:rPr lang="en-US" altLang="en-US" err="1"/>
              <a:t>quy</a:t>
            </a:r>
            <a:r>
              <a:rPr lang="en-US" altLang="en-US"/>
              <a:t> </a:t>
            </a:r>
            <a:r>
              <a:rPr lang="en-US" altLang="en-US" err="1"/>
              <a:t>như</a:t>
            </a:r>
            <a:r>
              <a:rPr lang="en-US" altLang="en-US"/>
              <a:t> </a:t>
            </a:r>
            <a:r>
              <a:rPr lang="en-US" altLang="en-US" err="1"/>
              <a:t>sau</a:t>
            </a:r>
            <a:r>
              <a:rPr lang="en-US" altLang="en-US"/>
              <a:t>:</a:t>
            </a:r>
          </a:p>
          <a:p>
            <a:pPr lvl="1"/>
            <a:r>
              <a:rPr lang="en-US" altLang="en-US"/>
              <a:t>Chia </a:t>
            </a:r>
            <a:r>
              <a:rPr lang="en-US" altLang="en-US" err="1"/>
              <a:t>dãy</a:t>
            </a:r>
            <a:r>
              <a:rPr lang="en-US" altLang="en-US"/>
              <a:t> ban </a:t>
            </a:r>
            <a:r>
              <a:rPr lang="en-US" altLang="en-US" err="1"/>
              <a:t>đầu</a:t>
            </a:r>
            <a:r>
              <a:rPr lang="en-US" altLang="en-US"/>
              <a:t> </a:t>
            </a:r>
            <a:r>
              <a:rPr lang="en-US" altLang="en-US" err="1"/>
              <a:t>thành</a:t>
            </a:r>
            <a:r>
              <a:rPr lang="en-US" altLang="en-US"/>
              <a:t> </a:t>
            </a:r>
            <a:r>
              <a:rPr lang="en-US" altLang="en-US" err="1"/>
              <a:t>hai</a:t>
            </a:r>
            <a:r>
              <a:rPr lang="en-US" altLang="en-US"/>
              <a:t> </a:t>
            </a:r>
            <a:r>
              <a:rPr lang="en-US" altLang="en-US" err="1"/>
              <a:t>dãy</a:t>
            </a:r>
            <a:r>
              <a:rPr lang="en-US" altLang="en-US"/>
              <a:t> con </a:t>
            </a:r>
            <a:r>
              <a:rPr lang="en-US" altLang="en-US" err="1"/>
              <a:t>có</a:t>
            </a:r>
            <a:r>
              <a:rPr lang="en-US" altLang="en-US"/>
              <a:t> </a:t>
            </a:r>
            <a:r>
              <a:rPr lang="en-US" altLang="en-US" err="1"/>
              <a:t>kích</a:t>
            </a:r>
            <a:r>
              <a:rPr lang="en-US" altLang="en-US"/>
              <a:t> </a:t>
            </a:r>
            <a:r>
              <a:rPr lang="en-US" altLang="en-US" err="1"/>
              <a:t>thước</a:t>
            </a:r>
            <a:r>
              <a:rPr lang="en-US" altLang="en-US"/>
              <a:t> </a:t>
            </a:r>
            <a:r>
              <a:rPr lang="en-US" altLang="en-US" err="1"/>
              <a:t>khác</a:t>
            </a:r>
            <a:r>
              <a:rPr lang="en-US" altLang="en-US"/>
              <a:t> </a:t>
            </a:r>
            <a:r>
              <a:rPr lang="en-US" altLang="en-US" err="1"/>
              <a:t>nhau</a:t>
            </a:r>
            <a:r>
              <a:rPr lang="en-US" altLang="en-US"/>
              <a:t> </a:t>
            </a:r>
            <a:r>
              <a:rPr lang="en-US" altLang="en-US" err="1"/>
              <a:t>không</a:t>
            </a:r>
            <a:r>
              <a:rPr lang="en-US" altLang="en-US"/>
              <a:t> </a:t>
            </a:r>
            <a:r>
              <a:rPr lang="en-US" altLang="en-US" err="1"/>
              <a:t>quá</a:t>
            </a:r>
            <a:r>
              <a:rPr lang="en-US" altLang="en-US"/>
              <a:t> 1</a:t>
            </a:r>
          </a:p>
          <a:p>
            <a:pPr lvl="1"/>
            <a:r>
              <a:rPr lang="en-US" altLang="en-US" err="1"/>
              <a:t>Sắp</a:t>
            </a:r>
            <a:r>
              <a:rPr lang="en-US" altLang="en-US"/>
              <a:t> </a:t>
            </a:r>
            <a:r>
              <a:rPr lang="en-US" altLang="en-US" err="1"/>
              <a:t>xếp</a:t>
            </a:r>
            <a:r>
              <a:rPr lang="en-US" altLang="en-US"/>
              <a:t> </a:t>
            </a:r>
            <a:r>
              <a:rPr lang="en-US" altLang="en-US" err="1"/>
              <a:t>hai</a:t>
            </a:r>
            <a:r>
              <a:rPr lang="en-US" altLang="en-US"/>
              <a:t> </a:t>
            </a:r>
            <a:r>
              <a:rPr lang="en-US" altLang="en-US" err="1"/>
              <a:t>dãy</a:t>
            </a:r>
            <a:r>
              <a:rPr lang="en-US" altLang="en-US"/>
              <a:t> con </a:t>
            </a:r>
            <a:r>
              <a:rPr lang="en-US" altLang="en-US" err="1"/>
              <a:t>trên</a:t>
            </a:r>
            <a:endParaRPr lang="en-US" altLang="en-US"/>
          </a:p>
          <a:p>
            <a:pPr lvl="1"/>
            <a:r>
              <a:rPr lang="en-US" altLang="en-US" err="1"/>
              <a:t>Trộn</a:t>
            </a:r>
            <a:r>
              <a:rPr lang="en-US" altLang="en-US"/>
              <a:t> </a:t>
            </a:r>
            <a:r>
              <a:rPr lang="en-US" altLang="en-US" err="1"/>
              <a:t>hai</a:t>
            </a:r>
            <a:r>
              <a:rPr lang="en-US" altLang="en-US"/>
              <a:t> </a:t>
            </a:r>
            <a:r>
              <a:rPr lang="en-US" altLang="en-US" err="1"/>
              <a:t>dãy</a:t>
            </a:r>
            <a:r>
              <a:rPr lang="en-US" altLang="en-US"/>
              <a:t> con </a:t>
            </a:r>
            <a:r>
              <a:rPr lang="en-US" altLang="en-US" err="1"/>
              <a:t>đã</a:t>
            </a:r>
            <a:r>
              <a:rPr lang="en-US" altLang="en-US"/>
              <a:t> </a:t>
            </a:r>
            <a:r>
              <a:rPr lang="en-US" altLang="en-US" err="1"/>
              <a:t>sắp</a:t>
            </a:r>
            <a:r>
              <a:rPr lang="en-US" altLang="en-US"/>
              <a:t> </a:t>
            </a:r>
            <a:r>
              <a:rPr lang="en-US" altLang="en-US" err="1"/>
              <a:t>xếp</a:t>
            </a:r>
            <a:r>
              <a:rPr lang="en-US" altLang="en-US"/>
              <a:t> </a:t>
            </a:r>
            <a:r>
              <a:rPr lang="en-US" altLang="en-US" err="1"/>
              <a:t>để</a:t>
            </a:r>
            <a:r>
              <a:rPr lang="en-US" altLang="en-US"/>
              <a:t> </a:t>
            </a:r>
            <a:r>
              <a:rPr lang="en-US" altLang="en-US" err="1"/>
              <a:t>được</a:t>
            </a:r>
            <a:r>
              <a:rPr lang="en-US" altLang="en-US"/>
              <a:t> </a:t>
            </a:r>
            <a:r>
              <a:rPr lang="en-US" altLang="en-US" err="1"/>
              <a:t>dãy</a:t>
            </a:r>
            <a:r>
              <a:rPr lang="en-US" altLang="en-US"/>
              <a:t> ban </a:t>
            </a:r>
            <a:r>
              <a:rPr lang="en-US" altLang="en-US" err="1"/>
              <a:t>đầu</a:t>
            </a:r>
            <a:r>
              <a:rPr lang="en-US" altLang="en-US"/>
              <a:t> </a:t>
            </a:r>
            <a:r>
              <a:rPr lang="en-US" altLang="en-US" err="1"/>
              <a:t>cũng</a:t>
            </a:r>
            <a:r>
              <a:rPr lang="en-US" altLang="en-US"/>
              <a:t> </a:t>
            </a:r>
            <a:r>
              <a:rPr lang="en-US" altLang="en-US" err="1"/>
              <a:t>được</a:t>
            </a:r>
            <a:r>
              <a:rPr lang="en-US" altLang="en-US"/>
              <a:t> </a:t>
            </a:r>
            <a:r>
              <a:rPr lang="en-US" altLang="en-US" err="1"/>
              <a:t>sắp</a:t>
            </a:r>
            <a:r>
              <a:rPr lang="en-US" altLang="en-US"/>
              <a:t> </a:t>
            </a:r>
            <a:r>
              <a:rPr lang="en-US" altLang="en-US" err="1"/>
              <a:t>xếp</a:t>
            </a:r>
            <a:endParaRPr lang="en-US" altLang="en-US"/>
          </a:p>
          <a:p>
            <a:pPr lvl="1"/>
            <a:r>
              <a:rPr lang="en-US" altLang="en-US" b="1" err="1"/>
              <a:t>Điểm</a:t>
            </a:r>
            <a:r>
              <a:rPr lang="en-US" altLang="en-US" b="1"/>
              <a:t> </a:t>
            </a:r>
            <a:r>
              <a:rPr lang="en-US" altLang="en-US" b="1" err="1"/>
              <a:t>dừng</a:t>
            </a:r>
            <a:r>
              <a:rPr lang="en-US" altLang="en-US"/>
              <a:t>: </a:t>
            </a:r>
            <a:r>
              <a:rPr lang="en-US" altLang="en-US" err="1"/>
              <a:t>khi</a:t>
            </a:r>
            <a:r>
              <a:rPr lang="en-US" altLang="en-US"/>
              <a:t> </a:t>
            </a:r>
            <a:r>
              <a:rPr lang="en-US" altLang="en-US" err="1"/>
              <a:t>kích</a:t>
            </a:r>
            <a:r>
              <a:rPr lang="en-US" altLang="en-US"/>
              <a:t> </a:t>
            </a:r>
            <a:r>
              <a:rPr lang="en-US" altLang="en-US" err="1"/>
              <a:t>thước</a:t>
            </a:r>
            <a:r>
              <a:rPr lang="en-US" altLang="en-US"/>
              <a:t> </a:t>
            </a:r>
            <a:r>
              <a:rPr lang="en-US" altLang="en-US" err="1"/>
              <a:t>của</a:t>
            </a:r>
            <a:r>
              <a:rPr lang="en-US" altLang="en-US"/>
              <a:t> </a:t>
            </a:r>
            <a:r>
              <a:rPr lang="en-US" altLang="en-US" err="1"/>
              <a:t>dãy</a:t>
            </a:r>
            <a:r>
              <a:rPr lang="en-US" altLang="en-US"/>
              <a:t> </a:t>
            </a:r>
            <a:r>
              <a:rPr lang="en-US" altLang="en-US" b="1" err="1"/>
              <a:t>không</a:t>
            </a:r>
            <a:r>
              <a:rPr lang="en-US" altLang="en-US"/>
              <a:t> &gt; 1</a:t>
            </a:r>
          </a:p>
        </p:txBody>
      </p:sp>
    </p:spTree>
    <p:extLst>
      <p:ext uri="{BB962C8B-B14F-4D97-AF65-F5344CB8AC3E}">
        <p14:creationId xmlns:p14="http://schemas.microsoft.com/office/powerpoint/2010/main" val="4109622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9806CB-6843-B040-982E-8C63B0570E56}"/>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15D809BC-1AB4-E942-9D81-22D5EBE8F16D}"/>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5D49304D-C7A7-8A45-BD73-31BCEC5EDCAC}"/>
              </a:ext>
            </a:extLst>
          </p:cNvPr>
          <p:cNvSpPr>
            <a:spLocks noGrp="1"/>
          </p:cNvSpPr>
          <p:nvPr>
            <p:ph type="sldNum" sz="quarter" idx="12"/>
          </p:nvPr>
        </p:nvSpPr>
        <p:spPr/>
        <p:txBody>
          <a:bodyPr/>
          <a:lstStyle/>
          <a:p>
            <a:fld id="{BA7BC09B-FE30-A349-B1D2-5A364F511F98}" type="slidenum">
              <a:rPr lang="en-US" smtClean="0"/>
              <a:t>46</a:t>
            </a:fld>
            <a:endParaRPr lang="en-US"/>
          </a:p>
        </p:txBody>
      </p:sp>
      <p:sp>
        <p:nvSpPr>
          <p:cNvPr id="2" name="Title 1">
            <a:extLst>
              <a:ext uri="{FF2B5EF4-FFF2-40B4-BE49-F238E27FC236}">
                <a16:creationId xmlns:a16="http://schemas.microsoft.com/office/drawing/2014/main" id="{466C55D1-04F8-7E47-A649-38A11FD0AD22}"/>
              </a:ext>
            </a:extLst>
          </p:cNvPr>
          <p:cNvSpPr>
            <a:spLocks noGrp="1"/>
          </p:cNvSpPr>
          <p:nvPr>
            <p:ph type="title"/>
          </p:nvPr>
        </p:nvSpPr>
        <p:spPr/>
        <p:txBody>
          <a:bodyPr/>
          <a:lstStyle/>
          <a:p>
            <a:r>
              <a:rPr lang="en-US" err="1"/>
              <a:t>Giải</a:t>
            </a:r>
            <a:r>
              <a:rPr lang="en-US"/>
              <a:t> </a:t>
            </a:r>
            <a:r>
              <a:rPr lang="en-US" err="1"/>
              <a:t>thuật</a:t>
            </a:r>
            <a:r>
              <a:rPr lang="en-US"/>
              <a:t> </a:t>
            </a:r>
            <a:r>
              <a:rPr lang="en-US" err="1"/>
              <a:t>trộn</a:t>
            </a:r>
            <a:endParaRPr lang="en-US"/>
          </a:p>
        </p:txBody>
      </p:sp>
      <p:sp>
        <p:nvSpPr>
          <p:cNvPr id="3" name="Content Placeholder 2">
            <a:extLst>
              <a:ext uri="{FF2B5EF4-FFF2-40B4-BE49-F238E27FC236}">
                <a16:creationId xmlns:a16="http://schemas.microsoft.com/office/drawing/2014/main" id="{5EA50650-19E7-C944-88D4-D0369E9496E5}"/>
              </a:ext>
            </a:extLst>
          </p:cNvPr>
          <p:cNvSpPr>
            <a:spLocks noGrp="1"/>
          </p:cNvSpPr>
          <p:nvPr>
            <p:ph type="body" sz="quarter" idx="13"/>
          </p:nvPr>
        </p:nvSpPr>
        <p:spPr/>
        <p:txBody>
          <a:bodyPr vert="horz" lIns="91440" tIns="45720" rIns="91440" bIns="45720" rtlCol="0">
            <a:normAutofit lnSpcReduction="10000"/>
          </a:bodyPr>
          <a:lstStyle/>
          <a:p>
            <a:r>
              <a:rPr lang="en-US" altLang="en-US" err="1"/>
              <a:t>Đầu</a:t>
            </a:r>
            <a:r>
              <a:rPr lang="en-US" altLang="en-US"/>
              <a:t> </a:t>
            </a:r>
            <a:r>
              <a:rPr lang="en-US" altLang="en-US" err="1"/>
              <a:t>vào</a:t>
            </a:r>
            <a:r>
              <a:rPr lang="en-US" altLang="en-US"/>
              <a:t>: </a:t>
            </a:r>
          </a:p>
          <a:p>
            <a:pPr lvl="1"/>
            <a:r>
              <a:rPr lang="en-US" altLang="en-US"/>
              <a:t>2 </a:t>
            </a:r>
            <a:r>
              <a:rPr lang="en-US" altLang="en-US" err="1"/>
              <a:t>dãy</a:t>
            </a:r>
            <a:r>
              <a:rPr lang="en-US" altLang="en-US"/>
              <a:t> A=(a</a:t>
            </a:r>
            <a:r>
              <a:rPr lang="en-US" altLang="en-US" baseline="-25000"/>
              <a:t>0</a:t>
            </a:r>
            <a:r>
              <a:rPr lang="en-US" altLang="en-US"/>
              <a:t>,a</a:t>
            </a:r>
            <a:r>
              <a:rPr lang="en-US" altLang="en-US" baseline="-25000"/>
              <a:t>1</a:t>
            </a:r>
            <a:r>
              <a:rPr lang="en-US" altLang="en-US"/>
              <a:t>,…,a</a:t>
            </a:r>
            <a:r>
              <a:rPr lang="en-US" altLang="en-US" baseline="-25000"/>
              <a:t>m-1</a:t>
            </a:r>
            <a:r>
              <a:rPr lang="en-US" altLang="en-US"/>
              <a:t>) </a:t>
            </a:r>
            <a:r>
              <a:rPr lang="en-US" altLang="en-US" err="1"/>
              <a:t>và</a:t>
            </a:r>
            <a:r>
              <a:rPr lang="en-US" altLang="en-US"/>
              <a:t> B=(b</a:t>
            </a:r>
            <a:r>
              <a:rPr lang="en-US" altLang="en-US" baseline="-25000"/>
              <a:t>0</a:t>
            </a:r>
            <a:r>
              <a:rPr lang="en-US" altLang="en-US"/>
              <a:t>,b</a:t>
            </a:r>
            <a:r>
              <a:rPr lang="en-US" altLang="en-US" baseline="-25000"/>
              <a:t>1</a:t>
            </a:r>
            <a:r>
              <a:rPr lang="en-US" altLang="en-US"/>
              <a:t>,…,b</a:t>
            </a:r>
            <a:r>
              <a:rPr lang="en-US" altLang="en-US" baseline="-25000"/>
              <a:t>n-1</a:t>
            </a:r>
            <a:r>
              <a:rPr lang="en-US" altLang="en-US"/>
              <a:t>)  </a:t>
            </a:r>
            <a:r>
              <a:rPr lang="en-US" altLang="en-US" err="1"/>
              <a:t>đã</a:t>
            </a:r>
            <a:r>
              <a:rPr lang="en-US" altLang="en-US"/>
              <a:t> </a:t>
            </a:r>
            <a:r>
              <a:rPr lang="en-US" altLang="en-US" err="1"/>
              <a:t>được</a:t>
            </a:r>
            <a:r>
              <a:rPr lang="en-US" altLang="en-US"/>
              <a:t> </a:t>
            </a:r>
            <a:r>
              <a:rPr lang="en-US" altLang="en-US" err="1"/>
              <a:t>sắp</a:t>
            </a:r>
            <a:r>
              <a:rPr lang="en-US" altLang="en-US"/>
              <a:t> </a:t>
            </a:r>
            <a:r>
              <a:rPr lang="en-US" altLang="en-US" err="1"/>
              <a:t>xếp</a:t>
            </a:r>
            <a:r>
              <a:rPr lang="en-US" altLang="en-US"/>
              <a:t> </a:t>
            </a:r>
            <a:r>
              <a:rPr lang="en-US" altLang="en-US" err="1"/>
              <a:t>tăng</a:t>
            </a:r>
            <a:r>
              <a:rPr lang="en-US" altLang="en-US"/>
              <a:t> </a:t>
            </a:r>
            <a:r>
              <a:rPr lang="en-US" altLang="en-US" err="1"/>
              <a:t>dần</a:t>
            </a:r>
            <a:endParaRPr lang="en-US" altLang="en-US"/>
          </a:p>
          <a:p>
            <a:r>
              <a:rPr lang="en-US" altLang="en-US" err="1"/>
              <a:t>Đầu</a:t>
            </a:r>
            <a:r>
              <a:rPr lang="en-US" altLang="en-US"/>
              <a:t> ra: </a:t>
            </a:r>
          </a:p>
          <a:p>
            <a:pPr lvl="1"/>
            <a:r>
              <a:rPr lang="en-US" altLang="en-US" err="1"/>
              <a:t>Dãy</a:t>
            </a:r>
            <a:r>
              <a:rPr lang="en-US" altLang="en-US"/>
              <a:t> C=(c</a:t>
            </a:r>
            <a:r>
              <a:rPr lang="en-US" altLang="en-US" baseline="-25000"/>
              <a:t>0</a:t>
            </a:r>
            <a:r>
              <a:rPr lang="en-US" altLang="en-US"/>
              <a:t>,c</a:t>
            </a:r>
            <a:r>
              <a:rPr lang="en-US" altLang="en-US" baseline="-25000"/>
              <a:t>1</a:t>
            </a:r>
            <a:r>
              <a:rPr lang="en-US" altLang="en-US"/>
              <a:t>,…,c</a:t>
            </a:r>
            <a:r>
              <a:rPr lang="en-US" altLang="en-US" baseline="-25000"/>
              <a:t>m+n-1</a:t>
            </a:r>
            <a:r>
              <a:rPr lang="en-US" altLang="en-US"/>
              <a:t>) </a:t>
            </a:r>
            <a:r>
              <a:rPr lang="en-US" altLang="en-US" err="1"/>
              <a:t>là</a:t>
            </a:r>
            <a:r>
              <a:rPr lang="en-US" altLang="en-US"/>
              <a:t> </a:t>
            </a:r>
            <a:r>
              <a:rPr lang="en-US" altLang="en-US" err="1"/>
              <a:t>kết</a:t>
            </a:r>
            <a:r>
              <a:rPr lang="en-US" altLang="en-US"/>
              <a:t> </a:t>
            </a:r>
            <a:r>
              <a:rPr lang="en-US" altLang="en-US" err="1"/>
              <a:t>quả</a:t>
            </a:r>
            <a:r>
              <a:rPr lang="en-US" altLang="en-US"/>
              <a:t> </a:t>
            </a:r>
            <a:r>
              <a:rPr lang="en-US" altLang="en-US" err="1"/>
              <a:t>trộn</a:t>
            </a:r>
            <a:r>
              <a:rPr lang="en-US" altLang="en-US"/>
              <a:t> </a:t>
            </a:r>
            <a:r>
              <a:rPr lang="en-US" altLang="en-US" err="1"/>
              <a:t>của</a:t>
            </a:r>
            <a:r>
              <a:rPr lang="en-US" altLang="en-US"/>
              <a:t> A </a:t>
            </a:r>
            <a:r>
              <a:rPr lang="en-US" altLang="en-US" err="1"/>
              <a:t>và</a:t>
            </a:r>
            <a:r>
              <a:rPr lang="en-US" altLang="en-US"/>
              <a:t> B </a:t>
            </a:r>
            <a:r>
              <a:rPr lang="en-US" altLang="en-US" err="1"/>
              <a:t>và</a:t>
            </a:r>
            <a:r>
              <a:rPr lang="en-US" altLang="en-US"/>
              <a:t> </a:t>
            </a:r>
            <a:r>
              <a:rPr lang="en-US" altLang="en-US" err="1"/>
              <a:t>cũng</a:t>
            </a:r>
            <a:r>
              <a:rPr lang="en-US" altLang="en-US"/>
              <a:t> </a:t>
            </a:r>
            <a:r>
              <a:rPr lang="en-US" altLang="en-US" err="1"/>
              <a:t>được</a:t>
            </a:r>
            <a:r>
              <a:rPr lang="en-US" altLang="en-US"/>
              <a:t> </a:t>
            </a:r>
            <a:r>
              <a:rPr lang="en-US" altLang="en-US" err="1"/>
              <a:t>sắp</a:t>
            </a:r>
            <a:r>
              <a:rPr lang="en-US" altLang="en-US"/>
              <a:t> </a:t>
            </a:r>
            <a:r>
              <a:rPr lang="en-US" altLang="en-US" err="1"/>
              <a:t>xếp</a:t>
            </a:r>
            <a:endParaRPr lang="en-US" altLang="en-US"/>
          </a:p>
          <a:p>
            <a:r>
              <a:rPr lang="en-US" altLang="en-US" err="1"/>
              <a:t>Giải</a:t>
            </a:r>
            <a:r>
              <a:rPr lang="en-US" altLang="en-US"/>
              <a:t> </a:t>
            </a:r>
            <a:r>
              <a:rPr lang="en-US" altLang="en-US" err="1"/>
              <a:t>thuật</a:t>
            </a:r>
            <a:r>
              <a:rPr lang="en-US" altLang="en-US"/>
              <a:t>:</a:t>
            </a:r>
          </a:p>
          <a:p>
            <a:pPr lvl="1"/>
            <a:r>
              <a:rPr lang="en-US" altLang="en-US" err="1"/>
              <a:t>Khởi</a:t>
            </a:r>
            <a:r>
              <a:rPr lang="en-US" altLang="en-US"/>
              <a:t> </a:t>
            </a:r>
            <a:r>
              <a:rPr lang="en-US" altLang="en-US" err="1"/>
              <a:t>tạo</a:t>
            </a:r>
            <a:r>
              <a:rPr lang="en-US" altLang="en-US"/>
              <a:t>: </a:t>
            </a:r>
            <a:r>
              <a:rPr lang="en-US" altLang="en-US" err="1"/>
              <a:t>dùng</a:t>
            </a:r>
            <a:r>
              <a:rPr lang="en-US" altLang="en-US"/>
              <a:t> 2 </a:t>
            </a:r>
            <a:r>
              <a:rPr lang="en-US" altLang="en-US" err="1"/>
              <a:t>biến</a:t>
            </a:r>
            <a:r>
              <a:rPr lang="en-US" altLang="en-US"/>
              <a:t> </a:t>
            </a:r>
            <a:r>
              <a:rPr lang="en-US" altLang="en-US" err="1"/>
              <a:t>chạy</a:t>
            </a:r>
            <a:r>
              <a:rPr lang="en-US" altLang="en-US"/>
              <a:t> </a:t>
            </a:r>
            <a:r>
              <a:rPr lang="en-US" altLang="en-US" err="1"/>
              <a:t>i</a:t>
            </a:r>
            <a:r>
              <a:rPr lang="en-US" altLang="en-US"/>
              <a:t>=j=0; C = </a:t>
            </a:r>
            <a:r>
              <a:rPr lang="en-US" altLang="en-US" err="1"/>
              <a:t>rỗng</a:t>
            </a:r>
            <a:endParaRPr lang="en-US" altLang="en-US"/>
          </a:p>
          <a:p>
            <a:pPr lvl="1"/>
            <a:r>
              <a:rPr lang="en-US" altLang="en-US" err="1"/>
              <a:t>Chừng</a:t>
            </a:r>
            <a:r>
              <a:rPr lang="en-US" altLang="en-US"/>
              <a:t> </a:t>
            </a:r>
            <a:r>
              <a:rPr lang="en-US" altLang="en-US" err="1"/>
              <a:t>nào</a:t>
            </a:r>
            <a:r>
              <a:rPr lang="en-US" altLang="en-US"/>
              <a:t> (</a:t>
            </a:r>
            <a:r>
              <a:rPr lang="en-US" altLang="en-US" err="1"/>
              <a:t>i</a:t>
            </a:r>
            <a:r>
              <a:rPr lang="en-US" altLang="en-US"/>
              <a:t>&lt;m </a:t>
            </a:r>
            <a:r>
              <a:rPr lang="en-US" altLang="en-US" err="1"/>
              <a:t>và</a:t>
            </a:r>
            <a:r>
              <a:rPr lang="en-US" altLang="en-US"/>
              <a:t> j&lt;n) // </a:t>
            </a:r>
            <a:r>
              <a:rPr lang="en-US" altLang="en-US" i="1"/>
              <a:t>2 </a:t>
            </a:r>
            <a:r>
              <a:rPr lang="en-US" altLang="en-US" i="1" err="1"/>
              <a:t>dãy</a:t>
            </a:r>
            <a:r>
              <a:rPr lang="en-US" altLang="en-US" i="1"/>
              <a:t> A </a:t>
            </a:r>
            <a:r>
              <a:rPr lang="en-US" altLang="en-US" i="1" err="1"/>
              <a:t>và</a:t>
            </a:r>
            <a:r>
              <a:rPr lang="en-US" altLang="en-US" i="1"/>
              <a:t> B </a:t>
            </a:r>
            <a:r>
              <a:rPr lang="en-US" altLang="en-US" i="1" err="1"/>
              <a:t>còn</a:t>
            </a:r>
            <a:r>
              <a:rPr lang="en-US" altLang="en-US" i="1"/>
              <a:t> </a:t>
            </a:r>
            <a:r>
              <a:rPr lang="en-US" altLang="en-US" i="1" err="1"/>
              <a:t>chưa</a:t>
            </a:r>
            <a:r>
              <a:rPr lang="en-US" altLang="en-US" i="1"/>
              <a:t> </a:t>
            </a:r>
            <a:r>
              <a:rPr lang="en-US" altLang="en-US" i="1" err="1"/>
              <a:t>được</a:t>
            </a:r>
            <a:r>
              <a:rPr lang="en-US" altLang="en-US" i="1"/>
              <a:t> </a:t>
            </a:r>
            <a:r>
              <a:rPr lang="en-US" altLang="en-US" i="1" err="1"/>
              <a:t>chạy</a:t>
            </a:r>
            <a:r>
              <a:rPr lang="en-US" altLang="en-US" i="1"/>
              <a:t> </a:t>
            </a:r>
            <a:r>
              <a:rPr lang="en-US" altLang="en-US" err="1"/>
              <a:t>hết</a:t>
            </a:r>
            <a:endParaRPr lang="en-US" altLang="en-US"/>
          </a:p>
          <a:p>
            <a:pPr lvl="2"/>
            <a:r>
              <a:rPr lang="en-US" altLang="en-US" err="1"/>
              <a:t>Nếu</a:t>
            </a:r>
            <a:r>
              <a:rPr lang="en-US" altLang="en-US"/>
              <a:t> a</a:t>
            </a:r>
            <a:r>
              <a:rPr lang="en-US" altLang="en-US" baseline="-25000"/>
              <a:t>i</a:t>
            </a:r>
            <a:r>
              <a:rPr lang="en-US" altLang="en-US"/>
              <a:t>&lt;=</a:t>
            </a:r>
            <a:r>
              <a:rPr lang="en-US" altLang="en-US" err="1"/>
              <a:t>b</a:t>
            </a:r>
            <a:r>
              <a:rPr lang="en-US" altLang="en-US" baseline="-25000" err="1"/>
              <a:t>j</a:t>
            </a:r>
            <a:r>
              <a:rPr lang="en-US" altLang="en-US"/>
              <a:t> </a:t>
            </a:r>
            <a:r>
              <a:rPr lang="en-US" altLang="en-US" err="1"/>
              <a:t>thì</a:t>
            </a:r>
            <a:r>
              <a:rPr lang="en-US" altLang="en-US"/>
              <a:t> { C = C + a</a:t>
            </a:r>
            <a:r>
              <a:rPr lang="en-US" altLang="en-US" baseline="-25000"/>
              <a:t>i</a:t>
            </a:r>
            <a:r>
              <a:rPr lang="en-US" altLang="en-US"/>
              <a:t> ; </a:t>
            </a:r>
            <a:r>
              <a:rPr lang="en-US" altLang="en-US" err="1"/>
              <a:t>i</a:t>
            </a:r>
            <a:r>
              <a:rPr lang="en-US" altLang="en-US"/>
              <a:t>++; }</a:t>
            </a:r>
          </a:p>
          <a:p>
            <a:pPr lvl="2"/>
            <a:r>
              <a:rPr lang="en-US" altLang="en-US" err="1"/>
              <a:t>Trái</a:t>
            </a:r>
            <a:r>
              <a:rPr lang="en-US" altLang="en-US"/>
              <a:t> </a:t>
            </a:r>
            <a:r>
              <a:rPr lang="en-US" altLang="en-US" err="1"/>
              <a:t>lại</a:t>
            </a:r>
            <a:r>
              <a:rPr lang="en-US" altLang="en-US"/>
              <a:t>, </a:t>
            </a:r>
            <a:r>
              <a:rPr lang="en-US" altLang="en-US" err="1"/>
              <a:t>thì</a:t>
            </a:r>
            <a:r>
              <a:rPr lang="en-US" altLang="en-US"/>
              <a:t> { C = </a:t>
            </a:r>
            <a:r>
              <a:rPr lang="en-US" altLang="en-US" err="1"/>
              <a:t>C+b</a:t>
            </a:r>
            <a:r>
              <a:rPr lang="en-US" altLang="en-US" baseline="-25000" err="1"/>
              <a:t>j</a:t>
            </a:r>
            <a:r>
              <a:rPr lang="en-US" altLang="en-US"/>
              <a:t> ; </a:t>
            </a:r>
            <a:r>
              <a:rPr lang="en-US" altLang="en-US" err="1"/>
              <a:t>j++</a:t>
            </a:r>
            <a:r>
              <a:rPr lang="en-US" altLang="en-US"/>
              <a:t>; }</a:t>
            </a:r>
          </a:p>
          <a:p>
            <a:pPr lvl="1"/>
            <a:r>
              <a:rPr lang="en-US" altLang="en-US" err="1"/>
              <a:t>Nếu</a:t>
            </a:r>
            <a:r>
              <a:rPr lang="en-US" altLang="en-US"/>
              <a:t> </a:t>
            </a:r>
            <a:r>
              <a:rPr lang="en-US" altLang="en-US" err="1"/>
              <a:t>i</a:t>
            </a:r>
            <a:r>
              <a:rPr lang="en-US" altLang="en-US"/>
              <a:t> ≥ m (</a:t>
            </a:r>
            <a:r>
              <a:rPr lang="en-US" altLang="en-US" err="1"/>
              <a:t>dãy</a:t>
            </a:r>
            <a:r>
              <a:rPr lang="en-US" altLang="en-US"/>
              <a:t> A </a:t>
            </a:r>
            <a:r>
              <a:rPr lang="en-US" altLang="en-US" err="1"/>
              <a:t>đã</a:t>
            </a:r>
            <a:r>
              <a:rPr lang="en-US" altLang="en-US"/>
              <a:t> </a:t>
            </a:r>
            <a:r>
              <a:rPr lang="en-US" altLang="en-US" err="1"/>
              <a:t>được</a:t>
            </a:r>
            <a:r>
              <a:rPr lang="en-US" altLang="en-US"/>
              <a:t> </a:t>
            </a:r>
            <a:r>
              <a:rPr lang="en-US" altLang="en-US" err="1"/>
              <a:t>chạy</a:t>
            </a:r>
            <a:r>
              <a:rPr lang="en-US" altLang="en-US"/>
              <a:t> </a:t>
            </a:r>
            <a:r>
              <a:rPr lang="en-US" altLang="en-US" err="1"/>
              <a:t>hết</a:t>
            </a:r>
            <a:r>
              <a:rPr lang="en-US" altLang="en-US"/>
              <a:t>) </a:t>
            </a:r>
            <a:r>
              <a:rPr lang="en-US" altLang="en-US" err="1"/>
              <a:t>thì</a:t>
            </a:r>
            <a:r>
              <a:rPr lang="en-US" altLang="en-US"/>
              <a:t> C=C+(b</a:t>
            </a:r>
            <a:r>
              <a:rPr lang="en-US" altLang="en-US" baseline="-25000"/>
              <a:t>j</a:t>
            </a:r>
            <a:r>
              <a:rPr lang="en-US" altLang="en-US"/>
              <a:t>,b</a:t>
            </a:r>
            <a:r>
              <a:rPr lang="en-US" altLang="en-US" baseline="-25000"/>
              <a:t>j+1</a:t>
            </a:r>
            <a:r>
              <a:rPr lang="en-US" altLang="en-US"/>
              <a:t>,…,b</a:t>
            </a:r>
            <a:r>
              <a:rPr lang="en-US" altLang="en-US" baseline="-25000"/>
              <a:t>n-1</a:t>
            </a:r>
            <a:r>
              <a:rPr lang="en-US" altLang="en-US"/>
              <a:t>)</a:t>
            </a:r>
          </a:p>
          <a:p>
            <a:pPr lvl="1"/>
            <a:r>
              <a:rPr lang="en-US" altLang="en-US" err="1"/>
              <a:t>Trái</a:t>
            </a:r>
            <a:r>
              <a:rPr lang="en-US" altLang="en-US"/>
              <a:t> </a:t>
            </a:r>
            <a:r>
              <a:rPr lang="en-US" altLang="en-US" err="1"/>
              <a:t>lại</a:t>
            </a:r>
            <a:r>
              <a:rPr lang="en-US" altLang="en-US"/>
              <a:t> </a:t>
            </a:r>
            <a:r>
              <a:rPr lang="en-US" altLang="en-US" err="1"/>
              <a:t>thì</a:t>
            </a:r>
            <a:r>
              <a:rPr lang="en-US" altLang="en-US"/>
              <a:t> C=C+(a</a:t>
            </a:r>
            <a:r>
              <a:rPr lang="en-US" altLang="en-US" baseline="-25000"/>
              <a:t>i</a:t>
            </a:r>
            <a:r>
              <a:rPr lang="en-US" altLang="en-US"/>
              <a:t>,a</a:t>
            </a:r>
            <a:r>
              <a:rPr lang="en-US" altLang="en-US" baseline="-25000"/>
              <a:t>i+1</a:t>
            </a:r>
            <a:r>
              <a:rPr lang="en-US" altLang="en-US"/>
              <a:t>,…,a</a:t>
            </a:r>
            <a:r>
              <a:rPr lang="en-US" altLang="en-US" baseline="-25000"/>
              <a:t>m-1</a:t>
            </a:r>
            <a:r>
              <a:rPr lang="en-US" altLang="en-US"/>
              <a:t>)</a:t>
            </a:r>
          </a:p>
        </p:txBody>
      </p:sp>
    </p:spTree>
    <p:extLst>
      <p:ext uri="{BB962C8B-B14F-4D97-AF65-F5344CB8AC3E}">
        <p14:creationId xmlns:p14="http://schemas.microsoft.com/office/powerpoint/2010/main" val="35717682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AB020DF-3499-8A48-B47F-C7A16DA11DFF}"/>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A4C66370-451D-7244-9140-ED3E0D8604E7}"/>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B80D8D7A-38F3-8C47-A925-8010DBB43863}"/>
              </a:ext>
            </a:extLst>
          </p:cNvPr>
          <p:cNvSpPr>
            <a:spLocks noGrp="1"/>
          </p:cNvSpPr>
          <p:nvPr>
            <p:ph type="sldNum" sz="quarter" idx="12"/>
          </p:nvPr>
        </p:nvSpPr>
        <p:spPr/>
        <p:txBody>
          <a:bodyPr/>
          <a:lstStyle/>
          <a:p>
            <a:fld id="{BA7BC09B-FE30-A349-B1D2-5A364F511F98}" type="slidenum">
              <a:rPr lang="en-US" smtClean="0"/>
              <a:t>47</a:t>
            </a:fld>
            <a:endParaRPr lang="en-US"/>
          </a:p>
        </p:txBody>
      </p:sp>
      <p:sp>
        <p:nvSpPr>
          <p:cNvPr id="2" name="Title 1">
            <a:extLst>
              <a:ext uri="{FF2B5EF4-FFF2-40B4-BE49-F238E27FC236}">
                <a16:creationId xmlns:a16="http://schemas.microsoft.com/office/drawing/2014/main" id="{399E28D3-C3A5-E947-89DE-F8EDB8B9E7C3}"/>
              </a:ext>
            </a:extLst>
          </p:cNvPr>
          <p:cNvSpPr>
            <a:spLocks noGrp="1"/>
          </p:cNvSpPr>
          <p:nvPr>
            <p:ph type="title"/>
          </p:nvPr>
        </p:nvSpPr>
        <p:spPr/>
        <p:txBody>
          <a:bodyPr/>
          <a:lstStyle/>
          <a:p>
            <a:r>
              <a:rPr lang="en-US" err="1"/>
              <a:t>Ví</a:t>
            </a:r>
            <a:r>
              <a:rPr lang="en-US"/>
              <a:t> </a:t>
            </a:r>
            <a:r>
              <a:rPr lang="en-US" err="1"/>
              <a:t>dụ</a:t>
            </a:r>
            <a:r>
              <a:rPr lang="en-US"/>
              <a:t> </a:t>
            </a:r>
          </a:p>
        </p:txBody>
      </p:sp>
      <p:sp>
        <p:nvSpPr>
          <p:cNvPr id="3" name="Chỗ dành sẵn cho Văn bản 2">
            <a:extLst>
              <a:ext uri="{FF2B5EF4-FFF2-40B4-BE49-F238E27FC236}">
                <a16:creationId xmlns:a16="http://schemas.microsoft.com/office/drawing/2014/main" id="{12097F0C-F243-5FD8-87C9-FAC54F01B9AE}"/>
              </a:ext>
            </a:extLst>
          </p:cNvPr>
          <p:cNvSpPr>
            <a:spLocks noGrp="1"/>
          </p:cNvSpPr>
          <p:nvPr>
            <p:ph type="body" sz="quarter" idx="13"/>
          </p:nvPr>
        </p:nvSpPr>
        <p:spPr/>
        <p:txBody>
          <a:bodyPr/>
          <a:lstStyle/>
          <a:p>
            <a:endParaRPr lang="vi-VN"/>
          </a:p>
        </p:txBody>
      </p:sp>
      <p:grpSp>
        <p:nvGrpSpPr>
          <p:cNvPr id="82" name="Group 81">
            <a:extLst>
              <a:ext uri="{FF2B5EF4-FFF2-40B4-BE49-F238E27FC236}">
                <a16:creationId xmlns:a16="http://schemas.microsoft.com/office/drawing/2014/main" id="{770D80A2-0BCC-FE45-98D7-09EB84D2FD33}"/>
              </a:ext>
            </a:extLst>
          </p:cNvPr>
          <p:cNvGrpSpPr/>
          <p:nvPr/>
        </p:nvGrpSpPr>
        <p:grpSpPr>
          <a:xfrm>
            <a:off x="2209800" y="1066800"/>
            <a:ext cx="5486400" cy="5029200"/>
            <a:chOff x="1676400" y="762000"/>
            <a:chExt cx="5486400" cy="5029200"/>
          </a:xfrm>
        </p:grpSpPr>
        <p:sp>
          <p:nvSpPr>
            <p:cNvPr id="7" name="Rectangle 4">
              <a:extLst>
                <a:ext uri="{FF2B5EF4-FFF2-40B4-BE49-F238E27FC236}">
                  <a16:creationId xmlns:a16="http://schemas.microsoft.com/office/drawing/2014/main" id="{8C986C84-EE92-2A49-B015-1935B9A26632}"/>
                </a:ext>
              </a:extLst>
            </p:cNvPr>
            <p:cNvSpPr>
              <a:spLocks noChangeArrowheads="1"/>
            </p:cNvSpPr>
            <p:nvPr/>
          </p:nvSpPr>
          <p:spPr bwMode="auto">
            <a:xfrm>
              <a:off x="36576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8" name="Rectangle 5">
              <a:extLst>
                <a:ext uri="{FF2B5EF4-FFF2-40B4-BE49-F238E27FC236}">
                  <a16:creationId xmlns:a16="http://schemas.microsoft.com/office/drawing/2014/main" id="{771B4CC1-EDD5-154E-B7D0-E2CE0F42BCEB}"/>
                </a:ext>
              </a:extLst>
            </p:cNvPr>
            <p:cNvSpPr>
              <a:spLocks noChangeArrowheads="1"/>
            </p:cNvSpPr>
            <p:nvPr/>
          </p:nvSpPr>
          <p:spPr bwMode="auto">
            <a:xfrm>
              <a:off x="41148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9" name="Rectangle 6">
              <a:extLst>
                <a:ext uri="{FF2B5EF4-FFF2-40B4-BE49-F238E27FC236}">
                  <a16:creationId xmlns:a16="http://schemas.microsoft.com/office/drawing/2014/main" id="{55E428C3-2581-9F44-B883-C88FB834B9BC}"/>
                </a:ext>
              </a:extLst>
            </p:cNvPr>
            <p:cNvSpPr>
              <a:spLocks noChangeArrowheads="1"/>
            </p:cNvSpPr>
            <p:nvPr/>
          </p:nvSpPr>
          <p:spPr bwMode="auto">
            <a:xfrm>
              <a:off x="45720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10" name="Rectangle 7">
              <a:extLst>
                <a:ext uri="{FF2B5EF4-FFF2-40B4-BE49-F238E27FC236}">
                  <a16:creationId xmlns:a16="http://schemas.microsoft.com/office/drawing/2014/main" id="{160BB667-8A4C-EF42-A3B1-00C53E09A7FD}"/>
                </a:ext>
              </a:extLst>
            </p:cNvPr>
            <p:cNvSpPr>
              <a:spLocks noChangeArrowheads="1"/>
            </p:cNvSpPr>
            <p:nvPr/>
          </p:nvSpPr>
          <p:spPr bwMode="auto">
            <a:xfrm>
              <a:off x="50292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11" name="Rectangle 8">
              <a:extLst>
                <a:ext uri="{FF2B5EF4-FFF2-40B4-BE49-F238E27FC236}">
                  <a16:creationId xmlns:a16="http://schemas.microsoft.com/office/drawing/2014/main" id="{8413FB47-7817-1F43-A0D7-8D54DD677C66}"/>
                </a:ext>
              </a:extLst>
            </p:cNvPr>
            <p:cNvSpPr>
              <a:spLocks noChangeArrowheads="1"/>
            </p:cNvSpPr>
            <p:nvPr/>
          </p:nvSpPr>
          <p:spPr bwMode="auto">
            <a:xfrm>
              <a:off x="54864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12" name="Rectangle 9">
              <a:extLst>
                <a:ext uri="{FF2B5EF4-FFF2-40B4-BE49-F238E27FC236}">
                  <a16:creationId xmlns:a16="http://schemas.microsoft.com/office/drawing/2014/main" id="{1AE51E9A-1A2E-D74C-9A37-AFC3628640C2}"/>
                </a:ext>
              </a:extLst>
            </p:cNvPr>
            <p:cNvSpPr>
              <a:spLocks noChangeArrowheads="1"/>
            </p:cNvSpPr>
            <p:nvPr/>
          </p:nvSpPr>
          <p:spPr bwMode="auto">
            <a:xfrm>
              <a:off x="59436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13" name="Rectangle 10">
              <a:extLst>
                <a:ext uri="{FF2B5EF4-FFF2-40B4-BE49-F238E27FC236}">
                  <a16:creationId xmlns:a16="http://schemas.microsoft.com/office/drawing/2014/main" id="{A377B817-57F1-334B-86B3-DC8ECE394126}"/>
                </a:ext>
              </a:extLst>
            </p:cNvPr>
            <p:cNvSpPr>
              <a:spLocks noChangeArrowheads="1"/>
            </p:cNvSpPr>
            <p:nvPr/>
          </p:nvSpPr>
          <p:spPr bwMode="auto">
            <a:xfrm>
              <a:off x="6400800" y="76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14" name="Rectangle 4">
              <a:extLst>
                <a:ext uri="{FF2B5EF4-FFF2-40B4-BE49-F238E27FC236}">
                  <a16:creationId xmlns:a16="http://schemas.microsoft.com/office/drawing/2014/main" id="{43023C82-BA94-D845-AF83-6CD3137E7F01}"/>
                </a:ext>
              </a:extLst>
            </p:cNvPr>
            <p:cNvSpPr>
              <a:spLocks noChangeArrowheads="1"/>
            </p:cNvSpPr>
            <p:nvPr/>
          </p:nvSpPr>
          <p:spPr bwMode="auto">
            <a:xfrm>
              <a:off x="34290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15" name="Rectangle 5">
              <a:extLst>
                <a:ext uri="{FF2B5EF4-FFF2-40B4-BE49-F238E27FC236}">
                  <a16:creationId xmlns:a16="http://schemas.microsoft.com/office/drawing/2014/main" id="{431CF1C4-5047-4D4B-B51D-30B06E8629F4}"/>
                </a:ext>
              </a:extLst>
            </p:cNvPr>
            <p:cNvSpPr>
              <a:spLocks noChangeArrowheads="1"/>
            </p:cNvSpPr>
            <p:nvPr/>
          </p:nvSpPr>
          <p:spPr bwMode="auto">
            <a:xfrm>
              <a:off x="38862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16" name="Rectangle 6">
              <a:extLst>
                <a:ext uri="{FF2B5EF4-FFF2-40B4-BE49-F238E27FC236}">
                  <a16:creationId xmlns:a16="http://schemas.microsoft.com/office/drawing/2014/main" id="{3FAD36D9-6FB3-8343-9686-64647C4CED11}"/>
                </a:ext>
              </a:extLst>
            </p:cNvPr>
            <p:cNvSpPr>
              <a:spLocks noChangeArrowheads="1"/>
            </p:cNvSpPr>
            <p:nvPr/>
          </p:nvSpPr>
          <p:spPr bwMode="auto">
            <a:xfrm>
              <a:off x="43434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17" name="Rectangle 7">
              <a:extLst>
                <a:ext uri="{FF2B5EF4-FFF2-40B4-BE49-F238E27FC236}">
                  <a16:creationId xmlns:a16="http://schemas.microsoft.com/office/drawing/2014/main" id="{8F19D8DF-FB0C-364C-A907-75A7D2D70B83}"/>
                </a:ext>
              </a:extLst>
            </p:cNvPr>
            <p:cNvSpPr>
              <a:spLocks noChangeArrowheads="1"/>
            </p:cNvSpPr>
            <p:nvPr/>
          </p:nvSpPr>
          <p:spPr bwMode="auto">
            <a:xfrm>
              <a:off x="48006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18" name="Rectangle 8">
              <a:extLst>
                <a:ext uri="{FF2B5EF4-FFF2-40B4-BE49-F238E27FC236}">
                  <a16:creationId xmlns:a16="http://schemas.microsoft.com/office/drawing/2014/main" id="{CEF1E8F1-C6AD-7C4E-8C89-6C6BD1BCCBB6}"/>
                </a:ext>
              </a:extLst>
            </p:cNvPr>
            <p:cNvSpPr>
              <a:spLocks noChangeArrowheads="1"/>
            </p:cNvSpPr>
            <p:nvPr/>
          </p:nvSpPr>
          <p:spPr bwMode="auto">
            <a:xfrm>
              <a:off x="57150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19" name="Rectangle 9">
              <a:extLst>
                <a:ext uri="{FF2B5EF4-FFF2-40B4-BE49-F238E27FC236}">
                  <a16:creationId xmlns:a16="http://schemas.microsoft.com/office/drawing/2014/main" id="{2021C31C-1F0C-2146-8881-C4D6FB6CB578}"/>
                </a:ext>
              </a:extLst>
            </p:cNvPr>
            <p:cNvSpPr>
              <a:spLocks noChangeArrowheads="1"/>
            </p:cNvSpPr>
            <p:nvPr/>
          </p:nvSpPr>
          <p:spPr bwMode="auto">
            <a:xfrm>
              <a:off x="61722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20" name="Rectangle 10">
              <a:extLst>
                <a:ext uri="{FF2B5EF4-FFF2-40B4-BE49-F238E27FC236}">
                  <a16:creationId xmlns:a16="http://schemas.microsoft.com/office/drawing/2014/main" id="{0DD956C8-049A-B040-AA0D-07E2ABB7DB52}"/>
                </a:ext>
              </a:extLst>
            </p:cNvPr>
            <p:cNvSpPr>
              <a:spLocks noChangeArrowheads="1"/>
            </p:cNvSpPr>
            <p:nvPr/>
          </p:nvSpPr>
          <p:spPr bwMode="auto">
            <a:xfrm>
              <a:off x="6629400" y="152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1" name="Rectangle 4">
              <a:extLst>
                <a:ext uri="{FF2B5EF4-FFF2-40B4-BE49-F238E27FC236}">
                  <a16:creationId xmlns:a16="http://schemas.microsoft.com/office/drawing/2014/main" id="{4A391D4B-E0A4-1B48-A49F-20C94F8A5FFB}"/>
                </a:ext>
              </a:extLst>
            </p:cNvPr>
            <p:cNvSpPr>
              <a:spLocks noChangeArrowheads="1"/>
            </p:cNvSpPr>
            <p:nvPr/>
          </p:nvSpPr>
          <p:spPr bwMode="auto">
            <a:xfrm>
              <a:off x="33528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22" name="Rectangle 5">
              <a:extLst>
                <a:ext uri="{FF2B5EF4-FFF2-40B4-BE49-F238E27FC236}">
                  <a16:creationId xmlns:a16="http://schemas.microsoft.com/office/drawing/2014/main" id="{4F6AE34F-EA09-E64A-A417-D5B9F74C13E1}"/>
                </a:ext>
              </a:extLst>
            </p:cNvPr>
            <p:cNvSpPr>
              <a:spLocks noChangeArrowheads="1"/>
            </p:cNvSpPr>
            <p:nvPr/>
          </p:nvSpPr>
          <p:spPr bwMode="auto">
            <a:xfrm>
              <a:off x="38100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23" name="Rectangle 6">
              <a:extLst>
                <a:ext uri="{FF2B5EF4-FFF2-40B4-BE49-F238E27FC236}">
                  <a16:creationId xmlns:a16="http://schemas.microsoft.com/office/drawing/2014/main" id="{4416FF85-2113-9A43-AC55-D962E53DC77F}"/>
                </a:ext>
              </a:extLst>
            </p:cNvPr>
            <p:cNvSpPr>
              <a:spLocks noChangeArrowheads="1"/>
            </p:cNvSpPr>
            <p:nvPr/>
          </p:nvSpPr>
          <p:spPr bwMode="auto">
            <a:xfrm>
              <a:off x="44196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24" name="Rectangle 7">
              <a:extLst>
                <a:ext uri="{FF2B5EF4-FFF2-40B4-BE49-F238E27FC236}">
                  <a16:creationId xmlns:a16="http://schemas.microsoft.com/office/drawing/2014/main" id="{6E907F47-F416-9347-86AC-6DAD34CD3927}"/>
                </a:ext>
              </a:extLst>
            </p:cNvPr>
            <p:cNvSpPr>
              <a:spLocks noChangeArrowheads="1"/>
            </p:cNvSpPr>
            <p:nvPr/>
          </p:nvSpPr>
          <p:spPr bwMode="auto">
            <a:xfrm>
              <a:off x="48768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25" name="Rectangle 8">
              <a:extLst>
                <a:ext uri="{FF2B5EF4-FFF2-40B4-BE49-F238E27FC236}">
                  <a16:creationId xmlns:a16="http://schemas.microsoft.com/office/drawing/2014/main" id="{DBDF3516-AE12-3F48-9342-2813AFB44E14}"/>
                </a:ext>
              </a:extLst>
            </p:cNvPr>
            <p:cNvSpPr>
              <a:spLocks noChangeArrowheads="1"/>
            </p:cNvSpPr>
            <p:nvPr/>
          </p:nvSpPr>
          <p:spPr bwMode="auto">
            <a:xfrm>
              <a:off x="56388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26" name="Rectangle 9">
              <a:extLst>
                <a:ext uri="{FF2B5EF4-FFF2-40B4-BE49-F238E27FC236}">
                  <a16:creationId xmlns:a16="http://schemas.microsoft.com/office/drawing/2014/main" id="{ECA7E6B6-15B7-EF4A-A309-EEF94082DE1E}"/>
                </a:ext>
              </a:extLst>
            </p:cNvPr>
            <p:cNvSpPr>
              <a:spLocks noChangeArrowheads="1"/>
            </p:cNvSpPr>
            <p:nvPr/>
          </p:nvSpPr>
          <p:spPr bwMode="auto">
            <a:xfrm>
              <a:off x="60960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27" name="Rectangle 10">
              <a:extLst>
                <a:ext uri="{FF2B5EF4-FFF2-40B4-BE49-F238E27FC236}">
                  <a16:creationId xmlns:a16="http://schemas.microsoft.com/office/drawing/2014/main" id="{DF2A3D39-0A13-7F4E-BCD2-06A0B3401D3F}"/>
                </a:ext>
              </a:extLst>
            </p:cNvPr>
            <p:cNvSpPr>
              <a:spLocks noChangeArrowheads="1"/>
            </p:cNvSpPr>
            <p:nvPr/>
          </p:nvSpPr>
          <p:spPr bwMode="auto">
            <a:xfrm>
              <a:off x="6705600" y="2286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28" name="Rectangle 4">
              <a:extLst>
                <a:ext uri="{FF2B5EF4-FFF2-40B4-BE49-F238E27FC236}">
                  <a16:creationId xmlns:a16="http://schemas.microsoft.com/office/drawing/2014/main" id="{C684A346-D808-2447-8DC0-84D096DD0419}"/>
                </a:ext>
              </a:extLst>
            </p:cNvPr>
            <p:cNvSpPr>
              <a:spLocks noChangeArrowheads="1"/>
            </p:cNvSpPr>
            <p:nvPr/>
          </p:nvSpPr>
          <p:spPr bwMode="auto">
            <a:xfrm>
              <a:off x="3276600" y="3048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29" name="Rectangle 5">
              <a:extLst>
                <a:ext uri="{FF2B5EF4-FFF2-40B4-BE49-F238E27FC236}">
                  <a16:creationId xmlns:a16="http://schemas.microsoft.com/office/drawing/2014/main" id="{5E67A45A-E09D-4A45-BD60-4D0E8C66C6B6}"/>
                </a:ext>
              </a:extLst>
            </p:cNvPr>
            <p:cNvSpPr>
              <a:spLocks noChangeArrowheads="1"/>
            </p:cNvSpPr>
            <p:nvPr/>
          </p:nvSpPr>
          <p:spPr bwMode="auto">
            <a:xfrm>
              <a:off x="3810000" y="3048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30" name="Rectangle 6">
              <a:extLst>
                <a:ext uri="{FF2B5EF4-FFF2-40B4-BE49-F238E27FC236}">
                  <a16:creationId xmlns:a16="http://schemas.microsoft.com/office/drawing/2014/main" id="{719CBCD5-FDB5-6C4A-9256-1508F6DC32C4}"/>
                </a:ext>
              </a:extLst>
            </p:cNvPr>
            <p:cNvSpPr>
              <a:spLocks noChangeArrowheads="1"/>
            </p:cNvSpPr>
            <p:nvPr/>
          </p:nvSpPr>
          <p:spPr bwMode="auto">
            <a:xfrm>
              <a:off x="4419600" y="3048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31" name="Rectangle 7">
              <a:extLst>
                <a:ext uri="{FF2B5EF4-FFF2-40B4-BE49-F238E27FC236}">
                  <a16:creationId xmlns:a16="http://schemas.microsoft.com/office/drawing/2014/main" id="{2145CD11-4159-0040-A521-ECBAE0C2F58F}"/>
                </a:ext>
              </a:extLst>
            </p:cNvPr>
            <p:cNvSpPr>
              <a:spLocks noChangeArrowheads="1"/>
            </p:cNvSpPr>
            <p:nvPr/>
          </p:nvSpPr>
          <p:spPr bwMode="auto">
            <a:xfrm>
              <a:off x="4953000" y="3048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32" name="Rectangle 8">
              <a:extLst>
                <a:ext uri="{FF2B5EF4-FFF2-40B4-BE49-F238E27FC236}">
                  <a16:creationId xmlns:a16="http://schemas.microsoft.com/office/drawing/2014/main" id="{67D04B08-4AFC-534D-93E2-AA6A780B4BAE}"/>
                </a:ext>
              </a:extLst>
            </p:cNvPr>
            <p:cNvSpPr>
              <a:spLocks noChangeArrowheads="1"/>
            </p:cNvSpPr>
            <p:nvPr/>
          </p:nvSpPr>
          <p:spPr bwMode="auto">
            <a:xfrm>
              <a:off x="5638800" y="3048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33" name="Rectangle 9">
              <a:extLst>
                <a:ext uri="{FF2B5EF4-FFF2-40B4-BE49-F238E27FC236}">
                  <a16:creationId xmlns:a16="http://schemas.microsoft.com/office/drawing/2014/main" id="{111D2ACD-178C-D547-B339-CF8710F0CA14}"/>
                </a:ext>
              </a:extLst>
            </p:cNvPr>
            <p:cNvSpPr>
              <a:spLocks noChangeArrowheads="1"/>
            </p:cNvSpPr>
            <p:nvPr/>
          </p:nvSpPr>
          <p:spPr bwMode="auto">
            <a:xfrm>
              <a:off x="6172200" y="3048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cxnSp>
          <p:nvCxnSpPr>
            <p:cNvPr id="34" name="Straight Arrow Connector 35">
              <a:extLst>
                <a:ext uri="{FF2B5EF4-FFF2-40B4-BE49-F238E27FC236}">
                  <a16:creationId xmlns:a16="http://schemas.microsoft.com/office/drawing/2014/main" id="{76EAF132-CB6D-3641-AFD1-0D0C3F3E8F2E}"/>
                </a:ext>
              </a:extLst>
            </p:cNvPr>
            <p:cNvCxnSpPr>
              <a:cxnSpLocks noChangeShapeType="1"/>
              <a:stCxn id="10" idx="2"/>
            </p:cNvCxnSpPr>
            <p:nvPr/>
          </p:nvCxnSpPr>
          <p:spPr bwMode="auto">
            <a:xfrm rot="5400000">
              <a:off x="4686300" y="952500"/>
              <a:ext cx="304800" cy="8382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5" name="Straight Arrow Connector 36">
              <a:extLst>
                <a:ext uri="{FF2B5EF4-FFF2-40B4-BE49-F238E27FC236}">
                  <a16:creationId xmlns:a16="http://schemas.microsoft.com/office/drawing/2014/main" id="{419D9A98-0D9E-8543-86A0-04B966D87FC4}"/>
                </a:ext>
              </a:extLst>
            </p:cNvPr>
            <p:cNvCxnSpPr>
              <a:cxnSpLocks noChangeShapeType="1"/>
              <a:stCxn id="10" idx="2"/>
              <a:endCxn id="19" idx="0"/>
            </p:cNvCxnSpPr>
            <p:nvPr/>
          </p:nvCxnSpPr>
          <p:spPr bwMode="auto">
            <a:xfrm rot="16200000" flipH="1">
              <a:off x="5676900" y="800100"/>
              <a:ext cx="304800" cy="11430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6" name="Straight Arrow Connector 40">
              <a:extLst>
                <a:ext uri="{FF2B5EF4-FFF2-40B4-BE49-F238E27FC236}">
                  <a16:creationId xmlns:a16="http://schemas.microsoft.com/office/drawing/2014/main" id="{6765A2DB-7917-D846-9E99-D0373C4E0549}"/>
                </a:ext>
              </a:extLst>
            </p:cNvPr>
            <p:cNvCxnSpPr>
              <a:cxnSpLocks noChangeShapeType="1"/>
            </p:cNvCxnSpPr>
            <p:nvPr/>
          </p:nvCxnSpPr>
          <p:spPr bwMode="auto">
            <a:xfrm rot="10800000" flipV="1">
              <a:off x="3810000" y="1981200"/>
              <a:ext cx="5334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7" name="Straight Arrow Connector 41">
              <a:extLst>
                <a:ext uri="{FF2B5EF4-FFF2-40B4-BE49-F238E27FC236}">
                  <a16:creationId xmlns:a16="http://schemas.microsoft.com/office/drawing/2014/main" id="{D3F78053-3AEB-4D4C-9105-63F234E41965}"/>
                </a:ext>
              </a:extLst>
            </p:cNvPr>
            <p:cNvCxnSpPr>
              <a:cxnSpLocks noChangeShapeType="1"/>
            </p:cNvCxnSpPr>
            <p:nvPr/>
          </p:nvCxnSpPr>
          <p:spPr bwMode="auto">
            <a:xfrm>
              <a:off x="4343400" y="1981200"/>
              <a:ext cx="6096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8" name="Straight Arrow Connector 46">
              <a:extLst>
                <a:ext uri="{FF2B5EF4-FFF2-40B4-BE49-F238E27FC236}">
                  <a16:creationId xmlns:a16="http://schemas.microsoft.com/office/drawing/2014/main" id="{07394E0B-66DF-B54C-B350-0D9DC6C32BA1}"/>
                </a:ext>
              </a:extLst>
            </p:cNvPr>
            <p:cNvCxnSpPr>
              <a:cxnSpLocks noChangeShapeType="1"/>
            </p:cNvCxnSpPr>
            <p:nvPr/>
          </p:nvCxnSpPr>
          <p:spPr bwMode="auto">
            <a:xfrm rot="10800000" flipV="1">
              <a:off x="6096000" y="1981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9" name="Straight Arrow Connector 47">
              <a:extLst>
                <a:ext uri="{FF2B5EF4-FFF2-40B4-BE49-F238E27FC236}">
                  <a16:creationId xmlns:a16="http://schemas.microsoft.com/office/drawing/2014/main" id="{0FB0F76B-BF84-DF4B-BE52-4B3E820F26DE}"/>
                </a:ext>
              </a:extLst>
            </p:cNvPr>
            <p:cNvCxnSpPr>
              <a:cxnSpLocks noChangeShapeType="1"/>
              <a:endCxn id="27" idx="0"/>
            </p:cNvCxnSpPr>
            <p:nvPr/>
          </p:nvCxnSpPr>
          <p:spPr bwMode="auto">
            <a:xfrm>
              <a:off x="6400800" y="1981200"/>
              <a:ext cx="5334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 name="Straight Arrow Connector 50">
              <a:extLst>
                <a:ext uri="{FF2B5EF4-FFF2-40B4-BE49-F238E27FC236}">
                  <a16:creationId xmlns:a16="http://schemas.microsoft.com/office/drawing/2014/main" id="{5E3A82DC-FE68-0A4A-9A08-62028143E562}"/>
                </a:ext>
              </a:extLst>
            </p:cNvPr>
            <p:cNvCxnSpPr>
              <a:cxnSpLocks noChangeShapeType="1"/>
              <a:endCxn id="28" idx="0"/>
            </p:cNvCxnSpPr>
            <p:nvPr/>
          </p:nvCxnSpPr>
          <p:spPr bwMode="auto">
            <a:xfrm rot="5400000">
              <a:off x="3505200" y="2743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1" name="Straight Arrow Connector 51">
              <a:extLst>
                <a:ext uri="{FF2B5EF4-FFF2-40B4-BE49-F238E27FC236}">
                  <a16:creationId xmlns:a16="http://schemas.microsoft.com/office/drawing/2014/main" id="{DF776FBB-AD30-BE41-8516-1C408866F9BB}"/>
                </a:ext>
              </a:extLst>
            </p:cNvPr>
            <p:cNvCxnSpPr>
              <a:cxnSpLocks noChangeShapeType="1"/>
              <a:endCxn id="29" idx="0"/>
            </p:cNvCxnSpPr>
            <p:nvPr/>
          </p:nvCxnSpPr>
          <p:spPr bwMode="auto">
            <a:xfrm rot="16200000" flipH="1">
              <a:off x="3771900" y="2781300"/>
              <a:ext cx="304800" cy="2286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2" name="Straight Arrow Connector 56">
              <a:extLst>
                <a:ext uri="{FF2B5EF4-FFF2-40B4-BE49-F238E27FC236}">
                  <a16:creationId xmlns:a16="http://schemas.microsoft.com/office/drawing/2014/main" id="{6F4BC9D9-D4E8-9945-9732-47C786C50C29}"/>
                </a:ext>
              </a:extLst>
            </p:cNvPr>
            <p:cNvCxnSpPr>
              <a:cxnSpLocks noChangeShapeType="1"/>
            </p:cNvCxnSpPr>
            <p:nvPr/>
          </p:nvCxnSpPr>
          <p:spPr bwMode="auto">
            <a:xfrm rot="5400000">
              <a:off x="4572000" y="2743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3" name="Straight Arrow Connector 57">
              <a:extLst>
                <a:ext uri="{FF2B5EF4-FFF2-40B4-BE49-F238E27FC236}">
                  <a16:creationId xmlns:a16="http://schemas.microsoft.com/office/drawing/2014/main" id="{35931719-40A2-6346-B447-8C40F97B5194}"/>
                </a:ext>
              </a:extLst>
            </p:cNvPr>
            <p:cNvCxnSpPr>
              <a:cxnSpLocks noChangeShapeType="1"/>
            </p:cNvCxnSpPr>
            <p:nvPr/>
          </p:nvCxnSpPr>
          <p:spPr bwMode="auto">
            <a:xfrm rot="16200000" flipH="1">
              <a:off x="4838700" y="2781300"/>
              <a:ext cx="304800" cy="2286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4" name="Straight Arrow Connector 58">
              <a:extLst>
                <a:ext uri="{FF2B5EF4-FFF2-40B4-BE49-F238E27FC236}">
                  <a16:creationId xmlns:a16="http://schemas.microsoft.com/office/drawing/2014/main" id="{1AC6DF13-2124-2044-9E1E-5F57976A3AE0}"/>
                </a:ext>
              </a:extLst>
            </p:cNvPr>
            <p:cNvCxnSpPr>
              <a:cxnSpLocks noChangeShapeType="1"/>
            </p:cNvCxnSpPr>
            <p:nvPr/>
          </p:nvCxnSpPr>
          <p:spPr bwMode="auto">
            <a:xfrm rot="5400000">
              <a:off x="5791200" y="2743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5" name="Straight Arrow Connector 59">
              <a:extLst>
                <a:ext uri="{FF2B5EF4-FFF2-40B4-BE49-F238E27FC236}">
                  <a16:creationId xmlns:a16="http://schemas.microsoft.com/office/drawing/2014/main" id="{A772D854-DAA5-D541-BE34-F64214BA3082}"/>
                </a:ext>
              </a:extLst>
            </p:cNvPr>
            <p:cNvCxnSpPr>
              <a:cxnSpLocks noChangeShapeType="1"/>
            </p:cNvCxnSpPr>
            <p:nvPr/>
          </p:nvCxnSpPr>
          <p:spPr bwMode="auto">
            <a:xfrm rot="16200000" flipH="1">
              <a:off x="6057900" y="2781300"/>
              <a:ext cx="304800" cy="2286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 name="Rectangle 4">
              <a:extLst>
                <a:ext uri="{FF2B5EF4-FFF2-40B4-BE49-F238E27FC236}">
                  <a16:creationId xmlns:a16="http://schemas.microsoft.com/office/drawing/2014/main" id="{6DF2C07F-CDD9-4545-83DE-4C6AA03492C3}"/>
                </a:ext>
              </a:extLst>
            </p:cNvPr>
            <p:cNvSpPr>
              <a:spLocks noChangeArrowheads="1"/>
            </p:cNvSpPr>
            <p:nvPr/>
          </p:nvSpPr>
          <p:spPr bwMode="auto">
            <a:xfrm>
              <a:off x="3276600" y="3810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47" name="Rectangle 5">
              <a:extLst>
                <a:ext uri="{FF2B5EF4-FFF2-40B4-BE49-F238E27FC236}">
                  <a16:creationId xmlns:a16="http://schemas.microsoft.com/office/drawing/2014/main" id="{288C10A7-3F62-0345-A12F-AF882B3372C0}"/>
                </a:ext>
              </a:extLst>
            </p:cNvPr>
            <p:cNvSpPr>
              <a:spLocks noChangeArrowheads="1"/>
            </p:cNvSpPr>
            <p:nvPr/>
          </p:nvSpPr>
          <p:spPr bwMode="auto">
            <a:xfrm>
              <a:off x="3733800" y="3810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48" name="Rectangle 6">
              <a:extLst>
                <a:ext uri="{FF2B5EF4-FFF2-40B4-BE49-F238E27FC236}">
                  <a16:creationId xmlns:a16="http://schemas.microsoft.com/office/drawing/2014/main" id="{A0BC1466-CEEE-9545-BCCE-25DBD7A1D6A5}"/>
                </a:ext>
              </a:extLst>
            </p:cNvPr>
            <p:cNvSpPr>
              <a:spLocks noChangeArrowheads="1"/>
            </p:cNvSpPr>
            <p:nvPr/>
          </p:nvSpPr>
          <p:spPr bwMode="auto">
            <a:xfrm>
              <a:off x="4419600" y="3810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49" name="Rectangle 7">
              <a:extLst>
                <a:ext uri="{FF2B5EF4-FFF2-40B4-BE49-F238E27FC236}">
                  <a16:creationId xmlns:a16="http://schemas.microsoft.com/office/drawing/2014/main" id="{F49F9502-1EC2-5143-A15F-354721A94D20}"/>
                </a:ext>
              </a:extLst>
            </p:cNvPr>
            <p:cNvSpPr>
              <a:spLocks noChangeArrowheads="1"/>
            </p:cNvSpPr>
            <p:nvPr/>
          </p:nvSpPr>
          <p:spPr bwMode="auto">
            <a:xfrm>
              <a:off x="4876800" y="3810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50" name="Rectangle 8">
              <a:extLst>
                <a:ext uri="{FF2B5EF4-FFF2-40B4-BE49-F238E27FC236}">
                  <a16:creationId xmlns:a16="http://schemas.microsoft.com/office/drawing/2014/main" id="{66690309-E9CA-8E4E-85C7-1D6D20875F2D}"/>
                </a:ext>
              </a:extLst>
            </p:cNvPr>
            <p:cNvSpPr>
              <a:spLocks noChangeArrowheads="1"/>
            </p:cNvSpPr>
            <p:nvPr/>
          </p:nvSpPr>
          <p:spPr bwMode="auto">
            <a:xfrm>
              <a:off x="5638800" y="3810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51" name="Rectangle 9">
              <a:extLst>
                <a:ext uri="{FF2B5EF4-FFF2-40B4-BE49-F238E27FC236}">
                  <a16:creationId xmlns:a16="http://schemas.microsoft.com/office/drawing/2014/main" id="{2B3ED226-4DC6-3F4F-BC01-9A496CCECDBE}"/>
                </a:ext>
              </a:extLst>
            </p:cNvPr>
            <p:cNvSpPr>
              <a:spLocks noChangeArrowheads="1"/>
            </p:cNvSpPr>
            <p:nvPr/>
          </p:nvSpPr>
          <p:spPr bwMode="auto">
            <a:xfrm>
              <a:off x="6096000" y="3810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cxnSp>
          <p:nvCxnSpPr>
            <p:cNvPr id="52" name="Straight Arrow Connector 67">
              <a:extLst>
                <a:ext uri="{FF2B5EF4-FFF2-40B4-BE49-F238E27FC236}">
                  <a16:creationId xmlns:a16="http://schemas.microsoft.com/office/drawing/2014/main" id="{7E447555-2FBA-4841-9CC7-5DC772ABC9A9}"/>
                </a:ext>
              </a:extLst>
            </p:cNvPr>
            <p:cNvCxnSpPr>
              <a:cxnSpLocks noChangeShapeType="1"/>
              <a:stCxn id="28" idx="2"/>
            </p:cNvCxnSpPr>
            <p:nvPr/>
          </p:nvCxnSpPr>
          <p:spPr bwMode="auto">
            <a:xfrm rot="16200000" flipH="1">
              <a:off x="3467100" y="3543300"/>
              <a:ext cx="304800" cy="2286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 name="Straight Arrow Connector 68">
              <a:extLst>
                <a:ext uri="{FF2B5EF4-FFF2-40B4-BE49-F238E27FC236}">
                  <a16:creationId xmlns:a16="http://schemas.microsoft.com/office/drawing/2014/main" id="{97F1208E-E94C-4748-B2A6-AF464E8DB24D}"/>
                </a:ext>
              </a:extLst>
            </p:cNvPr>
            <p:cNvCxnSpPr>
              <a:cxnSpLocks noChangeShapeType="1"/>
              <a:stCxn id="29" idx="2"/>
            </p:cNvCxnSpPr>
            <p:nvPr/>
          </p:nvCxnSpPr>
          <p:spPr bwMode="auto">
            <a:xfrm rot="5400000">
              <a:off x="3733800" y="3505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4" name="Straight Arrow Connector 73">
              <a:extLst>
                <a:ext uri="{FF2B5EF4-FFF2-40B4-BE49-F238E27FC236}">
                  <a16:creationId xmlns:a16="http://schemas.microsoft.com/office/drawing/2014/main" id="{90E06C60-8C1C-9F4E-B2DE-DB8EA24A0828}"/>
                </a:ext>
              </a:extLst>
            </p:cNvPr>
            <p:cNvCxnSpPr>
              <a:cxnSpLocks noChangeShapeType="1"/>
            </p:cNvCxnSpPr>
            <p:nvPr/>
          </p:nvCxnSpPr>
          <p:spPr bwMode="auto">
            <a:xfrm rot="16200000" flipH="1">
              <a:off x="4610100" y="3543300"/>
              <a:ext cx="304800" cy="2286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5" name="Straight Arrow Connector 74">
              <a:extLst>
                <a:ext uri="{FF2B5EF4-FFF2-40B4-BE49-F238E27FC236}">
                  <a16:creationId xmlns:a16="http://schemas.microsoft.com/office/drawing/2014/main" id="{3409CD31-719B-0D45-AC56-BBFF1D563C70}"/>
                </a:ext>
              </a:extLst>
            </p:cNvPr>
            <p:cNvCxnSpPr>
              <a:cxnSpLocks noChangeShapeType="1"/>
            </p:cNvCxnSpPr>
            <p:nvPr/>
          </p:nvCxnSpPr>
          <p:spPr bwMode="auto">
            <a:xfrm rot="5400000">
              <a:off x="4876800" y="3505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6" name="Straight Arrow Connector 75">
              <a:extLst>
                <a:ext uri="{FF2B5EF4-FFF2-40B4-BE49-F238E27FC236}">
                  <a16:creationId xmlns:a16="http://schemas.microsoft.com/office/drawing/2014/main" id="{9F08CE90-96CD-364B-B5C2-AE40C2D11C19}"/>
                </a:ext>
              </a:extLst>
            </p:cNvPr>
            <p:cNvCxnSpPr>
              <a:cxnSpLocks noChangeShapeType="1"/>
            </p:cNvCxnSpPr>
            <p:nvPr/>
          </p:nvCxnSpPr>
          <p:spPr bwMode="auto">
            <a:xfrm rot="16200000" flipH="1">
              <a:off x="5829300" y="3543300"/>
              <a:ext cx="304800" cy="2286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7" name="Straight Arrow Connector 76">
              <a:extLst>
                <a:ext uri="{FF2B5EF4-FFF2-40B4-BE49-F238E27FC236}">
                  <a16:creationId xmlns:a16="http://schemas.microsoft.com/office/drawing/2014/main" id="{D3708408-CF0C-EF46-8A58-B19674DC8B48}"/>
                </a:ext>
              </a:extLst>
            </p:cNvPr>
            <p:cNvCxnSpPr>
              <a:cxnSpLocks noChangeShapeType="1"/>
            </p:cNvCxnSpPr>
            <p:nvPr/>
          </p:nvCxnSpPr>
          <p:spPr bwMode="auto">
            <a:xfrm rot="5400000">
              <a:off x="6096000" y="3505200"/>
              <a:ext cx="3048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58" name="Rectangle 8">
              <a:extLst>
                <a:ext uri="{FF2B5EF4-FFF2-40B4-BE49-F238E27FC236}">
                  <a16:creationId xmlns:a16="http://schemas.microsoft.com/office/drawing/2014/main" id="{02CEAAFE-7CA3-C34C-9080-5A652647E738}"/>
                </a:ext>
              </a:extLst>
            </p:cNvPr>
            <p:cNvSpPr>
              <a:spLocks noChangeArrowheads="1"/>
            </p:cNvSpPr>
            <p:nvPr/>
          </p:nvSpPr>
          <p:spPr bwMode="auto">
            <a:xfrm>
              <a:off x="57150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59" name="Rectangle 9">
              <a:extLst>
                <a:ext uri="{FF2B5EF4-FFF2-40B4-BE49-F238E27FC236}">
                  <a16:creationId xmlns:a16="http://schemas.microsoft.com/office/drawing/2014/main" id="{A0998FEA-58F2-7F47-BF5C-1BC8C9EB226D}"/>
                </a:ext>
              </a:extLst>
            </p:cNvPr>
            <p:cNvSpPr>
              <a:spLocks noChangeArrowheads="1"/>
            </p:cNvSpPr>
            <p:nvPr/>
          </p:nvSpPr>
          <p:spPr bwMode="auto">
            <a:xfrm>
              <a:off x="61722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60" name="Rectangle 10">
              <a:extLst>
                <a:ext uri="{FF2B5EF4-FFF2-40B4-BE49-F238E27FC236}">
                  <a16:creationId xmlns:a16="http://schemas.microsoft.com/office/drawing/2014/main" id="{C0EF85D1-0A2E-1A47-8B20-EE3AD807EE49}"/>
                </a:ext>
              </a:extLst>
            </p:cNvPr>
            <p:cNvSpPr>
              <a:spLocks noChangeArrowheads="1"/>
            </p:cNvSpPr>
            <p:nvPr/>
          </p:nvSpPr>
          <p:spPr bwMode="auto">
            <a:xfrm>
              <a:off x="66294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sp>
          <p:nvSpPr>
            <p:cNvPr id="61" name="Rectangle 4">
              <a:extLst>
                <a:ext uri="{FF2B5EF4-FFF2-40B4-BE49-F238E27FC236}">
                  <a16:creationId xmlns:a16="http://schemas.microsoft.com/office/drawing/2014/main" id="{AD0BD3E7-97AE-AA43-A7AB-98A8EE34CC58}"/>
                </a:ext>
              </a:extLst>
            </p:cNvPr>
            <p:cNvSpPr>
              <a:spLocks noChangeArrowheads="1"/>
            </p:cNvSpPr>
            <p:nvPr/>
          </p:nvSpPr>
          <p:spPr bwMode="auto">
            <a:xfrm>
              <a:off x="34290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62" name="Rectangle 5">
              <a:extLst>
                <a:ext uri="{FF2B5EF4-FFF2-40B4-BE49-F238E27FC236}">
                  <a16:creationId xmlns:a16="http://schemas.microsoft.com/office/drawing/2014/main" id="{44E2B0A3-9F24-844C-8CA6-5ABC4D4E289C}"/>
                </a:ext>
              </a:extLst>
            </p:cNvPr>
            <p:cNvSpPr>
              <a:spLocks noChangeArrowheads="1"/>
            </p:cNvSpPr>
            <p:nvPr/>
          </p:nvSpPr>
          <p:spPr bwMode="auto">
            <a:xfrm>
              <a:off x="38862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63" name="Rectangle 6">
              <a:extLst>
                <a:ext uri="{FF2B5EF4-FFF2-40B4-BE49-F238E27FC236}">
                  <a16:creationId xmlns:a16="http://schemas.microsoft.com/office/drawing/2014/main" id="{B4009651-BF9B-2740-90C9-03C8E6A00574}"/>
                </a:ext>
              </a:extLst>
            </p:cNvPr>
            <p:cNvSpPr>
              <a:spLocks noChangeArrowheads="1"/>
            </p:cNvSpPr>
            <p:nvPr/>
          </p:nvSpPr>
          <p:spPr bwMode="auto">
            <a:xfrm>
              <a:off x="43434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64" name="Rectangle 7">
              <a:extLst>
                <a:ext uri="{FF2B5EF4-FFF2-40B4-BE49-F238E27FC236}">
                  <a16:creationId xmlns:a16="http://schemas.microsoft.com/office/drawing/2014/main" id="{7755D996-2DC5-C349-B27C-ACB93A43DAB4}"/>
                </a:ext>
              </a:extLst>
            </p:cNvPr>
            <p:cNvSpPr>
              <a:spLocks noChangeArrowheads="1"/>
            </p:cNvSpPr>
            <p:nvPr/>
          </p:nvSpPr>
          <p:spPr bwMode="auto">
            <a:xfrm>
              <a:off x="4800600" y="4572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65" name="Rectangle 4">
              <a:extLst>
                <a:ext uri="{FF2B5EF4-FFF2-40B4-BE49-F238E27FC236}">
                  <a16:creationId xmlns:a16="http://schemas.microsoft.com/office/drawing/2014/main" id="{855F045F-1997-6F46-B9D1-F369C82BC400}"/>
                </a:ext>
              </a:extLst>
            </p:cNvPr>
            <p:cNvSpPr>
              <a:spLocks noChangeArrowheads="1"/>
            </p:cNvSpPr>
            <p:nvPr/>
          </p:nvSpPr>
          <p:spPr bwMode="auto">
            <a:xfrm>
              <a:off x="36576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11</a:t>
              </a:r>
            </a:p>
          </p:txBody>
        </p:sp>
        <p:sp>
          <p:nvSpPr>
            <p:cNvPr id="66" name="Rectangle 5">
              <a:extLst>
                <a:ext uri="{FF2B5EF4-FFF2-40B4-BE49-F238E27FC236}">
                  <a16:creationId xmlns:a16="http://schemas.microsoft.com/office/drawing/2014/main" id="{85465630-1DE8-1644-B1DD-53078DA65601}"/>
                </a:ext>
              </a:extLst>
            </p:cNvPr>
            <p:cNvSpPr>
              <a:spLocks noChangeArrowheads="1"/>
            </p:cNvSpPr>
            <p:nvPr/>
          </p:nvSpPr>
          <p:spPr bwMode="auto">
            <a:xfrm>
              <a:off x="41148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12</a:t>
              </a:r>
            </a:p>
          </p:txBody>
        </p:sp>
        <p:sp>
          <p:nvSpPr>
            <p:cNvPr id="67" name="Rectangle 6">
              <a:extLst>
                <a:ext uri="{FF2B5EF4-FFF2-40B4-BE49-F238E27FC236}">
                  <a16:creationId xmlns:a16="http://schemas.microsoft.com/office/drawing/2014/main" id="{AE38BB42-8A58-BB4D-8EE6-07FF11567DDE}"/>
                </a:ext>
              </a:extLst>
            </p:cNvPr>
            <p:cNvSpPr>
              <a:spLocks noChangeArrowheads="1"/>
            </p:cNvSpPr>
            <p:nvPr/>
          </p:nvSpPr>
          <p:spPr bwMode="auto">
            <a:xfrm>
              <a:off x="45720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13</a:t>
              </a:r>
            </a:p>
          </p:txBody>
        </p:sp>
        <p:sp>
          <p:nvSpPr>
            <p:cNvPr id="68" name="Rectangle 7">
              <a:extLst>
                <a:ext uri="{FF2B5EF4-FFF2-40B4-BE49-F238E27FC236}">
                  <a16:creationId xmlns:a16="http://schemas.microsoft.com/office/drawing/2014/main" id="{A1F5B5F3-F385-A74B-A5AA-3055E1A72228}"/>
                </a:ext>
              </a:extLst>
            </p:cNvPr>
            <p:cNvSpPr>
              <a:spLocks noChangeArrowheads="1"/>
            </p:cNvSpPr>
            <p:nvPr/>
          </p:nvSpPr>
          <p:spPr bwMode="auto">
            <a:xfrm>
              <a:off x="50292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14</a:t>
              </a:r>
            </a:p>
          </p:txBody>
        </p:sp>
        <p:sp>
          <p:nvSpPr>
            <p:cNvPr id="69" name="Rectangle 8">
              <a:extLst>
                <a:ext uri="{FF2B5EF4-FFF2-40B4-BE49-F238E27FC236}">
                  <a16:creationId xmlns:a16="http://schemas.microsoft.com/office/drawing/2014/main" id="{BC08B127-58E5-304B-8202-76572B2C0D4B}"/>
                </a:ext>
              </a:extLst>
            </p:cNvPr>
            <p:cNvSpPr>
              <a:spLocks noChangeArrowheads="1"/>
            </p:cNvSpPr>
            <p:nvPr/>
          </p:nvSpPr>
          <p:spPr bwMode="auto">
            <a:xfrm>
              <a:off x="54864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15</a:t>
              </a:r>
            </a:p>
          </p:txBody>
        </p:sp>
        <p:sp>
          <p:nvSpPr>
            <p:cNvPr id="70" name="Rectangle 9">
              <a:extLst>
                <a:ext uri="{FF2B5EF4-FFF2-40B4-BE49-F238E27FC236}">
                  <a16:creationId xmlns:a16="http://schemas.microsoft.com/office/drawing/2014/main" id="{D96EBE4E-BAC3-9C47-86B7-1E928DF74A16}"/>
                </a:ext>
              </a:extLst>
            </p:cNvPr>
            <p:cNvSpPr>
              <a:spLocks noChangeArrowheads="1"/>
            </p:cNvSpPr>
            <p:nvPr/>
          </p:nvSpPr>
          <p:spPr bwMode="auto">
            <a:xfrm>
              <a:off x="59436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16</a:t>
              </a:r>
            </a:p>
          </p:txBody>
        </p:sp>
        <p:sp>
          <p:nvSpPr>
            <p:cNvPr id="71" name="Rectangle 10">
              <a:extLst>
                <a:ext uri="{FF2B5EF4-FFF2-40B4-BE49-F238E27FC236}">
                  <a16:creationId xmlns:a16="http://schemas.microsoft.com/office/drawing/2014/main" id="{1834E6D0-B975-1041-8E63-8201C3E01C62}"/>
                </a:ext>
              </a:extLst>
            </p:cNvPr>
            <p:cNvSpPr>
              <a:spLocks noChangeArrowheads="1"/>
            </p:cNvSpPr>
            <p:nvPr/>
          </p:nvSpPr>
          <p:spPr bwMode="auto">
            <a:xfrm>
              <a:off x="6400800" y="5334000"/>
              <a:ext cx="457200" cy="457200"/>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algn="ctr" eaLnBrk="1" hangingPunct="1">
                <a:spcBef>
                  <a:spcPct val="0"/>
                </a:spcBef>
                <a:buClrTx/>
                <a:buSzTx/>
                <a:buFontTx/>
                <a:buNone/>
              </a:pPr>
              <a:r>
                <a:rPr lang="en-US" altLang="en-US" sz="2000">
                  <a:latin typeface="Arial" panose="020B0604020202020204" pitchFamily="34" charset="0"/>
                </a:rPr>
                <a:t>17</a:t>
              </a:r>
            </a:p>
          </p:txBody>
        </p:sp>
        <p:cxnSp>
          <p:nvCxnSpPr>
            <p:cNvPr id="72" name="Straight Arrow Connector 91">
              <a:extLst>
                <a:ext uri="{FF2B5EF4-FFF2-40B4-BE49-F238E27FC236}">
                  <a16:creationId xmlns:a16="http://schemas.microsoft.com/office/drawing/2014/main" id="{97F20230-FA77-F047-8398-754ABA6F28CD}"/>
                </a:ext>
              </a:extLst>
            </p:cNvPr>
            <p:cNvCxnSpPr>
              <a:cxnSpLocks noChangeShapeType="1"/>
            </p:cNvCxnSpPr>
            <p:nvPr/>
          </p:nvCxnSpPr>
          <p:spPr bwMode="auto">
            <a:xfrm>
              <a:off x="3733800" y="4267200"/>
              <a:ext cx="6096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3" name="Straight Arrow Connector 92">
              <a:extLst>
                <a:ext uri="{FF2B5EF4-FFF2-40B4-BE49-F238E27FC236}">
                  <a16:creationId xmlns:a16="http://schemas.microsoft.com/office/drawing/2014/main" id="{2F4CEE29-4536-1F49-93A7-0979063D8B3E}"/>
                </a:ext>
              </a:extLst>
            </p:cNvPr>
            <p:cNvCxnSpPr>
              <a:cxnSpLocks noChangeShapeType="1"/>
            </p:cNvCxnSpPr>
            <p:nvPr/>
          </p:nvCxnSpPr>
          <p:spPr bwMode="auto">
            <a:xfrm rot="10800000" flipV="1">
              <a:off x="4343400" y="4267200"/>
              <a:ext cx="5334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4" name="Straight Arrow Connector 95">
              <a:extLst>
                <a:ext uri="{FF2B5EF4-FFF2-40B4-BE49-F238E27FC236}">
                  <a16:creationId xmlns:a16="http://schemas.microsoft.com/office/drawing/2014/main" id="{A33C8A99-FCDA-7F4B-B31B-1D842B46279D}"/>
                </a:ext>
              </a:extLst>
            </p:cNvPr>
            <p:cNvCxnSpPr>
              <a:cxnSpLocks noChangeShapeType="1"/>
            </p:cNvCxnSpPr>
            <p:nvPr/>
          </p:nvCxnSpPr>
          <p:spPr bwMode="auto">
            <a:xfrm>
              <a:off x="6096000" y="4267200"/>
              <a:ext cx="4572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5" name="Straight Arrow Connector 96">
              <a:extLst>
                <a:ext uri="{FF2B5EF4-FFF2-40B4-BE49-F238E27FC236}">
                  <a16:creationId xmlns:a16="http://schemas.microsoft.com/office/drawing/2014/main" id="{3D314E32-D339-DD49-9137-B1783E0EFC4E}"/>
                </a:ext>
              </a:extLst>
            </p:cNvPr>
            <p:cNvCxnSpPr>
              <a:cxnSpLocks noChangeShapeType="1"/>
              <a:stCxn id="27" idx="2"/>
            </p:cNvCxnSpPr>
            <p:nvPr/>
          </p:nvCxnSpPr>
          <p:spPr bwMode="auto">
            <a:xfrm rot="5400000">
              <a:off x="5829300" y="3467100"/>
              <a:ext cx="1828800" cy="3810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6" name="Straight Arrow Connector 100">
              <a:extLst>
                <a:ext uri="{FF2B5EF4-FFF2-40B4-BE49-F238E27FC236}">
                  <a16:creationId xmlns:a16="http://schemas.microsoft.com/office/drawing/2014/main" id="{41FBC382-FF7B-734A-83BA-AC38625BD0FF}"/>
                </a:ext>
              </a:extLst>
            </p:cNvPr>
            <p:cNvCxnSpPr>
              <a:cxnSpLocks noChangeShapeType="1"/>
              <a:endCxn id="68" idx="0"/>
            </p:cNvCxnSpPr>
            <p:nvPr/>
          </p:nvCxnSpPr>
          <p:spPr bwMode="auto">
            <a:xfrm>
              <a:off x="4343400" y="5029200"/>
              <a:ext cx="914400" cy="3048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77" name="Straight Arrow Connector 101">
              <a:extLst>
                <a:ext uri="{FF2B5EF4-FFF2-40B4-BE49-F238E27FC236}">
                  <a16:creationId xmlns:a16="http://schemas.microsoft.com/office/drawing/2014/main" id="{DC33C5DE-34BD-A246-8B86-1433DD434CBF}"/>
                </a:ext>
              </a:extLst>
            </p:cNvPr>
            <p:cNvCxnSpPr>
              <a:cxnSpLocks noChangeShapeType="1"/>
              <a:stCxn id="59" idx="2"/>
              <a:endCxn id="68" idx="0"/>
            </p:cNvCxnSpPr>
            <p:nvPr/>
          </p:nvCxnSpPr>
          <p:spPr bwMode="auto">
            <a:xfrm rot="5400000">
              <a:off x="5676900" y="4610100"/>
              <a:ext cx="304800" cy="1143000"/>
            </a:xfrm>
            <a:prstGeom prst="straightConnector1">
              <a:avLst/>
            </a:prstGeom>
            <a:noFill/>
            <a:ln w="254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78" name="Left Brace 105">
              <a:extLst>
                <a:ext uri="{FF2B5EF4-FFF2-40B4-BE49-F238E27FC236}">
                  <a16:creationId xmlns:a16="http://schemas.microsoft.com/office/drawing/2014/main" id="{11155EBD-C6DA-094C-84DD-7F1883099B9A}"/>
                </a:ext>
              </a:extLst>
            </p:cNvPr>
            <p:cNvSpPr>
              <a:spLocks/>
            </p:cNvSpPr>
            <p:nvPr/>
          </p:nvSpPr>
          <p:spPr bwMode="auto">
            <a:xfrm>
              <a:off x="2667000" y="838200"/>
              <a:ext cx="381000" cy="2590800"/>
            </a:xfrm>
            <a:prstGeom prst="leftBrace">
              <a:avLst>
                <a:gd name="adj1" fmla="val 8343"/>
                <a:gd name="adj2" fmla="val 50000"/>
              </a:avLst>
            </a:prstGeom>
            <a:noFill/>
            <a:ln w="222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endParaRPr lang="en-AU" altLang="en-US" sz="1800">
                <a:latin typeface="Arial" panose="020B0604020202020204" pitchFamily="34" charset="0"/>
              </a:endParaRPr>
            </a:p>
          </p:txBody>
        </p:sp>
        <p:sp>
          <p:nvSpPr>
            <p:cNvPr id="79" name="Left Brace 106">
              <a:extLst>
                <a:ext uri="{FF2B5EF4-FFF2-40B4-BE49-F238E27FC236}">
                  <a16:creationId xmlns:a16="http://schemas.microsoft.com/office/drawing/2014/main" id="{939BF721-ACA1-EE43-93F5-40B75C2A7213}"/>
                </a:ext>
              </a:extLst>
            </p:cNvPr>
            <p:cNvSpPr>
              <a:spLocks/>
            </p:cNvSpPr>
            <p:nvPr/>
          </p:nvSpPr>
          <p:spPr bwMode="auto">
            <a:xfrm>
              <a:off x="2667000" y="3581400"/>
              <a:ext cx="381000" cy="2209800"/>
            </a:xfrm>
            <a:prstGeom prst="leftBrace">
              <a:avLst>
                <a:gd name="adj1" fmla="val 8324"/>
                <a:gd name="adj2" fmla="val 50000"/>
              </a:avLst>
            </a:prstGeom>
            <a:noFill/>
            <a:ln w="222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endParaRPr lang="en-AU" altLang="en-US" sz="1800">
                <a:latin typeface="Arial" panose="020B0604020202020204" pitchFamily="34" charset="0"/>
              </a:endParaRPr>
            </a:p>
          </p:txBody>
        </p:sp>
        <p:sp>
          <p:nvSpPr>
            <p:cNvPr id="80" name="TextBox 107">
              <a:extLst>
                <a:ext uri="{FF2B5EF4-FFF2-40B4-BE49-F238E27FC236}">
                  <a16:creationId xmlns:a16="http://schemas.microsoft.com/office/drawing/2014/main" id="{B875EC6D-5FFE-7C4F-A644-DD579ACCD356}"/>
                </a:ext>
              </a:extLst>
            </p:cNvPr>
            <p:cNvSpPr txBox="1">
              <a:spLocks noChangeArrowheads="1"/>
            </p:cNvSpPr>
            <p:nvPr/>
          </p:nvSpPr>
          <p:spPr bwMode="auto">
            <a:xfrm>
              <a:off x="1676400" y="1824038"/>
              <a:ext cx="99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r>
                <a:rPr lang="en-AU" altLang="en-US" sz="2400">
                  <a:latin typeface="Arial" panose="020B0604020202020204" pitchFamily="34" charset="0"/>
                </a:rPr>
                <a:t>Tách</a:t>
              </a:r>
            </a:p>
          </p:txBody>
        </p:sp>
        <p:sp>
          <p:nvSpPr>
            <p:cNvPr id="81" name="TextBox 108">
              <a:extLst>
                <a:ext uri="{FF2B5EF4-FFF2-40B4-BE49-F238E27FC236}">
                  <a16:creationId xmlns:a16="http://schemas.microsoft.com/office/drawing/2014/main" id="{9061DB9E-FB25-BB46-97A2-D8627D49428C}"/>
                </a:ext>
              </a:extLst>
            </p:cNvPr>
            <p:cNvSpPr txBox="1">
              <a:spLocks noChangeArrowheads="1"/>
            </p:cNvSpPr>
            <p:nvPr/>
          </p:nvSpPr>
          <p:spPr bwMode="auto">
            <a:xfrm>
              <a:off x="1676400" y="4419600"/>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r>
                <a:rPr lang="en-AU" altLang="en-US" sz="2400">
                  <a:latin typeface="Arial" panose="020B0604020202020204" pitchFamily="34" charset="0"/>
                </a:rPr>
                <a:t>Trộn</a:t>
              </a:r>
            </a:p>
          </p:txBody>
        </p:sp>
      </p:grpSp>
    </p:spTree>
    <p:extLst>
      <p:ext uri="{BB962C8B-B14F-4D97-AF65-F5344CB8AC3E}">
        <p14:creationId xmlns:p14="http://schemas.microsoft.com/office/powerpoint/2010/main" val="16707655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FCAA504-2ED8-7549-BCCE-975B2E812A97}"/>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009B5C66-B486-E047-94D1-6537058B8DBF}"/>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32421804-A226-C44B-927E-BA17E3A65025}"/>
              </a:ext>
            </a:extLst>
          </p:cNvPr>
          <p:cNvSpPr>
            <a:spLocks noGrp="1"/>
          </p:cNvSpPr>
          <p:nvPr>
            <p:ph type="sldNum" sz="quarter" idx="12"/>
          </p:nvPr>
        </p:nvSpPr>
        <p:spPr/>
        <p:txBody>
          <a:bodyPr/>
          <a:lstStyle/>
          <a:p>
            <a:fld id="{BA7BC09B-FE30-A349-B1D2-5A364F511F98}" type="slidenum">
              <a:rPr lang="en-US" smtClean="0"/>
              <a:t>48</a:t>
            </a:fld>
            <a:endParaRPr lang="en-US"/>
          </a:p>
        </p:txBody>
      </p:sp>
      <p:sp>
        <p:nvSpPr>
          <p:cNvPr id="2" name="Title 1">
            <a:extLst>
              <a:ext uri="{FF2B5EF4-FFF2-40B4-BE49-F238E27FC236}">
                <a16:creationId xmlns:a16="http://schemas.microsoft.com/office/drawing/2014/main" id="{E81991E4-4C62-474E-A934-127A42BFE4A9}"/>
              </a:ext>
            </a:extLst>
          </p:cNvPr>
          <p:cNvSpPr>
            <a:spLocks noGrp="1"/>
          </p:cNvSpPr>
          <p:nvPr>
            <p:ph type="title"/>
          </p:nvPr>
        </p:nvSpPr>
        <p:spPr/>
        <p:txBody>
          <a:bodyPr/>
          <a:lstStyle/>
          <a:p>
            <a:r>
              <a:rPr lang="en-US" err="1"/>
              <a:t>Giải</a:t>
            </a:r>
            <a:r>
              <a:rPr lang="en-US"/>
              <a:t> </a:t>
            </a:r>
            <a:r>
              <a:rPr lang="en-US" err="1"/>
              <a:t>thuật</a:t>
            </a:r>
            <a:r>
              <a:rPr lang="en-US"/>
              <a:t> </a:t>
            </a:r>
            <a:r>
              <a:rPr lang="en-US" err="1"/>
              <a:t>trộn</a:t>
            </a:r>
            <a:r>
              <a:rPr lang="en-US"/>
              <a:t> </a:t>
            </a:r>
            <a:r>
              <a:rPr lang="en-US" err="1"/>
              <a:t>hai</a:t>
            </a:r>
            <a:r>
              <a:rPr lang="en-US"/>
              <a:t> </a:t>
            </a:r>
            <a:r>
              <a:rPr lang="en-US" err="1"/>
              <a:t>mảng</a:t>
            </a:r>
            <a:r>
              <a:rPr lang="en-US"/>
              <a:t> </a:t>
            </a:r>
          </a:p>
        </p:txBody>
      </p:sp>
      <p:sp>
        <p:nvSpPr>
          <p:cNvPr id="7" name="Content Placeholder 6">
            <a:extLst>
              <a:ext uri="{FF2B5EF4-FFF2-40B4-BE49-F238E27FC236}">
                <a16:creationId xmlns:a16="http://schemas.microsoft.com/office/drawing/2014/main" id="{B6B08A2F-DB8E-874A-AD06-F83DD704DAE5}"/>
              </a:ext>
            </a:extLst>
          </p:cNvPr>
          <p:cNvSpPr>
            <a:spLocks noGrp="1" noChangeArrowheads="1"/>
          </p:cNvSpPr>
          <p:nvPr>
            <p:ph type="body" sz="quarter" idx="13"/>
          </p:nvPr>
        </p:nvSpPr>
        <p:spPr bwMode="auto">
          <a:xfrm>
            <a:off x="253843" y="991507"/>
            <a:ext cx="8674100" cy="5132832"/>
          </a:xfrm>
          <a:prstGeom prst="roundRect">
            <a:avLst>
              <a:gd name="adj" fmla="val 16667"/>
            </a:avLst>
          </a:prstGeom>
          <a:solidFill>
            <a:srgbClr val="FFFF00"/>
          </a:solidFill>
          <a:ln w="9525" algn="ctr">
            <a:solidFill>
              <a:schemeClr val="tx1"/>
            </a:solidFill>
            <a:round/>
            <a:headEnd/>
            <a:tailEnd/>
          </a:ln>
        </p:spPr>
        <p:txBody>
          <a:bodyPr/>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r>
              <a:rPr lang="en-US" altLang="en-US" sz="1600">
                <a:latin typeface="Courier New" panose="02070309020205020404" pitchFamily="49" charset="0"/>
                <a:cs typeface="Courier New" panose="02070309020205020404" pitchFamily="49" charset="0"/>
              </a:rPr>
              <a:t>//Tron 2 day con ma da duoc sap xep trong A</a:t>
            </a:r>
          </a:p>
          <a:p>
            <a:pPr eaLnBrk="1" hangingPunct="1">
              <a:spcBef>
                <a:spcPct val="0"/>
              </a:spcBef>
              <a:buClrTx/>
              <a:buSzTx/>
              <a:buFontTx/>
              <a:buNone/>
            </a:pPr>
            <a:r>
              <a:rPr lang="en-US" altLang="en-US" sz="1600">
                <a:latin typeface="Courier New" panose="02070309020205020404" pitchFamily="49" charset="0"/>
                <a:cs typeface="Courier New" panose="02070309020205020404" pitchFamily="49" charset="0"/>
              </a:rPr>
              <a:t>//L1=A[m],A[m+1],...,A[n]; //L2=A[n+1],A[n+2],...,A[p]</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void MergeArrays(int A[],int m, int n, int p){</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int i=m,j=n+1;</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while (i&lt;j &amp;&amp; j&lt;=p){</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if (A[i]&lt;=A[j]) i++;</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else {//chen Aj vao vi tri i</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int x=A[j];</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for (int k=j-1;k&gt;=i;k--) </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A[k+1]=A[k];</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A[i]=x;</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i++; j++;</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	}</a:t>
            </a:r>
          </a:p>
          <a:p>
            <a:pPr eaLnBrk="1" hangingPunct="1">
              <a:spcBef>
                <a:spcPct val="0"/>
              </a:spcBef>
              <a:buClrTx/>
              <a:buSzTx/>
              <a:buFontTx/>
              <a:buNone/>
            </a:pPr>
            <a:r>
              <a:rPr lang="en-US" altLang="en-US" sz="1600" b="1">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35482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38B7E97-18DA-6945-B437-792A86B2E24A}"/>
              </a:ext>
            </a:extLst>
          </p:cNvPr>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a:extLst>
              <a:ext uri="{FF2B5EF4-FFF2-40B4-BE49-F238E27FC236}">
                <a16:creationId xmlns:a16="http://schemas.microsoft.com/office/drawing/2014/main" id="{ACA47E60-B706-9C4B-90B2-D4042BD6B318}"/>
              </a:ext>
            </a:extLst>
          </p:cNvPr>
          <p:cNvSpPr>
            <a:spLocks noGrp="1"/>
          </p:cNvSpPr>
          <p:nvPr>
            <p:ph type="ftr" sz="quarter" idx="11"/>
          </p:nvPr>
        </p:nvSpPr>
        <p:spPr/>
        <p:txBody>
          <a:bodyPr/>
          <a:lstStyle/>
          <a:p>
            <a:r>
              <a:rPr lang="is-IS"/>
              <a:t>Cấu trúc dữ liệu và giải thuật</a:t>
            </a:r>
            <a:endParaRPr lang="en-US"/>
          </a:p>
        </p:txBody>
      </p:sp>
      <p:sp>
        <p:nvSpPr>
          <p:cNvPr id="6" name="Slide Number Placeholder 5">
            <a:extLst>
              <a:ext uri="{FF2B5EF4-FFF2-40B4-BE49-F238E27FC236}">
                <a16:creationId xmlns:a16="http://schemas.microsoft.com/office/drawing/2014/main" id="{7BF7C724-8596-CC44-A35A-85AD6A71CE7C}"/>
              </a:ext>
            </a:extLst>
          </p:cNvPr>
          <p:cNvSpPr>
            <a:spLocks noGrp="1"/>
          </p:cNvSpPr>
          <p:nvPr>
            <p:ph type="sldNum" sz="quarter" idx="12"/>
          </p:nvPr>
        </p:nvSpPr>
        <p:spPr/>
        <p:txBody>
          <a:bodyPr/>
          <a:lstStyle/>
          <a:p>
            <a:fld id="{BA7BC09B-FE30-A349-B1D2-5A364F511F98}" type="slidenum">
              <a:rPr lang="en-US" smtClean="0"/>
              <a:t>49</a:t>
            </a:fld>
            <a:endParaRPr lang="en-US"/>
          </a:p>
        </p:txBody>
      </p:sp>
      <p:sp>
        <p:nvSpPr>
          <p:cNvPr id="2" name="Title 1">
            <a:extLst>
              <a:ext uri="{FF2B5EF4-FFF2-40B4-BE49-F238E27FC236}">
                <a16:creationId xmlns:a16="http://schemas.microsoft.com/office/drawing/2014/main" id="{22961CAE-7319-6145-962A-8DBACB0D5D0E}"/>
              </a:ext>
            </a:extLst>
          </p:cNvPr>
          <p:cNvSpPr>
            <a:spLocks noGrp="1"/>
          </p:cNvSpPr>
          <p:nvPr>
            <p:ph type="title"/>
          </p:nvPr>
        </p:nvSpPr>
        <p:spPr/>
        <p:txBody>
          <a:bodyPr/>
          <a:lstStyle/>
          <a:p>
            <a:r>
              <a:rPr lang="en-US" err="1"/>
              <a:t>Giải</a:t>
            </a:r>
            <a:r>
              <a:rPr lang="en-US"/>
              <a:t> </a:t>
            </a:r>
            <a:r>
              <a:rPr lang="en-US" err="1"/>
              <a:t>thuật</a:t>
            </a:r>
            <a:r>
              <a:rPr lang="en-US"/>
              <a:t> </a:t>
            </a:r>
            <a:r>
              <a:rPr lang="en-US" err="1"/>
              <a:t>trộn</a:t>
            </a:r>
            <a:r>
              <a:rPr lang="en-US"/>
              <a:t> – </a:t>
            </a:r>
            <a:r>
              <a:rPr lang="en-US" err="1"/>
              <a:t>cài</a:t>
            </a:r>
            <a:r>
              <a:rPr lang="en-US"/>
              <a:t> </a:t>
            </a:r>
            <a:r>
              <a:rPr lang="en-US" err="1"/>
              <a:t>đặt</a:t>
            </a:r>
            <a:r>
              <a:rPr lang="en-US"/>
              <a:t> </a:t>
            </a:r>
          </a:p>
        </p:txBody>
      </p:sp>
      <p:sp>
        <p:nvSpPr>
          <p:cNvPr id="3" name="Content Placeholder 2">
            <a:extLst>
              <a:ext uri="{FF2B5EF4-FFF2-40B4-BE49-F238E27FC236}">
                <a16:creationId xmlns:a16="http://schemas.microsoft.com/office/drawing/2014/main" id="{2B963B76-CD30-9440-BC46-B50DC47C7191}"/>
              </a:ext>
            </a:extLst>
          </p:cNvPr>
          <p:cNvSpPr>
            <a:spLocks noGrp="1"/>
          </p:cNvSpPr>
          <p:nvPr>
            <p:ph type="body" sz="quarter" idx="13"/>
          </p:nvPr>
        </p:nvSpPr>
        <p:spPr/>
        <p:txBody>
          <a:bodyPr/>
          <a:lstStyle/>
          <a:p>
            <a:r>
              <a:rPr lang="en-US" altLang="en-US" err="1"/>
              <a:t>Các</a:t>
            </a:r>
            <a:r>
              <a:rPr lang="en-US" altLang="en-US"/>
              <a:t> </a:t>
            </a:r>
            <a:r>
              <a:rPr lang="en-US" altLang="en-US" err="1"/>
              <a:t>thủ</a:t>
            </a:r>
            <a:r>
              <a:rPr lang="en-US" altLang="en-US"/>
              <a:t> </a:t>
            </a:r>
            <a:r>
              <a:rPr lang="en-US" altLang="en-US" err="1"/>
              <a:t>tục</a:t>
            </a:r>
            <a:r>
              <a:rPr lang="en-US" altLang="en-US"/>
              <a:t> </a:t>
            </a:r>
            <a:r>
              <a:rPr lang="en-US" altLang="en-US" err="1"/>
              <a:t>sắp</a:t>
            </a:r>
            <a:r>
              <a:rPr lang="en-US" altLang="en-US"/>
              <a:t> </a:t>
            </a:r>
            <a:r>
              <a:rPr lang="en-US" altLang="en-US" err="1"/>
              <a:t>xếp</a:t>
            </a:r>
            <a:r>
              <a:rPr lang="en-US" altLang="en-US"/>
              <a:t> </a:t>
            </a:r>
            <a:r>
              <a:rPr lang="en-US" altLang="en-US" err="1"/>
              <a:t>trộn</a:t>
            </a:r>
            <a:endParaRPr lang="en-US" altLang="en-US"/>
          </a:p>
          <a:p>
            <a:endParaRPr lang="en-US"/>
          </a:p>
        </p:txBody>
      </p:sp>
      <p:sp>
        <p:nvSpPr>
          <p:cNvPr id="8" name="Rounded Rectangle 6">
            <a:extLst>
              <a:ext uri="{FF2B5EF4-FFF2-40B4-BE49-F238E27FC236}">
                <a16:creationId xmlns:a16="http://schemas.microsoft.com/office/drawing/2014/main" id="{F0605698-5224-494C-9259-9287288A0325}"/>
              </a:ext>
            </a:extLst>
          </p:cNvPr>
          <p:cNvSpPr>
            <a:spLocks noChangeArrowheads="1"/>
          </p:cNvSpPr>
          <p:nvPr/>
        </p:nvSpPr>
        <p:spPr bwMode="auto">
          <a:xfrm>
            <a:off x="685800" y="2133600"/>
            <a:ext cx="7772400" cy="3962400"/>
          </a:xfrm>
          <a:prstGeom prst="roundRect">
            <a:avLst>
              <a:gd name="adj" fmla="val 16667"/>
            </a:avLst>
          </a:prstGeom>
          <a:solidFill>
            <a:srgbClr val="FFFF00"/>
          </a:solidFill>
          <a:ln w="9525" algn="ctr">
            <a:solidFill>
              <a:schemeClr val="tx1"/>
            </a:solidFill>
            <a:round/>
            <a:headEnd/>
            <a:tailEnd/>
          </a:ln>
        </p:spPr>
        <p:txBody>
          <a:bodyPr lIns="91440" tIns="45720" rIns="91440" bIns="45720" anchor="t"/>
          <a:lstStyle>
            <a:lvl1pPr>
              <a:spcBef>
                <a:spcPct val="20000"/>
              </a:spcBef>
              <a:buClr>
                <a:schemeClr val="accent1"/>
              </a:buClr>
              <a:buSzPct val="65000"/>
              <a:buFont typeface="Wingdings" pitchFamily="2" charset="2"/>
              <a:buChar char="n"/>
              <a:defRPr sz="3000">
                <a:solidFill>
                  <a:schemeClr val="tx1"/>
                </a:solidFill>
                <a:latin typeface="Times New Roman" panose="02020603050405020304" pitchFamily="18" charset="0"/>
                <a:cs typeface="Times New Roman" panose="02020603050405020304" pitchFamily="18" charset="0"/>
              </a:defRPr>
            </a:lvl1pPr>
            <a:lvl2pPr marL="742950" indent="-285750">
              <a:spcBef>
                <a:spcPct val="20000"/>
              </a:spcBef>
              <a:buClr>
                <a:schemeClr val="accent2"/>
              </a:buClr>
              <a:buSzPct val="60000"/>
              <a:buFont typeface="Wingdings" pitchFamily="2" charset="2"/>
              <a:buChar char="q"/>
              <a:defRPr sz="2600">
                <a:solidFill>
                  <a:schemeClr val="tx1"/>
                </a:solidFill>
                <a:latin typeface="Times New Roman" panose="02020603050405020304" pitchFamily="18" charset="0"/>
                <a:cs typeface="Times New Roman" panose="02020603050405020304" pitchFamily="18" charset="0"/>
              </a:defRPr>
            </a:lvl2pPr>
            <a:lvl3pPr marL="1143000" indent="-228600">
              <a:spcBef>
                <a:spcPct val="20000"/>
              </a:spcBef>
              <a:buClr>
                <a:schemeClr val="accent1"/>
              </a:buClr>
              <a:buSzPct val="65000"/>
              <a:buFont typeface="Wingdings" pitchFamily="2" charset="2"/>
              <a:buChar char="n"/>
              <a:defRPr sz="2200">
                <a:solidFill>
                  <a:schemeClr val="tx1"/>
                </a:solidFill>
                <a:latin typeface="Times New Roman" panose="02020603050405020304" pitchFamily="18" charset="0"/>
                <a:cs typeface="Times New Roman" panose="02020603050405020304" pitchFamily="18" charset="0"/>
              </a:defRPr>
            </a:lvl3pPr>
            <a:lvl4pPr marL="1600200" indent="-228600">
              <a:spcBef>
                <a:spcPct val="20000"/>
              </a:spcBef>
              <a:buClr>
                <a:schemeClr val="accent2"/>
              </a:buClr>
              <a:buSzPct val="70000"/>
              <a:buFont typeface="Wingdings" pitchFamily="2" charset="2"/>
              <a:buChar char="q"/>
              <a:defRPr sz="2000">
                <a:solidFill>
                  <a:schemeClr val="tx1"/>
                </a:solidFill>
                <a:latin typeface="Times New Roman" panose="02020603050405020304" pitchFamily="18" charset="0"/>
                <a:cs typeface="Times New Roman" panose="02020603050405020304" pitchFamily="18" charset="0"/>
              </a:defRPr>
            </a:lvl4pPr>
            <a:lvl5pPr marL="2057400" indent="-228600">
              <a:spcBef>
                <a:spcPct val="20000"/>
              </a:spcBef>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Times New Roman" panose="02020603050405020304" pitchFamily="18" charset="0"/>
                <a:cs typeface="Times New Roman" panose="02020603050405020304" pitchFamily="18" charset="0"/>
              </a:defRPr>
            </a:lvl9pPr>
          </a:lstStyle>
          <a:p>
            <a:pPr eaLnBrk="1" hangingPunct="1">
              <a:spcBef>
                <a:spcPct val="0"/>
              </a:spcBef>
              <a:buClrTx/>
              <a:buSzTx/>
              <a:buFontTx/>
              <a:buNone/>
            </a:pPr>
            <a:r>
              <a:rPr lang="en-US" altLang="en-US" sz="1800" b="1" dirty="0">
                <a:latin typeface="Courier New"/>
                <a:cs typeface="Courier New"/>
              </a:rPr>
              <a:t>void </a:t>
            </a:r>
            <a:r>
              <a:rPr lang="en-US" altLang="en-US" sz="1800" b="1" dirty="0" err="1">
                <a:latin typeface="Courier New"/>
                <a:cs typeface="Courier New"/>
              </a:rPr>
              <a:t>Split_Merg</a:t>
            </a:r>
            <a:r>
              <a:rPr lang="en-US" altLang="en-US" sz="1800" b="1" dirty="0">
                <a:latin typeface="Courier New"/>
                <a:cs typeface="Courier New"/>
              </a:rPr>
              <a:t>(int A[], int first, int last){</a:t>
            </a:r>
          </a:p>
          <a:p>
            <a:pPr eaLnBrk="1" hangingPunct="1">
              <a:spcBef>
                <a:spcPct val="0"/>
              </a:spcBef>
              <a:buClrTx/>
              <a:buSzTx/>
              <a:buFontTx/>
              <a:buNone/>
            </a:pPr>
            <a:r>
              <a:rPr lang="en-US" altLang="en-US" sz="1800" b="1" dirty="0">
                <a:latin typeface="Courier New"/>
                <a:cs typeface="Courier New"/>
              </a:rPr>
              <a:t>	if (first&gt;=last) return;</a:t>
            </a:r>
          </a:p>
          <a:p>
            <a:pPr eaLnBrk="1" hangingPunct="1">
              <a:spcBef>
                <a:spcPct val="0"/>
              </a:spcBef>
              <a:buClrTx/>
              <a:buSzTx/>
              <a:buFontTx/>
              <a:buNone/>
            </a:pPr>
            <a:r>
              <a:rPr lang="en-US" altLang="en-US" sz="1800" b="1" dirty="0">
                <a:latin typeface="Courier New"/>
                <a:cs typeface="Courier New"/>
              </a:rPr>
              <a:t>	int m=(</a:t>
            </a:r>
            <a:r>
              <a:rPr lang="en-US" altLang="en-US" sz="1800" b="1" dirty="0" err="1">
                <a:latin typeface="Courier New"/>
                <a:cs typeface="Courier New"/>
              </a:rPr>
              <a:t>first+last</a:t>
            </a:r>
            <a:r>
              <a:rPr lang="en-US" altLang="en-US" sz="1800" b="1" dirty="0">
                <a:latin typeface="Courier New"/>
                <a:cs typeface="Courier New"/>
              </a:rPr>
              <a:t>)/2;</a:t>
            </a:r>
          </a:p>
          <a:p>
            <a:pPr>
              <a:spcBef>
                <a:spcPct val="0"/>
              </a:spcBef>
              <a:buClrTx/>
              <a:buSzTx/>
              <a:buNone/>
            </a:pPr>
            <a:r>
              <a:rPr lang="en-US" altLang="en-US" sz="1800" b="1" dirty="0">
                <a:latin typeface="Courier New"/>
                <a:cs typeface="Courier New"/>
              </a:rPr>
              <a:t>	</a:t>
            </a:r>
            <a:r>
              <a:rPr lang="en-US" altLang="en-US" sz="1800" b="1" dirty="0" err="1">
                <a:latin typeface="Courier New"/>
                <a:cs typeface="Courier New"/>
              </a:rPr>
              <a:t>Split_Merg</a:t>
            </a:r>
            <a:r>
              <a:rPr lang="en-US" altLang="en-US" sz="1800" b="1" dirty="0">
                <a:latin typeface="Courier New"/>
                <a:cs typeface="Courier New"/>
              </a:rPr>
              <a:t>(</a:t>
            </a:r>
            <a:r>
              <a:rPr lang="en-US" altLang="en-US" sz="1800" b="1" dirty="0" err="1">
                <a:latin typeface="Courier New"/>
                <a:cs typeface="Courier New"/>
              </a:rPr>
              <a:t>A,first,m</a:t>
            </a:r>
            <a:r>
              <a:rPr lang="en-US" altLang="en-US" sz="1800" b="1" dirty="0">
                <a:latin typeface="Courier New"/>
                <a:cs typeface="Courier New"/>
              </a:rPr>
              <a:t>); // </a:t>
            </a:r>
            <a:r>
              <a:rPr lang="en-US" altLang="en-US" sz="1800" b="1" dirty="0" err="1">
                <a:latin typeface="Courier New"/>
                <a:cs typeface="Courier New"/>
              </a:rPr>
              <a:t>đệ</a:t>
            </a:r>
            <a:r>
              <a:rPr lang="en-US" altLang="en-US" sz="1800" b="1" dirty="0">
                <a:latin typeface="Courier New"/>
                <a:cs typeface="Courier New"/>
              </a:rPr>
              <a:t> </a:t>
            </a:r>
            <a:r>
              <a:rPr lang="en-US" altLang="en-US" sz="1800" b="1" dirty="0" err="1">
                <a:latin typeface="Courier New"/>
                <a:cs typeface="Courier New"/>
              </a:rPr>
              <a:t>quy</a:t>
            </a:r>
            <a:r>
              <a:rPr lang="en-US" altLang="en-US" sz="1800" b="1" dirty="0">
                <a:latin typeface="Courier New"/>
                <a:cs typeface="Courier New"/>
              </a:rPr>
              <a:t> </a:t>
            </a:r>
            <a:r>
              <a:rPr lang="en-US" altLang="en-US" sz="1800" b="1" dirty="0" err="1">
                <a:latin typeface="Courier New"/>
                <a:cs typeface="Courier New"/>
              </a:rPr>
              <a:t>tách</a:t>
            </a:r>
            <a:r>
              <a:rPr lang="en-US" altLang="en-US" sz="1800" b="1" dirty="0">
                <a:latin typeface="Courier New"/>
                <a:cs typeface="Courier New"/>
              </a:rPr>
              <a:t> </a:t>
            </a:r>
            <a:r>
              <a:rPr lang="en-US" altLang="en-US" sz="1800" b="1" dirty="0" err="1">
                <a:latin typeface="Courier New"/>
                <a:cs typeface="Courier New"/>
              </a:rPr>
              <a:t>nửa</a:t>
            </a:r>
            <a:r>
              <a:rPr lang="en-US" altLang="en-US" sz="1800" b="1" dirty="0">
                <a:latin typeface="Courier New"/>
                <a:cs typeface="Courier New"/>
              </a:rPr>
              <a:t> </a:t>
            </a:r>
            <a:r>
              <a:rPr lang="en-US" altLang="en-US" sz="1800" b="1" dirty="0" err="1">
                <a:latin typeface="Courier New"/>
                <a:cs typeface="Courier New"/>
              </a:rPr>
              <a:t>trái</a:t>
            </a:r>
            <a:endParaRPr lang="en-US" altLang="en-US" sz="1800" b="1" dirty="0">
              <a:latin typeface="Courier New"/>
              <a:cs typeface="Courier New"/>
            </a:endParaRPr>
          </a:p>
          <a:p>
            <a:pPr>
              <a:spcBef>
                <a:spcPct val="0"/>
              </a:spcBef>
              <a:buClrTx/>
              <a:buSzTx/>
              <a:buNone/>
            </a:pPr>
            <a:r>
              <a:rPr lang="en-US" altLang="en-US" sz="1800" b="1" dirty="0">
                <a:latin typeface="Courier New"/>
                <a:cs typeface="Courier New"/>
              </a:rPr>
              <a:t>	</a:t>
            </a:r>
            <a:r>
              <a:rPr lang="en-US" altLang="en-US" sz="1800" b="1" dirty="0" err="1">
                <a:latin typeface="Courier New"/>
                <a:cs typeface="Courier New"/>
              </a:rPr>
              <a:t>Split_Merg</a:t>
            </a:r>
            <a:r>
              <a:rPr lang="en-US" altLang="en-US" sz="1800" b="1" dirty="0">
                <a:latin typeface="Courier New"/>
                <a:cs typeface="Courier New"/>
              </a:rPr>
              <a:t>(A,m+1,last); // </a:t>
            </a:r>
            <a:r>
              <a:rPr lang="en-US" altLang="en-US" sz="1800" b="1" dirty="0" err="1">
                <a:latin typeface="Courier New"/>
                <a:cs typeface="Courier New"/>
              </a:rPr>
              <a:t>đệ</a:t>
            </a:r>
            <a:r>
              <a:rPr lang="en-US" altLang="en-US" sz="1800" b="1" dirty="0">
                <a:latin typeface="Courier New"/>
                <a:cs typeface="Courier New"/>
              </a:rPr>
              <a:t> </a:t>
            </a:r>
            <a:r>
              <a:rPr lang="en-US" altLang="en-US" sz="1800" b="1" dirty="0" err="1">
                <a:latin typeface="Courier New"/>
                <a:cs typeface="Courier New"/>
              </a:rPr>
              <a:t>quy</a:t>
            </a:r>
            <a:r>
              <a:rPr lang="en-US" altLang="en-US" sz="1800" b="1" dirty="0">
                <a:latin typeface="Courier New"/>
                <a:cs typeface="Courier New"/>
              </a:rPr>
              <a:t> </a:t>
            </a:r>
            <a:r>
              <a:rPr lang="en-US" altLang="en-US" sz="1800" b="1" dirty="0" err="1">
                <a:latin typeface="Courier New"/>
                <a:cs typeface="Courier New"/>
              </a:rPr>
              <a:t>tách</a:t>
            </a:r>
            <a:r>
              <a:rPr lang="en-US" altLang="en-US" sz="1800" b="1" dirty="0">
                <a:latin typeface="Courier New"/>
                <a:cs typeface="Courier New"/>
              </a:rPr>
              <a:t> </a:t>
            </a:r>
            <a:r>
              <a:rPr lang="en-US" altLang="en-US" sz="1800" b="1" dirty="0" err="1">
                <a:latin typeface="Courier New"/>
                <a:cs typeface="Courier New"/>
              </a:rPr>
              <a:t>nửa</a:t>
            </a:r>
            <a:r>
              <a:rPr lang="en-US" altLang="en-US" sz="1800" b="1" dirty="0">
                <a:latin typeface="Courier New"/>
                <a:cs typeface="Courier New"/>
              </a:rPr>
              <a:t> </a:t>
            </a:r>
            <a:r>
              <a:rPr lang="en-US" altLang="en-US" sz="1800" b="1" dirty="0" err="1">
                <a:latin typeface="Courier New"/>
                <a:cs typeface="Courier New"/>
              </a:rPr>
              <a:t>phải</a:t>
            </a:r>
            <a:endParaRPr lang="en-US" altLang="en-US" sz="1800" b="1" dirty="0">
              <a:latin typeface="Courier New"/>
              <a:cs typeface="Courier New"/>
            </a:endParaRPr>
          </a:p>
          <a:p>
            <a:pPr eaLnBrk="1" hangingPunct="1">
              <a:spcBef>
                <a:spcPct val="0"/>
              </a:spcBef>
              <a:buClrTx/>
              <a:buSzTx/>
              <a:buFontTx/>
              <a:buNone/>
            </a:pPr>
            <a:r>
              <a:rPr lang="en-US" altLang="en-US" sz="1800" b="1" dirty="0">
                <a:latin typeface="Courier New"/>
                <a:cs typeface="Courier New"/>
              </a:rPr>
              <a:t>	</a:t>
            </a:r>
            <a:r>
              <a:rPr lang="en-US" altLang="en-US" sz="1800" b="1" dirty="0" err="1">
                <a:latin typeface="Courier New"/>
                <a:cs typeface="Courier New"/>
              </a:rPr>
              <a:t>MergeArrays</a:t>
            </a:r>
            <a:r>
              <a:rPr lang="en-US" altLang="en-US" sz="1800" b="1" dirty="0">
                <a:latin typeface="Courier New"/>
                <a:cs typeface="Courier New"/>
              </a:rPr>
              <a:t>(</a:t>
            </a:r>
            <a:r>
              <a:rPr lang="en-US" altLang="en-US" sz="1800" b="1" dirty="0" err="1">
                <a:latin typeface="Courier New"/>
                <a:cs typeface="Courier New"/>
              </a:rPr>
              <a:t>A,first,m,last</a:t>
            </a:r>
            <a:r>
              <a:rPr lang="en-US" altLang="en-US" sz="1800" b="1" dirty="0">
                <a:latin typeface="Courier New"/>
                <a:cs typeface="Courier New"/>
              </a:rPr>
              <a:t>); //</a:t>
            </a:r>
            <a:r>
              <a:rPr lang="en-US" altLang="en-US" sz="1800" b="1" dirty="0" err="1">
                <a:latin typeface="Courier New"/>
                <a:cs typeface="Courier New"/>
              </a:rPr>
              <a:t>ghép</a:t>
            </a:r>
            <a:r>
              <a:rPr lang="en-US" altLang="en-US" sz="1800" b="1" dirty="0">
                <a:latin typeface="Courier New"/>
                <a:cs typeface="Courier New"/>
              </a:rPr>
              <a:t> 2 </a:t>
            </a:r>
            <a:r>
              <a:rPr lang="en-US" altLang="en-US" sz="1800" b="1" dirty="0" err="1">
                <a:latin typeface="Courier New"/>
                <a:cs typeface="Courier New"/>
              </a:rPr>
              <a:t>nửa</a:t>
            </a:r>
            <a:r>
              <a:rPr lang="en-US" altLang="en-US" sz="1800" b="1" dirty="0">
                <a:latin typeface="Courier New"/>
                <a:cs typeface="Courier New"/>
              </a:rPr>
              <a:t> </a:t>
            </a:r>
            <a:r>
              <a:rPr lang="en-US" altLang="en-US" sz="1800" b="1" dirty="0" err="1">
                <a:latin typeface="Courier New"/>
                <a:cs typeface="Courier New"/>
              </a:rPr>
              <a:t>dãy</a:t>
            </a:r>
            <a:endParaRPr lang="en-US" altLang="en-US" sz="1800" b="1" dirty="0">
              <a:latin typeface="Courier New"/>
              <a:cs typeface="Courier New"/>
            </a:endParaRPr>
          </a:p>
          <a:p>
            <a:pPr eaLnBrk="1" hangingPunct="1">
              <a:spcBef>
                <a:spcPct val="0"/>
              </a:spcBef>
              <a:buClrTx/>
              <a:buSzTx/>
              <a:buFontTx/>
              <a:buNone/>
            </a:pPr>
            <a:r>
              <a:rPr lang="en-US" altLang="en-US" sz="1800" b="1" dirty="0">
                <a:latin typeface="Courier New"/>
                <a:cs typeface="Courier New"/>
              </a:rPr>
              <a:t>}</a:t>
            </a:r>
          </a:p>
          <a:p>
            <a:pPr eaLnBrk="1" hangingPunct="1">
              <a:spcBef>
                <a:spcPct val="0"/>
              </a:spcBef>
              <a:buClrTx/>
              <a:buSzTx/>
              <a:buFontTx/>
              <a:buNone/>
            </a:pPr>
            <a:endParaRPr lang="en-US" altLang="en-US" sz="1800" b="1">
              <a:latin typeface="Courier New" panose="02070309020205020404" pitchFamily="49" charset="0"/>
              <a:cs typeface="Courier New" panose="02070309020205020404" pitchFamily="49" charset="0"/>
            </a:endParaRPr>
          </a:p>
          <a:p>
            <a:pPr eaLnBrk="1" hangingPunct="1">
              <a:spcBef>
                <a:spcPct val="0"/>
              </a:spcBef>
              <a:buClrTx/>
              <a:buSzTx/>
              <a:buFontTx/>
              <a:buNone/>
            </a:pPr>
            <a:r>
              <a:rPr lang="en-US" altLang="en-US" sz="1800" b="1" dirty="0">
                <a:latin typeface="Courier New"/>
                <a:cs typeface="Courier New"/>
              </a:rPr>
              <a:t>void </a:t>
            </a:r>
            <a:r>
              <a:rPr lang="en-US" altLang="en-US" sz="1800" b="1" dirty="0" err="1">
                <a:latin typeface="Courier New"/>
                <a:cs typeface="Courier New"/>
              </a:rPr>
              <a:t>MergeSort</a:t>
            </a:r>
            <a:r>
              <a:rPr lang="en-US" altLang="en-US" sz="1800" b="1" dirty="0">
                <a:latin typeface="Courier New"/>
                <a:cs typeface="Courier New"/>
              </a:rPr>
              <a:t>(int A[], int N){</a:t>
            </a:r>
          </a:p>
          <a:p>
            <a:pPr eaLnBrk="1" hangingPunct="1">
              <a:spcBef>
                <a:spcPct val="0"/>
              </a:spcBef>
              <a:buClrTx/>
              <a:buSzTx/>
              <a:buFontTx/>
              <a:buNone/>
            </a:pPr>
            <a:r>
              <a:rPr lang="en-US" altLang="en-US" sz="1800" b="1" dirty="0">
                <a:latin typeface="Courier New"/>
                <a:cs typeface="Courier New"/>
              </a:rPr>
              <a:t>	if (N&lt;2) return;</a:t>
            </a:r>
          </a:p>
          <a:p>
            <a:pPr>
              <a:spcBef>
                <a:spcPct val="0"/>
              </a:spcBef>
              <a:buClrTx/>
              <a:buSzTx/>
              <a:buNone/>
            </a:pPr>
            <a:r>
              <a:rPr lang="en-US" altLang="en-US" sz="1800" b="1" dirty="0">
                <a:latin typeface="Courier New"/>
                <a:cs typeface="Courier New"/>
              </a:rPr>
              <a:t>	</a:t>
            </a:r>
            <a:r>
              <a:rPr lang="en-US" altLang="en-US" sz="1800" b="1" dirty="0" err="1">
                <a:latin typeface="Courier New"/>
                <a:cs typeface="Courier New"/>
              </a:rPr>
              <a:t>Split_Merg</a:t>
            </a:r>
            <a:r>
              <a:rPr lang="en-US" altLang="en-US" sz="1800" b="1" dirty="0">
                <a:latin typeface="Courier New"/>
                <a:cs typeface="Courier New"/>
              </a:rPr>
              <a:t>(A,0,N-1);</a:t>
            </a:r>
          </a:p>
          <a:p>
            <a:pPr eaLnBrk="1" hangingPunct="1">
              <a:spcBef>
                <a:spcPct val="0"/>
              </a:spcBef>
              <a:buClrTx/>
              <a:buSzTx/>
              <a:buFontTx/>
              <a:buNone/>
            </a:pPr>
            <a:r>
              <a:rPr lang="en-US" altLang="en-US" sz="1800" b="1" dirty="0">
                <a:latin typeface="Courier New"/>
                <a:cs typeface="Courier New"/>
              </a:rPr>
              <a:t>}</a:t>
            </a:r>
          </a:p>
        </p:txBody>
      </p:sp>
    </p:spTree>
    <p:extLst>
      <p:ext uri="{BB962C8B-B14F-4D97-AF65-F5344CB8AC3E}">
        <p14:creationId xmlns:p14="http://schemas.microsoft.com/office/powerpoint/2010/main" val="2429023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50</a:t>
            </a:fld>
            <a:endParaRPr lang="en-US"/>
          </a:p>
        </p:txBody>
      </p:sp>
      <p:sp>
        <p:nvSpPr>
          <p:cNvPr id="2" name="Title 1"/>
          <p:cNvSpPr>
            <a:spLocks noGrp="1"/>
          </p:cNvSpPr>
          <p:nvPr>
            <p:ph type="title"/>
          </p:nvPr>
        </p:nvSpPr>
        <p:spPr/>
        <p:txBody>
          <a:bodyPr>
            <a:normAutofit fontScale="90000"/>
          </a:bodyPr>
          <a:lstStyle/>
          <a:p>
            <a:r>
              <a:rPr lang="en-US" err="1"/>
              <a:t>Bài</a:t>
            </a:r>
            <a:r>
              <a:rPr lang="en-US"/>
              <a:t> </a:t>
            </a:r>
            <a:r>
              <a:rPr lang="en-US" err="1"/>
              <a:t>toán</a:t>
            </a:r>
            <a:r>
              <a:rPr lang="en-US"/>
              <a:t> </a:t>
            </a:r>
            <a:r>
              <a:rPr lang="en-US" err="1"/>
              <a:t>tìm</a:t>
            </a:r>
            <a:r>
              <a:rPr lang="en-US"/>
              <a:t> </a:t>
            </a:r>
            <a:r>
              <a:rPr lang="en-US" err="1"/>
              <a:t>kiếm</a:t>
            </a:r>
            <a:r>
              <a:rPr lang="en-US"/>
              <a:t> </a:t>
            </a:r>
            <a:r>
              <a:rPr lang="en-US" err="1"/>
              <a:t>trên</a:t>
            </a:r>
            <a:r>
              <a:rPr lang="en-US"/>
              <a:t> </a:t>
            </a:r>
            <a:r>
              <a:rPr lang="en-US" err="1"/>
              <a:t>cấu</a:t>
            </a:r>
            <a:r>
              <a:rPr lang="en-US"/>
              <a:t> </a:t>
            </a:r>
            <a:r>
              <a:rPr lang="en-US" err="1"/>
              <a:t>trúc</a:t>
            </a:r>
            <a:r>
              <a:rPr lang="en-US"/>
              <a:t> </a:t>
            </a:r>
            <a:r>
              <a:rPr lang="en-US" err="1"/>
              <a:t>mảng</a:t>
            </a:r>
            <a:endParaRPr lang="en-US"/>
          </a:p>
        </p:txBody>
      </p:sp>
      <p:sp>
        <p:nvSpPr>
          <p:cNvPr id="3" name="Content Placeholder 2"/>
          <p:cNvSpPr>
            <a:spLocks noGrp="1"/>
          </p:cNvSpPr>
          <p:nvPr>
            <p:ph type="body" sz="quarter" idx="13"/>
          </p:nvPr>
        </p:nvSpPr>
        <p:spPr/>
        <p:txBody>
          <a:bodyPr>
            <a:normAutofit/>
          </a:bodyPr>
          <a:lstStyle/>
          <a:p>
            <a:r>
              <a:rPr lang="en-US" err="1"/>
              <a:t>Tìm</a:t>
            </a:r>
            <a:r>
              <a:rPr lang="en-US"/>
              <a:t> </a:t>
            </a:r>
            <a:r>
              <a:rPr lang="en-US" err="1"/>
              <a:t>kiếm</a:t>
            </a:r>
            <a:r>
              <a:rPr lang="en-US"/>
              <a:t> </a:t>
            </a:r>
            <a:r>
              <a:rPr lang="en-US" err="1"/>
              <a:t>một</a:t>
            </a:r>
            <a:r>
              <a:rPr lang="en-US"/>
              <a:t> </a:t>
            </a:r>
            <a:r>
              <a:rPr lang="en-US" err="1"/>
              <a:t>phần</a:t>
            </a:r>
            <a:r>
              <a:rPr lang="en-US"/>
              <a:t> </a:t>
            </a:r>
            <a:r>
              <a:rPr lang="en-US" err="1"/>
              <a:t>tử</a:t>
            </a:r>
            <a:r>
              <a:rPr lang="en-US"/>
              <a:t> </a:t>
            </a:r>
            <a:r>
              <a:rPr lang="en-US" err="1"/>
              <a:t>theo</a:t>
            </a:r>
            <a:r>
              <a:rPr lang="en-US"/>
              <a:t> </a:t>
            </a:r>
            <a:r>
              <a:rPr lang="en-US" err="1"/>
              <a:t>một</a:t>
            </a:r>
            <a:r>
              <a:rPr lang="en-US"/>
              <a:t> </a:t>
            </a:r>
            <a:r>
              <a:rPr lang="en-US" err="1"/>
              <a:t>tiêu</a:t>
            </a:r>
            <a:r>
              <a:rPr lang="en-US"/>
              <a:t> </a:t>
            </a:r>
            <a:r>
              <a:rPr lang="en-US" err="1"/>
              <a:t>chí</a:t>
            </a:r>
            <a:r>
              <a:rPr lang="en-US"/>
              <a:t> </a:t>
            </a:r>
            <a:r>
              <a:rPr lang="en-US" err="1"/>
              <a:t>nào</a:t>
            </a:r>
            <a:r>
              <a:rPr lang="en-US"/>
              <a:t> </a:t>
            </a:r>
            <a:r>
              <a:rPr lang="en-US" err="1"/>
              <a:t>đó</a:t>
            </a:r>
            <a:endParaRPr lang="en-US"/>
          </a:p>
          <a:p>
            <a:r>
              <a:rPr lang="en-US" err="1"/>
              <a:t>Tìm</a:t>
            </a:r>
            <a:r>
              <a:rPr lang="en-US"/>
              <a:t> </a:t>
            </a:r>
            <a:r>
              <a:rPr lang="en-US" err="1"/>
              <a:t>kiếm</a:t>
            </a:r>
            <a:r>
              <a:rPr lang="en-US"/>
              <a:t> </a:t>
            </a:r>
            <a:r>
              <a:rPr lang="en-US">
                <a:solidFill>
                  <a:srgbClr val="0000FF"/>
                </a:solidFill>
              </a:rPr>
              <a:t>“</a:t>
            </a:r>
            <a:r>
              <a:rPr lang="en-US" err="1">
                <a:solidFill>
                  <a:srgbClr val="0000FF"/>
                </a:solidFill>
              </a:rPr>
              <a:t>được</a:t>
            </a:r>
            <a:r>
              <a:rPr lang="en-US">
                <a:solidFill>
                  <a:srgbClr val="0000FF"/>
                </a:solidFill>
              </a:rPr>
              <a:t> </a:t>
            </a:r>
            <a:r>
              <a:rPr lang="en-US" err="1">
                <a:solidFill>
                  <a:srgbClr val="0000FF"/>
                </a:solidFill>
              </a:rPr>
              <a:t>thỏa</a:t>
            </a:r>
            <a:r>
              <a:rPr lang="en-US">
                <a:solidFill>
                  <a:srgbClr val="0000FF"/>
                </a:solidFill>
              </a:rPr>
              <a:t>”</a:t>
            </a:r>
            <a:r>
              <a:rPr lang="en-US"/>
              <a:t> </a:t>
            </a:r>
            <a:r>
              <a:rPr lang="en-US" err="1"/>
              <a:t>khi</a:t>
            </a:r>
            <a:r>
              <a:rPr lang="en-US"/>
              <a:t> </a:t>
            </a:r>
            <a:r>
              <a:rPr lang="en-US" err="1"/>
              <a:t>có</a:t>
            </a:r>
            <a:r>
              <a:rPr lang="en-US"/>
              <a:t> </a:t>
            </a:r>
            <a:r>
              <a:rPr lang="en-US" err="1"/>
              <a:t>hoặc</a:t>
            </a:r>
            <a:r>
              <a:rPr lang="en-US"/>
              <a:t> </a:t>
            </a:r>
            <a:r>
              <a:rPr lang="en-US">
                <a:solidFill>
                  <a:srgbClr val="0000FF"/>
                </a:solidFill>
              </a:rPr>
              <a:t>“</a:t>
            </a:r>
            <a:r>
              <a:rPr lang="en-US" err="1">
                <a:solidFill>
                  <a:srgbClr val="0000FF"/>
                </a:solidFill>
              </a:rPr>
              <a:t>không</a:t>
            </a:r>
            <a:r>
              <a:rPr lang="en-US">
                <a:solidFill>
                  <a:srgbClr val="0000FF"/>
                </a:solidFill>
              </a:rPr>
              <a:t> </a:t>
            </a:r>
            <a:r>
              <a:rPr lang="en-US" err="1">
                <a:solidFill>
                  <a:srgbClr val="0000FF"/>
                </a:solidFill>
              </a:rPr>
              <a:t>thỏa</a:t>
            </a:r>
            <a:r>
              <a:rPr lang="en-US">
                <a:solidFill>
                  <a:srgbClr val="0000FF"/>
                </a:solidFill>
              </a:rPr>
              <a:t>” </a:t>
            </a:r>
            <a:r>
              <a:rPr lang="en-US" err="1"/>
              <a:t>khi</a:t>
            </a:r>
            <a:r>
              <a:rPr lang="en-US"/>
              <a:t> </a:t>
            </a:r>
            <a:r>
              <a:rPr lang="en-US" err="1"/>
              <a:t>không</a:t>
            </a:r>
            <a:r>
              <a:rPr lang="en-US"/>
              <a:t> </a:t>
            </a:r>
            <a:r>
              <a:rPr lang="en-US" err="1"/>
              <a:t>có</a:t>
            </a:r>
            <a:r>
              <a:rPr lang="en-US"/>
              <a:t> </a:t>
            </a:r>
            <a:r>
              <a:rPr lang="en-US" err="1"/>
              <a:t>phần</a:t>
            </a:r>
            <a:r>
              <a:rPr lang="en-US"/>
              <a:t> </a:t>
            </a:r>
            <a:r>
              <a:rPr lang="en-US" err="1"/>
              <a:t>tử</a:t>
            </a:r>
            <a:r>
              <a:rPr lang="en-US"/>
              <a:t> </a:t>
            </a:r>
            <a:r>
              <a:rPr lang="en-US" err="1"/>
              <a:t>nào</a:t>
            </a:r>
            <a:r>
              <a:rPr lang="en-US"/>
              <a:t> </a:t>
            </a:r>
          </a:p>
          <a:p>
            <a:pPr lvl="1"/>
            <a:r>
              <a:rPr lang="en-US" err="1"/>
              <a:t>Tìm</a:t>
            </a:r>
            <a:r>
              <a:rPr lang="en-US"/>
              <a:t> </a:t>
            </a:r>
            <a:r>
              <a:rPr lang="en-US" err="1"/>
              <a:t>kiếm</a:t>
            </a:r>
            <a:r>
              <a:rPr lang="en-US"/>
              <a:t> </a:t>
            </a:r>
            <a:r>
              <a:rPr lang="en-US" err="1"/>
              <a:t>tuần</a:t>
            </a:r>
            <a:r>
              <a:rPr lang="en-US"/>
              <a:t> </a:t>
            </a:r>
            <a:r>
              <a:rPr lang="en-US" err="1"/>
              <a:t>tự</a:t>
            </a:r>
            <a:endParaRPr lang="en-US"/>
          </a:p>
          <a:p>
            <a:pPr lvl="1"/>
            <a:r>
              <a:rPr lang="en-US" err="1"/>
              <a:t>Tìm</a:t>
            </a:r>
            <a:r>
              <a:rPr lang="en-US"/>
              <a:t> </a:t>
            </a:r>
            <a:r>
              <a:rPr lang="en-US" err="1"/>
              <a:t>kiếm</a:t>
            </a:r>
            <a:r>
              <a:rPr lang="en-US"/>
              <a:t> </a:t>
            </a:r>
            <a:r>
              <a:rPr lang="en-US" err="1"/>
              <a:t>nhị</a:t>
            </a:r>
            <a:r>
              <a:rPr lang="en-US"/>
              <a:t> </a:t>
            </a:r>
            <a:r>
              <a:rPr lang="en-US" err="1"/>
              <a:t>phân</a:t>
            </a:r>
            <a:r>
              <a:rPr lang="en-US"/>
              <a:t> </a:t>
            </a:r>
          </a:p>
          <a:p>
            <a:r>
              <a:rPr lang="en-US" err="1"/>
              <a:t>Ví</a:t>
            </a:r>
            <a:r>
              <a:rPr lang="en-US"/>
              <a:t> </a:t>
            </a:r>
            <a:r>
              <a:rPr lang="en-US" err="1"/>
              <a:t>dụ</a:t>
            </a:r>
            <a:r>
              <a:rPr lang="en-US"/>
              <a:t>: </a:t>
            </a:r>
            <a:r>
              <a:rPr lang="en-US" err="1"/>
              <a:t>mảng</a:t>
            </a:r>
            <a:r>
              <a:rPr lang="en-US"/>
              <a:t> A </a:t>
            </a:r>
            <a:r>
              <a:rPr lang="en-US" err="1"/>
              <a:t>gồm</a:t>
            </a:r>
            <a:r>
              <a:rPr lang="en-US"/>
              <a:t> n </a:t>
            </a:r>
            <a:r>
              <a:rPr lang="en-US" err="1"/>
              <a:t>phần</a:t>
            </a:r>
            <a:r>
              <a:rPr lang="en-US"/>
              <a:t> </a:t>
            </a:r>
            <a:r>
              <a:rPr lang="en-US" err="1"/>
              <a:t>tử</a:t>
            </a:r>
            <a:r>
              <a:rPr lang="en-US"/>
              <a:t> A[1], A[2]…A[n] Cho </a:t>
            </a:r>
            <a:r>
              <a:rPr lang="en-US" err="1"/>
              <a:t>số</a:t>
            </a:r>
            <a:r>
              <a:rPr lang="en-US"/>
              <a:t> X, </a:t>
            </a:r>
            <a:r>
              <a:rPr lang="en-US" err="1"/>
              <a:t>tìm</a:t>
            </a:r>
            <a:r>
              <a:rPr lang="en-US"/>
              <a:t> </a:t>
            </a:r>
            <a:r>
              <a:rPr lang="en-US" err="1"/>
              <a:t>xem</a:t>
            </a:r>
            <a:r>
              <a:rPr lang="en-US"/>
              <a:t> </a:t>
            </a:r>
            <a:r>
              <a:rPr lang="en-US" err="1"/>
              <a:t>có</a:t>
            </a:r>
            <a:r>
              <a:rPr lang="en-US"/>
              <a:t> </a:t>
            </a:r>
            <a:r>
              <a:rPr lang="en-US" err="1"/>
              <a:t>giá</a:t>
            </a:r>
            <a:r>
              <a:rPr lang="en-US"/>
              <a:t> </a:t>
            </a:r>
            <a:r>
              <a:rPr lang="en-US" err="1"/>
              <a:t>trị</a:t>
            </a:r>
            <a:r>
              <a:rPr lang="en-US"/>
              <a:t> </a:t>
            </a:r>
            <a:r>
              <a:rPr lang="en-US" err="1"/>
              <a:t>nào</a:t>
            </a:r>
            <a:r>
              <a:rPr lang="en-US"/>
              <a:t> </a:t>
            </a:r>
            <a:r>
              <a:rPr lang="en-US" err="1"/>
              <a:t>trong</a:t>
            </a:r>
            <a:r>
              <a:rPr lang="en-US"/>
              <a:t> A </a:t>
            </a:r>
            <a:r>
              <a:rPr lang="en-US" err="1"/>
              <a:t>bằng</a:t>
            </a:r>
            <a:r>
              <a:rPr lang="en-US"/>
              <a:t> X hay </a:t>
            </a:r>
            <a:r>
              <a:rPr lang="en-US" err="1"/>
              <a:t>không</a:t>
            </a:r>
            <a:r>
              <a:rPr lang="en-US"/>
              <a:t>?</a:t>
            </a:r>
          </a:p>
        </p:txBody>
      </p:sp>
    </p:spTree>
    <p:extLst>
      <p:ext uri="{BB962C8B-B14F-4D97-AF65-F5344CB8AC3E}">
        <p14:creationId xmlns:p14="http://schemas.microsoft.com/office/powerpoint/2010/main" val="12950859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51</a:t>
            </a:fld>
            <a:endParaRPr lang="en-US"/>
          </a:p>
        </p:txBody>
      </p:sp>
      <p:sp>
        <p:nvSpPr>
          <p:cNvPr id="2" name="Title 1"/>
          <p:cNvSpPr>
            <a:spLocks noGrp="1"/>
          </p:cNvSpPr>
          <p:nvPr>
            <p:ph type="title"/>
          </p:nvPr>
        </p:nvSpPr>
        <p:spPr/>
        <p:txBody>
          <a:bodyPr>
            <a:normAutofit fontScale="90000"/>
          </a:bodyPr>
          <a:lstStyle/>
          <a:p>
            <a:r>
              <a:rPr lang="en-US" err="1"/>
              <a:t>Tìm</a:t>
            </a:r>
            <a:r>
              <a:rPr lang="en-US"/>
              <a:t> </a:t>
            </a:r>
            <a:r>
              <a:rPr lang="en-US" err="1"/>
              <a:t>kiếm</a:t>
            </a:r>
            <a:r>
              <a:rPr lang="en-US"/>
              <a:t> </a:t>
            </a:r>
            <a:r>
              <a:rPr lang="en-US" err="1"/>
              <a:t>tuần</a:t>
            </a:r>
            <a:r>
              <a:rPr lang="en-US"/>
              <a:t> </a:t>
            </a:r>
            <a:r>
              <a:rPr lang="en-US" err="1"/>
              <a:t>tự</a:t>
            </a:r>
            <a:br>
              <a:rPr lang="en-US"/>
            </a:br>
            <a:endParaRPr lang="en-US"/>
          </a:p>
        </p:txBody>
      </p:sp>
      <p:sp>
        <p:nvSpPr>
          <p:cNvPr id="3" name="Content Placeholder 2"/>
          <p:cNvSpPr>
            <a:spLocks noGrp="1"/>
          </p:cNvSpPr>
          <p:nvPr>
            <p:ph type="body" sz="quarter" idx="13"/>
          </p:nvPr>
        </p:nvSpPr>
        <p:spPr/>
        <p:txBody>
          <a:bodyPr>
            <a:normAutofit/>
          </a:bodyPr>
          <a:lstStyle/>
          <a:p>
            <a:r>
              <a:rPr lang="en-US" err="1"/>
              <a:t>Duyệt</a:t>
            </a:r>
            <a:r>
              <a:rPr lang="en-US"/>
              <a:t> </a:t>
            </a:r>
            <a:r>
              <a:rPr lang="en-US" err="1"/>
              <a:t>tất</a:t>
            </a:r>
            <a:r>
              <a:rPr lang="en-US"/>
              <a:t> </a:t>
            </a:r>
            <a:r>
              <a:rPr lang="en-US" err="1"/>
              <a:t>cả</a:t>
            </a:r>
            <a:r>
              <a:rPr lang="en-US"/>
              <a:t> </a:t>
            </a:r>
            <a:r>
              <a:rPr lang="en-US" err="1"/>
              <a:t>các</a:t>
            </a:r>
            <a:r>
              <a:rPr lang="en-US"/>
              <a:t> </a:t>
            </a:r>
            <a:r>
              <a:rPr lang="en-US" err="1"/>
              <a:t>phần</a:t>
            </a:r>
            <a:r>
              <a:rPr lang="en-US"/>
              <a:t> </a:t>
            </a:r>
            <a:r>
              <a:rPr lang="en-US" err="1"/>
              <a:t>tử</a:t>
            </a:r>
            <a:r>
              <a:rPr lang="en-US"/>
              <a:t> </a:t>
            </a:r>
            <a:r>
              <a:rPr lang="en-US" err="1"/>
              <a:t>trong</a:t>
            </a:r>
            <a:r>
              <a:rPr lang="en-US"/>
              <a:t> </a:t>
            </a:r>
            <a:r>
              <a:rPr lang="en-US" err="1"/>
              <a:t>mảng</a:t>
            </a:r>
            <a:r>
              <a:rPr lang="en-US"/>
              <a:t> A</a:t>
            </a:r>
          </a:p>
          <a:p>
            <a:pPr lvl="1"/>
            <a:r>
              <a:rPr lang="en-US" err="1"/>
              <a:t>Nếu</a:t>
            </a:r>
            <a:r>
              <a:rPr lang="en-US"/>
              <a:t> </a:t>
            </a:r>
            <a:r>
              <a:rPr lang="en-US" err="1"/>
              <a:t>có</a:t>
            </a:r>
            <a:r>
              <a:rPr lang="en-US"/>
              <a:t> </a:t>
            </a:r>
            <a:r>
              <a:rPr lang="en-US" err="1"/>
              <a:t>phần</a:t>
            </a:r>
            <a:r>
              <a:rPr lang="en-US"/>
              <a:t> </a:t>
            </a:r>
            <a:r>
              <a:rPr lang="en-US" err="1"/>
              <a:t>tử</a:t>
            </a:r>
            <a:r>
              <a:rPr lang="en-US"/>
              <a:t> </a:t>
            </a:r>
            <a:r>
              <a:rPr lang="en-US" err="1"/>
              <a:t>nào</a:t>
            </a:r>
            <a:r>
              <a:rPr lang="en-US"/>
              <a:t> </a:t>
            </a:r>
            <a:r>
              <a:rPr lang="en-US" err="1"/>
              <a:t>bằng</a:t>
            </a:r>
            <a:r>
              <a:rPr lang="en-US"/>
              <a:t> X </a:t>
            </a:r>
            <a:r>
              <a:rPr lang="en-US" err="1"/>
              <a:t>thì</a:t>
            </a:r>
            <a:r>
              <a:rPr lang="en-US"/>
              <a:t> </a:t>
            </a:r>
            <a:r>
              <a:rPr lang="en-US" err="1"/>
              <a:t>ghi</a:t>
            </a:r>
            <a:r>
              <a:rPr lang="en-US"/>
              <a:t> </a:t>
            </a:r>
            <a:r>
              <a:rPr lang="en-US" err="1"/>
              <a:t>nhận</a:t>
            </a:r>
            <a:r>
              <a:rPr lang="en-US"/>
              <a:t> </a:t>
            </a:r>
            <a:r>
              <a:rPr lang="en-US" err="1"/>
              <a:t>lại</a:t>
            </a:r>
            <a:r>
              <a:rPr lang="en-US"/>
              <a:t> </a:t>
            </a:r>
            <a:r>
              <a:rPr lang="en-US" err="1"/>
              <a:t>chỉ</a:t>
            </a:r>
            <a:r>
              <a:rPr lang="en-US"/>
              <a:t> </a:t>
            </a:r>
            <a:r>
              <a:rPr lang="en-US" err="1"/>
              <a:t>số</a:t>
            </a:r>
            <a:r>
              <a:rPr lang="en-US"/>
              <a:t> </a:t>
            </a:r>
            <a:r>
              <a:rPr lang="en-US" err="1"/>
              <a:t>của</a:t>
            </a:r>
            <a:r>
              <a:rPr lang="en-US"/>
              <a:t> </a:t>
            </a:r>
            <a:r>
              <a:rPr lang="en-US" err="1"/>
              <a:t>phần</a:t>
            </a:r>
            <a:r>
              <a:rPr lang="en-US"/>
              <a:t> </a:t>
            </a:r>
            <a:r>
              <a:rPr lang="en-US" err="1"/>
              <a:t>tử</a:t>
            </a:r>
            <a:r>
              <a:rPr lang="en-US"/>
              <a:t> </a:t>
            </a:r>
            <a:r>
              <a:rPr lang="en-US" err="1"/>
              <a:t>đó</a:t>
            </a:r>
            <a:r>
              <a:rPr lang="en-US"/>
              <a:t>,</a:t>
            </a:r>
          </a:p>
          <a:p>
            <a:pPr lvl="1"/>
            <a:r>
              <a:rPr lang="en-US" err="1"/>
              <a:t>Nếu</a:t>
            </a:r>
            <a:r>
              <a:rPr lang="en-US"/>
              <a:t> </a:t>
            </a:r>
            <a:r>
              <a:rPr lang="en-US" err="1"/>
              <a:t>không</a:t>
            </a:r>
            <a:r>
              <a:rPr lang="en-US"/>
              <a:t> </a:t>
            </a:r>
            <a:r>
              <a:rPr lang="en-US" err="1"/>
              <a:t>có</a:t>
            </a:r>
            <a:r>
              <a:rPr lang="en-US"/>
              <a:t> </a:t>
            </a:r>
            <a:r>
              <a:rPr lang="en-US" err="1"/>
              <a:t>thì</a:t>
            </a:r>
            <a:r>
              <a:rPr lang="en-US"/>
              <a:t> </a:t>
            </a:r>
            <a:r>
              <a:rPr lang="en-US" err="1"/>
              <a:t>ghi</a:t>
            </a:r>
            <a:r>
              <a:rPr lang="en-US"/>
              <a:t> </a:t>
            </a:r>
            <a:r>
              <a:rPr lang="en-US" err="1"/>
              <a:t>nhận</a:t>
            </a:r>
            <a:r>
              <a:rPr lang="en-US"/>
              <a:t> </a:t>
            </a:r>
            <a:r>
              <a:rPr lang="en-US" err="1"/>
              <a:t>bằng</a:t>
            </a:r>
            <a:r>
              <a:rPr lang="en-US"/>
              <a:t> 0.</a:t>
            </a:r>
          </a:p>
          <a:p>
            <a:pPr marL="457200" lvl="1" indent="0">
              <a:buNone/>
            </a:pPr>
            <a:r>
              <a:rPr lang="en-US"/>
              <a:t>Function Sequential(</a:t>
            </a:r>
            <a:r>
              <a:rPr lang="en-US" err="1"/>
              <a:t>A,n,X</a:t>
            </a:r>
            <a:r>
              <a:rPr lang="en-US"/>
              <a:t>)</a:t>
            </a:r>
          </a:p>
          <a:p>
            <a:pPr marL="971550" lvl="1" indent="-514350">
              <a:buAutoNum type="arabicPeriod"/>
            </a:pPr>
            <a:r>
              <a:rPr lang="en-US" err="1"/>
              <a:t>i</a:t>
            </a:r>
            <a:r>
              <a:rPr lang="en-US"/>
              <a:t> = 1;</a:t>
            </a:r>
          </a:p>
          <a:p>
            <a:pPr marL="971550" lvl="1" indent="-514350">
              <a:buAutoNum type="arabicPeriod"/>
            </a:pPr>
            <a:r>
              <a:rPr lang="en-US"/>
              <a:t>While A[</a:t>
            </a:r>
            <a:r>
              <a:rPr lang="en-US" err="1"/>
              <a:t>i</a:t>
            </a:r>
            <a:r>
              <a:rPr lang="en-US"/>
              <a:t>] =! X do </a:t>
            </a:r>
            <a:r>
              <a:rPr lang="en-US" err="1"/>
              <a:t>i</a:t>
            </a:r>
            <a:r>
              <a:rPr lang="en-US"/>
              <a:t> = i+1;</a:t>
            </a:r>
          </a:p>
          <a:p>
            <a:pPr marL="971550" lvl="1" indent="-514350">
              <a:buAutoNum type="arabicPeriod"/>
            </a:pPr>
            <a:r>
              <a:rPr lang="en-US"/>
              <a:t>If </a:t>
            </a:r>
            <a:r>
              <a:rPr lang="en-US" err="1"/>
              <a:t>i</a:t>
            </a:r>
            <a:r>
              <a:rPr lang="en-US"/>
              <a:t> = n+1 {</a:t>
            </a:r>
          </a:p>
          <a:p>
            <a:pPr marL="457200" lvl="1" indent="0">
              <a:buNone/>
            </a:pPr>
            <a:r>
              <a:rPr lang="en-US"/>
              <a:t>	Sequential = 0; </a:t>
            </a:r>
          </a:p>
          <a:p>
            <a:pPr marL="457200" lvl="1" indent="0">
              <a:buNone/>
            </a:pPr>
            <a:r>
              <a:rPr lang="en-US"/>
              <a:t>	Return “</a:t>
            </a:r>
            <a:r>
              <a:rPr lang="en-US" err="1"/>
              <a:t>không</a:t>
            </a:r>
            <a:r>
              <a:rPr lang="en-US"/>
              <a:t> </a:t>
            </a:r>
            <a:r>
              <a:rPr lang="en-US" err="1"/>
              <a:t>tìm</a:t>
            </a:r>
            <a:r>
              <a:rPr lang="en-US"/>
              <a:t> </a:t>
            </a:r>
            <a:r>
              <a:rPr lang="en-US" err="1"/>
              <a:t>thấy</a:t>
            </a:r>
            <a:r>
              <a:rPr lang="en-US"/>
              <a:t>”}</a:t>
            </a:r>
          </a:p>
          <a:p>
            <a:pPr marL="971550" lvl="1" indent="-514350">
              <a:buAutoNum type="arabicPeriod" startAt="4"/>
            </a:pPr>
            <a:r>
              <a:rPr lang="en-US"/>
              <a:t>Else {</a:t>
            </a:r>
          </a:p>
          <a:p>
            <a:pPr marL="457200" lvl="1" indent="0">
              <a:buNone/>
            </a:pPr>
            <a:r>
              <a:rPr lang="en-US"/>
              <a:t>	Sequential = 1; </a:t>
            </a:r>
          </a:p>
          <a:p>
            <a:pPr marL="457200" lvl="1" indent="0">
              <a:buNone/>
            </a:pPr>
            <a:r>
              <a:rPr lang="en-US"/>
              <a:t>	Return “</a:t>
            </a:r>
            <a:r>
              <a:rPr lang="en-US" err="1"/>
              <a:t>tìm</a:t>
            </a:r>
            <a:r>
              <a:rPr lang="en-US"/>
              <a:t> </a:t>
            </a:r>
            <a:r>
              <a:rPr lang="en-US" err="1"/>
              <a:t>thấy</a:t>
            </a:r>
            <a:r>
              <a:rPr lang="en-US"/>
              <a:t>”}</a:t>
            </a:r>
          </a:p>
          <a:p>
            <a:pPr marL="971550" lvl="1" indent="-514350">
              <a:buAutoNum type="arabicPeriod" startAt="4"/>
            </a:pPr>
            <a:endParaRPr lang="en-US"/>
          </a:p>
          <a:p>
            <a:pPr marL="971550" lvl="1" indent="-514350">
              <a:buAutoNum type="arabicPeriod"/>
            </a:pPr>
            <a:endParaRPr lang="en-US"/>
          </a:p>
        </p:txBody>
      </p:sp>
    </p:spTree>
    <p:extLst>
      <p:ext uri="{BB962C8B-B14F-4D97-AF65-F5344CB8AC3E}">
        <p14:creationId xmlns:p14="http://schemas.microsoft.com/office/powerpoint/2010/main" val="936007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52</a:t>
            </a:fld>
            <a:endParaRPr lang="en-US"/>
          </a:p>
        </p:txBody>
      </p:sp>
      <p:sp>
        <p:nvSpPr>
          <p:cNvPr id="2" name="Title 1"/>
          <p:cNvSpPr>
            <a:spLocks noGrp="1"/>
          </p:cNvSpPr>
          <p:nvPr>
            <p:ph type="title"/>
          </p:nvPr>
        </p:nvSpPr>
        <p:spPr/>
        <p:txBody>
          <a:bodyPr/>
          <a:lstStyle/>
          <a:p>
            <a:r>
              <a:rPr lang="en-US" err="1"/>
              <a:t>Tìm</a:t>
            </a:r>
            <a:r>
              <a:rPr lang="en-US"/>
              <a:t> </a:t>
            </a:r>
            <a:r>
              <a:rPr lang="en-US" err="1"/>
              <a:t>kiếm</a:t>
            </a:r>
            <a:r>
              <a:rPr lang="en-US"/>
              <a:t> </a:t>
            </a:r>
            <a:r>
              <a:rPr lang="en-US" err="1"/>
              <a:t>nhị</a:t>
            </a:r>
            <a:r>
              <a:rPr lang="en-US"/>
              <a:t> </a:t>
            </a:r>
            <a:r>
              <a:rPr lang="en-US" err="1"/>
              <a:t>phân</a:t>
            </a:r>
            <a:r>
              <a:rPr lang="en-US"/>
              <a:t> </a:t>
            </a:r>
          </a:p>
        </p:txBody>
      </p:sp>
      <p:sp>
        <p:nvSpPr>
          <p:cNvPr id="3" name="Content Placeholder 2"/>
          <p:cNvSpPr>
            <a:spLocks noGrp="1"/>
          </p:cNvSpPr>
          <p:nvPr>
            <p:ph type="body" sz="quarter" idx="13"/>
          </p:nvPr>
        </p:nvSpPr>
        <p:spPr/>
        <p:txBody>
          <a:bodyPr/>
          <a:lstStyle/>
          <a:p>
            <a:r>
              <a:rPr lang="en-US" err="1"/>
              <a:t>Tìm</a:t>
            </a:r>
            <a:r>
              <a:rPr lang="en-US"/>
              <a:t> </a:t>
            </a:r>
            <a:r>
              <a:rPr lang="en-US" err="1"/>
              <a:t>kiếm</a:t>
            </a:r>
            <a:r>
              <a:rPr lang="en-US"/>
              <a:t> </a:t>
            </a:r>
            <a:r>
              <a:rPr lang="en-US" err="1"/>
              <a:t>với</a:t>
            </a:r>
            <a:r>
              <a:rPr lang="en-US"/>
              <a:t> </a:t>
            </a:r>
            <a:r>
              <a:rPr lang="en-US" err="1"/>
              <a:t>mảng</a:t>
            </a:r>
            <a:r>
              <a:rPr lang="en-US"/>
              <a:t> A </a:t>
            </a:r>
            <a:r>
              <a:rPr lang="en-US" err="1"/>
              <a:t>đã</a:t>
            </a:r>
            <a:r>
              <a:rPr lang="en-US"/>
              <a:t> </a:t>
            </a:r>
            <a:r>
              <a:rPr lang="en-US" err="1"/>
              <a:t>được</a:t>
            </a:r>
            <a:r>
              <a:rPr lang="en-US"/>
              <a:t> </a:t>
            </a:r>
            <a:r>
              <a:rPr lang="en-US" err="1"/>
              <a:t>sắp</a:t>
            </a:r>
            <a:r>
              <a:rPr lang="en-US"/>
              <a:t> </a:t>
            </a:r>
            <a:r>
              <a:rPr lang="en-US" err="1"/>
              <a:t>xếp</a:t>
            </a:r>
            <a:r>
              <a:rPr lang="en-US"/>
              <a:t> </a:t>
            </a:r>
            <a:r>
              <a:rPr lang="en-US" err="1"/>
              <a:t>theo</a:t>
            </a:r>
            <a:r>
              <a:rPr lang="en-US"/>
              <a:t> </a:t>
            </a:r>
            <a:r>
              <a:rPr lang="en-US" err="1"/>
              <a:t>thứ</a:t>
            </a:r>
            <a:r>
              <a:rPr lang="en-US"/>
              <a:t> </a:t>
            </a:r>
            <a:r>
              <a:rPr lang="en-US" err="1"/>
              <a:t>tự</a:t>
            </a:r>
            <a:r>
              <a:rPr lang="en-US"/>
              <a:t> </a:t>
            </a:r>
            <a:r>
              <a:rPr lang="en-US" err="1"/>
              <a:t>tăng</a:t>
            </a:r>
            <a:r>
              <a:rPr lang="en-US"/>
              <a:t> </a:t>
            </a:r>
            <a:r>
              <a:rPr lang="en-US" err="1"/>
              <a:t>hoặc</a:t>
            </a:r>
            <a:r>
              <a:rPr lang="en-US"/>
              <a:t> </a:t>
            </a:r>
            <a:r>
              <a:rPr lang="en-US" err="1"/>
              <a:t>giảm</a:t>
            </a:r>
            <a:r>
              <a:rPr lang="en-US"/>
              <a:t> </a:t>
            </a:r>
            <a:r>
              <a:rPr lang="en-US" err="1"/>
              <a:t>dần</a:t>
            </a:r>
            <a:r>
              <a:rPr lang="en-US"/>
              <a:t>. </a:t>
            </a:r>
          </a:p>
          <a:p>
            <a:r>
              <a:rPr lang="en-US" err="1"/>
              <a:t>Ví</a:t>
            </a:r>
            <a:r>
              <a:rPr lang="en-US"/>
              <a:t> </a:t>
            </a:r>
            <a:r>
              <a:rPr lang="en-US" err="1"/>
              <a:t>dụ</a:t>
            </a:r>
            <a:r>
              <a:rPr lang="en-US"/>
              <a:t>: </a:t>
            </a:r>
            <a:r>
              <a:rPr lang="en-US" err="1"/>
              <a:t>xét</a:t>
            </a:r>
            <a:r>
              <a:rPr lang="en-US"/>
              <a:t> </a:t>
            </a:r>
            <a:r>
              <a:rPr lang="en-US" err="1"/>
              <a:t>mảng</a:t>
            </a:r>
            <a:r>
              <a:rPr lang="en-US"/>
              <a:t> A </a:t>
            </a:r>
            <a:r>
              <a:rPr lang="en-US" err="1"/>
              <a:t>có</a:t>
            </a:r>
            <a:r>
              <a:rPr lang="en-US"/>
              <a:t> </a:t>
            </a:r>
            <a:r>
              <a:rPr lang="en-US" err="1"/>
              <a:t>các</a:t>
            </a:r>
            <a:r>
              <a:rPr lang="en-US"/>
              <a:t> </a:t>
            </a:r>
            <a:r>
              <a:rPr lang="en-US" err="1"/>
              <a:t>phần</a:t>
            </a:r>
            <a:r>
              <a:rPr lang="en-US"/>
              <a:t> </a:t>
            </a:r>
            <a:r>
              <a:rPr lang="en-US" err="1"/>
              <a:t>tử</a:t>
            </a:r>
            <a:r>
              <a:rPr lang="en-US"/>
              <a:t> </a:t>
            </a:r>
            <a:r>
              <a:rPr lang="en-US" err="1"/>
              <a:t>được</a:t>
            </a:r>
            <a:r>
              <a:rPr lang="en-US"/>
              <a:t> </a:t>
            </a:r>
            <a:r>
              <a:rPr lang="en-US" err="1"/>
              <a:t>sắp</a:t>
            </a:r>
            <a:r>
              <a:rPr lang="en-US"/>
              <a:t> </a:t>
            </a:r>
            <a:r>
              <a:rPr lang="en-US" err="1"/>
              <a:t>xếp</a:t>
            </a:r>
            <a:r>
              <a:rPr lang="en-US"/>
              <a:t> </a:t>
            </a:r>
            <a:r>
              <a:rPr lang="en-US" err="1"/>
              <a:t>tăng</a:t>
            </a:r>
            <a:r>
              <a:rPr lang="en-US"/>
              <a:t> </a:t>
            </a:r>
            <a:r>
              <a:rPr lang="en-US" err="1"/>
              <a:t>dần</a:t>
            </a:r>
            <a:endParaRPr lang="en-US"/>
          </a:p>
          <a:p>
            <a:r>
              <a:rPr lang="en-US"/>
              <a:t>So </a:t>
            </a:r>
            <a:r>
              <a:rPr lang="en-US" err="1"/>
              <a:t>sánh</a:t>
            </a:r>
            <a:r>
              <a:rPr lang="en-US"/>
              <a:t> X </a:t>
            </a:r>
            <a:r>
              <a:rPr lang="en-US" err="1"/>
              <a:t>với</a:t>
            </a:r>
            <a:r>
              <a:rPr lang="en-US"/>
              <a:t> </a:t>
            </a:r>
            <a:r>
              <a:rPr lang="en-US" err="1"/>
              <a:t>phần</a:t>
            </a:r>
            <a:r>
              <a:rPr lang="en-US"/>
              <a:t> </a:t>
            </a:r>
            <a:r>
              <a:rPr lang="en-US" err="1"/>
              <a:t>tử</a:t>
            </a:r>
            <a:r>
              <a:rPr lang="en-US"/>
              <a:t> A[k] </a:t>
            </a:r>
            <a:r>
              <a:rPr lang="en-US" err="1"/>
              <a:t>ở</a:t>
            </a:r>
            <a:r>
              <a:rPr lang="en-US"/>
              <a:t> </a:t>
            </a:r>
            <a:r>
              <a:rPr lang="en-US" err="1"/>
              <a:t>giữa</a:t>
            </a:r>
            <a:r>
              <a:rPr lang="en-US"/>
              <a:t> </a:t>
            </a:r>
            <a:r>
              <a:rPr lang="en-US" err="1"/>
              <a:t>mảng</a:t>
            </a:r>
            <a:r>
              <a:rPr lang="en-US"/>
              <a:t> </a:t>
            </a:r>
          </a:p>
          <a:p>
            <a:pPr lvl="1"/>
            <a:r>
              <a:rPr lang="en-US" err="1"/>
              <a:t>Nếu</a:t>
            </a:r>
            <a:r>
              <a:rPr lang="en-US"/>
              <a:t> X&lt; A[k] </a:t>
            </a:r>
            <a:r>
              <a:rPr lang="en-US" err="1"/>
              <a:t>tìm</a:t>
            </a:r>
            <a:r>
              <a:rPr lang="en-US"/>
              <a:t> </a:t>
            </a:r>
            <a:r>
              <a:rPr lang="en-US" err="1"/>
              <a:t>kiếm</a:t>
            </a:r>
            <a:r>
              <a:rPr lang="en-US"/>
              <a:t> </a:t>
            </a:r>
            <a:r>
              <a:rPr lang="en-US" err="1"/>
              <a:t>với</a:t>
            </a:r>
            <a:r>
              <a:rPr lang="en-US"/>
              <a:t> </a:t>
            </a:r>
            <a:r>
              <a:rPr lang="en-US" err="1"/>
              <a:t>nửa</a:t>
            </a:r>
            <a:r>
              <a:rPr lang="en-US"/>
              <a:t> </a:t>
            </a:r>
            <a:r>
              <a:rPr lang="en-US" err="1"/>
              <a:t>đầu</a:t>
            </a:r>
            <a:r>
              <a:rPr lang="en-US"/>
              <a:t> </a:t>
            </a:r>
            <a:r>
              <a:rPr lang="en-US" err="1"/>
              <a:t>của</a:t>
            </a:r>
            <a:r>
              <a:rPr lang="en-US"/>
              <a:t> </a:t>
            </a:r>
            <a:r>
              <a:rPr lang="en-US" err="1"/>
              <a:t>mảng</a:t>
            </a:r>
            <a:r>
              <a:rPr lang="en-US"/>
              <a:t> A</a:t>
            </a:r>
          </a:p>
          <a:p>
            <a:pPr lvl="1"/>
            <a:r>
              <a:rPr lang="en-US" err="1"/>
              <a:t>Nếu</a:t>
            </a:r>
            <a:r>
              <a:rPr lang="en-US"/>
              <a:t> X&gt; A[k] </a:t>
            </a:r>
            <a:r>
              <a:rPr lang="en-US" err="1"/>
              <a:t>tìm</a:t>
            </a:r>
            <a:r>
              <a:rPr lang="en-US"/>
              <a:t> </a:t>
            </a:r>
            <a:r>
              <a:rPr lang="en-US" err="1"/>
              <a:t>kiếm</a:t>
            </a:r>
            <a:r>
              <a:rPr lang="en-US"/>
              <a:t> </a:t>
            </a:r>
            <a:r>
              <a:rPr lang="en-US" err="1"/>
              <a:t>với</a:t>
            </a:r>
            <a:r>
              <a:rPr lang="en-US"/>
              <a:t> </a:t>
            </a:r>
            <a:r>
              <a:rPr lang="en-US" err="1"/>
              <a:t>nửa</a:t>
            </a:r>
            <a:r>
              <a:rPr lang="en-US"/>
              <a:t> </a:t>
            </a:r>
            <a:r>
              <a:rPr lang="en-US" err="1"/>
              <a:t>cuối</a:t>
            </a:r>
            <a:r>
              <a:rPr lang="en-US"/>
              <a:t> </a:t>
            </a:r>
            <a:r>
              <a:rPr lang="en-US" err="1"/>
              <a:t>của</a:t>
            </a:r>
            <a:r>
              <a:rPr lang="en-US"/>
              <a:t> </a:t>
            </a:r>
            <a:r>
              <a:rPr lang="en-US" err="1"/>
              <a:t>mảng</a:t>
            </a:r>
            <a:r>
              <a:rPr lang="en-US"/>
              <a:t> A</a:t>
            </a:r>
          </a:p>
          <a:p>
            <a:pPr lvl="1"/>
            <a:r>
              <a:rPr lang="en-US" err="1"/>
              <a:t>Nếu</a:t>
            </a:r>
            <a:r>
              <a:rPr lang="en-US"/>
              <a:t> X = A[k] </a:t>
            </a:r>
            <a:r>
              <a:rPr lang="en-US" err="1"/>
              <a:t>tìm</a:t>
            </a:r>
            <a:r>
              <a:rPr lang="en-US"/>
              <a:t> </a:t>
            </a:r>
            <a:r>
              <a:rPr lang="en-US" err="1"/>
              <a:t>kiếm</a:t>
            </a:r>
            <a:r>
              <a:rPr lang="en-US"/>
              <a:t> </a:t>
            </a:r>
            <a:r>
              <a:rPr lang="en-US" err="1"/>
              <a:t>được</a:t>
            </a:r>
            <a:r>
              <a:rPr lang="en-US"/>
              <a:t> </a:t>
            </a:r>
            <a:r>
              <a:rPr lang="en-US" err="1"/>
              <a:t>thỏa</a:t>
            </a:r>
            <a:endParaRPr lang="en-US"/>
          </a:p>
        </p:txBody>
      </p:sp>
    </p:spTree>
    <p:extLst>
      <p:ext uri="{BB962C8B-B14F-4D97-AF65-F5344CB8AC3E}">
        <p14:creationId xmlns:p14="http://schemas.microsoft.com/office/powerpoint/2010/main" val="20976719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53</a:t>
            </a:fld>
            <a:endParaRPr lang="en-US"/>
          </a:p>
        </p:txBody>
      </p:sp>
      <p:sp>
        <p:nvSpPr>
          <p:cNvPr id="2" name="Title 1"/>
          <p:cNvSpPr>
            <a:spLocks noGrp="1"/>
          </p:cNvSpPr>
          <p:nvPr>
            <p:ph type="title"/>
          </p:nvPr>
        </p:nvSpPr>
        <p:spPr/>
        <p:txBody>
          <a:bodyPr/>
          <a:lstStyle/>
          <a:p>
            <a:r>
              <a:rPr lang="en-US" err="1"/>
              <a:t>Giải</a:t>
            </a:r>
            <a:r>
              <a:rPr lang="en-US"/>
              <a:t> </a:t>
            </a:r>
            <a:r>
              <a:rPr lang="en-US" err="1"/>
              <a:t>thuật</a:t>
            </a:r>
            <a:r>
              <a:rPr lang="en-US"/>
              <a:t> </a:t>
            </a:r>
            <a:r>
              <a:rPr lang="en-US" err="1"/>
              <a:t>tìm</a:t>
            </a:r>
            <a:r>
              <a:rPr lang="en-US"/>
              <a:t> </a:t>
            </a:r>
            <a:r>
              <a:rPr lang="en-US" err="1"/>
              <a:t>kiếm</a:t>
            </a:r>
            <a:r>
              <a:rPr lang="en-US"/>
              <a:t> </a:t>
            </a:r>
            <a:r>
              <a:rPr lang="en-US" err="1"/>
              <a:t>nhị</a:t>
            </a:r>
            <a:r>
              <a:rPr lang="en-US"/>
              <a:t> </a:t>
            </a:r>
            <a:r>
              <a:rPr lang="en-US" err="1"/>
              <a:t>phân</a:t>
            </a:r>
            <a:endParaRPr lang="en-US"/>
          </a:p>
        </p:txBody>
      </p:sp>
      <p:sp>
        <p:nvSpPr>
          <p:cNvPr id="3" name="Content Placeholder 2"/>
          <p:cNvSpPr>
            <a:spLocks noGrp="1"/>
          </p:cNvSpPr>
          <p:nvPr>
            <p:ph type="body" sz="quarter" idx="13"/>
          </p:nvPr>
        </p:nvSpPr>
        <p:spPr/>
        <p:txBody>
          <a:bodyPr>
            <a:normAutofit/>
          </a:bodyPr>
          <a:lstStyle/>
          <a:p>
            <a:pPr marL="0" indent="0">
              <a:buNone/>
            </a:pPr>
            <a:r>
              <a:rPr lang="en-US" b="1"/>
              <a:t>Function</a:t>
            </a:r>
            <a:r>
              <a:rPr lang="en-US"/>
              <a:t> </a:t>
            </a:r>
            <a:r>
              <a:rPr lang="en-US" err="1"/>
              <a:t>Binary_search</a:t>
            </a:r>
            <a:r>
              <a:rPr lang="en-US"/>
              <a:t>(</a:t>
            </a:r>
            <a:r>
              <a:rPr lang="en-US" err="1"/>
              <a:t>A,n,X</a:t>
            </a:r>
            <a:r>
              <a:rPr lang="en-US"/>
              <a:t>)</a:t>
            </a:r>
          </a:p>
          <a:p>
            <a:pPr marL="514350" indent="-514350">
              <a:buAutoNum type="arabicPeriod"/>
            </a:pPr>
            <a:r>
              <a:rPr lang="en-US"/>
              <a:t>L =1; R = n;</a:t>
            </a:r>
          </a:p>
          <a:p>
            <a:pPr marL="514350" indent="-514350">
              <a:buAutoNum type="arabicPeriod"/>
            </a:pPr>
            <a:r>
              <a:rPr lang="en-US"/>
              <a:t>While L&lt;R {</a:t>
            </a:r>
          </a:p>
          <a:p>
            <a:pPr marL="0" indent="0">
              <a:buNone/>
            </a:pPr>
            <a:r>
              <a:rPr lang="en-US"/>
              <a:t>	m = (L+R)div 2;</a:t>
            </a:r>
          </a:p>
          <a:p>
            <a:pPr marL="0" indent="0">
              <a:buNone/>
            </a:pPr>
            <a:r>
              <a:rPr lang="en-US"/>
              <a:t>	If X&lt; A[m] then R = m-1;</a:t>
            </a:r>
          </a:p>
          <a:p>
            <a:pPr marL="0" indent="0">
              <a:buNone/>
            </a:pPr>
            <a:r>
              <a:rPr lang="en-US"/>
              <a:t>	If X&gt;A[m] then L = m+1;</a:t>
            </a:r>
          </a:p>
          <a:p>
            <a:pPr marL="0" indent="0">
              <a:buNone/>
            </a:pPr>
            <a:r>
              <a:rPr lang="en-US"/>
              <a:t>	Else return(m)</a:t>
            </a:r>
          </a:p>
          <a:p>
            <a:pPr marL="0" indent="0">
              <a:buNone/>
            </a:pPr>
            <a:r>
              <a:rPr lang="en-US"/>
              <a:t>	}</a:t>
            </a:r>
          </a:p>
          <a:p>
            <a:pPr marL="0" indent="0">
              <a:buNone/>
            </a:pPr>
            <a:r>
              <a:rPr lang="en-US" sz="3000"/>
              <a:t>3.  </a:t>
            </a:r>
            <a:r>
              <a:rPr lang="en-US"/>
              <a:t>return (0);</a:t>
            </a:r>
          </a:p>
          <a:p>
            <a:pPr marL="0" indent="0">
              <a:buNone/>
            </a:pPr>
            <a:endParaRPr lang="en-US"/>
          </a:p>
          <a:p>
            <a:pPr marL="0" indent="0">
              <a:buNone/>
            </a:pPr>
            <a:endParaRPr lang="en-US"/>
          </a:p>
          <a:p>
            <a:pPr marL="0" indent="0">
              <a:buNone/>
            </a:pPr>
            <a:endParaRPr lang="en-US"/>
          </a:p>
        </p:txBody>
      </p:sp>
    </p:spTree>
    <p:extLst>
      <p:ext uri="{BB962C8B-B14F-4D97-AF65-F5344CB8AC3E}">
        <p14:creationId xmlns:p14="http://schemas.microsoft.com/office/powerpoint/2010/main" val="13435215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54</a:t>
            </a:fld>
            <a:endParaRPr lang="en-US"/>
          </a:p>
        </p:txBody>
      </p:sp>
      <p:sp>
        <p:nvSpPr>
          <p:cNvPr id="2" name="Title 1"/>
          <p:cNvSpPr>
            <a:spLocks noGrp="1"/>
          </p:cNvSpPr>
          <p:nvPr>
            <p:ph type="title"/>
          </p:nvPr>
        </p:nvSpPr>
        <p:spPr/>
        <p:txBody>
          <a:bodyPr/>
          <a:lstStyle/>
          <a:p>
            <a:r>
              <a:rPr lang="en-US" err="1"/>
              <a:t>Tìm</a:t>
            </a:r>
            <a:r>
              <a:rPr lang="en-US"/>
              <a:t> </a:t>
            </a:r>
            <a:r>
              <a:rPr lang="en-US" err="1"/>
              <a:t>kiếm</a:t>
            </a:r>
            <a:r>
              <a:rPr lang="en-US"/>
              <a:t> </a:t>
            </a:r>
            <a:r>
              <a:rPr lang="en-US" err="1"/>
              <a:t>nhị</a:t>
            </a:r>
            <a:r>
              <a:rPr lang="en-US"/>
              <a:t> </a:t>
            </a:r>
            <a:r>
              <a:rPr lang="en-US" err="1"/>
              <a:t>phân</a:t>
            </a:r>
            <a:r>
              <a:rPr lang="en-US"/>
              <a:t> </a:t>
            </a:r>
          </a:p>
        </p:txBody>
      </p:sp>
      <p:sp>
        <p:nvSpPr>
          <p:cNvPr id="3" name="Chỗ dành sẵn cho Văn bản 2">
            <a:extLst>
              <a:ext uri="{FF2B5EF4-FFF2-40B4-BE49-F238E27FC236}">
                <a16:creationId xmlns:a16="http://schemas.microsoft.com/office/drawing/2014/main" id="{33C06F89-ED59-BF2B-32BA-8A9E29BFD9BC}"/>
              </a:ext>
            </a:extLst>
          </p:cNvPr>
          <p:cNvSpPr>
            <a:spLocks noGrp="1"/>
          </p:cNvSpPr>
          <p:nvPr>
            <p:ph type="body" sz="quarter" idx="13"/>
          </p:nvPr>
        </p:nvSpPr>
        <p:spPr/>
        <p:txBody>
          <a:bodyPr/>
          <a:lstStyle/>
          <a:p>
            <a:r>
              <a:rPr lang="en-US"/>
              <a:t>Giả sử X = 75</a:t>
            </a:r>
          </a:p>
          <a:p>
            <a:endParaRPr lang="vi-VN"/>
          </a:p>
        </p:txBody>
      </p:sp>
      <p:graphicFrame>
        <p:nvGraphicFramePr>
          <p:cNvPr id="7" name="Content Placeholder 6"/>
          <p:cNvGraphicFramePr>
            <a:graphicFrameLocks noGrp="1"/>
          </p:cNvGraphicFramePr>
          <p:nvPr>
            <p:ph idx="4294967295"/>
            <p:extLst>
              <p:ext uri="{D42A27DB-BD31-4B8C-83A1-F6EECF244321}">
                <p14:modId xmlns:p14="http://schemas.microsoft.com/office/powerpoint/2010/main" val="2459232977"/>
              </p:ext>
            </p:extLst>
          </p:nvPr>
        </p:nvGraphicFramePr>
        <p:xfrm>
          <a:off x="457200" y="2101619"/>
          <a:ext cx="8086170" cy="1849120"/>
        </p:xfrm>
        <a:graphic>
          <a:graphicData uri="http://schemas.openxmlformats.org/drawingml/2006/table">
            <a:tbl>
              <a:tblPr firstRow="1" bandRow="1">
                <a:tableStyleId>{08FB837D-C827-4EFA-A057-4D05807E0F7C}</a:tableStyleId>
              </a:tblPr>
              <a:tblGrid>
                <a:gridCol w="539078">
                  <a:extLst>
                    <a:ext uri="{9D8B030D-6E8A-4147-A177-3AD203B41FA5}">
                      <a16:colId xmlns:a16="http://schemas.microsoft.com/office/drawing/2014/main" val="20000"/>
                    </a:ext>
                  </a:extLst>
                </a:gridCol>
                <a:gridCol w="539078">
                  <a:extLst>
                    <a:ext uri="{9D8B030D-6E8A-4147-A177-3AD203B41FA5}">
                      <a16:colId xmlns:a16="http://schemas.microsoft.com/office/drawing/2014/main" val="20001"/>
                    </a:ext>
                  </a:extLst>
                </a:gridCol>
                <a:gridCol w="539078">
                  <a:extLst>
                    <a:ext uri="{9D8B030D-6E8A-4147-A177-3AD203B41FA5}">
                      <a16:colId xmlns:a16="http://schemas.microsoft.com/office/drawing/2014/main" val="20002"/>
                    </a:ext>
                  </a:extLst>
                </a:gridCol>
                <a:gridCol w="539078">
                  <a:extLst>
                    <a:ext uri="{9D8B030D-6E8A-4147-A177-3AD203B41FA5}">
                      <a16:colId xmlns:a16="http://schemas.microsoft.com/office/drawing/2014/main" val="20003"/>
                    </a:ext>
                  </a:extLst>
                </a:gridCol>
                <a:gridCol w="539078">
                  <a:extLst>
                    <a:ext uri="{9D8B030D-6E8A-4147-A177-3AD203B41FA5}">
                      <a16:colId xmlns:a16="http://schemas.microsoft.com/office/drawing/2014/main" val="20004"/>
                    </a:ext>
                  </a:extLst>
                </a:gridCol>
                <a:gridCol w="539078">
                  <a:extLst>
                    <a:ext uri="{9D8B030D-6E8A-4147-A177-3AD203B41FA5}">
                      <a16:colId xmlns:a16="http://schemas.microsoft.com/office/drawing/2014/main" val="20005"/>
                    </a:ext>
                  </a:extLst>
                </a:gridCol>
                <a:gridCol w="539078">
                  <a:extLst>
                    <a:ext uri="{9D8B030D-6E8A-4147-A177-3AD203B41FA5}">
                      <a16:colId xmlns:a16="http://schemas.microsoft.com/office/drawing/2014/main" val="20006"/>
                    </a:ext>
                  </a:extLst>
                </a:gridCol>
                <a:gridCol w="539078">
                  <a:extLst>
                    <a:ext uri="{9D8B030D-6E8A-4147-A177-3AD203B41FA5}">
                      <a16:colId xmlns:a16="http://schemas.microsoft.com/office/drawing/2014/main" val="20007"/>
                    </a:ext>
                  </a:extLst>
                </a:gridCol>
                <a:gridCol w="539078">
                  <a:extLst>
                    <a:ext uri="{9D8B030D-6E8A-4147-A177-3AD203B41FA5}">
                      <a16:colId xmlns:a16="http://schemas.microsoft.com/office/drawing/2014/main" val="20008"/>
                    </a:ext>
                  </a:extLst>
                </a:gridCol>
                <a:gridCol w="539078">
                  <a:extLst>
                    <a:ext uri="{9D8B030D-6E8A-4147-A177-3AD203B41FA5}">
                      <a16:colId xmlns:a16="http://schemas.microsoft.com/office/drawing/2014/main" val="20009"/>
                    </a:ext>
                  </a:extLst>
                </a:gridCol>
                <a:gridCol w="539078">
                  <a:extLst>
                    <a:ext uri="{9D8B030D-6E8A-4147-A177-3AD203B41FA5}">
                      <a16:colId xmlns:a16="http://schemas.microsoft.com/office/drawing/2014/main" val="20010"/>
                    </a:ext>
                  </a:extLst>
                </a:gridCol>
                <a:gridCol w="539078">
                  <a:extLst>
                    <a:ext uri="{9D8B030D-6E8A-4147-A177-3AD203B41FA5}">
                      <a16:colId xmlns:a16="http://schemas.microsoft.com/office/drawing/2014/main" val="20011"/>
                    </a:ext>
                  </a:extLst>
                </a:gridCol>
                <a:gridCol w="539078">
                  <a:extLst>
                    <a:ext uri="{9D8B030D-6E8A-4147-A177-3AD203B41FA5}">
                      <a16:colId xmlns:a16="http://schemas.microsoft.com/office/drawing/2014/main" val="20012"/>
                    </a:ext>
                  </a:extLst>
                </a:gridCol>
                <a:gridCol w="539078">
                  <a:extLst>
                    <a:ext uri="{9D8B030D-6E8A-4147-A177-3AD203B41FA5}">
                      <a16:colId xmlns:a16="http://schemas.microsoft.com/office/drawing/2014/main" val="20013"/>
                    </a:ext>
                  </a:extLst>
                </a:gridCol>
                <a:gridCol w="539078">
                  <a:extLst>
                    <a:ext uri="{9D8B030D-6E8A-4147-A177-3AD203B41FA5}">
                      <a16:colId xmlns:a16="http://schemas.microsoft.com/office/drawing/2014/main" val="20014"/>
                    </a:ext>
                  </a:extLst>
                </a:gridCol>
              </a:tblGrid>
              <a:tr h="370840">
                <a:tc>
                  <a:txBody>
                    <a:bodyPr/>
                    <a:lstStyle/>
                    <a:p>
                      <a:r>
                        <a:rPr lang="en-US"/>
                        <a:t>1</a:t>
                      </a:r>
                    </a:p>
                  </a:txBody>
                  <a:tcPr marL="83127" marR="83127"/>
                </a:tc>
                <a:tc>
                  <a:txBody>
                    <a:bodyPr/>
                    <a:lstStyle/>
                    <a:p>
                      <a:r>
                        <a:rPr lang="en-US"/>
                        <a:t>2</a:t>
                      </a:r>
                    </a:p>
                  </a:txBody>
                  <a:tcPr marL="83127" marR="83127"/>
                </a:tc>
                <a:tc>
                  <a:txBody>
                    <a:bodyPr/>
                    <a:lstStyle/>
                    <a:p>
                      <a:r>
                        <a:rPr lang="en-US"/>
                        <a:t>3</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4</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5</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6</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7</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8</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9</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10</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11</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12</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13</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l</a:t>
                      </a:r>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r</a:t>
                      </a:r>
                    </a:p>
                  </a:txBody>
                  <a:tcPr marL="83127" marR="83127"/>
                </a:tc>
                <a:extLst>
                  <a:ext uri="{0D108BD9-81ED-4DB2-BD59-A6C34878D82A}">
                    <a16:rowId xmlns:a16="http://schemas.microsoft.com/office/drawing/2014/main" val="10000"/>
                  </a:ext>
                </a:extLst>
              </a:tr>
              <a:tr h="286352">
                <a:tc>
                  <a:txBody>
                    <a:bodyPr/>
                    <a:lstStyle/>
                    <a:p>
                      <a:r>
                        <a:rPr lang="en-US"/>
                        <a:t>11</a:t>
                      </a:r>
                    </a:p>
                  </a:txBody>
                  <a:tcPr marL="83127" marR="83127"/>
                </a:tc>
                <a:tc>
                  <a:txBody>
                    <a:bodyPr/>
                    <a:lstStyle/>
                    <a:p>
                      <a:r>
                        <a:rPr lang="en-US"/>
                        <a:t>22</a:t>
                      </a:r>
                    </a:p>
                  </a:txBody>
                  <a:tcPr marL="83127" marR="83127"/>
                </a:tc>
                <a:tc>
                  <a:txBody>
                    <a:bodyPr/>
                    <a:lstStyle/>
                    <a:p>
                      <a:r>
                        <a:rPr lang="en-US"/>
                        <a:t>30</a:t>
                      </a:r>
                    </a:p>
                  </a:txBody>
                  <a:tcPr marL="83127" marR="83127"/>
                </a:tc>
                <a:tc>
                  <a:txBody>
                    <a:bodyPr/>
                    <a:lstStyle/>
                    <a:p>
                      <a:r>
                        <a:rPr lang="en-US"/>
                        <a:t>33</a:t>
                      </a:r>
                    </a:p>
                  </a:txBody>
                  <a:tcPr marL="83127" marR="83127"/>
                </a:tc>
                <a:tc>
                  <a:txBody>
                    <a:bodyPr/>
                    <a:lstStyle/>
                    <a:p>
                      <a:r>
                        <a:rPr lang="en-US"/>
                        <a:t>40</a:t>
                      </a:r>
                    </a:p>
                  </a:txBody>
                  <a:tcPr marL="83127" marR="83127"/>
                </a:tc>
                <a:tc>
                  <a:txBody>
                    <a:bodyPr/>
                    <a:lstStyle/>
                    <a:p>
                      <a:r>
                        <a:rPr lang="en-US"/>
                        <a:t>44</a:t>
                      </a:r>
                    </a:p>
                  </a:txBody>
                  <a:tcPr marL="83127" marR="83127"/>
                </a:tc>
                <a:tc>
                  <a:txBody>
                    <a:bodyPr/>
                    <a:lstStyle/>
                    <a:p>
                      <a:r>
                        <a:rPr lang="en-US"/>
                        <a:t>55</a:t>
                      </a:r>
                    </a:p>
                  </a:txBody>
                  <a:tcPr marL="83127" marR="83127"/>
                </a:tc>
                <a:tc>
                  <a:txBody>
                    <a:bodyPr/>
                    <a:lstStyle/>
                    <a:p>
                      <a:r>
                        <a:rPr lang="en-US"/>
                        <a:t>60</a:t>
                      </a:r>
                    </a:p>
                  </a:txBody>
                  <a:tcPr marL="83127" marR="83127"/>
                </a:tc>
                <a:tc>
                  <a:txBody>
                    <a:bodyPr/>
                    <a:lstStyle/>
                    <a:p>
                      <a:r>
                        <a:rPr lang="en-US"/>
                        <a:t>66</a:t>
                      </a:r>
                    </a:p>
                  </a:txBody>
                  <a:tcPr marL="83127" marR="83127"/>
                </a:tc>
                <a:tc>
                  <a:txBody>
                    <a:bodyPr/>
                    <a:lstStyle/>
                    <a:p>
                      <a:r>
                        <a:rPr lang="en-US"/>
                        <a:t>77</a:t>
                      </a:r>
                    </a:p>
                  </a:txBody>
                  <a:tcPr marL="83127" marR="83127"/>
                </a:tc>
                <a:tc>
                  <a:txBody>
                    <a:bodyPr/>
                    <a:lstStyle/>
                    <a:p>
                      <a:r>
                        <a:rPr lang="en-US"/>
                        <a:t>80</a:t>
                      </a:r>
                    </a:p>
                  </a:txBody>
                  <a:tcPr marL="83127" marR="83127"/>
                </a:tc>
                <a:tc>
                  <a:txBody>
                    <a:bodyPr/>
                    <a:lstStyle/>
                    <a:p>
                      <a:r>
                        <a:rPr lang="en-US"/>
                        <a:t>88</a:t>
                      </a:r>
                    </a:p>
                  </a:txBody>
                  <a:tcPr marL="83127" marR="83127"/>
                </a:tc>
                <a:tc>
                  <a:txBody>
                    <a:bodyPr/>
                    <a:lstStyle/>
                    <a:p>
                      <a:r>
                        <a:rPr lang="en-US"/>
                        <a:t>99</a:t>
                      </a:r>
                    </a:p>
                  </a:txBody>
                  <a:tcPr marL="83127" marR="83127"/>
                </a:tc>
                <a:tc>
                  <a:txBody>
                    <a:bodyPr/>
                    <a:lstStyle/>
                    <a:p>
                      <a:r>
                        <a:rPr lang="en-US"/>
                        <a:t>1</a:t>
                      </a:r>
                    </a:p>
                  </a:txBody>
                  <a:tcPr marL="83127" marR="83127"/>
                </a:tc>
                <a:tc>
                  <a:txBody>
                    <a:bodyPr/>
                    <a:lstStyle/>
                    <a:p>
                      <a:r>
                        <a:rPr lang="en-US"/>
                        <a:t>13</a:t>
                      </a:r>
                    </a:p>
                  </a:txBody>
                  <a:tcPr marL="83127" marR="83127"/>
                </a:tc>
                <a:extLst>
                  <a:ext uri="{0D108BD9-81ED-4DB2-BD59-A6C34878D82A}">
                    <a16:rowId xmlns:a16="http://schemas.microsoft.com/office/drawing/2014/main" val="10001"/>
                  </a:ext>
                </a:extLst>
              </a:tr>
              <a:tr h="370840">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r>
                        <a:rPr lang="en-US"/>
                        <a:t>60</a:t>
                      </a:r>
                    </a:p>
                  </a:txBody>
                  <a:tcPr marL="83127" marR="83127"/>
                </a:tc>
                <a:tc>
                  <a:txBody>
                    <a:bodyPr/>
                    <a:lstStyle/>
                    <a:p>
                      <a:r>
                        <a:rPr lang="en-US"/>
                        <a:t>66</a:t>
                      </a:r>
                    </a:p>
                  </a:txBody>
                  <a:tcPr marL="83127" marR="83127"/>
                </a:tc>
                <a:tc>
                  <a:txBody>
                    <a:bodyPr/>
                    <a:lstStyle/>
                    <a:p>
                      <a:r>
                        <a:rPr lang="en-US"/>
                        <a:t>77</a:t>
                      </a:r>
                    </a:p>
                  </a:txBody>
                  <a:tcPr marL="83127" marR="83127"/>
                </a:tc>
                <a:tc>
                  <a:txBody>
                    <a:bodyPr/>
                    <a:lstStyle/>
                    <a:p>
                      <a:r>
                        <a:rPr lang="en-US"/>
                        <a:t>80</a:t>
                      </a:r>
                    </a:p>
                  </a:txBody>
                  <a:tcPr marL="83127" marR="83127"/>
                </a:tc>
                <a:tc>
                  <a:txBody>
                    <a:bodyPr/>
                    <a:lstStyle/>
                    <a:p>
                      <a:r>
                        <a:rPr lang="en-US"/>
                        <a:t>88</a:t>
                      </a:r>
                    </a:p>
                  </a:txBody>
                  <a:tcPr marL="83127" marR="83127"/>
                </a:tc>
                <a:tc>
                  <a:txBody>
                    <a:bodyPr/>
                    <a:lstStyle/>
                    <a:p>
                      <a:r>
                        <a:rPr lang="en-US"/>
                        <a:t>99</a:t>
                      </a:r>
                    </a:p>
                  </a:txBody>
                  <a:tcPr marL="83127" marR="83127"/>
                </a:tc>
                <a:tc>
                  <a:txBody>
                    <a:bodyPr/>
                    <a:lstStyle/>
                    <a:p>
                      <a:r>
                        <a:rPr lang="en-US"/>
                        <a:t>8</a:t>
                      </a:r>
                    </a:p>
                  </a:txBody>
                  <a:tcPr marL="83127" marR="83127"/>
                </a:tc>
                <a:tc>
                  <a:txBody>
                    <a:bodyPr/>
                    <a:lstStyle/>
                    <a:p>
                      <a:r>
                        <a:rPr lang="en-US"/>
                        <a:t>13</a:t>
                      </a:r>
                    </a:p>
                  </a:txBody>
                  <a:tcPr marL="83127" marR="83127"/>
                </a:tc>
                <a:extLst>
                  <a:ext uri="{0D108BD9-81ED-4DB2-BD59-A6C34878D82A}">
                    <a16:rowId xmlns:a16="http://schemas.microsoft.com/office/drawing/2014/main" val="10002"/>
                  </a:ext>
                </a:extLst>
              </a:tr>
              <a:tr h="370840">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a:p>
                  </a:txBody>
                  <a:tcPr marL="83127" marR="83127"/>
                </a:tc>
                <a:tc>
                  <a:txBody>
                    <a:bodyPr/>
                    <a:lstStyle/>
                    <a:p>
                      <a:endParaRPr lang="en-US"/>
                    </a:p>
                  </a:txBody>
                  <a:tcPr marL="83127" marR="83127"/>
                </a:tc>
                <a:tc>
                  <a:txBody>
                    <a:bodyPr/>
                    <a:lstStyle/>
                    <a:p>
                      <a:r>
                        <a:rPr lang="en-US"/>
                        <a:t>60</a:t>
                      </a:r>
                    </a:p>
                  </a:txBody>
                  <a:tcPr marL="83127" marR="83127"/>
                </a:tc>
                <a:tc>
                  <a:txBody>
                    <a:bodyPr/>
                    <a:lstStyle/>
                    <a:p>
                      <a:r>
                        <a:rPr lang="en-US"/>
                        <a:t>66</a:t>
                      </a:r>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r>
                        <a:rPr lang="en-US"/>
                        <a:t>8</a:t>
                      </a:r>
                    </a:p>
                  </a:txBody>
                  <a:tcPr marL="83127" marR="83127"/>
                </a:tc>
                <a:tc>
                  <a:txBody>
                    <a:bodyPr/>
                    <a:lstStyle/>
                    <a:p>
                      <a:r>
                        <a:rPr lang="en-US"/>
                        <a:t>9</a:t>
                      </a:r>
                    </a:p>
                  </a:txBody>
                  <a:tcPr marL="83127" marR="83127"/>
                </a:tc>
                <a:extLst>
                  <a:ext uri="{0D108BD9-81ED-4DB2-BD59-A6C34878D82A}">
                    <a16:rowId xmlns:a16="http://schemas.microsoft.com/office/drawing/2014/main" val="10003"/>
                  </a:ext>
                </a:extLst>
              </a:tr>
              <a:tr h="370840">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r>
                        <a:rPr lang="en-US"/>
                        <a:t>66</a:t>
                      </a:r>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endParaRPr lang="en-US"/>
                    </a:p>
                  </a:txBody>
                  <a:tcPr marL="83127" marR="83127"/>
                </a:tc>
                <a:tc>
                  <a:txBody>
                    <a:bodyPr/>
                    <a:lstStyle/>
                    <a:p>
                      <a:r>
                        <a:rPr lang="en-US"/>
                        <a:t>9</a:t>
                      </a:r>
                    </a:p>
                  </a:txBody>
                  <a:tcPr marL="83127" marR="83127"/>
                </a:tc>
                <a:tc>
                  <a:txBody>
                    <a:bodyPr/>
                    <a:lstStyle/>
                    <a:p>
                      <a:r>
                        <a:rPr lang="en-US"/>
                        <a:t>9</a:t>
                      </a:r>
                    </a:p>
                  </a:txBody>
                  <a:tcPr marL="83127" marR="83127"/>
                </a:tc>
                <a:extLst>
                  <a:ext uri="{0D108BD9-81ED-4DB2-BD59-A6C34878D82A}">
                    <a16:rowId xmlns:a16="http://schemas.microsoft.com/office/drawing/2014/main" val="10004"/>
                  </a:ext>
                </a:extLst>
              </a:tr>
            </a:tbl>
          </a:graphicData>
        </a:graphic>
      </p:graphicFrame>
      <p:sp>
        <p:nvSpPr>
          <p:cNvPr id="8" name="Oval 7"/>
          <p:cNvSpPr/>
          <p:nvPr/>
        </p:nvSpPr>
        <p:spPr>
          <a:xfrm>
            <a:off x="4848330" y="3257341"/>
            <a:ext cx="276330" cy="29140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3707842" y="2512088"/>
            <a:ext cx="351692" cy="29140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4307393" y="2842009"/>
            <a:ext cx="276330" cy="29140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5367495" y="2842009"/>
            <a:ext cx="351692" cy="29140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p:nvSpPr>
        <p:spPr>
          <a:xfrm>
            <a:off x="4269712" y="3257341"/>
            <a:ext cx="351692" cy="29140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p:cNvSpPr/>
          <p:nvPr/>
        </p:nvSpPr>
        <p:spPr>
          <a:xfrm>
            <a:off x="4309906" y="3257341"/>
            <a:ext cx="276330" cy="29140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p:cNvSpPr/>
          <p:nvPr/>
        </p:nvSpPr>
        <p:spPr>
          <a:xfrm>
            <a:off x="4848330" y="3628516"/>
            <a:ext cx="276330" cy="29140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p:cNvSpPr/>
          <p:nvPr/>
        </p:nvSpPr>
        <p:spPr>
          <a:xfrm>
            <a:off x="497394" y="4129872"/>
            <a:ext cx="276330" cy="29140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p:cNvSpPr/>
          <p:nvPr/>
        </p:nvSpPr>
        <p:spPr>
          <a:xfrm>
            <a:off x="457200" y="2498691"/>
            <a:ext cx="276330" cy="29140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p:nvSpPr>
        <p:spPr>
          <a:xfrm>
            <a:off x="459713" y="4777993"/>
            <a:ext cx="351692" cy="29140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p:cNvSpPr txBox="1"/>
          <p:nvPr/>
        </p:nvSpPr>
        <p:spPr>
          <a:xfrm>
            <a:off x="849085" y="4129872"/>
            <a:ext cx="5059345" cy="369332"/>
          </a:xfrm>
          <a:prstGeom prst="rect">
            <a:avLst/>
          </a:prstGeom>
          <a:noFill/>
        </p:spPr>
        <p:txBody>
          <a:bodyPr wrap="square" rtlCol="0">
            <a:spAutoFit/>
          </a:bodyPr>
          <a:lstStyle/>
          <a:p>
            <a:r>
              <a:rPr lang="en-US" err="1"/>
              <a:t>Chỉ</a:t>
            </a:r>
            <a:r>
              <a:rPr lang="en-US"/>
              <a:t> </a:t>
            </a:r>
            <a:r>
              <a:rPr lang="en-US" err="1"/>
              <a:t>phần</a:t>
            </a:r>
            <a:r>
              <a:rPr lang="en-US"/>
              <a:t> </a:t>
            </a:r>
            <a:r>
              <a:rPr lang="en-US" err="1"/>
              <a:t>tử</a:t>
            </a:r>
            <a:r>
              <a:rPr lang="en-US"/>
              <a:t> </a:t>
            </a:r>
            <a:r>
              <a:rPr lang="en-US" err="1"/>
              <a:t>ứng</a:t>
            </a:r>
            <a:r>
              <a:rPr lang="en-US"/>
              <a:t> </a:t>
            </a:r>
            <a:r>
              <a:rPr lang="en-US" err="1"/>
              <a:t>với</a:t>
            </a:r>
            <a:r>
              <a:rPr lang="en-US"/>
              <a:t> l </a:t>
            </a:r>
            <a:r>
              <a:rPr lang="en-US" err="1"/>
              <a:t>hoặc</a:t>
            </a:r>
            <a:r>
              <a:rPr lang="en-US"/>
              <a:t> r </a:t>
            </a:r>
            <a:r>
              <a:rPr lang="en-US" err="1"/>
              <a:t>của</a:t>
            </a:r>
            <a:r>
              <a:rPr lang="en-US"/>
              <a:t> </a:t>
            </a:r>
            <a:r>
              <a:rPr lang="en-US" err="1"/>
              <a:t>mảng</a:t>
            </a:r>
            <a:r>
              <a:rPr lang="en-US"/>
              <a:t> </a:t>
            </a:r>
            <a:r>
              <a:rPr lang="en-US" err="1"/>
              <a:t>đang</a:t>
            </a:r>
            <a:r>
              <a:rPr lang="en-US"/>
              <a:t> </a:t>
            </a:r>
            <a:r>
              <a:rPr lang="en-US" err="1"/>
              <a:t>xét</a:t>
            </a:r>
            <a:endParaRPr lang="en-US"/>
          </a:p>
        </p:txBody>
      </p:sp>
      <p:sp>
        <p:nvSpPr>
          <p:cNvPr id="19" name="TextBox 18"/>
          <p:cNvSpPr txBox="1"/>
          <p:nvPr/>
        </p:nvSpPr>
        <p:spPr>
          <a:xfrm>
            <a:off x="984738" y="4777993"/>
            <a:ext cx="4139922" cy="369332"/>
          </a:xfrm>
          <a:prstGeom prst="rect">
            <a:avLst/>
          </a:prstGeom>
          <a:noFill/>
        </p:spPr>
        <p:txBody>
          <a:bodyPr wrap="square" rtlCol="0">
            <a:spAutoFit/>
          </a:bodyPr>
          <a:lstStyle/>
          <a:p>
            <a:r>
              <a:rPr lang="en-US" err="1"/>
              <a:t>Chỉ</a:t>
            </a:r>
            <a:r>
              <a:rPr lang="en-US"/>
              <a:t> </a:t>
            </a:r>
            <a:r>
              <a:rPr lang="en-US" err="1"/>
              <a:t>phần</a:t>
            </a:r>
            <a:r>
              <a:rPr lang="en-US"/>
              <a:t> </a:t>
            </a:r>
            <a:r>
              <a:rPr lang="en-US" err="1"/>
              <a:t>tử</a:t>
            </a:r>
            <a:r>
              <a:rPr lang="en-US"/>
              <a:t> </a:t>
            </a:r>
            <a:r>
              <a:rPr lang="en-US" err="1"/>
              <a:t>ứng</a:t>
            </a:r>
            <a:r>
              <a:rPr lang="en-US"/>
              <a:t> </a:t>
            </a:r>
            <a:r>
              <a:rPr lang="en-US" err="1"/>
              <a:t>với</a:t>
            </a:r>
            <a:r>
              <a:rPr lang="en-US"/>
              <a:t> m</a:t>
            </a:r>
          </a:p>
        </p:txBody>
      </p:sp>
      <p:sp>
        <p:nvSpPr>
          <p:cNvPr id="21" name="Right Brace 20"/>
          <p:cNvSpPr/>
          <p:nvPr/>
        </p:nvSpPr>
        <p:spPr>
          <a:xfrm>
            <a:off x="5124660" y="3403042"/>
            <a:ext cx="242835" cy="37117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Connector 22"/>
          <p:cNvCxnSpPr/>
          <p:nvPr/>
        </p:nvCxnSpPr>
        <p:spPr>
          <a:xfrm>
            <a:off x="5543341" y="3548743"/>
            <a:ext cx="100985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6553200" y="3548743"/>
            <a:ext cx="0" cy="1598582"/>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43341" y="5151232"/>
            <a:ext cx="2927419" cy="923330"/>
          </a:xfrm>
          <a:prstGeom prst="rect">
            <a:avLst/>
          </a:prstGeom>
          <a:noFill/>
        </p:spPr>
        <p:txBody>
          <a:bodyPr wrap="square" rtlCol="0">
            <a:spAutoFit/>
          </a:bodyPr>
          <a:lstStyle/>
          <a:p>
            <a:r>
              <a:rPr lang="en-US"/>
              <a:t>l = r = 9 </a:t>
            </a:r>
            <a:r>
              <a:rPr lang="en-US" err="1"/>
              <a:t>giải</a:t>
            </a:r>
            <a:r>
              <a:rPr lang="en-US"/>
              <a:t> </a:t>
            </a:r>
            <a:r>
              <a:rPr lang="en-US" err="1"/>
              <a:t>thuật</a:t>
            </a:r>
            <a:r>
              <a:rPr lang="en-US"/>
              <a:t> </a:t>
            </a:r>
            <a:r>
              <a:rPr lang="en-US" err="1"/>
              <a:t>kết</a:t>
            </a:r>
            <a:r>
              <a:rPr lang="en-US"/>
              <a:t> </a:t>
            </a:r>
            <a:r>
              <a:rPr lang="en-US" err="1"/>
              <a:t>thúc</a:t>
            </a:r>
            <a:r>
              <a:rPr lang="en-US"/>
              <a:t>, </a:t>
            </a:r>
            <a:r>
              <a:rPr lang="en-US" err="1"/>
              <a:t>giá</a:t>
            </a:r>
            <a:r>
              <a:rPr lang="en-US"/>
              <a:t> </a:t>
            </a:r>
            <a:r>
              <a:rPr lang="en-US" err="1"/>
              <a:t>trị</a:t>
            </a:r>
            <a:r>
              <a:rPr lang="en-US"/>
              <a:t> </a:t>
            </a:r>
            <a:r>
              <a:rPr lang="en-US" err="1"/>
              <a:t>trả</a:t>
            </a:r>
            <a:r>
              <a:rPr lang="en-US"/>
              <a:t> </a:t>
            </a:r>
            <a:r>
              <a:rPr lang="en-US" err="1"/>
              <a:t>về</a:t>
            </a:r>
            <a:r>
              <a:rPr lang="en-US"/>
              <a:t> </a:t>
            </a:r>
            <a:r>
              <a:rPr lang="en-US" err="1"/>
              <a:t>bằng</a:t>
            </a:r>
            <a:r>
              <a:rPr lang="en-US"/>
              <a:t> 0, </a:t>
            </a:r>
            <a:r>
              <a:rPr lang="en-US" err="1"/>
              <a:t>tìm</a:t>
            </a:r>
            <a:r>
              <a:rPr lang="en-US"/>
              <a:t> </a:t>
            </a:r>
            <a:r>
              <a:rPr lang="en-US" err="1"/>
              <a:t>kiếm</a:t>
            </a:r>
            <a:r>
              <a:rPr lang="en-US"/>
              <a:t> </a:t>
            </a:r>
            <a:r>
              <a:rPr lang="en-US" err="1"/>
              <a:t>không</a:t>
            </a:r>
            <a:r>
              <a:rPr lang="en-US"/>
              <a:t> </a:t>
            </a:r>
            <a:r>
              <a:rPr lang="en-US" err="1"/>
              <a:t>thỏa</a:t>
            </a:r>
            <a:r>
              <a:rPr lang="en-US"/>
              <a:t>.</a:t>
            </a:r>
          </a:p>
        </p:txBody>
      </p:sp>
    </p:spTree>
    <p:extLst>
      <p:ext uri="{BB962C8B-B14F-4D97-AF65-F5344CB8AC3E}">
        <p14:creationId xmlns:p14="http://schemas.microsoft.com/office/powerpoint/2010/main" val="274031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55</a:t>
            </a:fld>
            <a:endParaRPr lang="en-US"/>
          </a:p>
        </p:txBody>
      </p:sp>
      <p:sp>
        <p:nvSpPr>
          <p:cNvPr id="2" name="Title 1"/>
          <p:cNvSpPr>
            <a:spLocks noGrp="1"/>
          </p:cNvSpPr>
          <p:nvPr>
            <p:ph type="title"/>
          </p:nvPr>
        </p:nvSpPr>
        <p:spPr/>
        <p:txBody>
          <a:bodyPr/>
          <a:lstStyle/>
          <a:p>
            <a:r>
              <a:rPr lang="en-US" err="1"/>
              <a:t>Đánh</a:t>
            </a:r>
            <a:r>
              <a:rPr lang="en-US"/>
              <a:t> </a:t>
            </a:r>
            <a:r>
              <a:rPr lang="en-US" err="1"/>
              <a:t>giá</a:t>
            </a:r>
            <a:r>
              <a:rPr lang="en-US"/>
              <a:t> </a:t>
            </a:r>
            <a:r>
              <a:rPr lang="en-US" err="1"/>
              <a:t>độ</a:t>
            </a:r>
            <a:r>
              <a:rPr lang="en-US"/>
              <a:t> </a:t>
            </a:r>
            <a:r>
              <a:rPr lang="en-US" err="1"/>
              <a:t>phức</a:t>
            </a:r>
            <a:r>
              <a:rPr lang="en-US"/>
              <a:t> </a:t>
            </a:r>
            <a:r>
              <a:rPr lang="en-US" err="1"/>
              <a:t>tạp</a:t>
            </a:r>
            <a:endParaRPr lang="en-US"/>
          </a:p>
        </p:txBody>
      </p:sp>
      <p:sp>
        <p:nvSpPr>
          <p:cNvPr id="3" name="Content Placeholder 2"/>
          <p:cNvSpPr>
            <a:spLocks noGrp="1"/>
          </p:cNvSpPr>
          <p:nvPr>
            <p:ph type="body" sz="quarter" idx="13"/>
          </p:nvPr>
        </p:nvSpPr>
        <p:spPr/>
        <p:txBody>
          <a:bodyPr/>
          <a:lstStyle/>
          <a:p>
            <a:r>
              <a:rPr lang="en-US" err="1"/>
              <a:t>Giải</a:t>
            </a:r>
            <a:r>
              <a:rPr lang="en-US"/>
              <a:t> </a:t>
            </a:r>
            <a:r>
              <a:rPr lang="en-US" err="1"/>
              <a:t>thuật</a:t>
            </a:r>
            <a:r>
              <a:rPr lang="en-US"/>
              <a:t> </a:t>
            </a:r>
            <a:r>
              <a:rPr lang="en-US" err="1"/>
              <a:t>tìm</a:t>
            </a:r>
            <a:r>
              <a:rPr lang="en-US"/>
              <a:t> </a:t>
            </a:r>
            <a:r>
              <a:rPr lang="en-US" err="1"/>
              <a:t>kiếm</a:t>
            </a:r>
            <a:r>
              <a:rPr lang="en-US"/>
              <a:t> </a:t>
            </a:r>
            <a:r>
              <a:rPr lang="en-US" err="1"/>
              <a:t>tuần</a:t>
            </a:r>
            <a:r>
              <a:rPr lang="en-US"/>
              <a:t> </a:t>
            </a:r>
            <a:r>
              <a:rPr lang="en-US" err="1"/>
              <a:t>tự</a:t>
            </a:r>
            <a:r>
              <a:rPr lang="en-US"/>
              <a:t> </a:t>
            </a:r>
          </a:p>
          <a:p>
            <a:pPr marL="0" indent="0">
              <a:buNone/>
            </a:pPr>
            <a:r>
              <a:rPr lang="en-US"/>
              <a:t>	</a:t>
            </a:r>
            <a:r>
              <a:rPr lang="en-US">
                <a:solidFill>
                  <a:srgbClr val="0000FF"/>
                </a:solidFill>
              </a:rPr>
              <a:t>T(n) = O(n)</a:t>
            </a:r>
          </a:p>
          <a:p>
            <a:r>
              <a:rPr lang="en-US" err="1"/>
              <a:t>Giải</a:t>
            </a:r>
            <a:r>
              <a:rPr lang="en-US"/>
              <a:t> </a:t>
            </a:r>
            <a:r>
              <a:rPr lang="en-US" err="1"/>
              <a:t>thuật</a:t>
            </a:r>
            <a:r>
              <a:rPr lang="en-US"/>
              <a:t> </a:t>
            </a:r>
            <a:r>
              <a:rPr lang="en-US" err="1"/>
              <a:t>tìm</a:t>
            </a:r>
            <a:r>
              <a:rPr lang="en-US"/>
              <a:t> </a:t>
            </a:r>
            <a:r>
              <a:rPr lang="en-US" err="1"/>
              <a:t>kiếm</a:t>
            </a:r>
            <a:r>
              <a:rPr lang="en-US"/>
              <a:t> </a:t>
            </a:r>
            <a:r>
              <a:rPr lang="en-US" err="1"/>
              <a:t>nhị</a:t>
            </a:r>
            <a:r>
              <a:rPr lang="en-US"/>
              <a:t> </a:t>
            </a:r>
            <a:r>
              <a:rPr lang="en-US" err="1"/>
              <a:t>phân</a:t>
            </a:r>
            <a:endParaRPr lang="en-US"/>
          </a:p>
          <a:p>
            <a:pPr marL="0" indent="0">
              <a:buNone/>
            </a:pPr>
            <a:r>
              <a:rPr lang="en-US"/>
              <a:t> 	</a:t>
            </a:r>
            <a:r>
              <a:rPr lang="en-US">
                <a:solidFill>
                  <a:srgbClr val="0000FF"/>
                </a:solidFill>
              </a:rPr>
              <a:t>T(n) = O(log</a:t>
            </a:r>
            <a:r>
              <a:rPr lang="en-US" baseline="-25000">
                <a:solidFill>
                  <a:srgbClr val="0000FF"/>
                </a:solidFill>
              </a:rPr>
              <a:t>2</a:t>
            </a:r>
            <a:r>
              <a:rPr lang="en-US">
                <a:solidFill>
                  <a:srgbClr val="0000FF"/>
                </a:solidFill>
              </a:rPr>
              <a:t>(n))</a:t>
            </a:r>
          </a:p>
          <a:p>
            <a:pPr marL="0" indent="0">
              <a:buNone/>
            </a:pPr>
            <a:r>
              <a:rPr lang="en-US"/>
              <a:t>	</a:t>
            </a:r>
          </a:p>
        </p:txBody>
      </p:sp>
    </p:spTree>
    <p:extLst>
      <p:ext uri="{BB962C8B-B14F-4D97-AF65-F5344CB8AC3E}">
        <p14:creationId xmlns:p14="http://schemas.microsoft.com/office/powerpoint/2010/main" val="6793572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56</a:t>
            </a:fld>
            <a:endParaRPr lang="en-US"/>
          </a:p>
        </p:txBody>
      </p:sp>
      <p:sp>
        <p:nvSpPr>
          <p:cNvPr id="2" name="Title 1"/>
          <p:cNvSpPr>
            <a:spLocks noGrp="1"/>
          </p:cNvSpPr>
          <p:nvPr>
            <p:ph type="title"/>
          </p:nvPr>
        </p:nvSpPr>
        <p:spPr/>
        <p:txBody>
          <a:bodyPr/>
          <a:lstStyle/>
          <a:p>
            <a:r>
              <a:rPr lang="en-US" err="1"/>
              <a:t>Tổng</a:t>
            </a:r>
            <a:r>
              <a:rPr lang="en-US"/>
              <a:t> </a:t>
            </a:r>
            <a:r>
              <a:rPr lang="en-US" err="1"/>
              <a:t>kết</a:t>
            </a:r>
            <a:endParaRPr lang="en-US"/>
          </a:p>
        </p:txBody>
      </p:sp>
      <p:sp>
        <p:nvSpPr>
          <p:cNvPr id="9" name="Content Placeholder 8"/>
          <p:cNvSpPr>
            <a:spLocks noGrp="1"/>
          </p:cNvSpPr>
          <p:nvPr>
            <p:ph type="body" sz="quarter" idx="13"/>
          </p:nvPr>
        </p:nvSpPr>
        <p:spPr/>
        <p:txBody>
          <a:bodyPr/>
          <a:lstStyle/>
          <a:p>
            <a:r>
              <a:rPr lang="en-US" err="1"/>
              <a:t>Độ</a:t>
            </a:r>
            <a:r>
              <a:rPr lang="en-US"/>
              <a:t> </a:t>
            </a:r>
            <a:r>
              <a:rPr lang="en-US" err="1"/>
              <a:t>phức</a:t>
            </a:r>
            <a:r>
              <a:rPr lang="en-US"/>
              <a:t> </a:t>
            </a:r>
            <a:r>
              <a:rPr lang="en-US" err="1"/>
              <a:t>tạp</a:t>
            </a:r>
            <a:r>
              <a:rPr lang="en-US"/>
              <a:t> </a:t>
            </a:r>
            <a:r>
              <a:rPr lang="en-US" err="1"/>
              <a:t>của</a:t>
            </a:r>
            <a:r>
              <a:rPr lang="en-US"/>
              <a:t> </a:t>
            </a:r>
            <a:r>
              <a:rPr lang="en-US" err="1"/>
              <a:t>các</a:t>
            </a:r>
            <a:r>
              <a:rPr lang="en-US"/>
              <a:t> </a:t>
            </a:r>
            <a:r>
              <a:rPr lang="en-US" err="1"/>
              <a:t>thuật</a:t>
            </a:r>
            <a:r>
              <a:rPr lang="en-US"/>
              <a:t> </a:t>
            </a:r>
            <a:r>
              <a:rPr lang="en-US" err="1"/>
              <a:t>toán</a:t>
            </a:r>
            <a:r>
              <a:rPr lang="en-US"/>
              <a:t> </a:t>
            </a:r>
            <a:r>
              <a:rPr lang="en-US" err="1"/>
              <a:t>sắp</a:t>
            </a:r>
            <a:r>
              <a:rPr lang="en-US"/>
              <a:t> </a:t>
            </a:r>
            <a:r>
              <a:rPr lang="en-US" err="1"/>
              <a:t>xếp</a:t>
            </a:r>
            <a:r>
              <a:rPr lang="en-US"/>
              <a:t> </a:t>
            </a:r>
            <a:r>
              <a:rPr lang="en-US" err="1"/>
              <a:t>và</a:t>
            </a:r>
            <a:r>
              <a:rPr lang="en-US"/>
              <a:t> </a:t>
            </a:r>
            <a:r>
              <a:rPr lang="en-US" err="1"/>
              <a:t>tìm</a:t>
            </a:r>
            <a:r>
              <a:rPr lang="en-US"/>
              <a:t> </a:t>
            </a:r>
            <a:r>
              <a:rPr lang="en-US" err="1"/>
              <a:t>kiếm</a:t>
            </a:r>
            <a:r>
              <a:rPr lang="en-US"/>
              <a:t> </a:t>
            </a:r>
          </a:p>
        </p:txBody>
      </p:sp>
      <p:graphicFrame>
        <p:nvGraphicFramePr>
          <p:cNvPr id="7" name="Content Placeholder 6"/>
          <p:cNvGraphicFramePr>
            <a:graphicFrameLocks noGrp="1"/>
          </p:cNvGraphicFramePr>
          <p:nvPr>
            <p:ph sz="half" idx="4294967295"/>
            <p:extLst>
              <p:ext uri="{D42A27DB-BD31-4B8C-83A1-F6EECF244321}">
                <p14:modId xmlns:p14="http://schemas.microsoft.com/office/powerpoint/2010/main" val="2738826983"/>
              </p:ext>
            </p:extLst>
          </p:nvPr>
        </p:nvGraphicFramePr>
        <p:xfrm>
          <a:off x="1442301" y="1854053"/>
          <a:ext cx="4783222" cy="3657600"/>
        </p:xfrm>
        <a:graphic>
          <a:graphicData uri="http://schemas.openxmlformats.org/drawingml/2006/table">
            <a:tbl>
              <a:tblPr firstRow="1" bandRow="1">
                <a:tableStyleId>{5C22544A-7EE6-4342-B048-85BDC9FD1C3A}</a:tableStyleId>
              </a:tblPr>
              <a:tblGrid>
                <a:gridCol w="2391611">
                  <a:extLst>
                    <a:ext uri="{9D8B030D-6E8A-4147-A177-3AD203B41FA5}">
                      <a16:colId xmlns:a16="http://schemas.microsoft.com/office/drawing/2014/main" val="20000"/>
                    </a:ext>
                  </a:extLst>
                </a:gridCol>
                <a:gridCol w="2391611">
                  <a:extLst>
                    <a:ext uri="{9D8B030D-6E8A-4147-A177-3AD203B41FA5}">
                      <a16:colId xmlns:a16="http://schemas.microsoft.com/office/drawing/2014/main" val="20001"/>
                    </a:ext>
                  </a:extLst>
                </a:gridCol>
              </a:tblGrid>
              <a:tr h="409909">
                <a:tc>
                  <a:txBody>
                    <a:bodyPr/>
                    <a:lstStyle/>
                    <a:p>
                      <a:r>
                        <a:rPr lang="en-US" sz="2400" err="1"/>
                        <a:t>Thuật</a:t>
                      </a:r>
                      <a:r>
                        <a:rPr lang="en-US" sz="2400" baseline="0"/>
                        <a:t> </a:t>
                      </a:r>
                      <a:r>
                        <a:rPr lang="en-US" sz="2400" baseline="0" err="1"/>
                        <a:t>toán</a:t>
                      </a:r>
                      <a:endParaRPr lang="en-US" sz="2400"/>
                    </a:p>
                  </a:txBody>
                  <a:tcPr marL="53511" marR="53511"/>
                </a:tc>
                <a:tc>
                  <a:txBody>
                    <a:bodyPr/>
                    <a:lstStyle/>
                    <a:p>
                      <a:r>
                        <a:rPr lang="en-US" sz="2400"/>
                        <a:t>Độ</a:t>
                      </a:r>
                      <a:r>
                        <a:rPr lang="en-US" sz="2400" baseline="0"/>
                        <a:t> phức tạp</a:t>
                      </a:r>
                      <a:endParaRPr lang="en-US" sz="2400"/>
                    </a:p>
                  </a:txBody>
                  <a:tcPr marL="53511" marR="53511"/>
                </a:tc>
                <a:extLst>
                  <a:ext uri="{0D108BD9-81ED-4DB2-BD59-A6C34878D82A}">
                    <a16:rowId xmlns:a16="http://schemas.microsoft.com/office/drawing/2014/main" val="10000"/>
                  </a:ext>
                </a:extLst>
              </a:tr>
              <a:tr h="409909">
                <a:tc>
                  <a:txBody>
                    <a:bodyPr/>
                    <a:lstStyle/>
                    <a:p>
                      <a:r>
                        <a:rPr lang="en-US" sz="2400" err="1"/>
                        <a:t>SelectSort</a:t>
                      </a:r>
                      <a:endParaRPr lang="en-US" sz="2400"/>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1">
                          <a:latin typeface="Times New Roman" pitchFamily="18" charset="0"/>
                          <a:cs typeface="Times New Roman" pitchFamily="18" charset="0"/>
                        </a:rPr>
                        <a:t>n</a:t>
                      </a:r>
                      <a:r>
                        <a:rPr lang="en-US" sz="2400" i="0" baseline="30000">
                          <a:latin typeface="Times New Roman" pitchFamily="18" charset="0"/>
                          <a:cs typeface="Times New Roman" pitchFamily="18" charset="0"/>
                        </a:rPr>
                        <a:t>2</a:t>
                      </a:r>
                      <a:r>
                        <a:rPr lang="en-US" sz="2400" i="0" baseline="0">
                          <a:latin typeface="Times New Roman" pitchFamily="18" charset="0"/>
                          <a:cs typeface="Times New Roman" pitchFamily="18" charset="0"/>
                        </a:rPr>
                        <a:t>)</a:t>
                      </a:r>
                      <a:endParaRPr lang="en-US" sz="2400" i="0" baseline="30000">
                        <a:latin typeface="Times New Roman" pitchFamily="18" charset="0"/>
                        <a:cs typeface="Times New Roman" pitchFamily="18" charset="0"/>
                      </a:endParaRPr>
                    </a:p>
                  </a:txBody>
                  <a:tcPr marL="53511" marR="53511"/>
                </a:tc>
                <a:extLst>
                  <a:ext uri="{0D108BD9-81ED-4DB2-BD59-A6C34878D82A}">
                    <a16:rowId xmlns:a16="http://schemas.microsoft.com/office/drawing/2014/main" val="10001"/>
                  </a:ext>
                </a:extLst>
              </a:tr>
              <a:tr h="409909">
                <a:tc>
                  <a:txBody>
                    <a:bodyPr/>
                    <a:lstStyle/>
                    <a:p>
                      <a:r>
                        <a:rPr lang="en-US" sz="2400" err="1"/>
                        <a:t>InsertSort</a:t>
                      </a:r>
                      <a:endParaRPr lang="en-US" sz="2400"/>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1">
                          <a:latin typeface="Times New Roman" pitchFamily="18" charset="0"/>
                          <a:cs typeface="Times New Roman" pitchFamily="18" charset="0"/>
                        </a:rPr>
                        <a:t>n</a:t>
                      </a:r>
                      <a:r>
                        <a:rPr lang="en-US" sz="2400" i="0" baseline="30000">
                          <a:latin typeface="Times New Roman" pitchFamily="18" charset="0"/>
                          <a:cs typeface="Times New Roman" pitchFamily="18" charset="0"/>
                        </a:rPr>
                        <a:t>2</a:t>
                      </a:r>
                      <a:r>
                        <a:rPr lang="en-US" sz="2400" i="0" baseline="0">
                          <a:latin typeface="Times New Roman" pitchFamily="18" charset="0"/>
                          <a:cs typeface="Times New Roman" pitchFamily="18" charset="0"/>
                        </a:rPr>
                        <a:t>)</a:t>
                      </a:r>
                      <a:endParaRPr lang="en-US" sz="2400"/>
                    </a:p>
                  </a:txBody>
                  <a:tcPr marL="53511" marR="53511"/>
                </a:tc>
                <a:extLst>
                  <a:ext uri="{0D108BD9-81ED-4DB2-BD59-A6C34878D82A}">
                    <a16:rowId xmlns:a16="http://schemas.microsoft.com/office/drawing/2014/main" val="10002"/>
                  </a:ext>
                </a:extLst>
              </a:tr>
              <a:tr h="409909">
                <a:tc>
                  <a:txBody>
                    <a:bodyPr/>
                    <a:lstStyle/>
                    <a:p>
                      <a:r>
                        <a:rPr lang="en-US" sz="2400" err="1"/>
                        <a:t>BubbleSort</a:t>
                      </a:r>
                      <a:endParaRPr lang="en-US" sz="2400"/>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1">
                          <a:latin typeface="Times New Roman" pitchFamily="18" charset="0"/>
                          <a:cs typeface="Times New Roman" pitchFamily="18" charset="0"/>
                        </a:rPr>
                        <a:t>n</a:t>
                      </a:r>
                      <a:r>
                        <a:rPr lang="en-US" sz="2400" i="0" baseline="30000">
                          <a:latin typeface="Times New Roman" pitchFamily="18" charset="0"/>
                          <a:cs typeface="Times New Roman" pitchFamily="18" charset="0"/>
                        </a:rPr>
                        <a:t>2</a:t>
                      </a:r>
                      <a:r>
                        <a:rPr lang="en-US" sz="2400" i="0" baseline="0">
                          <a:latin typeface="Times New Roman" pitchFamily="18" charset="0"/>
                          <a:cs typeface="Times New Roman" pitchFamily="18" charset="0"/>
                        </a:rPr>
                        <a:t>)</a:t>
                      </a:r>
                      <a:endParaRPr lang="en-US" sz="2400"/>
                    </a:p>
                  </a:txBody>
                  <a:tcPr marL="53511" marR="53511"/>
                </a:tc>
                <a:extLst>
                  <a:ext uri="{0D108BD9-81ED-4DB2-BD59-A6C34878D82A}">
                    <a16:rowId xmlns:a16="http://schemas.microsoft.com/office/drawing/2014/main" val="10003"/>
                  </a:ext>
                </a:extLst>
              </a:tr>
              <a:tr h="409909">
                <a:tc>
                  <a:txBody>
                    <a:bodyPr/>
                    <a:lstStyle/>
                    <a:p>
                      <a:r>
                        <a:rPr lang="en-US" sz="2400" err="1"/>
                        <a:t>QuickSort</a:t>
                      </a:r>
                      <a:endParaRPr lang="en-US" sz="2400"/>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1">
                          <a:latin typeface="Times New Roman" pitchFamily="18" charset="0"/>
                          <a:cs typeface="Times New Roman" pitchFamily="18" charset="0"/>
                        </a:rPr>
                        <a:t>n</a:t>
                      </a:r>
                      <a:r>
                        <a:rPr lang="en-US" sz="2400" i="0" baseline="0">
                          <a:latin typeface="Times New Roman" pitchFamily="18" charset="0"/>
                          <a:cs typeface="Times New Roman" pitchFamily="18" charset="0"/>
                        </a:rPr>
                        <a:t>log</a:t>
                      </a:r>
                      <a:r>
                        <a:rPr lang="en-US" sz="2400" i="0" baseline="-25000">
                          <a:latin typeface="Times New Roman" pitchFamily="18" charset="0"/>
                          <a:cs typeface="Times New Roman" pitchFamily="18" charset="0"/>
                        </a:rPr>
                        <a:t>2</a:t>
                      </a:r>
                      <a:r>
                        <a:rPr lang="en-US" sz="2400" i="1" baseline="0">
                          <a:latin typeface="Times New Roman" pitchFamily="18" charset="0"/>
                          <a:cs typeface="Times New Roman" pitchFamily="18" charset="0"/>
                        </a:rPr>
                        <a:t>n</a:t>
                      </a:r>
                      <a:r>
                        <a:rPr lang="en-US" sz="2400" i="0" baseline="0">
                          <a:latin typeface="Times New Roman" pitchFamily="18" charset="0"/>
                          <a:cs typeface="Times New Roman" pitchFamily="18" charset="0"/>
                        </a:rPr>
                        <a:t>)</a:t>
                      </a:r>
                      <a:endParaRPr lang="en-US" sz="2400"/>
                    </a:p>
                  </a:txBody>
                  <a:tcPr marL="53511" marR="53511"/>
                </a:tc>
                <a:extLst>
                  <a:ext uri="{0D108BD9-81ED-4DB2-BD59-A6C34878D82A}">
                    <a16:rowId xmlns:a16="http://schemas.microsoft.com/office/drawing/2014/main" val="10004"/>
                  </a:ext>
                </a:extLst>
              </a:tr>
              <a:tr h="409909">
                <a:tc>
                  <a:txBody>
                    <a:bodyPr/>
                    <a:lstStyle/>
                    <a:p>
                      <a:r>
                        <a:rPr lang="en-US" sz="2400"/>
                        <a:t>HeapSort</a:t>
                      </a:r>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1">
                          <a:latin typeface="Times New Roman" pitchFamily="18" charset="0"/>
                          <a:cs typeface="Times New Roman" pitchFamily="18" charset="0"/>
                        </a:rPr>
                        <a:t>n</a:t>
                      </a:r>
                      <a:r>
                        <a:rPr lang="en-US" sz="2400" i="0" baseline="0">
                          <a:latin typeface="Times New Roman" pitchFamily="18" charset="0"/>
                          <a:cs typeface="Times New Roman" pitchFamily="18" charset="0"/>
                        </a:rPr>
                        <a:t>log</a:t>
                      </a:r>
                      <a:r>
                        <a:rPr lang="en-US" sz="2400" i="0" baseline="-25000">
                          <a:latin typeface="Times New Roman" pitchFamily="18" charset="0"/>
                          <a:cs typeface="Times New Roman" pitchFamily="18" charset="0"/>
                        </a:rPr>
                        <a:t>2</a:t>
                      </a:r>
                      <a:r>
                        <a:rPr lang="en-US" sz="2400" i="1" baseline="0">
                          <a:latin typeface="Times New Roman" pitchFamily="18" charset="0"/>
                          <a:cs typeface="Times New Roman" pitchFamily="18" charset="0"/>
                        </a:rPr>
                        <a:t>n</a:t>
                      </a:r>
                      <a:r>
                        <a:rPr lang="en-US" sz="2400" i="0" baseline="0">
                          <a:latin typeface="Times New Roman" pitchFamily="18" charset="0"/>
                          <a:cs typeface="Times New Roman" pitchFamily="18" charset="0"/>
                        </a:rPr>
                        <a:t>)</a:t>
                      </a:r>
                      <a:endParaRPr lang="en-US" sz="2400"/>
                    </a:p>
                  </a:txBody>
                  <a:tcPr marL="53511" marR="53511"/>
                </a:tc>
                <a:extLst>
                  <a:ext uri="{0D108BD9-81ED-4DB2-BD59-A6C34878D82A}">
                    <a16:rowId xmlns:a16="http://schemas.microsoft.com/office/drawing/2014/main" val="10005"/>
                  </a:ext>
                </a:extLst>
              </a:tr>
              <a:tr h="409909">
                <a:tc>
                  <a:txBody>
                    <a:bodyPr/>
                    <a:lstStyle/>
                    <a:p>
                      <a:r>
                        <a:rPr lang="en-US" sz="2400"/>
                        <a:t>LinearSearch</a:t>
                      </a:r>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1">
                          <a:latin typeface="Times New Roman" pitchFamily="18" charset="0"/>
                          <a:cs typeface="Times New Roman" pitchFamily="18" charset="0"/>
                        </a:rPr>
                        <a:t>n</a:t>
                      </a:r>
                      <a:r>
                        <a:rPr lang="en-US" sz="2400" i="0" baseline="0">
                          <a:latin typeface="Times New Roman" pitchFamily="18" charset="0"/>
                          <a:cs typeface="Times New Roman" pitchFamily="18" charset="0"/>
                        </a:rPr>
                        <a:t>)</a:t>
                      </a:r>
                      <a:endParaRPr lang="en-US" sz="2400"/>
                    </a:p>
                  </a:txBody>
                  <a:tcPr marL="53511" marR="53511"/>
                </a:tc>
                <a:extLst>
                  <a:ext uri="{0D108BD9-81ED-4DB2-BD59-A6C34878D82A}">
                    <a16:rowId xmlns:a16="http://schemas.microsoft.com/office/drawing/2014/main" val="10006"/>
                  </a:ext>
                </a:extLst>
              </a:tr>
              <a:tr h="0">
                <a:tc>
                  <a:txBody>
                    <a:bodyPr/>
                    <a:lstStyle/>
                    <a:p>
                      <a:r>
                        <a:rPr lang="en-US" sz="2400" err="1"/>
                        <a:t>BinarySearch</a:t>
                      </a:r>
                      <a:endParaRPr lang="en-US" sz="2400"/>
                    </a:p>
                  </a:txBody>
                  <a:tcPr marL="53511" marR="53511"/>
                </a:tc>
                <a:tc>
                  <a:txBody>
                    <a:bodyPr/>
                    <a:lstStyle/>
                    <a:p>
                      <a:r>
                        <a:rPr lang="en-US" sz="2400" i="1">
                          <a:latin typeface="Times New Roman" pitchFamily="18" charset="0"/>
                          <a:cs typeface="Times New Roman" pitchFamily="18" charset="0"/>
                        </a:rPr>
                        <a:t>O</a:t>
                      </a:r>
                      <a:r>
                        <a:rPr lang="en-US" sz="2400" i="0">
                          <a:latin typeface="Times New Roman" pitchFamily="18" charset="0"/>
                          <a:cs typeface="Times New Roman" pitchFamily="18" charset="0"/>
                        </a:rPr>
                        <a:t>(</a:t>
                      </a:r>
                      <a:r>
                        <a:rPr lang="en-US" sz="2400" i="0" baseline="0">
                          <a:latin typeface="Times New Roman" pitchFamily="18" charset="0"/>
                          <a:cs typeface="Times New Roman" pitchFamily="18" charset="0"/>
                        </a:rPr>
                        <a:t>log</a:t>
                      </a:r>
                      <a:r>
                        <a:rPr lang="en-US" sz="2400" i="0" baseline="-25000">
                          <a:latin typeface="Times New Roman" pitchFamily="18" charset="0"/>
                          <a:cs typeface="Times New Roman" pitchFamily="18" charset="0"/>
                        </a:rPr>
                        <a:t>2</a:t>
                      </a:r>
                      <a:r>
                        <a:rPr lang="en-US" sz="2400" i="1" baseline="0">
                          <a:latin typeface="Times New Roman" pitchFamily="18" charset="0"/>
                          <a:cs typeface="Times New Roman" pitchFamily="18" charset="0"/>
                        </a:rPr>
                        <a:t>n</a:t>
                      </a:r>
                      <a:r>
                        <a:rPr lang="en-US" sz="2400" i="0" baseline="0">
                          <a:latin typeface="Times New Roman" pitchFamily="18" charset="0"/>
                          <a:cs typeface="Times New Roman" pitchFamily="18" charset="0"/>
                        </a:rPr>
                        <a:t>)</a:t>
                      </a:r>
                      <a:endParaRPr lang="en-US" sz="2400"/>
                    </a:p>
                  </a:txBody>
                  <a:tcPr marL="53511" marR="53511"/>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151461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2ECE5C5-CD7A-324E-8253-59FE8125D6E4}" type="datetime1">
              <a:rPr lang="en-US" smtClean="0"/>
              <a:t>11/6/2025</a:t>
            </a:fld>
            <a:endParaRPr lang="en-US"/>
          </a:p>
        </p:txBody>
      </p:sp>
      <p:sp>
        <p:nvSpPr>
          <p:cNvPr id="5" name="Footer Placeholder 4"/>
          <p:cNvSpPr>
            <a:spLocks noGrp="1"/>
          </p:cNvSpPr>
          <p:nvPr>
            <p:ph type="ftr" sz="quarter" idx="11"/>
          </p:nvPr>
        </p:nvSpPr>
        <p:spPr/>
        <p:txBody>
          <a:bodyPr/>
          <a:lstStyle/>
          <a:p>
            <a:r>
              <a:rPr lang="is-IS"/>
              <a:t>Cấu trúc dữ liệu và giải thuật</a:t>
            </a:r>
            <a:endParaRPr lang="en-US"/>
          </a:p>
        </p:txBody>
      </p:sp>
      <p:sp>
        <p:nvSpPr>
          <p:cNvPr id="6" name="Slide Number Placeholder 5"/>
          <p:cNvSpPr>
            <a:spLocks noGrp="1"/>
          </p:cNvSpPr>
          <p:nvPr>
            <p:ph type="sldNum" sz="quarter" idx="12"/>
          </p:nvPr>
        </p:nvSpPr>
        <p:spPr/>
        <p:txBody>
          <a:bodyPr/>
          <a:lstStyle/>
          <a:p>
            <a:fld id="{BA7BC09B-FE30-A349-B1D2-5A364F511F98}" type="slidenum">
              <a:rPr lang="en-US" smtClean="0"/>
              <a:t>57</a:t>
            </a:fld>
            <a:endParaRPr lang="en-US"/>
          </a:p>
        </p:txBody>
      </p:sp>
      <p:sp>
        <p:nvSpPr>
          <p:cNvPr id="2" name="Title 1"/>
          <p:cNvSpPr>
            <a:spLocks noGrp="1"/>
          </p:cNvSpPr>
          <p:nvPr>
            <p:ph type="title"/>
          </p:nvPr>
        </p:nvSpPr>
        <p:spPr/>
        <p:txBody>
          <a:bodyPr/>
          <a:lstStyle/>
          <a:p>
            <a:r>
              <a:rPr lang="en-US" err="1"/>
              <a:t>Bài</a:t>
            </a:r>
            <a:r>
              <a:rPr lang="en-US"/>
              <a:t> </a:t>
            </a:r>
            <a:r>
              <a:rPr lang="en-US" err="1"/>
              <a:t>tập</a:t>
            </a:r>
            <a:r>
              <a:rPr lang="en-US"/>
              <a:t> </a:t>
            </a:r>
          </a:p>
        </p:txBody>
      </p:sp>
      <p:sp>
        <p:nvSpPr>
          <p:cNvPr id="3" name="Content Placeholder 2"/>
          <p:cNvSpPr>
            <a:spLocks noGrp="1"/>
          </p:cNvSpPr>
          <p:nvPr>
            <p:ph type="body" sz="quarter" idx="13"/>
          </p:nvPr>
        </p:nvSpPr>
        <p:spPr/>
        <p:txBody>
          <a:bodyPr>
            <a:normAutofit/>
          </a:bodyPr>
          <a:lstStyle/>
          <a:p>
            <a:pPr marL="0" indent="0">
              <a:buNone/>
            </a:pPr>
            <a:r>
              <a:rPr lang="en-US" sz="2400" err="1"/>
              <a:t>Bài</a:t>
            </a:r>
            <a:r>
              <a:rPr lang="en-US" sz="2400"/>
              <a:t> 1: Cho </a:t>
            </a:r>
            <a:r>
              <a:rPr lang="en-US" sz="2400" err="1"/>
              <a:t>dãy</a:t>
            </a:r>
            <a:r>
              <a:rPr lang="en-US" sz="2400"/>
              <a:t> </a:t>
            </a:r>
            <a:r>
              <a:rPr lang="en-US" sz="2400" err="1"/>
              <a:t>số</a:t>
            </a:r>
            <a:r>
              <a:rPr lang="en-US" sz="2400"/>
              <a:t> A </a:t>
            </a:r>
            <a:r>
              <a:rPr lang="en-US" sz="2400" err="1"/>
              <a:t>gồm</a:t>
            </a:r>
            <a:r>
              <a:rPr lang="en-US" sz="2400"/>
              <a:t> 8 </a:t>
            </a:r>
            <a:r>
              <a:rPr lang="en-US" sz="2400" err="1"/>
              <a:t>phần</a:t>
            </a:r>
            <a:r>
              <a:rPr lang="en-US" sz="2400"/>
              <a:t> </a:t>
            </a:r>
            <a:r>
              <a:rPr lang="en-US" sz="2400" err="1"/>
              <a:t>tử</a:t>
            </a:r>
            <a:r>
              <a:rPr lang="en-US" sz="2400"/>
              <a:t> : 77,33,44,11,88,22,66,55. </a:t>
            </a:r>
            <a:r>
              <a:rPr lang="en-US" sz="2400" err="1"/>
              <a:t>Áp</a:t>
            </a:r>
            <a:r>
              <a:rPr lang="en-US" sz="2400"/>
              <a:t> </a:t>
            </a:r>
            <a:r>
              <a:rPr lang="en-US" sz="2400" err="1"/>
              <a:t>dụng</a:t>
            </a:r>
            <a:r>
              <a:rPr lang="en-US" sz="2400"/>
              <a:t> </a:t>
            </a:r>
            <a:r>
              <a:rPr lang="en-US" sz="2400" err="1"/>
              <a:t>các</a:t>
            </a:r>
            <a:r>
              <a:rPr lang="en-US" sz="2400"/>
              <a:t> </a:t>
            </a:r>
            <a:r>
              <a:rPr lang="en-US" sz="2400" err="1"/>
              <a:t>phương</a:t>
            </a:r>
            <a:r>
              <a:rPr lang="en-US" sz="2400"/>
              <a:t> </a:t>
            </a:r>
            <a:r>
              <a:rPr lang="en-US" sz="2400" err="1"/>
              <a:t>pháp</a:t>
            </a:r>
            <a:r>
              <a:rPr lang="en-US" sz="2400"/>
              <a:t> </a:t>
            </a:r>
            <a:r>
              <a:rPr lang="en-US" sz="2400" err="1"/>
              <a:t>sắp</a:t>
            </a:r>
            <a:r>
              <a:rPr lang="en-US" sz="2400"/>
              <a:t> </a:t>
            </a:r>
            <a:r>
              <a:rPr lang="en-US" sz="2400" err="1"/>
              <a:t>xếp</a:t>
            </a:r>
            <a:r>
              <a:rPr lang="en-US" sz="2400"/>
              <a:t> </a:t>
            </a:r>
            <a:r>
              <a:rPr lang="en-US" sz="2400" err="1"/>
              <a:t>đã</a:t>
            </a:r>
            <a:r>
              <a:rPr lang="en-US" sz="2400"/>
              <a:t> </a:t>
            </a:r>
            <a:r>
              <a:rPr lang="en-US" sz="2400" err="1"/>
              <a:t>học</a:t>
            </a:r>
            <a:r>
              <a:rPr lang="en-US" sz="2400"/>
              <a:t> </a:t>
            </a:r>
            <a:r>
              <a:rPr lang="en-US" sz="2400" err="1"/>
              <a:t>để</a:t>
            </a:r>
            <a:r>
              <a:rPr lang="en-US" sz="2400"/>
              <a:t> </a:t>
            </a:r>
            <a:r>
              <a:rPr lang="en-US" sz="2400" err="1"/>
              <a:t>sắp</a:t>
            </a:r>
            <a:r>
              <a:rPr lang="en-US" sz="2400"/>
              <a:t> </a:t>
            </a:r>
            <a:r>
              <a:rPr lang="en-US" sz="2400" err="1"/>
              <a:t>xếp</a:t>
            </a:r>
            <a:r>
              <a:rPr lang="en-US" sz="2400"/>
              <a:t> </a:t>
            </a:r>
            <a:r>
              <a:rPr lang="en-US" sz="2400" err="1"/>
              <a:t>dãy</a:t>
            </a:r>
            <a:r>
              <a:rPr lang="en-US" sz="2400"/>
              <a:t> A </a:t>
            </a:r>
            <a:r>
              <a:rPr lang="en-US" sz="2400" err="1"/>
              <a:t>thành</a:t>
            </a:r>
            <a:r>
              <a:rPr lang="en-US" sz="2400"/>
              <a:t> </a:t>
            </a:r>
            <a:r>
              <a:rPr lang="en-US" sz="2400" err="1"/>
              <a:t>một</a:t>
            </a:r>
            <a:r>
              <a:rPr lang="en-US" sz="2400"/>
              <a:t> </a:t>
            </a:r>
            <a:r>
              <a:rPr lang="en-US" sz="2400" err="1"/>
              <a:t>dãy</a:t>
            </a:r>
            <a:r>
              <a:rPr lang="en-US" sz="2400"/>
              <a:t> </a:t>
            </a:r>
            <a:r>
              <a:rPr lang="en-US" sz="2400" err="1"/>
              <a:t>tăng</a:t>
            </a:r>
            <a:r>
              <a:rPr lang="en-US" sz="2400"/>
              <a:t> </a:t>
            </a:r>
            <a:r>
              <a:rPr lang="en-US" sz="2400" err="1"/>
              <a:t>dần</a:t>
            </a:r>
            <a:r>
              <a:rPr lang="en-US" sz="2400"/>
              <a:t> </a:t>
            </a:r>
            <a:r>
              <a:rPr lang="en-US" sz="2400" err="1"/>
              <a:t>và</a:t>
            </a:r>
            <a:r>
              <a:rPr lang="en-US" sz="2400"/>
              <a:t> minh </a:t>
            </a:r>
            <a:r>
              <a:rPr lang="en-US" sz="2400" err="1"/>
              <a:t>họa</a:t>
            </a:r>
            <a:r>
              <a:rPr lang="en-US" sz="2400"/>
              <a:t> </a:t>
            </a:r>
            <a:r>
              <a:rPr lang="en-US" sz="2400" err="1"/>
              <a:t>từng</a:t>
            </a:r>
            <a:r>
              <a:rPr lang="en-US" sz="2400"/>
              <a:t> </a:t>
            </a:r>
            <a:r>
              <a:rPr lang="en-US" sz="2400" err="1"/>
              <a:t>cách</a:t>
            </a:r>
            <a:r>
              <a:rPr lang="en-US" sz="2400"/>
              <a:t> </a:t>
            </a:r>
            <a:r>
              <a:rPr lang="en-US" sz="2400" err="1"/>
              <a:t>sắp</a:t>
            </a:r>
            <a:r>
              <a:rPr lang="en-US" sz="2400"/>
              <a:t> </a:t>
            </a:r>
            <a:r>
              <a:rPr lang="en-US" sz="2400" err="1"/>
              <a:t>xếp</a:t>
            </a:r>
            <a:r>
              <a:rPr lang="en-US" sz="2400"/>
              <a:t>. </a:t>
            </a:r>
          </a:p>
          <a:p>
            <a:pPr marL="0" indent="0">
              <a:buNone/>
            </a:pPr>
            <a:endParaRPr lang="en-US" sz="2400"/>
          </a:p>
          <a:p>
            <a:pPr marL="0" indent="0">
              <a:buNone/>
            </a:pPr>
            <a:r>
              <a:rPr lang="en-US" sz="2400" err="1"/>
              <a:t>Bài</a:t>
            </a:r>
            <a:r>
              <a:rPr lang="en-US" sz="2400"/>
              <a:t> 2: </a:t>
            </a:r>
            <a:r>
              <a:rPr lang="en-US" sz="2400" err="1"/>
              <a:t>Một</a:t>
            </a:r>
            <a:r>
              <a:rPr lang="en-US" sz="2400"/>
              <a:t> </a:t>
            </a:r>
            <a:r>
              <a:rPr lang="en-US" sz="2400" err="1"/>
              <a:t>đơn</a:t>
            </a:r>
            <a:r>
              <a:rPr lang="en-US" sz="2400"/>
              <a:t> </a:t>
            </a:r>
            <a:r>
              <a:rPr lang="en-US" sz="2400" err="1"/>
              <a:t>vị</a:t>
            </a:r>
            <a:r>
              <a:rPr lang="en-US" sz="2400"/>
              <a:t> </a:t>
            </a:r>
            <a:r>
              <a:rPr lang="en-US" sz="2400" err="1"/>
              <a:t>quan</a:t>
            </a:r>
            <a:r>
              <a:rPr lang="en-US" sz="2400"/>
              <a:t> </a:t>
            </a:r>
            <a:r>
              <a:rPr lang="en-US" sz="2400" err="1"/>
              <a:t>tâm</a:t>
            </a:r>
            <a:r>
              <a:rPr lang="en-US" sz="2400"/>
              <a:t> </a:t>
            </a:r>
            <a:r>
              <a:rPr lang="en-US" sz="2400" err="1"/>
              <a:t>về</a:t>
            </a:r>
            <a:r>
              <a:rPr lang="en-US" sz="2400"/>
              <a:t> </a:t>
            </a:r>
            <a:r>
              <a:rPr lang="en-US" sz="2400" err="1"/>
              <a:t>dân</a:t>
            </a:r>
            <a:r>
              <a:rPr lang="en-US" sz="2400"/>
              <a:t> </a:t>
            </a:r>
            <a:r>
              <a:rPr lang="en-US" sz="2400" err="1"/>
              <a:t>số</a:t>
            </a:r>
            <a:r>
              <a:rPr lang="en-US" sz="2400"/>
              <a:t> </a:t>
            </a:r>
            <a:r>
              <a:rPr lang="en-US" sz="2400" err="1"/>
              <a:t>lập</a:t>
            </a:r>
            <a:r>
              <a:rPr lang="en-US" sz="2400"/>
              <a:t> </a:t>
            </a:r>
            <a:r>
              <a:rPr lang="en-US" sz="2400" err="1"/>
              <a:t>một</a:t>
            </a:r>
            <a:r>
              <a:rPr lang="en-US" sz="2400"/>
              <a:t> </a:t>
            </a:r>
            <a:r>
              <a:rPr lang="en-US" sz="2400" err="1"/>
              <a:t>bảng</a:t>
            </a:r>
            <a:r>
              <a:rPr lang="en-US" sz="2400"/>
              <a:t> </a:t>
            </a:r>
            <a:r>
              <a:rPr lang="en-US" sz="2400" err="1"/>
              <a:t>thống</a:t>
            </a:r>
            <a:r>
              <a:rPr lang="en-US" sz="2400"/>
              <a:t> </a:t>
            </a:r>
            <a:r>
              <a:rPr lang="en-US" sz="2400" err="1"/>
              <a:t>kê</a:t>
            </a:r>
            <a:r>
              <a:rPr lang="en-US" sz="2400"/>
              <a:t> </a:t>
            </a:r>
            <a:r>
              <a:rPr lang="en-US" sz="2400" err="1"/>
              <a:t>số</a:t>
            </a:r>
            <a:r>
              <a:rPr lang="en-US" sz="2400"/>
              <a:t> </a:t>
            </a:r>
            <a:r>
              <a:rPr lang="en-US" sz="2400" err="1"/>
              <a:t>lượng</a:t>
            </a:r>
            <a:r>
              <a:rPr lang="en-US" sz="2400"/>
              <a:t> </a:t>
            </a:r>
            <a:r>
              <a:rPr lang="en-US" sz="2400" err="1"/>
              <a:t>người</a:t>
            </a:r>
            <a:r>
              <a:rPr lang="en-US" sz="2400"/>
              <a:t> </a:t>
            </a:r>
            <a:r>
              <a:rPr lang="en-US" sz="2400" err="1"/>
              <a:t>sinh</a:t>
            </a:r>
            <a:r>
              <a:rPr lang="en-US" sz="2400"/>
              <a:t> </a:t>
            </a:r>
            <a:r>
              <a:rPr lang="en-US" sz="2400" err="1"/>
              <a:t>trong</a:t>
            </a:r>
            <a:r>
              <a:rPr lang="en-US" sz="2400"/>
              <a:t> </a:t>
            </a:r>
            <a:r>
              <a:rPr lang="en-US" sz="2400" err="1"/>
              <a:t>từng</a:t>
            </a:r>
            <a:r>
              <a:rPr lang="en-US" sz="2400"/>
              <a:t> </a:t>
            </a:r>
            <a:r>
              <a:rPr lang="en-US" sz="2400" err="1"/>
              <a:t>năm</a:t>
            </a:r>
            <a:r>
              <a:rPr lang="en-US" sz="2400"/>
              <a:t>, </a:t>
            </a:r>
            <a:r>
              <a:rPr lang="en-US" sz="2400" err="1"/>
              <a:t>kể</a:t>
            </a:r>
            <a:r>
              <a:rPr lang="en-US" sz="2400"/>
              <a:t> </a:t>
            </a:r>
            <a:r>
              <a:rPr lang="en-US" sz="2400" err="1"/>
              <a:t>từ</a:t>
            </a:r>
            <a:r>
              <a:rPr lang="en-US" sz="2400"/>
              <a:t> </a:t>
            </a:r>
            <a:r>
              <a:rPr lang="en-US" sz="2400" err="1"/>
              <a:t>năm</a:t>
            </a:r>
            <a:r>
              <a:rPr lang="en-US" sz="2400"/>
              <a:t> 1920 </a:t>
            </a:r>
            <a:r>
              <a:rPr lang="en-US" sz="2400" err="1"/>
              <a:t>đến</a:t>
            </a:r>
            <a:r>
              <a:rPr lang="en-US" sz="2400"/>
              <a:t> 1970 </a:t>
            </a:r>
            <a:r>
              <a:rPr lang="en-US" sz="2400" err="1"/>
              <a:t>và</a:t>
            </a:r>
            <a:r>
              <a:rPr lang="en-US" sz="2400"/>
              <a:t> </a:t>
            </a:r>
            <a:r>
              <a:rPr lang="en-US" sz="2400" err="1"/>
              <a:t>lưu</a:t>
            </a:r>
            <a:r>
              <a:rPr lang="en-US" sz="2400"/>
              <a:t> </a:t>
            </a:r>
            <a:r>
              <a:rPr lang="en-US" sz="2400" err="1"/>
              <a:t>trữ</a:t>
            </a:r>
            <a:r>
              <a:rPr lang="en-US" sz="2400"/>
              <a:t> </a:t>
            </a:r>
            <a:r>
              <a:rPr lang="en-US" sz="2400" err="1"/>
              <a:t>bảng</a:t>
            </a:r>
            <a:r>
              <a:rPr lang="en-US" sz="2400"/>
              <a:t> </a:t>
            </a:r>
            <a:r>
              <a:rPr lang="en-US" sz="2400" err="1"/>
              <a:t>đó</a:t>
            </a:r>
            <a:r>
              <a:rPr lang="en-US" sz="2400"/>
              <a:t> </a:t>
            </a:r>
            <a:r>
              <a:rPr lang="en-US" sz="2400" err="1"/>
              <a:t>trong</a:t>
            </a:r>
            <a:r>
              <a:rPr lang="en-US" sz="2400"/>
              <a:t> </a:t>
            </a:r>
            <a:r>
              <a:rPr lang="en-US" sz="2400" err="1"/>
              <a:t>máy</a:t>
            </a:r>
            <a:r>
              <a:rPr lang="en-US" sz="2400"/>
              <a:t> </a:t>
            </a:r>
            <a:r>
              <a:rPr lang="en-US" sz="2400" err="1"/>
              <a:t>tính</a:t>
            </a:r>
            <a:r>
              <a:rPr lang="en-US" sz="2400"/>
              <a:t> </a:t>
            </a:r>
            <a:r>
              <a:rPr lang="en-US" sz="2400" err="1"/>
              <a:t>bằng</a:t>
            </a:r>
            <a:r>
              <a:rPr lang="en-US" sz="2400"/>
              <a:t> </a:t>
            </a:r>
            <a:r>
              <a:rPr lang="en-US" sz="2400" err="1"/>
              <a:t>một</a:t>
            </a:r>
            <a:r>
              <a:rPr lang="en-US" sz="2400"/>
              <a:t> </a:t>
            </a:r>
            <a:r>
              <a:rPr lang="en-US" sz="2400" err="1"/>
              <a:t>mảng</a:t>
            </a:r>
            <a:r>
              <a:rPr lang="en-US" sz="2400"/>
              <a:t> </a:t>
            </a:r>
            <a:r>
              <a:rPr lang="en-US" sz="2400" err="1"/>
              <a:t>một</a:t>
            </a:r>
            <a:r>
              <a:rPr lang="en-US" sz="2400"/>
              <a:t> </a:t>
            </a:r>
            <a:r>
              <a:rPr lang="en-US" sz="2400" err="1"/>
              <a:t>chiều</a:t>
            </a:r>
            <a:r>
              <a:rPr lang="en-US" sz="2400"/>
              <a:t> N[1920…1970] </a:t>
            </a:r>
            <a:r>
              <a:rPr lang="en-US" sz="2400" err="1"/>
              <a:t>với</a:t>
            </a:r>
            <a:r>
              <a:rPr lang="en-US" sz="2400"/>
              <a:t> N[k] </a:t>
            </a:r>
            <a:r>
              <a:rPr lang="en-US" sz="2400" err="1"/>
              <a:t>có</a:t>
            </a:r>
            <a:r>
              <a:rPr lang="en-US" sz="2400"/>
              <a:t> </a:t>
            </a:r>
            <a:r>
              <a:rPr lang="en-US" sz="2400" err="1"/>
              <a:t>giá</a:t>
            </a:r>
            <a:r>
              <a:rPr lang="en-US" sz="2400"/>
              <a:t> </a:t>
            </a:r>
            <a:r>
              <a:rPr lang="en-US" sz="2400" err="1"/>
              <a:t>trị</a:t>
            </a:r>
            <a:r>
              <a:rPr lang="en-US" sz="2400"/>
              <a:t> </a:t>
            </a:r>
            <a:r>
              <a:rPr lang="en-US" sz="2400" err="1"/>
              <a:t>bằng</a:t>
            </a:r>
            <a:r>
              <a:rPr lang="en-US" sz="2400"/>
              <a:t> </a:t>
            </a:r>
            <a:r>
              <a:rPr lang="en-US" sz="2400" err="1"/>
              <a:t>số</a:t>
            </a:r>
            <a:r>
              <a:rPr lang="en-US" sz="2400"/>
              <a:t> </a:t>
            </a:r>
            <a:r>
              <a:rPr lang="en-US" sz="2400" err="1"/>
              <a:t>người</a:t>
            </a:r>
            <a:r>
              <a:rPr lang="en-US" sz="2400"/>
              <a:t> </a:t>
            </a:r>
            <a:r>
              <a:rPr lang="en-US" sz="2400" err="1"/>
              <a:t>sinh</a:t>
            </a:r>
            <a:r>
              <a:rPr lang="en-US" sz="2400"/>
              <a:t> </a:t>
            </a:r>
            <a:r>
              <a:rPr lang="en-US" sz="2400" err="1"/>
              <a:t>ra</a:t>
            </a:r>
            <a:r>
              <a:rPr lang="en-US" sz="2400"/>
              <a:t> </a:t>
            </a:r>
            <a:r>
              <a:rPr lang="en-US" sz="2400" err="1"/>
              <a:t>trong</a:t>
            </a:r>
            <a:r>
              <a:rPr lang="en-US" sz="2400"/>
              <a:t> </a:t>
            </a:r>
            <a:r>
              <a:rPr lang="en-US" sz="2400" err="1"/>
              <a:t>năm</a:t>
            </a:r>
            <a:r>
              <a:rPr lang="en-US" sz="2400"/>
              <a:t> k. </a:t>
            </a:r>
            <a:r>
              <a:rPr lang="en-US" sz="2400" err="1"/>
              <a:t>Hãy</a:t>
            </a:r>
            <a:r>
              <a:rPr lang="en-US" sz="2400"/>
              <a:t> </a:t>
            </a:r>
            <a:r>
              <a:rPr lang="en-US" sz="2400" err="1"/>
              <a:t>viết</a:t>
            </a:r>
            <a:r>
              <a:rPr lang="en-US" sz="2400"/>
              <a:t> </a:t>
            </a:r>
            <a:r>
              <a:rPr lang="en-US" sz="2400" err="1"/>
              <a:t>giải</a:t>
            </a:r>
            <a:r>
              <a:rPr lang="en-US" sz="2400"/>
              <a:t> </a:t>
            </a:r>
            <a:r>
              <a:rPr lang="en-US" sz="2400" err="1"/>
              <a:t>thuật</a:t>
            </a:r>
            <a:r>
              <a:rPr lang="en-US" sz="2400"/>
              <a:t> </a:t>
            </a:r>
            <a:r>
              <a:rPr lang="en-US" sz="2400" err="1"/>
              <a:t>thực</a:t>
            </a:r>
            <a:r>
              <a:rPr lang="en-US" sz="2400"/>
              <a:t> </a:t>
            </a:r>
            <a:r>
              <a:rPr lang="en-US" sz="2400" err="1"/>
              <a:t>hiện</a:t>
            </a:r>
            <a:r>
              <a:rPr lang="en-US" sz="2400"/>
              <a:t> </a:t>
            </a:r>
          </a:p>
          <a:p>
            <a:pPr marL="514350" indent="-514350">
              <a:buAutoNum type="arabicPeriod"/>
            </a:pPr>
            <a:r>
              <a:rPr lang="en-US" sz="2400"/>
              <a:t>In </a:t>
            </a:r>
            <a:r>
              <a:rPr lang="en-US" sz="2400" err="1"/>
              <a:t>ra</a:t>
            </a:r>
            <a:r>
              <a:rPr lang="en-US" sz="2400"/>
              <a:t> </a:t>
            </a:r>
            <a:r>
              <a:rPr lang="en-US" sz="2400" err="1"/>
              <a:t>những</a:t>
            </a:r>
            <a:r>
              <a:rPr lang="en-US" sz="2400"/>
              <a:t> </a:t>
            </a:r>
            <a:r>
              <a:rPr lang="en-US" sz="2400" err="1"/>
              <a:t>năm</a:t>
            </a:r>
            <a:r>
              <a:rPr lang="en-US" sz="2400"/>
              <a:t> </a:t>
            </a:r>
            <a:r>
              <a:rPr lang="en-US" sz="2400" err="1"/>
              <a:t>không</a:t>
            </a:r>
            <a:r>
              <a:rPr lang="en-US" sz="2400"/>
              <a:t> </a:t>
            </a:r>
            <a:r>
              <a:rPr lang="en-US" sz="2400" err="1"/>
              <a:t>có</a:t>
            </a:r>
            <a:r>
              <a:rPr lang="en-US" sz="2400"/>
              <a:t> </a:t>
            </a:r>
            <a:r>
              <a:rPr lang="en-US" sz="2400" err="1"/>
              <a:t>người</a:t>
            </a:r>
            <a:r>
              <a:rPr lang="en-US" sz="2400"/>
              <a:t> </a:t>
            </a:r>
            <a:r>
              <a:rPr lang="en-US" sz="2400" err="1"/>
              <a:t>nào</a:t>
            </a:r>
            <a:r>
              <a:rPr lang="en-US" sz="2400"/>
              <a:t> </a:t>
            </a:r>
            <a:r>
              <a:rPr lang="en-US" sz="2400" err="1"/>
              <a:t>được</a:t>
            </a:r>
            <a:r>
              <a:rPr lang="en-US" sz="2400"/>
              <a:t> </a:t>
            </a:r>
            <a:r>
              <a:rPr lang="en-US" sz="2400" err="1"/>
              <a:t>sinh</a:t>
            </a:r>
            <a:r>
              <a:rPr lang="en-US" sz="2400"/>
              <a:t> </a:t>
            </a:r>
            <a:r>
              <a:rPr lang="en-US" sz="2400" err="1"/>
              <a:t>ra</a:t>
            </a:r>
            <a:endParaRPr lang="en-US" sz="2400"/>
          </a:p>
          <a:p>
            <a:pPr marL="514350" indent="-514350">
              <a:buAutoNum type="arabicPeriod"/>
            </a:pPr>
            <a:r>
              <a:rPr lang="en-US" sz="2400" err="1"/>
              <a:t>Tính</a:t>
            </a:r>
            <a:r>
              <a:rPr lang="en-US" sz="2400"/>
              <a:t> </a:t>
            </a:r>
            <a:r>
              <a:rPr lang="en-US" sz="2400" err="1"/>
              <a:t>số</a:t>
            </a:r>
            <a:r>
              <a:rPr lang="en-US" sz="2400"/>
              <a:t> </a:t>
            </a:r>
            <a:r>
              <a:rPr lang="en-US" sz="2400" err="1"/>
              <a:t>lượng</a:t>
            </a:r>
            <a:r>
              <a:rPr lang="en-US" sz="2400"/>
              <a:t> </a:t>
            </a:r>
            <a:r>
              <a:rPr lang="en-US" sz="2400" err="1"/>
              <a:t>những</a:t>
            </a:r>
            <a:r>
              <a:rPr lang="en-US" sz="2400"/>
              <a:t> </a:t>
            </a:r>
            <a:r>
              <a:rPr lang="en-US" sz="2400" err="1"/>
              <a:t>năm</a:t>
            </a:r>
            <a:r>
              <a:rPr lang="en-US" sz="2400"/>
              <a:t> </a:t>
            </a:r>
            <a:r>
              <a:rPr lang="en-US" sz="2400" err="1"/>
              <a:t>mà</a:t>
            </a:r>
            <a:r>
              <a:rPr lang="en-US" sz="2400"/>
              <a:t> </a:t>
            </a:r>
            <a:r>
              <a:rPr lang="en-US" sz="2400" err="1"/>
              <a:t>số</a:t>
            </a:r>
            <a:r>
              <a:rPr lang="en-US" sz="2400"/>
              <a:t> </a:t>
            </a:r>
            <a:r>
              <a:rPr lang="en-US" sz="2400" err="1"/>
              <a:t>người</a:t>
            </a:r>
            <a:r>
              <a:rPr lang="en-US" sz="2400"/>
              <a:t> </a:t>
            </a:r>
            <a:r>
              <a:rPr lang="en-US" sz="2400" err="1"/>
              <a:t>sinh</a:t>
            </a:r>
            <a:r>
              <a:rPr lang="en-US" sz="2400"/>
              <a:t> </a:t>
            </a:r>
            <a:r>
              <a:rPr lang="en-US" sz="2400" err="1"/>
              <a:t>ra</a:t>
            </a:r>
            <a:r>
              <a:rPr lang="en-US" sz="2400"/>
              <a:t> </a:t>
            </a:r>
            <a:r>
              <a:rPr lang="en-US" sz="2400" err="1"/>
              <a:t>không</a:t>
            </a:r>
            <a:r>
              <a:rPr lang="en-US" sz="2400"/>
              <a:t> </a:t>
            </a:r>
            <a:r>
              <a:rPr lang="en-US" sz="2400" err="1"/>
              <a:t>quá</a:t>
            </a:r>
            <a:r>
              <a:rPr lang="en-US" sz="2400"/>
              <a:t> 10</a:t>
            </a:r>
          </a:p>
          <a:p>
            <a:pPr marL="514350" indent="-514350">
              <a:buAutoNum type="arabicPeriod"/>
            </a:pPr>
            <a:r>
              <a:rPr lang="en-US" sz="2400" err="1"/>
              <a:t>Tính</a:t>
            </a:r>
            <a:r>
              <a:rPr lang="en-US" sz="2400"/>
              <a:t> </a:t>
            </a:r>
            <a:r>
              <a:rPr lang="en-US" sz="2400" err="1"/>
              <a:t>số</a:t>
            </a:r>
            <a:r>
              <a:rPr lang="en-US" sz="2400"/>
              <a:t> </a:t>
            </a:r>
            <a:r>
              <a:rPr lang="en-US" sz="2400" err="1"/>
              <a:t>người</a:t>
            </a:r>
            <a:r>
              <a:rPr lang="en-US" sz="2400"/>
              <a:t> </a:t>
            </a:r>
            <a:r>
              <a:rPr lang="en-US" sz="2400" err="1"/>
              <a:t>đã</a:t>
            </a:r>
            <a:r>
              <a:rPr lang="en-US" sz="2400"/>
              <a:t> </a:t>
            </a:r>
            <a:r>
              <a:rPr lang="en-US" sz="2400" err="1"/>
              <a:t>trên</a:t>
            </a:r>
            <a:r>
              <a:rPr lang="en-US" sz="2400"/>
              <a:t> 50 </a:t>
            </a:r>
            <a:r>
              <a:rPr lang="en-US" sz="2400" err="1"/>
              <a:t>tuổi</a:t>
            </a:r>
            <a:r>
              <a:rPr lang="en-US" sz="2400"/>
              <a:t> </a:t>
            </a:r>
            <a:r>
              <a:rPr lang="en-US" sz="2400" err="1"/>
              <a:t>tính</a:t>
            </a:r>
            <a:r>
              <a:rPr lang="en-US" sz="2400"/>
              <a:t> </a:t>
            </a:r>
            <a:r>
              <a:rPr lang="en-US" sz="2400" err="1"/>
              <a:t>đến</a:t>
            </a:r>
            <a:r>
              <a:rPr lang="en-US" sz="2400"/>
              <a:t> </a:t>
            </a:r>
            <a:r>
              <a:rPr lang="en-US" sz="2400" err="1"/>
              <a:t>năm</a:t>
            </a:r>
            <a:r>
              <a:rPr lang="en-US" sz="2400"/>
              <a:t> 1985.</a:t>
            </a:r>
          </a:p>
        </p:txBody>
      </p:sp>
    </p:spTree>
    <p:extLst>
      <p:ext uri="{BB962C8B-B14F-4D97-AF65-F5344CB8AC3E}">
        <p14:creationId xmlns:p14="http://schemas.microsoft.com/office/powerpoint/2010/main" val="1408216749"/>
      </p:ext>
    </p:extLst>
  </p:cSld>
  <p:clrMapOvr>
    <a:masterClrMapping/>
  </p:clrMapOvr>
</p:sld>
</file>

<file path=ppt/theme/theme1.xml><?xml version="1.0" encoding="utf-8"?>
<a:theme xmlns:a="http://schemas.openxmlformats.org/drawingml/2006/main" name="DSA-chuong 1- Giới thiệu withnote">
  <a:themeElements>
    <a:clrScheme name="Chủ đề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hủ đề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ủ đề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7f04c0d-d18a-494f-a4ee-dc80d38be3a9">
      <Terms xmlns="http://schemas.microsoft.com/office/infopath/2007/PartnerControls"/>
    </lcf76f155ced4ddcb4097134ff3c332f>
    <TaxCatchAll xmlns="5314e54c-1065-4f91-8872-b5da09cc45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CD2320CD967DC4C936B5BE3B6686F0E" ma:contentTypeVersion="10" ma:contentTypeDescription="Create a new document." ma:contentTypeScope="" ma:versionID="76972d3cdde5bfabc1342a8bd74a4e98">
  <xsd:schema xmlns:xsd="http://www.w3.org/2001/XMLSchema" xmlns:xs="http://www.w3.org/2001/XMLSchema" xmlns:p="http://schemas.microsoft.com/office/2006/metadata/properties" xmlns:ns2="97f04c0d-d18a-494f-a4ee-dc80d38be3a9" xmlns:ns3="5314e54c-1065-4f91-8872-b5da09cc453e" targetNamespace="http://schemas.microsoft.com/office/2006/metadata/properties" ma:root="true" ma:fieldsID="c5496e5e853219b441d0c6c643f605a2" ns2:_="" ns3:_="">
    <xsd:import namespace="97f04c0d-d18a-494f-a4ee-dc80d38be3a9"/>
    <xsd:import namespace="5314e54c-1065-4f91-8872-b5da09cc45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f04c0d-d18a-494f-a4ee-dc80d38be3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14e54c-1065-4f91-8872-b5da09cc453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e1d9f2f-845c-4015-84a0-220f7cf0710d}" ma:internalName="TaxCatchAll" ma:showField="CatchAllData" ma:web="5314e54c-1065-4f91-8872-b5da09cc45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4A5F7C-A16D-4EEC-8B8B-13EC2EC01782}">
  <ds:schemaRefs>
    <ds:schemaRef ds:uri="5314e54c-1065-4f91-8872-b5da09cc453e"/>
    <ds:schemaRef ds:uri="97f04c0d-d18a-494f-a4ee-dc80d38be3a9"/>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6BB4F61-7E66-45ED-A108-26095043B8FC}">
  <ds:schemaRefs>
    <ds:schemaRef ds:uri="http://schemas.microsoft.com/sharepoint/v3/contenttype/forms"/>
  </ds:schemaRefs>
</ds:datastoreItem>
</file>

<file path=customXml/itemProps3.xml><?xml version="1.0" encoding="utf-8"?>
<ds:datastoreItem xmlns:ds="http://schemas.openxmlformats.org/officeDocument/2006/customXml" ds:itemID="{2B327B4C-D5D3-47EC-9C8E-56D230AA31F8}">
  <ds:schemaRefs>
    <ds:schemaRef ds:uri="5314e54c-1065-4f91-8872-b5da09cc453e"/>
    <ds:schemaRef ds:uri="97f04c0d-d18a-494f-a4ee-dc80d38be3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DSA-chuong 1- Giới thiệu withnote</Template>
  <Application>Microsoft Office PowerPoint</Application>
  <PresentationFormat>On-screen Show (4:3)</PresentationFormat>
  <Slides>57</Slides>
  <Notes>9</Notes>
  <HiddenSlides>2</HiddenSlide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DSA-chuong 1- Giới thiệu withnote</vt:lpstr>
      <vt:lpstr>Chương 2: CẤU TRÚC MẢNG (ARRAYS) </vt:lpstr>
      <vt:lpstr>Định nghĩa</vt:lpstr>
      <vt:lpstr>Định nghĩa</vt:lpstr>
      <vt:lpstr>Cấu trúc lưu trữ của mảng</vt:lpstr>
      <vt:lpstr>Khai báo mảng</vt:lpstr>
      <vt:lpstr>Cách xác định địa chỉ</vt:lpstr>
      <vt:lpstr>Đặt điều kiện bài toán</vt:lpstr>
      <vt:lpstr>Lưu trữ kế tiếp đối với mảng 1 chiều (sequential storage allocation)</vt:lpstr>
      <vt:lpstr>Lưu trữ kế tiếp với mảng 1 chiều</vt:lpstr>
      <vt:lpstr>Lưu trữ kế tiếp mảng hai chiều</vt:lpstr>
      <vt:lpstr>Cài đặt mảng 1 chiều</vt:lpstr>
      <vt:lpstr>Cài đặt mảng 1 chiều </vt:lpstr>
      <vt:lpstr>Ví dụ cài đặt mảng 1 chiều trong C/C++</vt:lpstr>
      <vt:lpstr>Con trỏ và mảng trong C/C++</vt:lpstr>
      <vt:lpstr>Chú ý: con trỏ và mảng trong C/C++</vt:lpstr>
      <vt:lpstr>Cài đặt mảng 2 chiều</vt:lpstr>
      <vt:lpstr>Cài đặt mảng hai chiều: 2 cách bố trí</vt:lpstr>
      <vt:lpstr>Cài đặt mảng 2 chiều</vt:lpstr>
      <vt:lpstr>Cài đặt mảng 2 chiều</vt:lpstr>
      <vt:lpstr>Ví dụ cài đặt mảng 2 chiều trong C/C++</vt:lpstr>
      <vt:lpstr>Cài đặt mảng nhiều hơn 2 chiều</vt:lpstr>
      <vt:lpstr>Bài toán sắp xếp trên cấu trúc mảng</vt:lpstr>
      <vt:lpstr>Điều kiện bài toán sắp xếp</vt:lpstr>
      <vt:lpstr>Sắp xếp kiểu lựa chọn (Selection - sort)</vt:lpstr>
      <vt:lpstr>Giải thuật sắp xếp lựa chọn</vt:lpstr>
      <vt:lpstr>Giải thuật sắp xếp lựa chọn</vt:lpstr>
      <vt:lpstr>Sắp xếp kiểu thêm dần/chèn (Insertion sort)</vt:lpstr>
      <vt:lpstr>Giải thuật sắp xếp chèn</vt:lpstr>
      <vt:lpstr>Giải thuật sắp xếp chèn</vt:lpstr>
      <vt:lpstr>Sắp xếp đổi chỗ/nổi bọt  (Exchange/Bubble sort)</vt:lpstr>
      <vt:lpstr>PowerPoint Presentation</vt:lpstr>
      <vt:lpstr>Giải thuật sắp xếp nổi bọt</vt:lpstr>
      <vt:lpstr>Giải thuật sắp xếp nổi bọt</vt:lpstr>
      <vt:lpstr>Các giải thuật sắp xếp nâng cao</vt:lpstr>
      <vt:lpstr>Sắp xếp nhanh  (Quick sort)</vt:lpstr>
      <vt:lpstr>Sắp xếp nhanh</vt:lpstr>
      <vt:lpstr>Giải thuật phân đoạn</vt:lpstr>
      <vt:lpstr>Sắp xếp nhanh (Quick sort)</vt:lpstr>
      <vt:lpstr>Sắp xếp nhanh (Quick sort)</vt:lpstr>
      <vt:lpstr>Sắp xếp nhanh  (Quick sort)</vt:lpstr>
      <vt:lpstr>Sắp xếp nhanh – Cài đặt </vt:lpstr>
      <vt:lpstr>Sắp xếp nhanh – Cài đặt </vt:lpstr>
      <vt:lpstr>Ví dụ</vt:lpstr>
      <vt:lpstr>Độ phức tạp của giải thuật Quick_sort</vt:lpstr>
      <vt:lpstr>Sắp xếp trộn (Merge Sort)</vt:lpstr>
      <vt:lpstr>Giải thuật trộn</vt:lpstr>
      <vt:lpstr>Ví dụ </vt:lpstr>
      <vt:lpstr>Giải thuật trộn hai mảng </vt:lpstr>
      <vt:lpstr>Giải thuật trộn – cài đặt </vt:lpstr>
      <vt:lpstr>Bài toán tìm kiếm trên cấu trúc mảng</vt:lpstr>
      <vt:lpstr>Tìm kiếm tuần tự </vt:lpstr>
      <vt:lpstr>Tìm kiếm nhị phân </vt:lpstr>
      <vt:lpstr>Giải thuật tìm kiếm nhị phân</vt:lpstr>
      <vt:lpstr>Tìm kiếm nhị phân </vt:lpstr>
      <vt:lpstr>Đánh giá độ phức tạp</vt:lpstr>
      <vt:lpstr>Tổng kết</vt:lpstr>
      <vt:lpstr>Bài tập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 Kim Hue</dc:creator>
  <cp:revision>5</cp:revision>
  <cp:lastPrinted>2018-08-30T07:08:42Z</cp:lastPrinted>
  <dcterms:created xsi:type="dcterms:W3CDTF">2018-08-28T09:50:26Z</dcterms:created>
  <dcterms:modified xsi:type="dcterms:W3CDTF">2025-11-07T07:00:53Z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0x0101005CD2320CD967DC4C936B5BE3B6686F0E</vt:lpwstr>
  </property>
  <property fmtid="{D5CDD505-2E9C-101B-9397-08002B2CF9AE}" pid="3" name="MediaServiceImageTags">
    <vt:lpwstr/>
  </property>
</Properties>
</file>