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27"/>
  </p:notesMasterIdLst>
  <p:sldIdLst>
    <p:sldId id="283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4" r:id="rId11"/>
    <p:sldId id="292" r:id="rId12"/>
    <p:sldId id="293" r:id="rId13"/>
    <p:sldId id="295" r:id="rId14"/>
    <p:sldId id="296" r:id="rId15"/>
    <p:sldId id="297" r:id="rId16"/>
    <p:sldId id="298" r:id="rId17"/>
    <p:sldId id="299" r:id="rId18"/>
    <p:sldId id="304" r:id="rId19"/>
    <p:sldId id="300" r:id="rId20"/>
    <p:sldId id="301" r:id="rId21"/>
    <p:sldId id="302" r:id="rId22"/>
    <p:sldId id="303" r:id="rId23"/>
    <p:sldId id="305" r:id="rId24"/>
    <p:sldId id="306" r:id="rId25"/>
    <p:sldId id="307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3BEB8-C1B8-43DD-9B07-AEAF41E0B9FC}" v="6" dt="2024-12-17T07:17:09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ạ Thị Kim Huệ" userId="af176dfe-ebe0-47e4-99a4-e0f4d40f7313" providerId="ADAL" clId="{D683BEB8-C1B8-43DD-9B07-AEAF41E0B9FC}"/>
    <pc:docChg chg="modSld">
      <pc:chgData name="Tạ Thị Kim Huệ" userId="af176dfe-ebe0-47e4-99a4-e0f4d40f7313" providerId="ADAL" clId="{D683BEB8-C1B8-43DD-9B07-AEAF41E0B9FC}" dt="2024-12-17T07:17:09.304" v="5" actId="20577"/>
      <pc:docMkLst>
        <pc:docMk/>
      </pc:docMkLst>
      <pc:sldChg chg="modSp mod">
        <pc:chgData name="Tạ Thị Kim Huệ" userId="af176dfe-ebe0-47e4-99a4-e0f4d40f7313" providerId="ADAL" clId="{D683BEB8-C1B8-43DD-9B07-AEAF41E0B9FC}" dt="2024-12-17T07:15:39.648" v="4" actId="20577"/>
        <pc:sldMkLst>
          <pc:docMk/>
          <pc:sldMk cId="253982776" sldId="283"/>
        </pc:sldMkLst>
        <pc:spChg chg="mod">
          <ac:chgData name="Tạ Thị Kim Huệ" userId="af176dfe-ebe0-47e4-99a4-e0f4d40f7313" providerId="ADAL" clId="{D683BEB8-C1B8-43DD-9B07-AEAF41E0B9FC}" dt="2024-12-17T07:15:39.648" v="4" actId="20577"/>
          <ac:spMkLst>
            <pc:docMk/>
            <pc:sldMk cId="253982776" sldId="283"/>
            <ac:spMk id="4" creationId="{3531EDB7-4DDB-D895-BB62-DB59639EB447}"/>
          </ac:spMkLst>
        </pc:spChg>
      </pc:sldChg>
      <pc:sldChg chg="modSp mod">
        <pc:chgData name="Tạ Thị Kim Huệ" userId="af176dfe-ebe0-47e4-99a4-e0f4d40f7313" providerId="ADAL" clId="{D683BEB8-C1B8-43DD-9B07-AEAF41E0B9FC}" dt="2024-12-17T07:17:09.304" v="5" actId="20577"/>
        <pc:sldMkLst>
          <pc:docMk/>
          <pc:sldMk cId="869943839" sldId="289"/>
        </pc:sldMkLst>
        <pc:spChg chg="mod">
          <ac:chgData name="Tạ Thị Kim Huệ" userId="af176dfe-ebe0-47e4-99a4-e0f4d40f7313" providerId="ADAL" clId="{D683BEB8-C1B8-43DD-9B07-AEAF41E0B9FC}" dt="2024-12-17T07:17:09.304" v="5" actId="20577"/>
          <ac:spMkLst>
            <pc:docMk/>
            <pc:sldMk cId="869943839" sldId="289"/>
            <ac:spMk id="3" creationId="{E40DDD20-BE1E-AC97-0492-A923C8839881}"/>
          </ac:spMkLst>
        </pc:spChg>
      </pc:sldChg>
    </pc:docChg>
  </pc:docChgLst>
  <pc:docChgLst>
    <pc:chgData name="Ta Thi Kim Hue" userId="af176dfe-ebe0-47e4-99a4-e0f4d40f7313" providerId="ADAL" clId="{DBF09A49-3888-472D-8D36-C2CB88EB5EBF}"/>
    <pc:docChg chg="modSld">
      <pc:chgData name="Ta Thi Kim Hue" userId="af176dfe-ebe0-47e4-99a4-e0f4d40f7313" providerId="ADAL" clId="{DBF09A49-3888-472D-8D36-C2CB88EB5EBF}" dt="2024-06-13T12:02:29.688" v="0" actId="113"/>
      <pc:docMkLst>
        <pc:docMk/>
      </pc:docMkLst>
      <pc:sldChg chg="modSp mod">
        <pc:chgData name="Ta Thi Kim Hue" userId="af176dfe-ebe0-47e4-99a4-e0f4d40f7313" providerId="ADAL" clId="{DBF09A49-3888-472D-8D36-C2CB88EB5EBF}" dt="2024-06-13T12:02:29.688" v="0" actId="113"/>
        <pc:sldMkLst>
          <pc:docMk/>
          <pc:sldMk cId="2206775856" sldId="288"/>
        </pc:sldMkLst>
        <pc:spChg chg="mod">
          <ac:chgData name="Ta Thi Kim Hue" userId="af176dfe-ebe0-47e4-99a4-e0f4d40f7313" providerId="ADAL" clId="{DBF09A49-3888-472D-8D36-C2CB88EB5EBF}" dt="2024-06-13T12:02:29.688" v="0" actId="113"/>
          <ac:spMkLst>
            <pc:docMk/>
            <pc:sldMk cId="2206775856" sldId="288"/>
            <ac:spMk id="3" creationId="{05E288E3-0CB6-4581-69F4-7EF4A1332A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CE07FA-FC78-C547-AAE3-6E481BF3D787}" type="datetimeFigureOut">
              <a:rPr lang="en-VN" smtClean="0"/>
              <a:t>12/16/2024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1233C-FDEE-2544-B8B9-DECC994CF713}" type="slidenum">
              <a:rPr lang="en-VN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310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1233C-FDEE-2544-B8B9-DECC994CF713}" type="slidenum">
              <a:rPr lang="en-VN" smtClean="0"/>
              <a:t>24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79892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420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408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661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712248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231262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41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9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437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728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12/16/2024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20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81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31EDB7-4DDB-D895-BB62-DB59639EB447}"/>
              </a:ext>
            </a:extLst>
          </p:cNvPr>
          <p:cNvSpPr txBox="1"/>
          <p:nvPr/>
        </p:nvSpPr>
        <p:spPr>
          <a:xfrm>
            <a:off x="825500" y="3105834"/>
            <a:ext cx="697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Cây cân bằng AVL </a:t>
            </a:r>
          </a:p>
          <a:p>
            <a:r>
              <a:rPr lang="vi-VN" sz="3600" b="1" i="0">
                <a:effectLst/>
                <a:latin typeface="Arial" panose="020B0604020202020204" pitchFamily="34" charset="0"/>
              </a:rPr>
              <a:t>(A</a:t>
            </a:r>
            <a:r>
              <a:rPr lang="vi-VN" sz="3600" b="0" i="0">
                <a:effectLst/>
                <a:latin typeface="Arial" panose="020B0604020202020204" pitchFamily="34" charset="0"/>
              </a:rPr>
              <a:t>delson, </a:t>
            </a:r>
            <a:r>
              <a:rPr lang="vi-VN" sz="3600" b="1" i="0">
                <a:effectLst/>
                <a:latin typeface="Arial" panose="020B0604020202020204" pitchFamily="34" charset="0"/>
              </a:rPr>
              <a:t>V</a:t>
            </a:r>
            <a:r>
              <a:rPr lang="vi-VN" sz="3600" b="0" i="0">
                <a:effectLst/>
                <a:latin typeface="Arial" panose="020B0604020202020204" pitchFamily="34" charset="0"/>
              </a:rPr>
              <a:t>elski và </a:t>
            </a:r>
            <a:r>
              <a:rPr lang="vi-VN" sz="3600" b="1" i="0">
                <a:effectLst/>
                <a:latin typeface="Arial" panose="020B0604020202020204" pitchFamily="34" charset="0"/>
              </a:rPr>
              <a:t>L</a:t>
            </a:r>
            <a:r>
              <a:rPr lang="vi-VN" sz="3600" b="0" i="0">
                <a:effectLst/>
                <a:latin typeface="Arial" panose="020B0604020202020204" pitchFamily="34" charset="0"/>
              </a:rPr>
              <a:t>andis</a:t>
            </a:r>
            <a:r>
              <a:rPr lang="vi-VN" sz="3600" b="1" i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  <a:endParaRPr sz="36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8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AE6AFA-BFB3-DE43-5ED9-9606A147F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Khái niệm cây AVL</a:t>
            </a:r>
            <a:br>
              <a:rPr lang="vi" sz="2800" b="1" spc="-150">
                <a:solidFill>
                  <a:srgbClr val="D2533C"/>
                </a:solidFill>
                <a:latin typeface="Calibri"/>
              </a:rPr>
            </a:br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D1A60A-805A-F226-EE63-87BC233EDE9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92100" indent="-292100">
              <a:lnSpc>
                <a:spcPts val="3360"/>
              </a:lnSpc>
              <a:spcAft>
                <a:spcPts val="210"/>
              </a:spcAft>
            </a:pPr>
            <a:r>
              <a:rPr lang="vi" sz="2800">
                <a:solidFill>
                  <a:srgbClr val="292934"/>
                </a:solidFill>
                <a:latin typeface="Calibri"/>
              </a:rPr>
              <a:t>Khi xây dựng cây nhị phân tìm kiếm, ta muốn có kiểu cây nào hơn?</a:t>
            </a:r>
          </a:p>
          <a:p>
            <a:pPr marL="292100" indent="-292100">
              <a:lnSpc>
                <a:spcPts val="3360"/>
              </a:lnSpc>
              <a:spcAft>
                <a:spcPts val="210"/>
              </a:spcAft>
            </a:pPr>
            <a:r>
              <a:rPr lang="vi" sz="2800">
                <a:solidFill>
                  <a:srgbClr val="292934"/>
                </a:solidFill>
                <a:latin typeface="Calibri"/>
              </a:rPr>
              <a:t>Ví dụ: dựng cây từ dãy {3, 5, 8, 20, 18, 13, 22}</a:t>
            </a:r>
          </a:p>
          <a:p>
            <a:endParaRPr/>
          </a:p>
        </p:txBody>
      </p:sp>
      <p:pic>
        <p:nvPicPr>
          <p:cNvPr id="9" name="Picture 8" descr="A couple of circles with numbers&#10;&#10;Description automatically generated">
            <a:extLst>
              <a:ext uri="{FF2B5EF4-FFF2-40B4-BE49-F238E27FC236}">
                <a16:creationId xmlns:a16="http://schemas.microsoft.com/office/drawing/2014/main" id="{03CB9308-073D-E53E-6F41-C32700CB2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2536104"/>
            <a:ext cx="6235700" cy="327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7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821D5-C207-3AD3-5C07-60907A0A5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Khái niệm cây AVL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ACB84-DA5D-26F7-B6B3-53E6DD0FDB3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/>
              <a:t>Dựng một cây nhị phân tìm kiếm cân đối có tính chất sau </a:t>
            </a:r>
          </a:p>
          <a:p>
            <a:pPr lvl="1"/>
            <a:r>
              <a:rPr lang="en-VN"/>
              <a:t>Độ sâu của cây là Log(n)</a:t>
            </a:r>
          </a:p>
          <a:p>
            <a:pPr lvl="1"/>
            <a:r>
              <a:rPr lang="en-VN"/>
              <a:t>Phép chèn và xoá với thời gian là O(log n) trong mọi trường hợp </a:t>
            </a:r>
          </a:p>
          <a:p>
            <a:r>
              <a:rPr lang="en-VN"/>
              <a:t>Cây AVL là một cây nhị phân tìm kiếm thoả mãn điều kiện cân bằng </a:t>
            </a:r>
          </a:p>
          <a:p>
            <a:r>
              <a:rPr lang="vi" sz="2800">
                <a:solidFill>
                  <a:srgbClr val="292934"/>
                </a:solidFill>
                <a:latin typeface="Calibri"/>
              </a:rPr>
              <a:t>Với mọi nút X, chiều cao của hai cây con trái và phải của X sai khác không quá 1.</a:t>
            </a:r>
            <a:endParaRPr lang="en-VN"/>
          </a:p>
          <a:p>
            <a:r>
              <a:rPr lang="vi" sz="2800">
                <a:solidFill>
                  <a:srgbClr val="292934"/>
                </a:solidFill>
                <a:latin typeface="Calibri"/>
              </a:rPr>
              <a:t>Quy ước cây rỗng có chiều cao -1.</a:t>
            </a:r>
            <a:endParaRPr lang="en-VN"/>
          </a:p>
          <a:p>
            <a:endParaRPr lang="en-VN"/>
          </a:p>
          <a:p>
            <a:endParaRPr lang="en-VN"/>
          </a:p>
          <a:p>
            <a:endParaRPr lang="en-VN"/>
          </a:p>
        </p:txBody>
      </p:sp>
      <p:pic>
        <p:nvPicPr>
          <p:cNvPr id="5" name="Picture 4" descr="A diagram of a tree&#10;&#10;Description automatically generated">
            <a:extLst>
              <a:ext uri="{FF2B5EF4-FFF2-40B4-BE49-F238E27FC236}">
                <a16:creationId xmlns:a16="http://schemas.microsoft.com/office/drawing/2014/main" id="{F4D42681-9941-7EE2-0841-7A1E6F6FC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738" y="4328287"/>
            <a:ext cx="2431062" cy="195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88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F8779-A367-86D6-AF1C-5433CFCE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Ví dụ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1180B-EB80-4780-AB72-75D0781F7E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C</a:t>
            </a:r>
            <a:r>
              <a:rPr lang="en-VN"/>
              <a:t>ây nào là cây AVL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D3B57A-F91B-E293-49BB-B301841A9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7467600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47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80AF-972C-3F28-A8E6-C9398547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</a:t>
            </a:r>
            <a:r>
              <a:rPr lang="en-VN"/>
              <a:t>hèn và xóa trên cây AVL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49D3B-181D-5476-0921-01598D8F48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246686"/>
            <a:ext cx="8674100" cy="2616200"/>
          </a:xfrm>
        </p:spPr>
        <p:txBody>
          <a:bodyPr/>
          <a:lstStyle/>
          <a:p>
            <a:pPr marL="0" indent="0">
              <a:buNone/>
            </a:pPr>
            <a:endParaRPr lang="en-VN"/>
          </a:p>
          <a:p>
            <a:r>
              <a:rPr lang="vi" sz="2800">
                <a:solidFill>
                  <a:srgbClr val="292934"/>
                </a:solidFill>
                <a:latin typeface="Calibri"/>
              </a:rPr>
              <a:t>Thực hiện chèn/xóa như trong cây nhị phân tìm kiếm thông thường.</a:t>
            </a:r>
          </a:p>
          <a:p>
            <a:pPr marL="289560" indent="-266700">
              <a:lnSpc>
                <a:spcPts val="3360"/>
              </a:lnSpc>
              <a:spcAft>
                <a:spcPts val="210"/>
              </a:spcAft>
            </a:pPr>
            <a:r>
              <a:rPr lang="vi" sz="2800">
                <a:solidFill>
                  <a:srgbClr val="292934"/>
                </a:solidFill>
                <a:latin typeface="Calibri"/>
              </a:rPr>
              <a:t>Sau khi chèn/xóa, điều kiện cân bằng có thể bị vi phạm: </a:t>
            </a:r>
          </a:p>
          <a:p>
            <a:pPr marL="746760" lvl="1" indent="-266700">
              <a:lnSpc>
                <a:spcPts val="3360"/>
              </a:lnSpc>
              <a:spcAft>
                <a:spcPts val="210"/>
              </a:spcAft>
            </a:pPr>
            <a:r>
              <a:rPr lang="vi">
                <a:solidFill>
                  <a:srgbClr val="292934"/>
                </a:solidFill>
                <a:latin typeface="Calibri"/>
              </a:rPr>
              <a:t>Sửa bằng </a:t>
            </a:r>
            <a:r>
              <a:rPr lang="vi" b="1">
                <a:solidFill>
                  <a:srgbClr val="292934"/>
                </a:solidFill>
                <a:latin typeface="Calibri"/>
              </a:rPr>
              <a:t>phép xoay</a:t>
            </a:r>
            <a:r>
              <a:rPr lang="vi">
                <a:solidFill>
                  <a:srgbClr val="292934"/>
                </a:solidFill>
                <a:latin typeface="Calibri"/>
              </a:rPr>
              <a:t>.</a:t>
            </a:r>
          </a:p>
          <a:p>
            <a:pPr marL="746760" lvl="1" indent="-266700">
              <a:lnSpc>
                <a:spcPts val="3360"/>
              </a:lnSpc>
              <a:spcAft>
                <a:spcPts val="210"/>
              </a:spcAft>
            </a:pPr>
            <a:r>
              <a:rPr lang="vi">
                <a:solidFill>
                  <a:srgbClr val="292934"/>
                </a:solidFill>
                <a:latin typeface="Calibri"/>
              </a:rPr>
              <a:t>Sau phép xoay, cây trở lại cân bằng.</a:t>
            </a:r>
          </a:p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5B072-C2EB-EEEC-C701-CB84BFBF9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3241399"/>
            <a:ext cx="5556471" cy="225092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D11B00-ADA2-F37C-FE8D-6100957F84E5}"/>
              </a:ext>
            </a:extLst>
          </p:cNvPr>
          <p:cNvSpPr/>
          <p:nvPr/>
        </p:nvSpPr>
        <p:spPr>
          <a:xfrm>
            <a:off x="1943100" y="5526410"/>
            <a:ext cx="6144768" cy="68884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just">
              <a:lnSpc>
                <a:spcPts val="2880"/>
              </a:lnSpc>
              <a:spcBef>
                <a:spcPts val="1050"/>
              </a:spcBef>
            </a:pPr>
            <a:r>
              <a:rPr lang="vi" sz="2300">
                <a:solidFill>
                  <a:srgbClr val="292934"/>
                </a:solidFill>
                <a:latin typeface="Calibri"/>
              </a:rPr>
              <a:t>Chèn 6 làm điều kiện cân    Sửa bằng phép xoay</a:t>
            </a:r>
          </a:p>
          <a:p>
            <a:pPr indent="0" algn="just">
              <a:lnSpc>
                <a:spcPts val="2880"/>
              </a:lnSpc>
            </a:pPr>
            <a:r>
              <a:rPr lang="vi" sz="2300">
                <a:solidFill>
                  <a:srgbClr val="292934"/>
                </a:solidFill>
                <a:latin typeface="Calibri"/>
              </a:rPr>
              <a:t>bằng bị vi phạm tại nút 8.    quanh nút 8.</a:t>
            </a:r>
          </a:p>
        </p:txBody>
      </p:sp>
    </p:spTree>
    <p:extLst>
      <p:ext uri="{BB962C8B-B14F-4D97-AF65-F5344CB8AC3E}">
        <p14:creationId xmlns:p14="http://schemas.microsoft.com/office/powerpoint/2010/main" val="1738802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71F2-1919-89DC-B81E-D7E83013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</a:t>
            </a:r>
            <a:r>
              <a:rPr lang="en-VN"/>
              <a:t>i phạm điều kiện cân bằng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288E3-0CB6-4581-69F4-7EF4A1332AE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" sz="2800">
                <a:solidFill>
                  <a:srgbClr val="292934"/>
                </a:solidFill>
                <a:latin typeface="Calibri"/>
              </a:rPr>
              <a:t>Nếu điều kiện cân bằng bị vi phạm, những nút nào cần được xoay?</a:t>
            </a:r>
          </a:p>
          <a:p>
            <a:r>
              <a:rPr lang="vi" sz="2800">
                <a:solidFill>
                  <a:srgbClr val="292934"/>
                </a:solidFill>
                <a:latin typeface="Calibri"/>
              </a:rPr>
              <a:t>Chỉ những nút trên đường đi từ điểm chèn ngược về gốc có thể bị ảnh hưởng </a:t>
            </a:r>
          </a:p>
          <a:p>
            <a:r>
              <a:rPr lang="vi" sz="2800">
                <a:solidFill>
                  <a:srgbClr val="292934"/>
                </a:solidFill>
                <a:latin typeface="Calibri"/>
              </a:rPr>
              <a:t>Chỉ cần tái cân bằng </a:t>
            </a:r>
            <a:r>
              <a:rPr lang="vi" sz="2800" b="1">
                <a:solidFill>
                  <a:srgbClr val="292934"/>
                </a:solidFill>
                <a:latin typeface="Calibri"/>
              </a:rPr>
              <a:t>dùng phép xoay tại nút sâu nhất có điều kiện cân bằng bị vi phạm </a:t>
            </a:r>
          </a:p>
          <a:p>
            <a:r>
              <a:rPr lang="vi" sz="2800">
                <a:solidFill>
                  <a:srgbClr val="292934"/>
                </a:solidFill>
                <a:latin typeface="Calibri"/>
              </a:rPr>
              <a:t>Toàn bộ cây sẽ được tái cân bằng.</a:t>
            </a:r>
          </a:p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06775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E712B-8B6A-685F-6E6E-DE6013C6B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Các trường hợp vi phạm 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DDD20-BE1E-AC97-0492-A923C88398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" sz="2800">
                <a:solidFill>
                  <a:srgbClr val="292934"/>
                </a:solidFill>
                <a:latin typeface="Calibri"/>
              </a:rPr>
              <a:t>Giả sử nút k là nơi xảy ra vi phạm. Có 4 trường hợp</a:t>
            </a:r>
            <a:endParaRPr lang="en-VN"/>
          </a:p>
          <a:p>
            <a:pPr marL="971550" lvl="1" indent="-514350">
              <a:buFont typeface="+mj-lt"/>
              <a:buAutoNum type="arabicPeriod"/>
            </a:pPr>
            <a:r>
              <a:rPr lang="vi">
                <a:solidFill>
                  <a:srgbClr val="292934"/>
                </a:solidFill>
                <a:latin typeface="Calibri"/>
              </a:rPr>
              <a:t>trái-trái: chèn vào cây con trái của con trái của k</a:t>
            </a:r>
            <a:endParaRPr lang="en-VN"/>
          </a:p>
          <a:p>
            <a:pPr marL="971550" lvl="1" indent="-514350">
              <a:buFont typeface="+mj-lt"/>
              <a:buAutoNum type="arabicPeriod"/>
            </a:pPr>
            <a:r>
              <a:rPr lang="vi">
                <a:solidFill>
                  <a:srgbClr val="292934"/>
                </a:solidFill>
                <a:latin typeface="Calibri"/>
              </a:rPr>
              <a:t>trái-phải: chèn vào cây con phải của con trái của k</a:t>
            </a:r>
          </a:p>
          <a:p>
            <a:pPr marL="971550" lvl="1" indent="-514350">
              <a:buFont typeface="+mj-lt"/>
              <a:buAutoNum type="arabicPeriod"/>
            </a:pPr>
            <a:r>
              <a:rPr lang="vi">
                <a:solidFill>
                  <a:srgbClr val="292934"/>
                </a:solidFill>
                <a:latin typeface="Calibri"/>
              </a:rPr>
              <a:t>phải-trái: chèn vào cây con trái của con phải của k</a:t>
            </a:r>
          </a:p>
          <a:p>
            <a:pPr marL="971550" lvl="1" indent="-514350">
              <a:buFont typeface="+mj-lt"/>
              <a:buAutoNum type="arabicPeriod"/>
            </a:pPr>
            <a:r>
              <a:rPr lang="vi">
                <a:solidFill>
                  <a:srgbClr val="292934"/>
                </a:solidFill>
                <a:latin typeface="Calibri"/>
              </a:rPr>
              <a:t>phải-phải: chèn vào cây con phải của con phải của k</a:t>
            </a:r>
          </a:p>
          <a:p>
            <a:r>
              <a:rPr lang="vi" sz="2800">
                <a:solidFill>
                  <a:srgbClr val="292934"/>
                </a:solidFill>
                <a:latin typeface="Calibri"/>
              </a:rPr>
              <a:t>Hai trường hợp 1 và 4 (chèn ngoài) tương tự nhau:</a:t>
            </a:r>
          </a:p>
          <a:p>
            <a:pPr lvl="1"/>
            <a:r>
              <a:rPr lang="vi">
                <a:solidFill>
                  <a:srgbClr val="292934"/>
                </a:solidFill>
                <a:latin typeface="Calibri"/>
              </a:rPr>
              <a:t>Phép xoay đơn để tái cân bằng.</a:t>
            </a:r>
          </a:p>
          <a:p>
            <a:r>
              <a:rPr lang="vi" sz="2800">
                <a:solidFill>
                  <a:srgbClr val="292934"/>
                </a:solidFill>
                <a:latin typeface="Calibri"/>
              </a:rPr>
              <a:t>Hai trường hợp 2 và 3 (chèn trong) tương tự nhau:</a:t>
            </a:r>
          </a:p>
          <a:p>
            <a:pPr lvl="1"/>
            <a:r>
              <a:rPr lang="vi">
                <a:solidFill>
                  <a:srgbClr val="292934"/>
                </a:solidFill>
                <a:latin typeface="Calibri"/>
              </a:rPr>
              <a:t>Phép xoay kép để tái cân bằng.</a:t>
            </a:r>
          </a:p>
          <a:p>
            <a:pPr marL="0" indent="0">
              <a:buNone/>
            </a:pPr>
            <a:endParaRPr lang="vi" sz="2800">
              <a:solidFill>
                <a:srgbClr val="292934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9943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6D08-9871-A46D-CAF7-1F09454C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Kiểu dữ liệu của các nút </a:t>
            </a: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7D5DBA-09DA-7554-A211-2CA0C522E6F7}"/>
              </a:ext>
            </a:extLst>
          </p:cNvPr>
          <p:cNvSpPr/>
          <p:nvPr/>
        </p:nvSpPr>
        <p:spPr>
          <a:xfrm>
            <a:off x="362239" y="912383"/>
            <a:ext cx="8099180" cy="525659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2568"/>
              </a:lnSpc>
              <a:spcBef>
                <a:spcPts val="1680"/>
              </a:spcBef>
            </a:pPr>
            <a:r>
              <a:rPr lang="en-US" sz="1700">
                <a:solidFill>
                  <a:srgbClr val="292934"/>
                </a:solidFill>
                <a:latin typeface="Consolas"/>
              </a:rPr>
              <a:t>struct </a:t>
            </a:r>
            <a:r>
              <a:rPr lang="vi" sz="1700">
                <a:solidFill>
                  <a:srgbClr val="292934"/>
                </a:solidFill>
                <a:latin typeface="Consolas"/>
              </a:rPr>
              <a:t>AvlNode {</a:t>
            </a:r>
          </a:p>
          <a:p>
            <a:pPr marL="511556" indent="0">
              <a:lnSpc>
                <a:spcPts val="2568"/>
              </a:lnSpc>
            </a:pPr>
            <a:r>
              <a:rPr lang="vi" sz="1700">
                <a:solidFill>
                  <a:srgbClr val="292934"/>
                </a:solidFill>
                <a:latin typeface="Consolas"/>
              </a:rPr>
              <a:t>T elem;</a:t>
            </a:r>
          </a:p>
          <a:p>
            <a:pPr marL="511556" indent="0">
              <a:lnSpc>
                <a:spcPts val="2568"/>
              </a:lnSpc>
            </a:pPr>
            <a:r>
              <a:rPr lang="vi" sz="1700">
                <a:solidFill>
                  <a:srgbClr val="292934"/>
                </a:solidFill>
                <a:latin typeface="Consolas"/>
              </a:rPr>
              <a:t>AvlNode * </a:t>
            </a:r>
            <a:r>
              <a:rPr lang="en-US" sz="1700">
                <a:solidFill>
                  <a:srgbClr val="292934"/>
                </a:solidFill>
                <a:latin typeface="Consolas"/>
              </a:rPr>
              <a:t>left;</a:t>
            </a:r>
          </a:p>
          <a:p>
            <a:pPr marL="511556" indent="0">
              <a:lnSpc>
                <a:spcPts val="2568"/>
              </a:lnSpc>
            </a:pPr>
            <a:r>
              <a:rPr lang="vi" sz="1700">
                <a:solidFill>
                  <a:srgbClr val="292934"/>
                </a:solidFill>
                <a:latin typeface="Consolas"/>
              </a:rPr>
              <a:t>AvlNode * </a:t>
            </a:r>
            <a:r>
              <a:rPr lang="en-US" sz="1700">
                <a:solidFill>
                  <a:srgbClr val="292934"/>
                </a:solidFill>
                <a:latin typeface="Consolas"/>
              </a:rPr>
              <a:t>right;</a:t>
            </a:r>
          </a:p>
          <a:p>
            <a:pPr marL="511556" indent="0">
              <a:lnSpc>
                <a:spcPts val="2568"/>
              </a:lnSpc>
            </a:pPr>
            <a:r>
              <a:rPr lang="vi" sz="1700">
                <a:solidFill>
                  <a:srgbClr val="292934"/>
                </a:solidFill>
                <a:latin typeface="Consolas"/>
              </a:rPr>
              <a:t>int </a:t>
            </a:r>
            <a:r>
              <a:rPr lang="en-US" sz="1700">
                <a:solidFill>
                  <a:srgbClr val="292934"/>
                </a:solidFill>
                <a:latin typeface="Consolas"/>
              </a:rPr>
              <a:t>height; </a:t>
            </a:r>
            <a:r>
              <a:rPr lang="vi" sz="1700">
                <a:solidFill>
                  <a:srgbClr val="292934"/>
                </a:solidFill>
                <a:latin typeface="Consolas"/>
              </a:rPr>
              <a:t>// Chiều cao của nút </a:t>
            </a:r>
          </a:p>
          <a:p>
            <a:pPr marL="511556" indent="0">
              <a:lnSpc>
                <a:spcPts val="2568"/>
              </a:lnSpc>
            </a:pPr>
            <a:r>
              <a:rPr lang="vi" sz="1700">
                <a:solidFill>
                  <a:srgbClr val="292934"/>
                </a:solidFill>
                <a:latin typeface="Consolas"/>
              </a:rPr>
              <a:t>AvlNode(T e, AvlNode * l, AvlNode * r, int h) { </a:t>
            </a:r>
          </a:p>
          <a:p>
            <a:pPr marL="511556" indent="0">
              <a:lnSpc>
                <a:spcPts val="2568"/>
              </a:lnSpc>
            </a:pPr>
            <a:r>
              <a:rPr lang="vi" sz="1700">
                <a:solidFill>
                  <a:srgbClr val="292934"/>
                </a:solidFill>
                <a:latin typeface="Consolas"/>
              </a:rPr>
              <a:t>	elem = e; </a:t>
            </a:r>
          </a:p>
          <a:p>
            <a:pPr marL="511556" indent="0">
              <a:lnSpc>
                <a:spcPts val="2568"/>
              </a:lnSpc>
            </a:pPr>
            <a:r>
              <a:rPr lang="vi" sz="1700">
                <a:solidFill>
                  <a:srgbClr val="292934"/>
                </a:solidFill>
                <a:latin typeface="Consolas"/>
              </a:rPr>
              <a:t>	</a:t>
            </a:r>
            <a:r>
              <a:rPr lang="en-US" sz="1700">
                <a:solidFill>
                  <a:srgbClr val="292934"/>
                </a:solidFill>
                <a:latin typeface="Consolas"/>
              </a:rPr>
              <a:t>left </a:t>
            </a:r>
            <a:r>
              <a:rPr lang="vi" sz="1700">
                <a:solidFill>
                  <a:srgbClr val="292934"/>
                </a:solidFill>
                <a:latin typeface="Consolas"/>
              </a:rPr>
              <a:t>= l; </a:t>
            </a:r>
          </a:p>
          <a:p>
            <a:pPr marL="511556" indent="0">
              <a:lnSpc>
                <a:spcPts val="2568"/>
              </a:lnSpc>
            </a:pPr>
            <a:r>
              <a:rPr lang="vi" sz="1700">
                <a:solidFill>
                  <a:srgbClr val="292934"/>
                </a:solidFill>
                <a:latin typeface="Consolas"/>
              </a:rPr>
              <a:t>	right = r; </a:t>
            </a:r>
          </a:p>
          <a:p>
            <a:pPr marL="511556" indent="0">
              <a:lnSpc>
                <a:spcPts val="2568"/>
              </a:lnSpc>
            </a:pPr>
            <a:r>
              <a:rPr lang="vi" sz="1700">
                <a:solidFill>
                  <a:srgbClr val="292934"/>
                </a:solidFill>
                <a:latin typeface="Consolas"/>
              </a:rPr>
              <a:t>	height = h;</a:t>
            </a:r>
          </a:p>
          <a:p>
            <a:pPr marL="511556" indent="0">
              <a:spcAft>
                <a:spcPts val="420"/>
              </a:spcAft>
            </a:pPr>
            <a:r>
              <a:rPr lang="vi" sz="1700">
                <a:solidFill>
                  <a:srgbClr val="292934"/>
                </a:solidFill>
                <a:latin typeface="Consolas"/>
              </a:rPr>
              <a:t>}</a:t>
            </a:r>
          </a:p>
          <a:p>
            <a:pPr indent="0">
              <a:spcAft>
                <a:spcPts val="1050"/>
              </a:spcAft>
            </a:pPr>
            <a:r>
              <a:rPr lang="vi" sz="1700">
                <a:solidFill>
                  <a:srgbClr val="292934"/>
                </a:solidFill>
                <a:latin typeface="Consolas"/>
              </a:rPr>
              <a:t>};</a:t>
            </a:r>
          </a:p>
          <a:p>
            <a:pPr marR="2418588" indent="0">
              <a:lnSpc>
                <a:spcPts val="2568"/>
              </a:lnSpc>
            </a:pPr>
            <a:r>
              <a:rPr lang="vi" sz="1700">
                <a:solidFill>
                  <a:srgbClr val="292934"/>
                </a:solidFill>
                <a:latin typeface="Consolas"/>
              </a:rPr>
              <a:t>// Hàm trả về chiều cao của nút. </a:t>
            </a:r>
          </a:p>
          <a:p>
            <a:pPr marR="2418588" indent="0">
              <a:lnSpc>
                <a:spcPts val="2568"/>
              </a:lnSpc>
            </a:pPr>
            <a:r>
              <a:rPr lang="vi" sz="1700">
                <a:solidFill>
                  <a:srgbClr val="292934"/>
                </a:solidFill>
                <a:latin typeface="Consolas"/>
              </a:rPr>
              <a:t>int height(AvlNode * t) {</a:t>
            </a:r>
          </a:p>
          <a:p>
            <a:pPr marL="511556" indent="0">
              <a:lnSpc>
                <a:spcPts val="2568"/>
              </a:lnSpc>
            </a:pPr>
            <a:r>
              <a:rPr lang="en-US" sz="1700">
                <a:solidFill>
                  <a:srgbClr val="292934"/>
                </a:solidFill>
                <a:latin typeface="Consolas"/>
              </a:rPr>
              <a:t>return </a:t>
            </a:r>
            <a:r>
              <a:rPr lang="vi" sz="1700">
                <a:solidFill>
                  <a:srgbClr val="292934"/>
                </a:solidFill>
                <a:latin typeface="Consolas"/>
              </a:rPr>
              <a:t>t == </a:t>
            </a:r>
            <a:r>
              <a:rPr lang="en-US" sz="1700">
                <a:solidFill>
                  <a:srgbClr val="292934"/>
                </a:solidFill>
                <a:latin typeface="Consolas"/>
              </a:rPr>
              <a:t>NULL </a:t>
            </a:r>
            <a:r>
              <a:rPr lang="vi" sz="1700">
                <a:solidFill>
                  <a:srgbClr val="292934"/>
                </a:solidFill>
                <a:latin typeface="Consolas"/>
              </a:rPr>
              <a:t>? -1 : t-&gt;height;</a:t>
            </a:r>
          </a:p>
          <a:p>
            <a:pPr marL="511556" indent="0">
              <a:lnSpc>
                <a:spcPts val="2568"/>
              </a:lnSpc>
            </a:pPr>
            <a:r>
              <a:rPr lang="vi" sz="1700">
                <a:solidFill>
                  <a:srgbClr val="29293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9597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6A69-BC4D-478D-9A63-5CEA9A1C8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Phép xoay đơn (trường hợp 1)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7CDF9-6CDF-AE4D-9405-FC5FD79955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3635063"/>
            <a:ext cx="8674100" cy="2150000"/>
          </a:xfrm>
        </p:spPr>
        <p:txBody>
          <a:bodyPr/>
          <a:lstStyle/>
          <a:p>
            <a:r>
              <a:rPr lang="vi" sz="2800">
                <a:solidFill>
                  <a:srgbClr val="292934"/>
                </a:solidFill>
                <a:latin typeface="Calibri"/>
              </a:rPr>
              <a:t>Thay nút k</a:t>
            </a:r>
            <a:r>
              <a:rPr lang="vi" sz="2800" baseline="-25000">
                <a:solidFill>
                  <a:srgbClr val="292934"/>
                </a:solidFill>
                <a:latin typeface="Calibri"/>
              </a:rPr>
              <a:t>2</a:t>
            </a:r>
            <a:r>
              <a:rPr lang="vi" sz="2800">
                <a:solidFill>
                  <a:srgbClr val="292934"/>
                </a:solidFill>
                <a:latin typeface="Calibri"/>
              </a:rPr>
              <a:t> bằng nút k</a:t>
            </a:r>
            <a:r>
              <a:rPr lang="vi" baseline="-25000">
                <a:solidFill>
                  <a:srgbClr val="292934"/>
                </a:solidFill>
                <a:latin typeface="Calibri"/>
              </a:rPr>
              <a:t>1</a:t>
            </a:r>
            <a:endParaRPr lang="vi" sz="2800" baseline="-25000">
              <a:solidFill>
                <a:srgbClr val="292934"/>
              </a:solidFill>
              <a:latin typeface="Calibri"/>
            </a:endParaRPr>
          </a:p>
          <a:p>
            <a:r>
              <a:rPr lang="vi" sz="2800">
                <a:solidFill>
                  <a:srgbClr val="292934"/>
                </a:solidFill>
                <a:latin typeface="Calibri"/>
              </a:rPr>
              <a:t>Cho nút k</a:t>
            </a:r>
            <a:r>
              <a:rPr lang="vi" sz="2800" baseline="-25000">
                <a:solidFill>
                  <a:srgbClr val="292934"/>
                </a:solidFill>
                <a:latin typeface="Calibri"/>
              </a:rPr>
              <a:t>2</a:t>
            </a:r>
            <a:r>
              <a:rPr lang="vi" sz="2800">
                <a:solidFill>
                  <a:srgbClr val="292934"/>
                </a:solidFill>
                <a:latin typeface="Calibri"/>
              </a:rPr>
              <a:t> trở thành con phải của nút k</a:t>
            </a:r>
            <a:r>
              <a:rPr lang="vi" baseline="-25000">
                <a:solidFill>
                  <a:srgbClr val="292934"/>
                </a:solidFill>
                <a:latin typeface="Calibri"/>
              </a:rPr>
              <a:t>1</a:t>
            </a:r>
            <a:endParaRPr lang="vi" sz="2800" baseline="-25000">
              <a:solidFill>
                <a:srgbClr val="292934"/>
              </a:solidFill>
              <a:latin typeface="Calibri"/>
            </a:endParaRPr>
          </a:p>
          <a:p>
            <a:r>
              <a:rPr lang="vi" sz="2800">
                <a:solidFill>
                  <a:srgbClr val="292934"/>
                </a:solidFill>
                <a:latin typeface="Calibri"/>
              </a:rPr>
              <a:t>Cho cây con Y trở thành cây con trái của nút k</a:t>
            </a:r>
            <a:r>
              <a:rPr lang="vi" sz="2800" baseline="-25000">
                <a:solidFill>
                  <a:srgbClr val="292934"/>
                </a:solidFill>
                <a:latin typeface="Calibri"/>
              </a:rPr>
              <a:t>2</a:t>
            </a:r>
            <a:r>
              <a:rPr lang="vi" sz="2800">
                <a:solidFill>
                  <a:srgbClr val="292934"/>
                </a:solidFill>
                <a:latin typeface="Calibri"/>
              </a:rPr>
              <a:t>.</a:t>
            </a:r>
          </a:p>
          <a:p>
            <a:r>
              <a:rPr lang="vi" sz="2800">
                <a:solidFill>
                  <a:srgbClr val="292934"/>
                </a:solidFill>
                <a:latin typeface="Calibri"/>
              </a:rPr>
              <a:t>Với trường hợp 4, cách làm tương tự (xoay theo chiều ngược lại).</a:t>
            </a:r>
          </a:p>
          <a:p>
            <a:endParaRPr lang="en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C8B4EB-BB48-BE61-DC70-123093338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" y="1005840"/>
            <a:ext cx="8823960" cy="24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21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6ED93-773D-729F-560F-6DDDFF372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Phép xoay đơn (trường hợp 1)</a:t>
            </a: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807374-B7D6-7C45-10F2-A25C2C17892C}"/>
              </a:ext>
            </a:extLst>
          </p:cNvPr>
          <p:cNvSpPr/>
          <p:nvPr/>
        </p:nvSpPr>
        <p:spPr>
          <a:xfrm>
            <a:off x="560832" y="1441704"/>
            <a:ext cx="5541264" cy="24079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630"/>
              </a:spcAft>
            </a:pPr>
            <a:r>
              <a:rPr lang="en-US" sz="2000">
                <a:solidFill>
                  <a:srgbClr val="292934"/>
                </a:solidFill>
                <a:latin typeface="Consolas"/>
              </a:rPr>
              <a:t>void </a:t>
            </a:r>
            <a:r>
              <a:rPr lang="vi" sz="2000">
                <a:solidFill>
                  <a:srgbClr val="292934"/>
                </a:solidFill>
                <a:latin typeface="Consolas"/>
              </a:rPr>
              <a:t>rotateWithLeftChild(AvlNode * &amp; k2)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BFDCA9-37D4-FBB9-EDE9-FD77B9CC1B95}"/>
              </a:ext>
            </a:extLst>
          </p:cNvPr>
          <p:cNvSpPr/>
          <p:nvPr/>
        </p:nvSpPr>
        <p:spPr>
          <a:xfrm>
            <a:off x="569976" y="1813560"/>
            <a:ext cx="91440" cy="23164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630"/>
              </a:spcAft>
            </a:pPr>
            <a:r>
              <a:rPr lang="vi" sz="2000">
                <a:solidFill>
                  <a:srgbClr val="292934"/>
                </a:solidFill>
                <a:latin typeface="Consolas"/>
              </a:rPr>
              <a:t>{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F4AB33-3BD5-C982-D9CB-3A0FFFA549F3}"/>
              </a:ext>
            </a:extLst>
          </p:cNvPr>
          <p:cNvSpPr/>
          <p:nvPr/>
        </p:nvSpPr>
        <p:spPr>
          <a:xfrm>
            <a:off x="1109472" y="2179320"/>
            <a:ext cx="3304032" cy="96621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2880"/>
              </a:lnSpc>
            </a:pPr>
            <a:r>
              <a:rPr lang="vi" sz="2000">
                <a:solidFill>
                  <a:srgbClr val="292934"/>
                </a:solidFill>
                <a:latin typeface="Consolas"/>
              </a:rPr>
              <a:t>AvlNode * k1 = k2-&gt;left; k2-&gt;left = k1-&gt;right; k1-&gt;right = k2;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B29298-AD47-1246-1F31-95E4030FB410}"/>
              </a:ext>
            </a:extLst>
          </p:cNvPr>
          <p:cNvSpPr/>
          <p:nvPr/>
        </p:nvSpPr>
        <p:spPr>
          <a:xfrm>
            <a:off x="1130808" y="3270504"/>
            <a:ext cx="7342632" cy="24079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2880"/>
              </a:lnSpc>
            </a:pPr>
            <a:r>
              <a:rPr lang="vi" sz="2000">
                <a:solidFill>
                  <a:srgbClr val="292934"/>
                </a:solidFill>
                <a:latin typeface="Consolas"/>
              </a:rPr>
              <a:t>k2-&gt;height = max(height(k2-&gt;left), height(k2-&gt;right))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320806-D5A2-5660-A092-C74C1CB2920F}"/>
              </a:ext>
            </a:extLst>
          </p:cNvPr>
          <p:cNvSpPr/>
          <p:nvPr/>
        </p:nvSpPr>
        <p:spPr>
          <a:xfrm>
            <a:off x="1130808" y="3624072"/>
            <a:ext cx="7083552" cy="97231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1803400" algn="just">
              <a:lnSpc>
                <a:spcPts val="2880"/>
              </a:lnSpc>
            </a:pPr>
            <a:r>
              <a:rPr lang="vi" sz="2000">
                <a:solidFill>
                  <a:srgbClr val="292934"/>
                </a:solidFill>
                <a:latin typeface="Consolas"/>
              </a:rPr>
              <a:t>+ 1; // Hàm </a:t>
            </a:r>
            <a:r>
              <a:rPr lang="en-US" sz="2000">
                <a:solidFill>
                  <a:srgbClr val="292934"/>
                </a:solidFill>
                <a:latin typeface="Consolas"/>
              </a:rPr>
              <a:t>max </a:t>
            </a:r>
            <a:r>
              <a:rPr lang="vi" sz="2000">
                <a:solidFill>
                  <a:srgbClr val="292934"/>
                </a:solidFill>
                <a:latin typeface="Consolas"/>
              </a:rPr>
              <a:t>trả về giá trị lớn hơn k1-&gt;height = max(height(k1-&gt;left), k2-&gt;height) + 1; k2 = k1;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2649CD-A537-8D9B-32B4-62BE4731424A}"/>
              </a:ext>
            </a:extLst>
          </p:cNvPr>
          <p:cNvSpPr/>
          <p:nvPr/>
        </p:nvSpPr>
        <p:spPr>
          <a:xfrm>
            <a:off x="576072" y="4739640"/>
            <a:ext cx="97536" cy="23774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vi" sz="2000">
                <a:solidFill>
                  <a:srgbClr val="29293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859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77C5-E649-DE0D-1FF5-C72F43C8A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 về phép xoay đơn 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5329E-821E-E698-1939-B10D66A444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986" y="5164428"/>
            <a:ext cx="8674100" cy="967333"/>
          </a:xfrm>
        </p:spPr>
        <p:txBody>
          <a:bodyPr/>
          <a:lstStyle/>
          <a:p>
            <a:r>
              <a:rPr lang="vi" sz="2800">
                <a:solidFill>
                  <a:srgbClr val="292934"/>
                </a:solidFill>
                <a:latin typeface="Calibri"/>
              </a:rPr>
              <a:t>Sau khi chèn 6, điều kiện cân bằng ở nút 8 bị vi phạm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FCBED-6B07-DC60-1A65-7452866F0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19" y="1187646"/>
            <a:ext cx="7972879" cy="322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88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3DCEE-D8B8-EF95-D6DD-EF7E37A00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 về phép xoay đơn 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AC5E7-DE82-6703-F00E-9A5ACD9197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4713668"/>
            <a:ext cx="8674100" cy="1430972"/>
          </a:xfrm>
        </p:spPr>
        <p:txBody>
          <a:bodyPr/>
          <a:lstStyle/>
          <a:p>
            <a:r>
              <a:rPr lang="vi" sz="2800">
                <a:solidFill>
                  <a:srgbClr val="292934"/>
                </a:solidFill>
                <a:latin typeface="Calibri"/>
              </a:rPr>
              <a:t>Chèn tuần tự 3, </a:t>
            </a:r>
            <a:r>
              <a:rPr lang="vi" sz="3200" i="1" spc="450">
                <a:solidFill>
                  <a:srgbClr val="292934"/>
                </a:solidFill>
                <a:latin typeface="Calibri"/>
              </a:rPr>
              <a:t>2,1</a:t>
            </a:r>
            <a:r>
              <a:rPr lang="vi" sz="2800">
                <a:solidFill>
                  <a:srgbClr val="292934"/>
                </a:solidFill>
                <a:latin typeface="Calibri"/>
              </a:rPr>
              <a:t> và sau đó 4, 5, 6, 7 vào một cây AVL đang rỗng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19858A-57A4-BFEA-AFC9-96C44E46B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96" y="1169917"/>
            <a:ext cx="6967728" cy="303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98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0FB0-DAF2-F436-98AF-26EA2847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 phép xoay đơn 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326F3-5D87-8C99-DD6A-57F1D2A1D8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4327302"/>
            <a:ext cx="8674100" cy="1817338"/>
          </a:xfrm>
        </p:spPr>
        <p:txBody>
          <a:bodyPr/>
          <a:lstStyle/>
          <a:p>
            <a:r>
              <a:rPr lang="vi" sz="2800">
                <a:solidFill>
                  <a:srgbClr val="292934"/>
                </a:solidFill>
                <a:latin typeface="Calibri"/>
              </a:rPr>
              <a:t>Chèn 4, 5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BFCA29-52C6-0E26-FE8F-BF38293D0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1108442"/>
            <a:ext cx="8564880" cy="294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4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B0655-2580-3FE8-62F9-EAEA0757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 về phép xoay đơn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65C20-7661-BD2F-0901-1BC5B167F8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4572000"/>
            <a:ext cx="8674100" cy="1572640"/>
          </a:xfrm>
        </p:spPr>
        <p:txBody>
          <a:bodyPr/>
          <a:lstStyle/>
          <a:p>
            <a:r>
              <a:rPr lang="vi-VN"/>
              <a:t>Chèn 6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DBB8B9-C9D7-7FC8-C198-EFB5850F5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89" y="1228014"/>
            <a:ext cx="7633222" cy="264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49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23DE-AF35-20D2-AD48-5646966D3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 về phép xoay đơn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77294-2F06-E936-2AF7-5A514A2145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4456090"/>
            <a:ext cx="8674100" cy="890060"/>
          </a:xfrm>
        </p:spPr>
        <p:txBody>
          <a:bodyPr/>
          <a:lstStyle/>
          <a:p>
            <a:r>
              <a:rPr lang="vi-VN"/>
              <a:t>Chèn 7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B70F21-FA1E-9E7A-C003-909B2F37D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07" y="1351767"/>
            <a:ext cx="7933386" cy="254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35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D16B-C5B9-CFE8-CA40-08E62AFB6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Phép xoay đơn không giải quyết được 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56983-0AB5-D9D9-8FDF-B69C1F8D035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/>
              <a:t>Một số trường hợp phép xoay đơn không giải quyết được </a:t>
            </a:r>
          </a:p>
          <a:p>
            <a:endParaRPr lang="vi-VN"/>
          </a:p>
          <a:p>
            <a:endParaRPr lang="vi-VN"/>
          </a:p>
          <a:p>
            <a:endParaRPr lang="vi-VN"/>
          </a:p>
          <a:p>
            <a:endParaRPr lang="vi-VN"/>
          </a:p>
          <a:p>
            <a:endParaRPr lang="vi-VN"/>
          </a:p>
          <a:p>
            <a:endParaRPr lang="vi-VN"/>
          </a:p>
          <a:p>
            <a:r>
              <a:rPr lang="vi-VN"/>
              <a:t>Đối với trường hợp 2</a:t>
            </a:r>
          </a:p>
          <a:p>
            <a:pPr lvl="1"/>
            <a:r>
              <a:rPr lang="vi">
                <a:solidFill>
                  <a:srgbClr val="292934"/>
                </a:solidFill>
                <a:latin typeface="Calibri"/>
              </a:rPr>
              <a:t>Sau phép xoay đơn, nút k</a:t>
            </a:r>
            <a:r>
              <a:rPr lang="vi" baseline="-25000">
                <a:solidFill>
                  <a:srgbClr val="292934"/>
                </a:solidFill>
                <a:latin typeface="Calibri"/>
              </a:rPr>
              <a:t>1</a:t>
            </a:r>
            <a:r>
              <a:rPr lang="vi">
                <a:solidFill>
                  <a:srgbClr val="292934"/>
                </a:solidFill>
                <a:latin typeface="Calibri"/>
              </a:rPr>
              <a:t> không cân bằng.</a:t>
            </a:r>
          </a:p>
          <a:p>
            <a:pPr lvl="1"/>
            <a:r>
              <a:rPr lang="vi">
                <a:solidFill>
                  <a:srgbClr val="292934"/>
                </a:solidFill>
                <a:latin typeface="Calibri"/>
              </a:rPr>
              <a:t>Ta cần dùng phép xoay kép cho hai trường hợp 2 và 3.</a:t>
            </a:r>
          </a:p>
          <a:p>
            <a:endParaRPr lang="vi-VN"/>
          </a:p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B0A42E-EC9C-1B87-F4E1-AA27CBA47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36" y="1987296"/>
            <a:ext cx="8680704" cy="23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78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C935-6F41-EED4-9E8D-961796472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Phép xoay kép (trường hợp 2)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F94B7-2025-A60B-62A8-AFBAEBE2FB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3872557"/>
            <a:ext cx="8674100" cy="1933248"/>
          </a:xfrm>
        </p:spPr>
        <p:txBody>
          <a:bodyPr/>
          <a:lstStyle/>
          <a:p>
            <a:r>
              <a:rPr lang="vi" sz="2800">
                <a:solidFill>
                  <a:srgbClr val="292934"/>
                </a:solidFill>
                <a:latin typeface="Calibri"/>
              </a:rPr>
              <a:t>Phép xoay kép trái-phải để sửa trường hợp 2:</a:t>
            </a:r>
          </a:p>
          <a:p>
            <a:pPr lvl="1"/>
            <a:r>
              <a:rPr lang="vi">
                <a:solidFill>
                  <a:srgbClr val="292934"/>
                </a:solidFill>
                <a:latin typeface="Calibri"/>
              </a:rPr>
              <a:t>Đầu tiên xoay giữa nút </a:t>
            </a:r>
            <a:r>
              <a:rPr lang="en-US">
                <a:solidFill>
                  <a:srgbClr val="292934"/>
                </a:solidFill>
                <a:latin typeface="Calibri"/>
              </a:rPr>
              <a:t>k</a:t>
            </a:r>
            <a:r>
              <a:rPr lang="en-US" baseline="-25000">
                <a:solidFill>
                  <a:srgbClr val="292934"/>
                </a:solidFill>
                <a:latin typeface="Calibri"/>
              </a:rPr>
              <a:t>1 </a:t>
            </a:r>
            <a:r>
              <a:rPr lang="en-US" err="1">
                <a:solidFill>
                  <a:srgbClr val="292934"/>
                </a:solidFill>
                <a:latin typeface="Calibri"/>
              </a:rPr>
              <a:t>và</a:t>
            </a:r>
            <a:r>
              <a:rPr lang="en-US">
                <a:solidFill>
                  <a:srgbClr val="292934"/>
                </a:solidFill>
                <a:latin typeface="Calibri"/>
              </a:rPr>
              <a:t> </a:t>
            </a:r>
            <a:r>
              <a:rPr lang="vi">
                <a:solidFill>
                  <a:srgbClr val="292934"/>
                </a:solidFill>
                <a:latin typeface="Calibri"/>
              </a:rPr>
              <a:t>nút k</a:t>
            </a:r>
            <a:r>
              <a:rPr lang="vi" baseline="-25000">
                <a:solidFill>
                  <a:srgbClr val="292934"/>
                </a:solidFill>
                <a:latin typeface="Calibri"/>
              </a:rPr>
              <a:t>2</a:t>
            </a:r>
            <a:r>
              <a:rPr lang="vi">
                <a:solidFill>
                  <a:srgbClr val="292934"/>
                </a:solidFill>
                <a:latin typeface="Calibri"/>
              </a:rPr>
              <a:t>.</a:t>
            </a:r>
          </a:p>
          <a:p>
            <a:pPr lvl="1"/>
            <a:r>
              <a:rPr lang="vi">
                <a:solidFill>
                  <a:srgbClr val="292934"/>
                </a:solidFill>
                <a:latin typeface="Calibri"/>
              </a:rPr>
              <a:t>Sau đó xoay giữa nút k</a:t>
            </a:r>
            <a:r>
              <a:rPr lang="vi" baseline="-25000">
                <a:solidFill>
                  <a:srgbClr val="292934"/>
                </a:solidFill>
                <a:latin typeface="Calibri"/>
              </a:rPr>
              <a:t>2 </a:t>
            </a:r>
            <a:r>
              <a:rPr lang="vi">
                <a:solidFill>
                  <a:srgbClr val="292934"/>
                </a:solidFill>
                <a:latin typeface="Calibri"/>
              </a:rPr>
              <a:t>và nút k</a:t>
            </a:r>
            <a:r>
              <a:rPr lang="vi" baseline="-25000">
                <a:solidFill>
                  <a:srgbClr val="292934"/>
                </a:solidFill>
                <a:latin typeface="Calibri"/>
              </a:rPr>
              <a:t>3</a:t>
            </a:r>
          </a:p>
          <a:p>
            <a:r>
              <a:rPr lang="vi" sz="2800">
                <a:solidFill>
                  <a:srgbClr val="292934"/>
                </a:solidFill>
                <a:latin typeface="Calibri"/>
              </a:rPr>
              <a:t>Với trường hợp 3, cách làm tương tự (xoay theo chiều ngược lại).</a:t>
            </a:r>
          </a:p>
          <a:p>
            <a:endParaRPr lang="en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50E952-E40F-CE42-81D9-150B5BE7C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" y="1052195"/>
            <a:ext cx="8750808" cy="207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09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7E695-842B-942D-0792-24ADED8A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Phép xoay kép (trường hợp 2)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4D3FB-EF52-534B-7EDB-BE44D39CCC44}"/>
              </a:ext>
            </a:extLst>
          </p:cNvPr>
          <p:cNvSpPr txBox="1"/>
          <p:nvPr/>
        </p:nvSpPr>
        <p:spPr>
          <a:xfrm>
            <a:off x="1213833" y="1108075"/>
            <a:ext cx="6716333" cy="174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4088" indent="-673100">
              <a:lnSpc>
                <a:spcPts val="3456"/>
              </a:lnSpc>
              <a:spcAft>
                <a:spcPts val="210"/>
              </a:spcAft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void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doubleWithLeftChild(AvlNode * &amp; k3) { rotateWithRightChild(k3-&gt;left); rotateWithLeftChild(k3);</a:t>
            </a:r>
          </a:p>
          <a:p>
            <a:pPr marL="704088" indent="-673100"/>
            <a:r>
              <a:rPr lang="vi" sz="1800">
                <a:solidFill>
                  <a:srgbClr val="292934"/>
                </a:solidFill>
                <a:latin typeface="Consolas"/>
              </a:rPr>
              <a:t>}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217ABB7-C204-33FD-FE3D-A527C8F11A2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36549" y="3427300"/>
            <a:ext cx="84709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797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7C89-DFC6-C944-7B4D-765480444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 về phép xoay kép </a:t>
            </a:r>
            <a:endParaRPr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F69A98-DF31-5AE5-2BDB-F6F34B9EEB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4085440"/>
            <a:ext cx="8674100" cy="2059200"/>
          </a:xfrm>
        </p:spPr>
        <p:txBody>
          <a:bodyPr/>
          <a:lstStyle/>
          <a:p>
            <a:r>
              <a:rPr lang="vi-VN"/>
              <a:t>Chèn tuần</a:t>
            </a:r>
            <a:r>
              <a:rPr lang="vi"/>
              <a:t> tự 16, 15 và 14 vào cây AVL sau đây</a:t>
            </a:r>
            <a:endParaRPr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B668CE6-EB75-4437-D658-372777B46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758" y="1044246"/>
            <a:ext cx="4432300" cy="25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967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D2DC-9D58-CB09-46E9-82FD0114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 về phép xoay kép 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E5493-D6AC-0AEC-02EC-D756F7EAA0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4803820"/>
            <a:ext cx="8674100" cy="1340820"/>
          </a:xfrm>
        </p:spPr>
        <p:txBody>
          <a:bodyPr/>
          <a:lstStyle/>
          <a:p>
            <a:r>
              <a:rPr lang="vi-VN"/>
              <a:t>Chèn 16, 15 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5928D5-E099-FD69-DC68-0C16EA7DC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" y="1100371"/>
            <a:ext cx="8784336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98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6499D-9F50-2F15-CF7F-75C879E1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 về phép xoay kép 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59A03-AC1A-97E4-EAD1-FC29B1247A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5203065"/>
            <a:ext cx="8674100" cy="941575"/>
          </a:xfrm>
        </p:spPr>
        <p:txBody>
          <a:bodyPr/>
          <a:lstStyle/>
          <a:p>
            <a:r>
              <a:rPr lang="vi-VN"/>
              <a:t>Chèn 14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381A3-3BD8-6A36-3FA9-624C81AF7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20" y="1168491"/>
            <a:ext cx="7689160" cy="316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18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F4DB5-4201-28A6-17CB-4AA12C8E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Chèn vào cây AVL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1FA55-85AA-F08E-DF88-12C929454A78}"/>
              </a:ext>
            </a:extLst>
          </p:cNvPr>
          <p:cNvSpPr txBox="1"/>
          <p:nvPr/>
        </p:nvSpPr>
        <p:spPr>
          <a:xfrm>
            <a:off x="637504" y="935481"/>
            <a:ext cx="7637171" cy="4922245"/>
          </a:xfrm>
          <a:prstGeom prst="rect">
            <a:avLst/>
          </a:prstGeom>
          <a:noFill/>
        </p:spPr>
        <p:txBody>
          <a:bodyPr wrap="square" lIns="90000">
            <a:spAutoFit/>
          </a:bodyPr>
          <a:lstStyle/>
          <a:p>
            <a:pPr indent="0">
              <a:lnSpc>
                <a:spcPts val="3168"/>
              </a:lnSpc>
            </a:pPr>
            <a:r>
              <a:rPr lang="vi" sz="1800">
                <a:solidFill>
                  <a:srgbClr val="292934"/>
                </a:solidFill>
                <a:latin typeface="Consolas"/>
              </a:rPr>
              <a:t>// Hàm 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private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chèn x vào cây có gốc trỏ bởi t.</a:t>
            </a:r>
          </a:p>
          <a:p>
            <a:pPr indent="0">
              <a:lnSpc>
                <a:spcPts val="3168"/>
              </a:lnSpc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void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insert(T x, AvlNode * &amp; t ) { </a:t>
            </a:r>
          </a:p>
          <a:p>
            <a:pPr indent="0">
              <a:lnSpc>
                <a:spcPts val="3168"/>
              </a:lnSpc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if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(t == 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NULL)</a:t>
            </a:r>
          </a:p>
          <a:p>
            <a:pPr indent="0">
              <a:lnSpc>
                <a:spcPts val="3168"/>
              </a:lnSpc>
            </a:pPr>
            <a:r>
              <a:rPr lang="en-US">
                <a:solidFill>
                  <a:srgbClr val="292934"/>
                </a:solidFill>
                <a:latin typeface="Consolas"/>
              </a:rPr>
              <a:t>	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t = 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new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AvlNode(x, 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NULL, NULL,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0); </a:t>
            </a:r>
            <a:endParaRPr lang="vi">
              <a:solidFill>
                <a:srgbClr val="292934"/>
              </a:solidFill>
              <a:latin typeface="Consolas"/>
            </a:endParaRPr>
          </a:p>
          <a:p>
            <a:pPr marL="638175" marR="751332" indent="-587375">
              <a:lnSpc>
                <a:spcPts val="3168"/>
              </a:lnSpc>
              <a:spcAft>
                <a:spcPts val="2310"/>
              </a:spcAft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else if (x &lt; t-&gt;</a:t>
            </a:r>
            <a:r>
              <a:rPr lang="en-US" sz="1800" err="1">
                <a:solidFill>
                  <a:srgbClr val="292934"/>
                </a:solidFill>
                <a:latin typeface="Consolas"/>
              </a:rPr>
              <a:t>elem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) </a:t>
            </a:r>
          </a:p>
          <a:p>
            <a:pPr marL="638175" marR="751332" indent="-587375">
              <a:lnSpc>
                <a:spcPts val="3168"/>
              </a:lnSpc>
              <a:spcAft>
                <a:spcPts val="2310"/>
              </a:spcAft>
            </a:pPr>
            <a:r>
              <a:rPr lang="en-US">
                <a:solidFill>
                  <a:srgbClr val="292934"/>
                </a:solidFill>
                <a:latin typeface="Consolas"/>
              </a:rPr>
              <a:t>	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insert(x, t-&gt;left);</a:t>
            </a:r>
          </a:p>
          <a:p>
            <a:pPr marL="638175" marR="751332" indent="-587375">
              <a:lnSpc>
                <a:spcPts val="3168"/>
              </a:lnSpc>
              <a:spcAft>
                <a:spcPts val="2310"/>
              </a:spcAft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else if (x &gt; t-&gt;</a:t>
            </a:r>
            <a:r>
              <a:rPr lang="en-US" sz="1800" err="1">
                <a:solidFill>
                  <a:srgbClr val="292934"/>
                </a:solidFill>
                <a:latin typeface="Consolas"/>
              </a:rPr>
              <a:t>elem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) </a:t>
            </a:r>
          </a:p>
          <a:p>
            <a:pPr marL="638175" marR="751332" indent="-587375">
              <a:lnSpc>
                <a:spcPts val="3168"/>
              </a:lnSpc>
              <a:spcAft>
                <a:spcPts val="2310"/>
              </a:spcAft>
            </a:pPr>
            <a:r>
              <a:rPr lang="en-US">
                <a:solidFill>
                  <a:srgbClr val="292934"/>
                </a:solidFill>
                <a:latin typeface="Consolas"/>
              </a:rPr>
              <a:t>	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insert(x, t-&gt;right);</a:t>
            </a:r>
          </a:p>
          <a:p>
            <a:pPr marL="638175" marR="751332" indent="-587375">
              <a:lnSpc>
                <a:spcPts val="3168"/>
              </a:lnSpc>
              <a:spcAft>
                <a:spcPts val="2310"/>
              </a:spcAft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balance(t); //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Cân bằng cây sau khi chèn</a:t>
            </a:r>
          </a:p>
        </p:txBody>
      </p:sp>
    </p:spTree>
    <p:extLst>
      <p:ext uri="{BB962C8B-B14F-4D97-AF65-F5344CB8AC3E}">
        <p14:creationId xmlns:p14="http://schemas.microsoft.com/office/powerpoint/2010/main" val="2230687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F138-FE24-56A6-677A-CA98467B6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Xoá khỏi cây AVL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F362B-0E83-5539-2CBB-7090FFA4076A}"/>
              </a:ext>
            </a:extLst>
          </p:cNvPr>
          <p:cNvSpPr txBox="1"/>
          <p:nvPr/>
        </p:nvSpPr>
        <p:spPr>
          <a:xfrm>
            <a:off x="325229" y="898122"/>
            <a:ext cx="8493542" cy="541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30352" indent="0">
              <a:lnSpc>
                <a:spcPts val="2448"/>
              </a:lnSpc>
            </a:pPr>
            <a:r>
              <a:rPr lang="vi" sz="1800">
                <a:solidFill>
                  <a:srgbClr val="292934"/>
                </a:solidFill>
                <a:latin typeface="Consolas"/>
              </a:rPr>
              <a:t>// Hàm 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private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xóa phần tử x khỏi cây có gốc được trỏ bởi t. </a:t>
            </a:r>
          </a:p>
          <a:p>
            <a:pPr marR="530352" indent="0">
              <a:lnSpc>
                <a:spcPts val="2448"/>
              </a:lnSpc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void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remove(T x, AvlNode * &amp; t) {</a:t>
            </a:r>
          </a:p>
          <a:p>
            <a:pPr marL="501904" marR="1571752" indent="0">
              <a:lnSpc>
                <a:spcPts val="2448"/>
              </a:lnSpc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if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(t == 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NULL) return;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// Thoát ra nếu cây rỗng 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if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(x &lt; t-&gt;elem)    </a:t>
            </a:r>
          </a:p>
          <a:p>
            <a:pPr marL="501904" marR="1571752" indent="0">
              <a:lnSpc>
                <a:spcPts val="2448"/>
              </a:lnSpc>
            </a:pPr>
            <a:r>
              <a:rPr lang="vi" sz="1800">
                <a:solidFill>
                  <a:srgbClr val="292934"/>
                </a:solidFill>
                <a:latin typeface="Consolas"/>
              </a:rPr>
              <a:t>	remove(x, t-&gt;left);</a:t>
            </a:r>
          </a:p>
          <a:p>
            <a:pPr marL="501904" indent="0">
              <a:lnSpc>
                <a:spcPts val="2448"/>
              </a:lnSpc>
              <a:spcAft>
                <a:spcPts val="210"/>
              </a:spcAft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else if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(x &gt; t-&gt;elem) </a:t>
            </a:r>
          </a:p>
          <a:p>
            <a:pPr marL="501904" indent="0">
              <a:lnSpc>
                <a:spcPts val="2448"/>
              </a:lnSpc>
              <a:spcAft>
                <a:spcPts val="210"/>
              </a:spcAft>
            </a:pPr>
            <a:r>
              <a:rPr lang="vi" sz="1800">
                <a:solidFill>
                  <a:srgbClr val="292934"/>
                </a:solidFill>
                <a:latin typeface="Consolas"/>
              </a:rPr>
              <a:t>	remove(x, t-&gt;right); </a:t>
            </a:r>
          </a:p>
          <a:p>
            <a:pPr marL="501904" indent="0">
              <a:lnSpc>
                <a:spcPts val="2448"/>
              </a:lnSpc>
              <a:spcAft>
                <a:spcPts val="210"/>
              </a:spcAft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else if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(t-&gt;left != 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NULL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&amp;&amp; t-&gt;right != 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NULL)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{ // Nút 2 con 	t-&gt;elem = findMin(t-&gt;right)-&gt;elem; </a:t>
            </a:r>
          </a:p>
          <a:p>
            <a:pPr marL="501904" indent="0">
              <a:lnSpc>
                <a:spcPts val="2448"/>
              </a:lnSpc>
              <a:spcAft>
                <a:spcPts val="210"/>
              </a:spcAft>
            </a:pPr>
            <a:r>
              <a:rPr lang="vi" sz="1800">
                <a:solidFill>
                  <a:srgbClr val="292934"/>
                </a:solidFill>
                <a:latin typeface="Consolas"/>
              </a:rPr>
              <a:t>	remove(t-&gt;elem, t-&gt;right);</a:t>
            </a:r>
          </a:p>
          <a:p>
            <a:pPr marL="501904" indent="0">
              <a:spcAft>
                <a:spcPts val="420"/>
              </a:spcAft>
            </a:pPr>
            <a:r>
              <a:rPr lang="vi" sz="1800">
                <a:solidFill>
                  <a:srgbClr val="292934"/>
                </a:solidFill>
                <a:latin typeface="Consolas"/>
              </a:rPr>
              <a:t>}</a:t>
            </a:r>
          </a:p>
          <a:p>
            <a:pPr marL="501904" indent="0">
              <a:spcAft>
                <a:spcPts val="420"/>
              </a:spcAft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else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{ // Nút 1 con hoặc lá </a:t>
            </a:r>
          </a:p>
          <a:p>
            <a:pPr marL="501904" indent="0">
              <a:spcAft>
                <a:spcPts val="420"/>
              </a:spcAft>
            </a:pPr>
            <a:r>
              <a:rPr lang="vi">
                <a:solidFill>
                  <a:srgbClr val="292934"/>
                </a:solidFill>
                <a:latin typeface="Consolas"/>
              </a:rPr>
              <a:t>	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AvlNode * 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old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= t;</a:t>
            </a:r>
          </a:p>
          <a:p>
            <a:pPr marL="971804" marR="1571752" indent="0">
              <a:lnSpc>
                <a:spcPts val="2448"/>
              </a:lnSpc>
              <a:spcAft>
                <a:spcPts val="210"/>
              </a:spcAft>
            </a:pPr>
            <a:r>
              <a:rPr lang="vi" sz="1800">
                <a:solidFill>
                  <a:srgbClr val="292934"/>
                </a:solidFill>
                <a:latin typeface="Consolas"/>
              </a:rPr>
              <a:t>t = (t-&gt;left != 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NULL)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? t-&gt;left : t-&gt;right; 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delete old;</a:t>
            </a:r>
          </a:p>
          <a:p>
            <a:pPr marL="501904" indent="0">
              <a:spcAft>
                <a:spcPts val="420"/>
              </a:spcAft>
            </a:pPr>
            <a:r>
              <a:rPr lang="en-US" sz="1800" baseline="30000">
                <a:solidFill>
                  <a:srgbClr val="292934"/>
                </a:solidFill>
                <a:latin typeface="Consolas"/>
              </a:rPr>
              <a:t>}</a:t>
            </a:r>
          </a:p>
          <a:p>
            <a:pPr marL="501904" indent="0"/>
            <a:r>
              <a:rPr lang="vi" sz="1800">
                <a:solidFill>
                  <a:srgbClr val="292934"/>
                </a:solidFill>
                <a:latin typeface="Consolas"/>
              </a:rPr>
              <a:t>balance(t); // Cân bằng cây sau khi xóa</a:t>
            </a:r>
          </a:p>
        </p:txBody>
      </p:sp>
    </p:spTree>
    <p:extLst>
      <p:ext uri="{BB962C8B-B14F-4D97-AF65-F5344CB8AC3E}">
        <p14:creationId xmlns:p14="http://schemas.microsoft.com/office/powerpoint/2010/main" val="315622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B392-FC0E-4335-BA58-6800431D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Cân bằng cây sau khi chèn và xoá 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091C2-BDAB-FE17-8165-A2D02C32E02F}"/>
              </a:ext>
            </a:extLst>
          </p:cNvPr>
          <p:cNvSpPr txBox="1"/>
          <p:nvPr/>
        </p:nvSpPr>
        <p:spPr>
          <a:xfrm>
            <a:off x="235077" y="781947"/>
            <a:ext cx="8535435" cy="4634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4479036" indent="0">
              <a:lnSpc>
                <a:spcPts val="2256"/>
              </a:lnSpc>
              <a:spcBef>
                <a:spcPts val="1680"/>
              </a:spcBef>
              <a:spcAft>
                <a:spcPts val="630"/>
              </a:spcAft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void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balance(AvlNode * &amp; t) { </a:t>
            </a:r>
          </a:p>
          <a:p>
            <a:pPr marR="4479036" indent="0">
              <a:lnSpc>
                <a:spcPts val="2256"/>
              </a:lnSpc>
              <a:spcBef>
                <a:spcPts val="1680"/>
              </a:spcBef>
              <a:spcAft>
                <a:spcPts val="630"/>
              </a:spcAft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if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(t == 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NULL) return;</a:t>
            </a:r>
          </a:p>
          <a:p>
            <a:pPr marL="501904" indent="0" algn="just">
              <a:lnSpc>
                <a:spcPts val="2256"/>
              </a:lnSpc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if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(height(t-&gt;left) - height(t-&gt;right) &gt; 1)</a:t>
            </a:r>
          </a:p>
          <a:p>
            <a:pPr marL="1530604" indent="-508000">
              <a:lnSpc>
                <a:spcPts val="2256"/>
              </a:lnSpc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if </a:t>
            </a:r>
            <a:r>
              <a:rPr lang="vi" sz="1800">
                <a:solidFill>
                  <a:srgbClr val="292934"/>
                </a:solidFill>
                <a:latin typeface="Consolas"/>
              </a:rPr>
              <a:t>(height(t-&gt;left-&gt;left) &gt;= height(t-&gt;left-&gt;right)) </a:t>
            </a:r>
            <a:r>
              <a:rPr lang="en-US" sz="1800" err="1">
                <a:solidFill>
                  <a:srgbClr val="292934"/>
                </a:solidFill>
                <a:latin typeface="Consolas"/>
              </a:rPr>
              <a:t>rotateWithLeftChild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(t);</a:t>
            </a:r>
          </a:p>
          <a:p>
            <a:pPr marL="1530604" indent="-508000">
              <a:lnSpc>
                <a:spcPts val="2256"/>
              </a:lnSpc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else</a:t>
            </a:r>
          </a:p>
          <a:p>
            <a:pPr marL="1530604" indent="0">
              <a:lnSpc>
                <a:spcPts val="2256"/>
              </a:lnSpc>
            </a:pPr>
            <a:r>
              <a:rPr lang="en-US" sz="1800" err="1">
                <a:solidFill>
                  <a:srgbClr val="292934"/>
                </a:solidFill>
                <a:latin typeface="Consolas"/>
              </a:rPr>
              <a:t>doubleWithLeftChild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(t);</a:t>
            </a:r>
          </a:p>
          <a:p>
            <a:pPr marL="501904" indent="0" algn="just">
              <a:lnSpc>
                <a:spcPts val="2256"/>
              </a:lnSpc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else if (height(t-&gt;right) - height(t-&gt;left) &gt; 1)</a:t>
            </a:r>
          </a:p>
          <a:p>
            <a:pPr marL="1530604" indent="-508000">
              <a:lnSpc>
                <a:spcPts val="2256"/>
              </a:lnSpc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if (height(t-&gt;right-&gt;right) &gt;= height(t-&gt;right-&gt;left)) </a:t>
            </a:r>
            <a:r>
              <a:rPr lang="en-US" sz="1800" err="1">
                <a:solidFill>
                  <a:srgbClr val="292934"/>
                </a:solidFill>
                <a:latin typeface="Consolas"/>
              </a:rPr>
              <a:t>rotateWithRightChild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(t);</a:t>
            </a:r>
          </a:p>
          <a:p>
            <a:pPr marL="1530604" indent="-508000">
              <a:lnSpc>
                <a:spcPts val="2256"/>
              </a:lnSpc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else</a:t>
            </a:r>
          </a:p>
          <a:p>
            <a:pPr marL="1530604" indent="0">
              <a:lnSpc>
                <a:spcPts val="2256"/>
              </a:lnSpc>
              <a:spcAft>
                <a:spcPts val="630"/>
              </a:spcAft>
            </a:pPr>
            <a:r>
              <a:rPr lang="en-US" sz="1800" err="1">
                <a:solidFill>
                  <a:srgbClr val="292934"/>
                </a:solidFill>
                <a:latin typeface="Consolas"/>
              </a:rPr>
              <a:t>doubleWithRightChild</a:t>
            </a:r>
            <a:r>
              <a:rPr lang="en-US" sz="1800">
                <a:solidFill>
                  <a:srgbClr val="292934"/>
                </a:solidFill>
                <a:latin typeface="Consolas"/>
              </a:rPr>
              <a:t>(t);</a:t>
            </a:r>
          </a:p>
          <a:p>
            <a:pPr marL="501904" indent="0" algn="just"/>
            <a:r>
              <a:rPr lang="en-US" sz="1800">
                <a:solidFill>
                  <a:srgbClr val="292934"/>
                </a:solidFill>
                <a:latin typeface="Consolas"/>
              </a:rPr>
              <a:t>t-&gt;height = max(height(t-&gt;left), height(t-&gt;right)) + 1;</a:t>
            </a:r>
          </a:p>
          <a:p>
            <a:pPr indent="0" algn="just">
              <a:spcAft>
                <a:spcPts val="420"/>
              </a:spcAft>
            </a:pPr>
            <a:r>
              <a:rPr lang="en-US" sz="1800">
                <a:solidFill>
                  <a:srgbClr val="292934"/>
                </a:solidFill>
                <a:latin typeface="Consolas"/>
              </a:rPr>
              <a:t>}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A3989E-F476-E1A9-871D-6B0B00881022}"/>
              </a:ext>
            </a:extLst>
          </p:cNvPr>
          <p:cNvSpPr txBox="1"/>
          <p:nvPr/>
        </p:nvSpPr>
        <p:spPr>
          <a:xfrm>
            <a:off x="608565" y="5311135"/>
            <a:ext cx="85354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" sz="1800">
                <a:solidFill>
                  <a:srgbClr val="292934"/>
                </a:solidFill>
                <a:latin typeface="Calibri"/>
              </a:rPr>
              <a:t>Hàm </a:t>
            </a:r>
            <a:r>
              <a:rPr lang="en-US" sz="1800" b="1">
                <a:solidFill>
                  <a:srgbClr val="292934"/>
                </a:solidFill>
                <a:latin typeface="Calibri"/>
              </a:rPr>
              <a:t>balance </a:t>
            </a:r>
            <a:r>
              <a:rPr lang="vi" sz="1800">
                <a:solidFill>
                  <a:srgbClr val="292934"/>
                </a:solidFill>
                <a:latin typeface="Calibri"/>
              </a:rPr>
              <a:t>được gọi tại mỗi nút trong quá trình đi ngược từ chỗ chèn/xóa về nút gốc. Phải cập nhật chiều cao của nút t vì chiều cao của nút t phụ thuộc vào các nút phía dưới, trong khi phía dưới có thể bị xáo trộn do đã xảy ra một phép xoay nào đó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8823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7D987-429F-6C95-ADA0-37E142C8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Bài tập 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D2488-004A-3AD2-3747-AB7EF015E4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" sz="2800">
                <a:solidFill>
                  <a:srgbClr val="292934"/>
                </a:solidFill>
                <a:latin typeface="Calibri"/>
              </a:rPr>
              <a:t>Vẽ hình mô tả quá trình biến đổi của một cây AVL đang rỗng khi chèn lần lượt vào cây các giá trị sau vào</a:t>
            </a:r>
            <a:r>
              <a:rPr lang="en-VN"/>
              <a:t> cây </a:t>
            </a:r>
            <a:r>
              <a:rPr lang="vi" sz="2800">
                <a:solidFill>
                  <a:srgbClr val="292934"/>
                </a:solidFill>
                <a:latin typeface="Calibri"/>
              </a:rPr>
              <a:t>{ 2, 1, 4, 5, 9, 3, 6, 7}</a:t>
            </a:r>
          </a:p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76808509"/>
      </p:ext>
    </p:extLst>
  </p:cSld>
  <p:clrMapOvr>
    <a:masterClrMapping/>
  </p:clrMapOvr>
</p:sld>
</file>

<file path=ppt/theme/theme1.xml><?xml version="1.0" encoding="utf-8"?>
<a:theme xmlns:a="http://schemas.openxmlformats.org/drawingml/2006/main" name="Writing - TechRepor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D2320CD967DC4C936B5BE3B6686F0E" ma:contentTypeVersion="10" ma:contentTypeDescription="Create a new document." ma:contentTypeScope="" ma:versionID="b8084e74c238971f8101613da4e0507e">
  <xsd:schema xmlns:xsd="http://www.w3.org/2001/XMLSchema" xmlns:xs="http://www.w3.org/2001/XMLSchema" xmlns:p="http://schemas.microsoft.com/office/2006/metadata/properties" xmlns:ns2="97f04c0d-d18a-494f-a4ee-dc80d38be3a9" xmlns:ns3="5314e54c-1065-4f91-8872-b5da09cc453e" targetNamespace="http://schemas.microsoft.com/office/2006/metadata/properties" ma:root="true" ma:fieldsID="8b1ec852ff40fd9a2f44924167d0aee2" ns2:_="" ns3:_="">
    <xsd:import namespace="97f04c0d-d18a-494f-a4ee-dc80d38be3a9"/>
    <xsd:import namespace="5314e54c-1065-4f91-8872-b5da09cc4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04c0d-d18a-494f-a4ee-dc80d38be3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14e54c-1065-4f91-8872-b5da09cc453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e1d9f2f-845c-4015-84a0-220f7cf0710d}" ma:internalName="TaxCatchAll" ma:showField="CatchAllData" ma:web="5314e54c-1065-4f91-8872-b5da09cc45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f04c0d-d18a-494f-a4ee-dc80d38be3a9">
      <Terms xmlns="http://schemas.microsoft.com/office/infopath/2007/PartnerControls"/>
    </lcf76f155ced4ddcb4097134ff3c332f>
    <TaxCatchAll xmlns="5314e54c-1065-4f91-8872-b5da09cc453e" xsi:nil="true"/>
  </documentManagement>
</p:properties>
</file>

<file path=customXml/itemProps1.xml><?xml version="1.0" encoding="utf-8"?>
<ds:datastoreItem xmlns:ds="http://schemas.openxmlformats.org/officeDocument/2006/customXml" ds:itemID="{DECC8A58-FEC6-44CD-AF61-6D5DAD24ABDF}"/>
</file>

<file path=customXml/itemProps2.xml><?xml version="1.0" encoding="utf-8"?>
<ds:datastoreItem xmlns:ds="http://schemas.openxmlformats.org/officeDocument/2006/customXml" ds:itemID="{DA46DFD0-A4BE-45A0-94EB-C1526D3210B2}"/>
</file>

<file path=customXml/itemProps3.xml><?xml version="1.0" encoding="utf-8"?>
<ds:datastoreItem xmlns:ds="http://schemas.openxmlformats.org/officeDocument/2006/customXml" ds:itemID="{C92BFFD2-0B1E-4307-BC4D-8444E0085134}"/>
</file>

<file path=docProps/app.xml><?xml version="1.0" encoding="utf-8"?>
<Properties xmlns="http://schemas.openxmlformats.org/officeDocument/2006/extended-properties" xmlns:vt="http://schemas.openxmlformats.org/officeDocument/2006/docPropsVTypes">
  <Template>Writing - TechReport</Template>
  <Application>Microsoft Office PowerPoint</Application>
  <PresentationFormat>On-screen Show (4:3)</PresentationFormat>
  <Slides>25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Writing - TechReport</vt:lpstr>
      <vt:lpstr>PowerPoint Presentation</vt:lpstr>
      <vt:lpstr>Khái niệm cây AVL </vt:lpstr>
      <vt:lpstr>Khái niệm cây AVL</vt:lpstr>
      <vt:lpstr>Ví dụ</vt:lpstr>
      <vt:lpstr>Chèn và xóa trên cây AVL</vt:lpstr>
      <vt:lpstr>Vi phạm điều kiện cân bằng</vt:lpstr>
      <vt:lpstr>Các trường hợp vi phạm </vt:lpstr>
      <vt:lpstr>Kiểu dữ liệu của các nút </vt:lpstr>
      <vt:lpstr>Phép xoay đơn (trường hợp 1)</vt:lpstr>
      <vt:lpstr>Phép xoay đơn (trường hợp 1)</vt:lpstr>
      <vt:lpstr>Ví dụ về phép xoay đơn </vt:lpstr>
      <vt:lpstr>Ví dụ về phép xoay đơn </vt:lpstr>
      <vt:lpstr>Ví dụ phép xoay đơn </vt:lpstr>
      <vt:lpstr>Ví dụ về phép xoay đơn</vt:lpstr>
      <vt:lpstr>Ví dụ về phép xoay đơn</vt:lpstr>
      <vt:lpstr>Phép xoay đơn không giải quyết được </vt:lpstr>
      <vt:lpstr>Phép xoay kép (trường hợp 2)</vt:lpstr>
      <vt:lpstr>Phép xoay kép (trường hợp 2)</vt:lpstr>
      <vt:lpstr>Ví dụ về phép xoay kép </vt:lpstr>
      <vt:lpstr>Ví dụ về phép xoay kép </vt:lpstr>
      <vt:lpstr>Ví dụ về phép xoay kép </vt:lpstr>
      <vt:lpstr>Chèn vào cây AVL</vt:lpstr>
      <vt:lpstr>Xoá khỏi cây AVL</vt:lpstr>
      <vt:lpstr>Cân bằng cây sau khi chèn và xoá </vt:lpstr>
      <vt:lpstr>Bài tập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Cây AVL</dc:title>
  <dc:subject/>
  <dc:creator>Nguyen Manh Hien</dc:creator>
  <cp:keywords/>
  <cp:revision>1</cp:revision>
  <dcterms:modified xsi:type="dcterms:W3CDTF">2024-12-17T07:17:10Z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0x0101005CD2320CD967DC4C936B5BE3B6686F0E</vt:lpwstr>
  </property>
</Properties>
</file>