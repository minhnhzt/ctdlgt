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5"/>
  </p:notesMasterIdLst>
  <p:handoutMasterIdLst>
    <p:handoutMasterId r:id="rId46"/>
  </p:handoutMasterIdLst>
  <p:sldIdLst>
    <p:sldId id="256" r:id="rId5"/>
    <p:sldId id="257" r:id="rId6"/>
    <p:sldId id="287" r:id="rId7"/>
    <p:sldId id="301" r:id="rId8"/>
    <p:sldId id="258" r:id="rId9"/>
    <p:sldId id="288" r:id="rId10"/>
    <p:sldId id="291" r:id="rId11"/>
    <p:sldId id="290" r:id="rId12"/>
    <p:sldId id="299" r:id="rId13"/>
    <p:sldId id="259" r:id="rId14"/>
    <p:sldId id="277" r:id="rId15"/>
    <p:sldId id="260" r:id="rId16"/>
    <p:sldId id="261" r:id="rId17"/>
    <p:sldId id="262" r:id="rId18"/>
    <p:sldId id="278" r:id="rId19"/>
    <p:sldId id="279" r:id="rId20"/>
    <p:sldId id="280" r:id="rId21"/>
    <p:sldId id="263" r:id="rId22"/>
    <p:sldId id="264" r:id="rId23"/>
    <p:sldId id="286" r:id="rId24"/>
    <p:sldId id="265" r:id="rId25"/>
    <p:sldId id="266" r:id="rId26"/>
    <p:sldId id="267" r:id="rId27"/>
    <p:sldId id="300" r:id="rId28"/>
    <p:sldId id="281" r:id="rId29"/>
    <p:sldId id="289" r:id="rId30"/>
    <p:sldId id="282" r:id="rId31"/>
    <p:sldId id="292" r:id="rId32"/>
    <p:sldId id="285" r:id="rId33"/>
    <p:sldId id="283" r:id="rId34"/>
    <p:sldId id="284" r:id="rId35"/>
    <p:sldId id="293" r:id="rId36"/>
    <p:sldId id="295" r:id="rId37"/>
    <p:sldId id="296" r:id="rId38"/>
    <p:sldId id="297" r:id="rId39"/>
    <p:sldId id="298" r:id="rId40"/>
    <p:sldId id="268" r:id="rId41"/>
    <p:sldId id="269" r:id="rId42"/>
    <p:sldId id="270" r:id="rId43"/>
    <p:sldId id="271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ch Minh Tu 202414424" userId="S::tu.bm2414424@sis.hust.edu.vn::413e0626-b6b9-4a8e-ac5c-9a5f945a62f8" providerId="AD" clId="Web-{500CD697-06B1-F270-63D7-AC23B27E0459}"/>
    <pc:docChg chg="addSld delSld">
      <pc:chgData name="Bach Minh Tu 202414424" userId="S::tu.bm2414424@sis.hust.edu.vn::413e0626-b6b9-4a8e-ac5c-9a5f945a62f8" providerId="AD" clId="Web-{500CD697-06B1-F270-63D7-AC23B27E0459}" dt="2025-11-07T09:17:27.607" v="2"/>
      <pc:docMkLst>
        <pc:docMk/>
      </pc:docMkLst>
      <pc:sldChg chg="new">
        <pc:chgData name="Bach Minh Tu 202414424" userId="S::tu.bm2414424@sis.hust.edu.vn::413e0626-b6b9-4a8e-ac5c-9a5f945a62f8" providerId="AD" clId="Web-{500CD697-06B1-F270-63D7-AC23B27E0459}" dt="2025-11-07T09:17:16.700" v="0"/>
        <pc:sldMkLst>
          <pc:docMk/>
          <pc:sldMk cId="1915095756" sldId="3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A8130D-73F2-FD4E-ADD1-56B4BD913E5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6CA1D-6F44-574A-91AD-956FEE596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6431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977" units="cm"/>
          <inkml:channel name="Y" type="integer" max="17318" units="cm"/>
          <inkml:channel name="F" type="integer" max="65535" units="dev"/>
          <inkml:channel name="T" type="integer" max="2.14748E9" units="dev"/>
        </inkml:traceFormat>
        <inkml:channelProperties>
          <inkml:channelProperty channel="X" name="resolution" value="1000.26953" units="1/cm"/>
          <inkml:channelProperty channel="Y" name="resolution" value="1000.46216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5-14T04:28:10.3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9016 12110 27647 0,'0'0'1216'0,"-9"-2"256"0,-2-3-1168 0,1 2-304 0,2 1 0 0,0 0 0 0,3 1 512 0,5 1 64 16,0 0 0-16,0 0-9120 15,0 0-1824-15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4B8A7-4190-7E43-A09C-E65391BF7D1A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7F7BA9-BD23-364F-BA23-B1582B7D9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885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7F7BA9-BD23-364F-BA23-B1582B7D9A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51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A0282-33F0-4CF1-BB25-8B7081A5341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A0282-33F0-4CF1-BB25-8B7081A5341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1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4259226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5482870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1241864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219117280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615801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424242226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75477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33385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816204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09784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0501611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3569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F532A-FD4E-8846-AC2B-AE27267BA6A0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08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370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92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623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304800" y="2999616"/>
            <a:ext cx="7772400" cy="1470025"/>
          </a:xfrm>
        </p:spPr>
        <p:txBody>
          <a:bodyPr/>
          <a:lstStyle/>
          <a:p>
            <a:r>
              <a:rPr lang="en-US" b="1" err="1"/>
              <a:t>Chương</a:t>
            </a:r>
            <a:r>
              <a:rPr lang="en-US" b="1"/>
              <a:t> 4: </a:t>
            </a:r>
            <a:r>
              <a:rPr lang="en-US" b="1" err="1"/>
              <a:t>Ngăn</a:t>
            </a:r>
            <a:r>
              <a:rPr lang="en-US" b="1"/>
              <a:t> </a:t>
            </a:r>
            <a:r>
              <a:rPr lang="en-US" b="1" err="1"/>
              <a:t>xếp</a:t>
            </a:r>
            <a:r>
              <a:rPr lang="en-US" b="1"/>
              <a:t> &amp; </a:t>
            </a:r>
            <a:r>
              <a:rPr lang="en-US" b="1" err="1"/>
              <a:t>hàng</a:t>
            </a:r>
            <a:r>
              <a:rPr lang="en-US" b="1"/>
              <a:t> </a:t>
            </a:r>
            <a:r>
              <a:rPr lang="en-US" b="1" err="1"/>
              <a:t>đợi</a:t>
            </a:r>
            <a:r>
              <a:rPr lang="en-US" b="1"/>
              <a:t> (Stack &amp; Queue)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CAA914AB-0A56-C849-A2FF-9AE29B3DB91D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BA7BC09B-FE30-A349-B1D2-5A364F511F9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4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Định</a:t>
            </a:r>
            <a:r>
              <a:rPr lang="en-US" b="1"/>
              <a:t> </a:t>
            </a:r>
            <a:r>
              <a:rPr lang="en-US" b="1" err="1"/>
              <a:t>nghĩa</a:t>
            </a:r>
            <a:r>
              <a:rPr lang="en-US" b="1"/>
              <a:t> </a:t>
            </a:r>
            <a:r>
              <a:rPr lang="en-US" b="1" err="1"/>
              <a:t>ngăn</a:t>
            </a:r>
            <a:r>
              <a:rPr lang="en-US" b="1"/>
              <a:t> </a:t>
            </a:r>
            <a:r>
              <a:rPr lang="en-US" b="1" err="1"/>
              <a:t>xếp</a:t>
            </a:r>
            <a:r>
              <a:rPr lang="en-US" b="1"/>
              <a:t> (Stack)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err="1"/>
              <a:t>Ngăn</a:t>
            </a:r>
            <a:r>
              <a:rPr lang="en-US"/>
              <a:t> </a:t>
            </a:r>
            <a:r>
              <a:rPr lang="en-US" err="1"/>
              <a:t>xếp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kiểu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đặc</a:t>
            </a:r>
            <a:r>
              <a:rPr lang="en-US"/>
              <a:t> </a:t>
            </a:r>
            <a:r>
              <a:rPr lang="en-US" err="1"/>
              <a:t>biệt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luôn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,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đỉnh</a:t>
            </a:r>
            <a:r>
              <a:rPr lang="en-US"/>
              <a:t> (Top) - LIFO. </a:t>
            </a:r>
          </a:p>
          <a:p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T,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đỉnh</a:t>
            </a:r>
            <a:r>
              <a:rPr lang="en-US"/>
              <a:t> </a:t>
            </a:r>
            <a:r>
              <a:rPr lang="en-US" err="1"/>
              <a:t>ngăn</a:t>
            </a:r>
            <a:r>
              <a:rPr lang="en-US"/>
              <a:t> </a:t>
            </a:r>
            <a:r>
              <a:rPr lang="en-US" err="1"/>
              <a:t>xếp</a:t>
            </a:r>
            <a:r>
              <a:rPr lang="en-US"/>
              <a:t>, 0&lt;= T &lt;= n;</a:t>
            </a:r>
          </a:p>
          <a:p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tăng</a:t>
            </a:r>
            <a:r>
              <a:rPr lang="en-US"/>
              <a:t> T </a:t>
            </a:r>
            <a:r>
              <a:rPr lang="en-US" err="1"/>
              <a:t>thêm</a:t>
            </a:r>
            <a:r>
              <a:rPr lang="en-US"/>
              <a:t> 1, 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thì</a:t>
            </a:r>
            <a:r>
              <a:rPr lang="en-US"/>
              <a:t> </a:t>
            </a:r>
            <a:r>
              <a:rPr lang="en-US" err="1"/>
              <a:t>giảm</a:t>
            </a:r>
            <a:r>
              <a:rPr lang="en-US"/>
              <a:t> T </a:t>
            </a:r>
            <a:r>
              <a:rPr lang="en-US" err="1"/>
              <a:t>đi</a:t>
            </a:r>
            <a:r>
              <a:rPr lang="en-US"/>
              <a:t> 1.</a:t>
            </a:r>
          </a:p>
          <a:p>
            <a:pPr lvl="1"/>
            <a:r>
              <a:rPr lang="en-US"/>
              <a:t>T = 0 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rỗng</a:t>
            </a:r>
            <a:r>
              <a:rPr lang="en-US"/>
              <a:t> : </a:t>
            </a:r>
            <a:r>
              <a:rPr lang="en-US" err="1"/>
              <a:t>cạn</a:t>
            </a:r>
            <a:r>
              <a:rPr lang="en-US"/>
              <a:t> </a:t>
            </a:r>
          </a:p>
          <a:p>
            <a:pPr lvl="1"/>
            <a:r>
              <a:rPr lang="en-US"/>
              <a:t>T =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endParaRPr lang="en-US"/>
          </a:p>
          <a:p>
            <a:pPr lvl="1"/>
            <a:r>
              <a:rPr lang="en-US"/>
              <a:t>T = n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đầy</a:t>
            </a:r>
            <a:r>
              <a:rPr lang="en-US"/>
              <a:t> : </a:t>
            </a:r>
            <a:r>
              <a:rPr lang="en-US" err="1"/>
              <a:t>tràn</a:t>
            </a:r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7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AC1DE-5AE9-4F01-8943-738C4A467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DAC86-629F-4809-B040-0FCB0319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F5B38-6303-4969-AF62-EE8DEBFB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1D177-33D1-464B-B547-14F878006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6" y="78613"/>
            <a:ext cx="8908923" cy="451739"/>
          </a:xfrm>
        </p:spPr>
        <p:txBody>
          <a:bodyPr>
            <a:noAutofit/>
          </a:bodyPr>
          <a:lstStyle/>
          <a:p>
            <a:r>
              <a:rPr lang="en-US" sz="3600" err="1"/>
              <a:t>Cài</a:t>
            </a:r>
            <a:r>
              <a:rPr lang="en-US" sz="3600"/>
              <a:t> </a:t>
            </a:r>
            <a:r>
              <a:rPr lang="en-US" sz="3600" err="1"/>
              <a:t>đặt</a:t>
            </a:r>
            <a:r>
              <a:rPr lang="en-US" sz="3600"/>
              <a:t> STACK </a:t>
            </a:r>
            <a:r>
              <a:rPr lang="en-US" sz="3600" err="1"/>
              <a:t>theo</a:t>
            </a:r>
            <a:r>
              <a:rPr lang="en-US" sz="3600"/>
              <a:t> </a:t>
            </a:r>
            <a:r>
              <a:rPr lang="en-US" sz="3600" err="1"/>
              <a:t>cấu</a:t>
            </a:r>
            <a:r>
              <a:rPr lang="en-US" sz="3600"/>
              <a:t> </a:t>
            </a:r>
            <a:r>
              <a:rPr lang="en-US" sz="3600" err="1"/>
              <a:t>trúc</a:t>
            </a:r>
            <a:r>
              <a:rPr lang="en-US" sz="3600"/>
              <a:t> DS </a:t>
            </a:r>
            <a:r>
              <a:rPr lang="en-US" sz="3600" err="1"/>
              <a:t>tuần</a:t>
            </a:r>
            <a:r>
              <a:rPr lang="en-US" sz="3600"/>
              <a:t> </a:t>
            </a:r>
            <a:r>
              <a:rPr lang="en-US" sz="3600" err="1"/>
              <a:t>tự</a:t>
            </a:r>
            <a:r>
              <a:rPr lang="en-US" sz="3600"/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45982D-4CB8-4D87-85E0-7868A8062CD7}"/>
              </a:ext>
            </a:extLst>
          </p:cNvPr>
          <p:cNvSpPr txBox="1"/>
          <p:nvPr/>
        </p:nvSpPr>
        <p:spPr>
          <a:xfrm>
            <a:off x="518255" y="806628"/>
            <a:ext cx="810749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sz="1800">
                <a:solidFill>
                  <a:srgbClr val="808080"/>
                </a:solidFill>
                <a:latin typeface="Consolas" panose="020B0609020204030204" pitchFamily="49" charset="0"/>
              </a:rPr>
              <a:t>#define</a:t>
            </a:r>
            <a:r>
              <a:rPr lang="it-IT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it-IT" sz="1800">
                <a:solidFill>
                  <a:srgbClr val="000000"/>
                </a:solidFill>
                <a:latin typeface="Consolas" panose="020B0609020204030204" pitchFamily="49" charset="0"/>
              </a:rPr>
              <a:t> 100      </a:t>
            </a:r>
            <a:r>
              <a:rPr lang="it-IT" sz="1800">
                <a:solidFill>
                  <a:srgbClr val="008000"/>
                </a:solidFill>
                <a:latin typeface="Consolas" panose="020B0609020204030204" pitchFamily="49" charset="0"/>
              </a:rPr>
              <a:t>// So phan tu toi da cua Stack</a:t>
            </a:r>
            <a:endParaRPr lang="it-IT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Top;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xac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dinh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dinh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Data[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S;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Khai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bao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xep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975791-B382-480C-A66B-FDA517A9F567}"/>
              </a:ext>
            </a:extLst>
          </p:cNvPr>
          <p:cNvSpPr txBox="1"/>
          <p:nvPr/>
        </p:nvSpPr>
        <p:spPr>
          <a:xfrm>
            <a:off x="567951" y="2635052"/>
            <a:ext cx="3458818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//Khoi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Init(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-&gt;Top = 0;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//Kiem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tra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xep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rong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== 0);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//Kiem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tra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xem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day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Isfull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Max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207231-051A-428A-A8B8-6673C7B96DF1}"/>
              </a:ext>
            </a:extLst>
          </p:cNvPr>
          <p:cNvSpPr txBox="1"/>
          <p:nvPr/>
        </p:nvSpPr>
        <p:spPr>
          <a:xfrm>
            <a:off x="4367538" y="3187143"/>
            <a:ext cx="4319262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/*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Cac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ham can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viet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: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+ Them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dinh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Push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+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Xoa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khoi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dinh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Pop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+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Nhap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xuat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du lieu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E19EA-788A-8FB1-D380-4E382B5E8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8F515-62EF-DE45-9E05-883F1744AD72}" type="datetime1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1C7976-E43B-C677-1B6A-D6E9EF24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12B5F-9AE2-A582-D380-4A00BB08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704560D-BFAF-0B39-58C5-A2E4A5C54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345CF6-B929-D15C-4D8A-16DD8ECAC23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95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Lưu</a:t>
            </a:r>
            <a:r>
              <a:rPr lang="en-US" b="1"/>
              <a:t> </a:t>
            </a:r>
            <a:r>
              <a:rPr lang="en-US" b="1" err="1"/>
              <a:t>trữ</a:t>
            </a:r>
            <a:r>
              <a:rPr lang="en-US" b="1"/>
              <a:t> </a:t>
            </a:r>
            <a:r>
              <a:rPr lang="en-US" b="1" err="1"/>
              <a:t>kế</a:t>
            </a:r>
            <a:r>
              <a:rPr lang="en-US" b="1"/>
              <a:t> </a:t>
            </a:r>
            <a:r>
              <a:rPr lang="en-US" b="1" err="1"/>
              <a:t>tiếp</a:t>
            </a:r>
            <a:r>
              <a:rPr lang="en-US" b="1"/>
              <a:t> </a:t>
            </a:r>
            <a:r>
              <a:rPr lang="en-US" b="1" err="1"/>
              <a:t>đối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stack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thay</a:t>
            </a:r>
            <a:r>
              <a:rPr lang="en-US"/>
              <a:t> </a:t>
            </a:r>
            <a:r>
              <a:rPr lang="en-US" err="1"/>
              <a:t>đổi</a:t>
            </a:r>
            <a:r>
              <a:rPr lang="en-US"/>
              <a:t> </a:t>
            </a:r>
            <a:r>
              <a:rPr lang="en-US" err="1"/>
              <a:t>ngăn</a:t>
            </a:r>
            <a:r>
              <a:rPr lang="en-US"/>
              <a:t> </a:t>
            </a:r>
            <a:r>
              <a:rPr lang="en-US" err="1"/>
              <a:t>xếp</a:t>
            </a:r>
            <a:endParaRPr lang="en-US"/>
          </a:p>
          <a:p>
            <a:pPr marL="0" indent="0">
              <a:buNone/>
            </a:pPr>
            <a:r>
              <a:rPr lang="en-US" b="1"/>
              <a:t>Procedure</a:t>
            </a:r>
            <a:r>
              <a:rPr lang="en-US"/>
              <a:t> Push (S,T,X);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thêm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X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vào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đỉnh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ngăn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xếp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S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được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trỏ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bởi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T</a:t>
            </a:r>
          </a:p>
          <a:p>
            <a:pPr marL="514350" indent="-514350">
              <a:buAutoNum type="arabicPeriod"/>
            </a:pPr>
            <a:r>
              <a:rPr lang="en-US"/>
              <a:t>If T = n then write : stack </a:t>
            </a:r>
            <a:r>
              <a:rPr lang="en-US" err="1"/>
              <a:t>tràn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T = T + 1; </a:t>
            </a:r>
            <a:r>
              <a:rPr lang="en-US">
                <a:solidFill>
                  <a:srgbClr val="7F7F7F"/>
                </a:solidFill>
              </a:rPr>
              <a:t>// </a:t>
            </a:r>
            <a:r>
              <a:rPr lang="en-US" err="1">
                <a:solidFill>
                  <a:srgbClr val="7F7F7F"/>
                </a:solidFill>
              </a:rPr>
              <a:t>chuyển</a:t>
            </a:r>
            <a:r>
              <a:rPr lang="en-US">
                <a:solidFill>
                  <a:srgbClr val="7F7F7F"/>
                </a:solidFill>
              </a:rPr>
              <a:t> con </a:t>
            </a:r>
            <a:r>
              <a:rPr lang="en-US" err="1">
                <a:solidFill>
                  <a:srgbClr val="7F7F7F"/>
                </a:solidFill>
              </a:rPr>
              <a:t>trỏ</a:t>
            </a:r>
            <a:endParaRPr lang="en-US">
              <a:solidFill>
                <a:srgbClr val="7F7F7F"/>
              </a:solidFill>
            </a:endParaRPr>
          </a:p>
          <a:p>
            <a:pPr marL="514350" indent="-514350">
              <a:buAutoNum type="arabicPeriod"/>
            </a:pPr>
            <a:r>
              <a:rPr lang="en-US"/>
              <a:t>S[T] = X;</a:t>
            </a:r>
          </a:p>
          <a:p>
            <a:pPr marL="0" indent="0">
              <a:buNone/>
            </a:pPr>
            <a:r>
              <a:rPr lang="en-US" b="1"/>
              <a:t>Procedure</a:t>
            </a:r>
            <a:r>
              <a:rPr lang="en-US"/>
              <a:t> Pop (S,T,Y); 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//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Loại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phần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tử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ở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đỉnh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ngăn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xếp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S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được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trỏ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bởi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T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lưu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50000"/>
                  </a:schemeClr>
                </a:solidFill>
              </a:rPr>
              <a:t>vào</a:t>
            </a:r>
            <a:r>
              <a:rPr lang="en-US">
                <a:solidFill>
                  <a:schemeClr val="bg1">
                    <a:lumMod val="50000"/>
                  </a:schemeClr>
                </a:solidFill>
              </a:rPr>
              <a:t> Y</a:t>
            </a:r>
          </a:p>
          <a:p>
            <a:pPr marL="514350" indent="-514350">
              <a:buAutoNum type="arabicPeriod"/>
            </a:pPr>
            <a:r>
              <a:rPr lang="en-US"/>
              <a:t>If T = 0 then write : stack </a:t>
            </a:r>
            <a:r>
              <a:rPr lang="en-US" err="1"/>
              <a:t>cạn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Y = S[T]; </a:t>
            </a:r>
            <a:endParaRPr lang="en-US">
              <a:solidFill>
                <a:srgbClr val="7F7F7F"/>
              </a:solidFill>
            </a:endParaRPr>
          </a:p>
          <a:p>
            <a:pPr marL="514350" indent="-514350">
              <a:buAutoNum type="arabicPeriod"/>
            </a:pPr>
            <a:r>
              <a:rPr lang="en-US">
                <a:solidFill>
                  <a:srgbClr val="000000"/>
                </a:solidFill>
              </a:rPr>
              <a:t>T = T-1; </a:t>
            </a:r>
          </a:p>
          <a:p>
            <a:pPr marL="514350" indent="-514350">
              <a:buAutoNum type="arabicPeriod"/>
            </a:pPr>
            <a:endParaRPr lang="en-US">
              <a:solidFill>
                <a:srgbClr val="7F7F7F"/>
              </a:solidFill>
            </a:endParaRPr>
          </a:p>
          <a:p>
            <a:pPr marL="514350" indent="-514350">
              <a:buAutoNum type="arabicPeriod"/>
            </a:pPr>
            <a:endParaRPr lang="en-US">
              <a:solidFill>
                <a:srgbClr val="7F7F7F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214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4D732-668F-44D3-8D98-C877EBA1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E1F08-DB45-4515-BDE1-2C16D81A0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A439A-7BDB-4D31-9AAD-BC4FF76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35AB5F-B53B-495A-BB06-15056F80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hàm</a:t>
            </a:r>
            <a:r>
              <a:rPr lang="en-US"/>
              <a:t> Push, Pop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080E0-D1F6-4720-BAC2-BCF9C8500DC5}"/>
              </a:ext>
            </a:extLst>
          </p:cNvPr>
          <p:cNvSpPr txBox="1"/>
          <p:nvPr/>
        </p:nvSpPr>
        <p:spPr>
          <a:xfrm>
            <a:off x="248124" y="843677"/>
            <a:ext cx="5866926" cy="25853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//Ham Push them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x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dau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Push(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Isfull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nNgan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xep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day!"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r>
              <a:rPr lang="it-IT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it-IT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it-IT" sz="1800">
                <a:solidFill>
                  <a:srgbClr val="000000"/>
                </a:solidFill>
                <a:latin typeface="Consolas" panose="020B0609020204030204" pitchFamily="49" charset="0"/>
              </a:rPr>
              <a:t>.Data[</a:t>
            </a:r>
            <a:r>
              <a:rPr lang="it-IT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it-IT" sz="1800">
                <a:solidFill>
                  <a:srgbClr val="000000"/>
                </a:solidFill>
                <a:latin typeface="Consolas" panose="020B0609020204030204" pitchFamily="49" charset="0"/>
              </a:rPr>
              <a:t>.Top] = </a:t>
            </a:r>
            <a:r>
              <a:rPr lang="it-IT" sz="180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it-IT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4663B-CBAB-4058-BEC4-0DF8E1076389}"/>
              </a:ext>
            </a:extLst>
          </p:cNvPr>
          <p:cNvSpPr txBox="1"/>
          <p:nvPr/>
        </p:nvSpPr>
        <p:spPr>
          <a:xfrm>
            <a:off x="2516410" y="3491805"/>
            <a:ext cx="6408373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Ham Pop lay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khoi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dau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ngan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xep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Pop(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Isempty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"\n Ngan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xep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rong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!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x =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.Data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--;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4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08388-1F45-4370-9A8B-C75ADA18C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6CD26-C6BA-4BA2-BDA7-787B2D899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5CFA1-0374-489F-B11C-7D58769E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7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D1C7E-62F4-4164-B3D0-4CF2BD05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hàm</a:t>
            </a:r>
            <a:r>
              <a:rPr lang="en-US"/>
              <a:t> </a:t>
            </a:r>
            <a:r>
              <a:rPr lang="en-US" err="1"/>
              <a:t>nhập</a:t>
            </a:r>
            <a:r>
              <a:rPr lang="en-US"/>
              <a:t>/</a:t>
            </a:r>
            <a:r>
              <a:rPr lang="en-US" err="1"/>
              <a:t>xuất</a:t>
            </a:r>
            <a:r>
              <a:rPr lang="en-US"/>
              <a:t> </a:t>
            </a:r>
            <a:r>
              <a:rPr lang="en-US" err="1"/>
              <a:t>ngăn</a:t>
            </a:r>
            <a:r>
              <a:rPr lang="en-US"/>
              <a:t> </a:t>
            </a:r>
            <a:r>
              <a:rPr lang="en-US" err="1"/>
              <a:t>xếp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7E33A-0745-4FE8-8412-1D20C792B872}"/>
              </a:ext>
            </a:extLst>
          </p:cNvPr>
          <p:cNvSpPr txBox="1"/>
          <p:nvPr/>
        </p:nvSpPr>
        <p:spPr>
          <a:xfrm>
            <a:off x="114062" y="980756"/>
            <a:ext cx="8915875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Ham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Nhap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Input(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nNhap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gia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tri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cho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Stack \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nNhap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0 de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ket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A31515"/>
                </a:solidFill>
                <a:latin typeface="Consolas" panose="020B0609020204030204" pitchFamily="49" charset="0"/>
              </a:rPr>
              <a:t>thuc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do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x;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(x != 0)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    Push(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x);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(x != 0);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724D14-763A-4FA6-98FC-F9773FEC6F7D}"/>
              </a:ext>
            </a:extLst>
          </p:cNvPr>
          <p:cNvSpPr txBox="1"/>
          <p:nvPr/>
        </p:nvSpPr>
        <p:spPr>
          <a:xfrm>
            <a:off x="173224" y="4169084"/>
            <a:ext cx="4194314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//Ham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xuat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Output(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!= 0)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A31515"/>
                </a:solidFill>
                <a:latin typeface="Consolas" panose="020B0609020204030204" pitchFamily="49" charset="0"/>
              </a:rPr>
              <a:t>"  "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Pop(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A575F3-F358-46CB-A07A-24E8F6FFE273}"/>
              </a:ext>
            </a:extLst>
          </p:cNvPr>
          <p:cNvSpPr txBox="1"/>
          <p:nvPr/>
        </p:nvSpPr>
        <p:spPr>
          <a:xfrm>
            <a:off x="5587211" y="4446083"/>
            <a:ext cx="203278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Input(S);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	Output(S);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1FDCB754-1A84-471B-ADBF-46F3246AB6A9}"/>
              </a:ext>
            </a:extLst>
          </p:cNvPr>
          <p:cNvSpPr/>
          <p:nvPr/>
        </p:nvSpPr>
        <p:spPr>
          <a:xfrm>
            <a:off x="5945493" y="5969158"/>
            <a:ext cx="1066800" cy="495103"/>
          </a:xfrm>
          <a:prstGeom prst="wedgeRectCallout">
            <a:avLst>
              <a:gd name="adj1" fmla="val -6459"/>
              <a:gd name="adj2" fmla="val -11071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06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8E401-8E31-4697-9997-8FD8965BF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D80DE-A556-4FF2-9F44-C7DAA459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6532D-538D-48D2-87E2-27F9BC2A5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8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A9E61A-89B2-402C-B084-9079CBEA5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</a:t>
            </a:r>
            <a:r>
              <a:rPr lang="en-US" err="1"/>
              <a:t>ngăn</a:t>
            </a:r>
            <a:r>
              <a:rPr lang="en-US"/>
              <a:t> </a:t>
            </a:r>
            <a:r>
              <a:rPr lang="en-US" err="1"/>
              <a:t>xếp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D61102-E070-48DF-99D1-C334A372992A}"/>
              </a:ext>
            </a:extLst>
          </p:cNvPr>
          <p:cNvSpPr txBox="1"/>
          <p:nvPr/>
        </p:nvSpPr>
        <p:spPr>
          <a:xfrm>
            <a:off x="283422" y="1004869"/>
            <a:ext cx="8641361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Chen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x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vi tri k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Insert_k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&lt;1 ||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       cout </a:t>
            </a:r>
            <a:r>
              <a:rPr lang="fr-FR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fr-FR" sz="1800" err="1">
                <a:solidFill>
                  <a:srgbClr val="A31515"/>
                </a:solidFill>
                <a:latin typeface="Consolas" panose="020B0609020204030204" pitchFamily="49" charset="0"/>
              </a:rPr>
              <a:t>nVi</a:t>
            </a:r>
            <a:r>
              <a:rPr lang="fr-FR" sz="1800">
                <a:solidFill>
                  <a:srgbClr val="A31515"/>
                </a:solidFill>
                <a:latin typeface="Consolas" panose="020B0609020204030204" pitchFamily="49" charset="0"/>
              </a:rPr>
              <a:t> tri </a:t>
            </a:r>
            <a:r>
              <a:rPr lang="fr-FR" sz="1800" err="1">
                <a:solidFill>
                  <a:srgbClr val="A31515"/>
                </a:solidFill>
                <a:latin typeface="Consolas" panose="020B0609020204030204" pitchFamily="49" charset="0"/>
              </a:rPr>
              <a:t>chen</a:t>
            </a:r>
            <a:r>
              <a:rPr lang="fr-FR" sz="180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fr-FR" sz="1800" err="1">
                <a:solidFill>
                  <a:srgbClr val="A31515"/>
                </a:solidFill>
                <a:latin typeface="Consolas" panose="020B0609020204030204" pitchFamily="49" charset="0"/>
              </a:rPr>
              <a:t>khong</a:t>
            </a:r>
            <a:r>
              <a:rPr lang="fr-FR" sz="1800">
                <a:solidFill>
                  <a:srgbClr val="A31515"/>
                </a:solidFill>
                <a:latin typeface="Consolas" panose="020B0609020204030204" pitchFamily="49" charset="0"/>
              </a:rPr>
              <a:t> hop le! "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80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fr-FR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Tempt;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Khai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bao stack tam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thoi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Init(&amp;Tempt);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&gt;=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 {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Chuyen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 sang Tempt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    Push(Tempt, Pop(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Push(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Them phan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tu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x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vao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vi tri k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Tempt.Top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&gt; 0)  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Lay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lai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gia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tri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ve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        Push(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Pop(Tempt));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33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2864-ADC1-41CE-EFDD-27FCB1E2E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54D3B-0507-63C1-059A-4D1AA9C1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6BA8C-956E-25C7-C961-16101DD70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9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1209BE-05EE-F12B-1950-162256BF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Ví dụ 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5D31-A50E-AE05-4DC7-9B501EF19ED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539AE2-985C-8E84-9D59-FF0BD4BA905B}"/>
              </a:ext>
            </a:extLst>
          </p:cNvPr>
          <p:cNvSpPr txBox="1"/>
          <p:nvPr/>
        </p:nvSpPr>
        <p:spPr>
          <a:xfrm>
            <a:off x="1524000" y="2043857"/>
            <a:ext cx="537679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dk1"/>
                </a:solidFill>
                <a:latin typeface="Consolas" panose="020B0609020204030204" pitchFamily="49" charset="0"/>
              </a:rPr>
              <a:t>for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(</a:t>
            </a:r>
            <a:r>
              <a:rPr lang="en-US" b="1">
                <a:solidFill>
                  <a:schemeClr val="dk1"/>
                </a:solidFill>
                <a:latin typeface="Consolas" panose="020B0609020204030204" pitchFamily="49" charset="0"/>
              </a:rPr>
              <a:t>int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= 0; 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&lt; 10; 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   </a:t>
            </a:r>
            <a:r>
              <a:rPr lang="en-US" b="1">
                <a:solidFill>
                  <a:schemeClr val="dk1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(A[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] &lt; A[0] &amp;&amp; A[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] % 2 == 0) {</a:t>
            </a:r>
          </a:p>
          <a:p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       </a:t>
            </a:r>
            <a:r>
              <a:rPr lang="en-US" b="1">
                <a:solidFill>
                  <a:schemeClr val="dk1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(!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stack_is_empty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()) pop();</a:t>
            </a:r>
          </a:p>
          <a:p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   } </a:t>
            </a:r>
            <a:r>
              <a:rPr lang="en-US" b="1">
                <a:solidFill>
                  <a:schemeClr val="dk1"/>
                </a:solidFill>
                <a:latin typeface="Consolas" panose="020B0609020204030204" pitchFamily="49" charset="0"/>
              </a:rPr>
              <a:t>else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       </a:t>
            </a:r>
            <a:r>
              <a:rPr lang="en-US" b="1">
                <a:solidFill>
                  <a:schemeClr val="dk1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(!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stack_is_full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()) push(A[</a:t>
            </a:r>
            <a:r>
              <a:rPr lang="en-US" err="1">
                <a:solidFill>
                  <a:schemeClr val="dk1"/>
                </a:solidFill>
                <a:latin typeface="Consolas" panose="020B0609020204030204" pitchFamily="49" charset="0"/>
              </a:rPr>
              <a:t>i</a:t>
            </a:r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]);</a:t>
            </a:r>
          </a:p>
          <a:p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US">
                <a:solidFill>
                  <a:schemeClr val="dk1"/>
                </a:solidFill>
                <a:latin typeface="Consolas" panose="020B0609020204030204" pitchFamily="49" charset="0"/>
              </a:rPr>
              <a:t>}</a:t>
            </a:r>
          </a:p>
          <a:p>
            <a:endParaRPr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F5E1407-0495-9490-32C5-8B5C0947E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47195"/>
              </p:ext>
            </p:extLst>
          </p:nvPr>
        </p:nvGraphicFramePr>
        <p:xfrm>
          <a:off x="457200" y="1488704"/>
          <a:ext cx="8229600" cy="274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71532056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261352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67366302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1046244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127249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76243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04233502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9676575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931967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9495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73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89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96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99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60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55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52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66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67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79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08593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EB1852A-B866-E703-5D24-F168821B3956}"/>
              </a:ext>
            </a:extLst>
          </p:cNvPr>
          <p:cNvSpPr txBox="1"/>
          <p:nvPr/>
        </p:nvSpPr>
        <p:spPr>
          <a:xfrm>
            <a:off x="800100" y="4448348"/>
            <a:ext cx="739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Điền trạng thái của Stack lưu trữ mảng số trên khi chạy thuật toán trên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4083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Bài</a:t>
            </a:r>
            <a:r>
              <a:rPr lang="en-US" b="1"/>
              <a:t> </a:t>
            </a:r>
            <a:r>
              <a:rPr lang="en-US" b="1" err="1"/>
              <a:t>toán</a:t>
            </a:r>
            <a:r>
              <a:rPr lang="en-US" b="1"/>
              <a:t> </a:t>
            </a:r>
            <a:r>
              <a:rPr lang="en-US" b="1" err="1"/>
              <a:t>sử</a:t>
            </a:r>
            <a:r>
              <a:rPr lang="en-US" b="1"/>
              <a:t> </a:t>
            </a:r>
            <a:r>
              <a:rPr lang="en-US" b="1" err="1"/>
              <a:t>dụng</a:t>
            </a:r>
            <a:r>
              <a:rPr lang="en-US" b="1"/>
              <a:t> </a:t>
            </a:r>
            <a:r>
              <a:rPr lang="en-US" b="1" err="1"/>
              <a:t>ngăn</a:t>
            </a:r>
            <a:r>
              <a:rPr lang="en-US" b="1"/>
              <a:t> </a:t>
            </a:r>
            <a:r>
              <a:rPr lang="en-US" b="1" err="1"/>
              <a:t>xếp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err="1"/>
              <a:t>Đổi</a:t>
            </a:r>
            <a:r>
              <a:rPr lang="en-US"/>
              <a:t> </a:t>
            </a:r>
            <a:r>
              <a:rPr lang="en-US" err="1"/>
              <a:t>cơ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từ</a:t>
            </a:r>
            <a:r>
              <a:rPr lang="en-US"/>
              <a:t> </a:t>
            </a:r>
            <a:r>
              <a:rPr lang="en-US" err="1"/>
              <a:t>thập</a:t>
            </a:r>
            <a:r>
              <a:rPr lang="en-US"/>
              <a:t> </a:t>
            </a:r>
            <a:r>
              <a:rPr lang="en-US" err="1"/>
              <a:t>phân</a:t>
            </a:r>
            <a:r>
              <a:rPr lang="en-US"/>
              <a:t> sang </a:t>
            </a:r>
            <a:r>
              <a:rPr lang="en-US" err="1"/>
              <a:t>nhị</a:t>
            </a:r>
            <a:r>
              <a:rPr lang="en-US"/>
              <a:t> </a:t>
            </a:r>
            <a:r>
              <a:rPr lang="en-US" err="1"/>
              <a:t>phân</a:t>
            </a:r>
            <a:endParaRPr lang="en-US"/>
          </a:p>
          <a:p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học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ký</a:t>
            </a:r>
            <a:r>
              <a:rPr lang="en-US"/>
              <a:t> </a:t>
            </a:r>
            <a:r>
              <a:rPr lang="en-US" err="1"/>
              <a:t>pháp</a:t>
            </a:r>
            <a:r>
              <a:rPr lang="en-US"/>
              <a:t> </a:t>
            </a:r>
            <a:r>
              <a:rPr lang="en-US" err="1"/>
              <a:t>Balan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44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Đổi</a:t>
            </a:r>
            <a:r>
              <a:rPr lang="en-US" b="1"/>
              <a:t> </a:t>
            </a:r>
            <a:r>
              <a:rPr lang="en-US" b="1" err="1"/>
              <a:t>cơ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từ</a:t>
            </a:r>
            <a:r>
              <a:rPr lang="en-US" b="1"/>
              <a:t> </a:t>
            </a:r>
            <a:r>
              <a:rPr lang="en-US" b="1" err="1"/>
              <a:t>thập</a:t>
            </a:r>
            <a:r>
              <a:rPr lang="en-US" b="1"/>
              <a:t> </a:t>
            </a:r>
            <a:r>
              <a:rPr lang="en-US" b="1" err="1"/>
              <a:t>phân</a:t>
            </a:r>
            <a:r>
              <a:rPr lang="en-US" b="1"/>
              <a:t> sang </a:t>
            </a:r>
            <a:r>
              <a:rPr lang="en-US" b="1" err="1"/>
              <a:t>nhị</a:t>
            </a:r>
            <a:r>
              <a:rPr lang="en-US" b="1"/>
              <a:t> </a:t>
            </a:r>
            <a:r>
              <a:rPr lang="en-US" b="1" err="1"/>
              <a:t>phân</a:t>
            </a:r>
            <a:br>
              <a:rPr lang="en-US" b="1"/>
            </a:b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err="1">
                <a:cs typeface="Times New Roman" pitchFamily="18" charset="0"/>
              </a:rPr>
              <a:t>Đổi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cơ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số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từ</a:t>
            </a:r>
            <a:r>
              <a:rPr lang="en-US">
                <a:cs typeface="Times New Roman" pitchFamily="18" charset="0"/>
              </a:rPr>
              <a:t> 10 sang 2</a:t>
            </a:r>
          </a:p>
          <a:p>
            <a:pPr>
              <a:lnSpc>
                <a:spcPct val="90000"/>
              </a:lnSpc>
            </a:pPr>
            <a:r>
              <a:rPr lang="en-US">
                <a:cs typeface="Times New Roman" pitchFamily="18" charset="0"/>
              </a:rPr>
              <a:t>Chia </a:t>
            </a:r>
            <a:r>
              <a:rPr lang="en-US" err="1">
                <a:cs typeface="Times New Roman" pitchFamily="18" charset="0"/>
              </a:rPr>
              <a:t>liên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tiếp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cho</a:t>
            </a:r>
            <a:r>
              <a:rPr lang="en-US">
                <a:cs typeface="Times New Roman" pitchFamily="18" charset="0"/>
              </a:rPr>
              <a:t> 2 </a:t>
            </a:r>
            <a:r>
              <a:rPr lang="en-US" err="1">
                <a:cs typeface="Times New Roman" pitchFamily="18" charset="0"/>
              </a:rPr>
              <a:t>và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lấy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các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số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dư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theo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chiều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ngược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lại</a:t>
            </a:r>
            <a:endParaRPr lang="en-US">
              <a:cs typeface="Times New Roman" pitchFamily="18" charset="0"/>
            </a:endParaRPr>
          </a:p>
          <a:p>
            <a:endParaRPr lang="en-US"/>
          </a:p>
        </p:txBody>
      </p:sp>
      <p:grpSp>
        <p:nvGrpSpPr>
          <p:cNvPr id="8" name="Group 5"/>
          <p:cNvGrpSpPr>
            <a:grpSpLocks/>
          </p:cNvGrpSpPr>
          <p:nvPr/>
        </p:nvGrpSpPr>
        <p:grpSpPr bwMode="auto">
          <a:xfrm>
            <a:off x="698500" y="2735933"/>
            <a:ext cx="7467600" cy="3429000"/>
            <a:chOff x="990600" y="2819404"/>
            <a:chExt cx="7467600" cy="3428996"/>
          </a:xfrm>
        </p:grpSpPr>
        <p:grpSp>
          <p:nvGrpSpPr>
            <p:cNvPr id="9" name="Group 98"/>
            <p:cNvGrpSpPr>
              <a:grpSpLocks/>
            </p:cNvGrpSpPr>
            <p:nvPr/>
          </p:nvGrpSpPr>
          <p:grpSpPr bwMode="auto">
            <a:xfrm>
              <a:off x="7620000" y="2819406"/>
              <a:ext cx="838200" cy="1600201"/>
              <a:chOff x="4752" y="1968"/>
              <a:chExt cx="528" cy="1008"/>
            </a:xfrm>
          </p:grpSpPr>
          <p:sp>
            <p:nvSpPr>
              <p:cNvPr id="65" name="Rectangle 6"/>
              <p:cNvSpPr>
                <a:spLocks noChangeArrowheads="1"/>
              </p:cNvSpPr>
              <p:nvPr/>
            </p:nvSpPr>
            <p:spPr bwMode="auto">
              <a:xfrm>
                <a:off x="4752" y="2075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66" name="Rectangle 7"/>
              <p:cNvSpPr>
                <a:spLocks noChangeArrowheads="1"/>
              </p:cNvSpPr>
              <p:nvPr/>
            </p:nvSpPr>
            <p:spPr bwMode="auto">
              <a:xfrm>
                <a:off x="4752" y="2255"/>
                <a:ext cx="528" cy="1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67" name="Rectangle 8"/>
              <p:cNvSpPr>
                <a:spLocks noChangeArrowheads="1"/>
              </p:cNvSpPr>
              <p:nvPr/>
            </p:nvSpPr>
            <p:spPr bwMode="auto">
              <a:xfrm>
                <a:off x="4752" y="2436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68" name="Rectangle 9"/>
              <p:cNvSpPr>
                <a:spLocks noChangeArrowheads="1"/>
              </p:cNvSpPr>
              <p:nvPr/>
            </p:nvSpPr>
            <p:spPr bwMode="auto">
              <a:xfrm>
                <a:off x="4752" y="2616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69" name="Rectangle 10"/>
              <p:cNvSpPr>
                <a:spLocks noChangeArrowheads="1"/>
              </p:cNvSpPr>
              <p:nvPr/>
            </p:nvSpPr>
            <p:spPr bwMode="auto">
              <a:xfrm>
                <a:off x="4752" y="2796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70" name="Line 11"/>
              <p:cNvSpPr>
                <a:spLocks noChangeShapeType="1"/>
              </p:cNvSpPr>
              <p:nvPr/>
            </p:nvSpPr>
            <p:spPr bwMode="auto">
              <a:xfrm flipH="1">
                <a:off x="4752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71" name="Line 12"/>
              <p:cNvSpPr>
                <a:spLocks noChangeShapeType="1"/>
              </p:cNvSpPr>
              <p:nvPr/>
            </p:nvSpPr>
            <p:spPr bwMode="auto">
              <a:xfrm>
                <a:off x="5280" y="1968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10" name="Line 26"/>
            <p:cNvSpPr>
              <a:spLocks noChangeShapeType="1"/>
            </p:cNvSpPr>
            <p:nvPr/>
          </p:nvSpPr>
          <p:spPr bwMode="auto">
            <a:xfrm>
              <a:off x="2209800" y="38100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07"/>
            <p:cNvGrpSpPr>
              <a:grpSpLocks/>
            </p:cNvGrpSpPr>
            <p:nvPr/>
          </p:nvGrpSpPr>
          <p:grpSpPr bwMode="auto">
            <a:xfrm>
              <a:off x="6477000" y="3124202"/>
              <a:ext cx="838200" cy="1295401"/>
              <a:chOff x="4080" y="1968"/>
              <a:chExt cx="528" cy="816"/>
            </a:xfrm>
          </p:grpSpPr>
          <p:sp>
            <p:nvSpPr>
              <p:cNvPr id="59" name="Rectangle 101"/>
              <p:cNvSpPr>
                <a:spLocks noChangeArrowheads="1"/>
              </p:cNvSpPr>
              <p:nvPr/>
            </p:nvSpPr>
            <p:spPr bwMode="auto">
              <a:xfrm>
                <a:off x="4080" y="2063"/>
                <a:ext cx="528" cy="1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60" name="Rectangle 102"/>
              <p:cNvSpPr>
                <a:spLocks noChangeArrowheads="1"/>
              </p:cNvSpPr>
              <p:nvPr/>
            </p:nvSpPr>
            <p:spPr bwMode="auto">
              <a:xfrm>
                <a:off x="4080" y="224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61" name="Rectangle 103"/>
              <p:cNvSpPr>
                <a:spLocks noChangeArrowheads="1"/>
              </p:cNvSpPr>
              <p:nvPr/>
            </p:nvSpPr>
            <p:spPr bwMode="auto">
              <a:xfrm>
                <a:off x="408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62" name="Rectangle 104"/>
              <p:cNvSpPr>
                <a:spLocks noChangeArrowheads="1"/>
              </p:cNvSpPr>
              <p:nvPr/>
            </p:nvSpPr>
            <p:spPr bwMode="auto">
              <a:xfrm>
                <a:off x="408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63" name="Line 105"/>
              <p:cNvSpPr>
                <a:spLocks noChangeShapeType="1"/>
              </p:cNvSpPr>
              <p:nvPr/>
            </p:nvSpPr>
            <p:spPr bwMode="auto">
              <a:xfrm flipH="1">
                <a:off x="4080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64" name="Line 106"/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2" name="Group 125"/>
            <p:cNvGrpSpPr>
              <a:grpSpLocks/>
            </p:cNvGrpSpPr>
            <p:nvPr/>
          </p:nvGrpSpPr>
          <p:grpSpPr bwMode="auto">
            <a:xfrm>
              <a:off x="5334000" y="3429000"/>
              <a:ext cx="838200" cy="990600"/>
              <a:chOff x="3360" y="2160"/>
              <a:chExt cx="528" cy="624"/>
            </a:xfrm>
          </p:grpSpPr>
          <p:sp>
            <p:nvSpPr>
              <p:cNvPr id="54" name="Rectangle 110"/>
              <p:cNvSpPr>
                <a:spLocks noChangeArrowheads="1"/>
              </p:cNvSpPr>
              <p:nvPr/>
            </p:nvSpPr>
            <p:spPr bwMode="auto">
              <a:xfrm>
                <a:off x="3360" y="224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55" name="Rectangle 111"/>
              <p:cNvSpPr>
                <a:spLocks noChangeArrowheads="1"/>
              </p:cNvSpPr>
              <p:nvPr/>
            </p:nvSpPr>
            <p:spPr bwMode="auto">
              <a:xfrm>
                <a:off x="336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56" name="Rectangle 112"/>
              <p:cNvSpPr>
                <a:spLocks noChangeArrowheads="1"/>
              </p:cNvSpPr>
              <p:nvPr/>
            </p:nvSpPr>
            <p:spPr bwMode="auto">
              <a:xfrm>
                <a:off x="336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57" name="Line 113"/>
              <p:cNvSpPr>
                <a:spLocks noChangeShapeType="1"/>
              </p:cNvSpPr>
              <p:nvPr/>
            </p:nvSpPr>
            <p:spPr bwMode="auto">
              <a:xfrm flipH="1">
                <a:off x="3360" y="2160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58" name="Line 114"/>
              <p:cNvSpPr>
                <a:spLocks noChangeShapeType="1"/>
              </p:cNvSpPr>
              <p:nvPr/>
            </p:nvSpPr>
            <p:spPr bwMode="auto">
              <a:xfrm>
                <a:off x="3888" y="2160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3" name="Group 126"/>
            <p:cNvGrpSpPr>
              <a:grpSpLocks/>
            </p:cNvGrpSpPr>
            <p:nvPr/>
          </p:nvGrpSpPr>
          <p:grpSpPr bwMode="auto">
            <a:xfrm>
              <a:off x="4191000" y="3657600"/>
              <a:ext cx="838200" cy="762000"/>
              <a:chOff x="2640" y="2304"/>
              <a:chExt cx="528" cy="480"/>
            </a:xfrm>
          </p:grpSpPr>
          <p:sp>
            <p:nvSpPr>
              <p:cNvPr id="50" name="Rectangle 116"/>
              <p:cNvSpPr>
                <a:spLocks noChangeArrowheads="1"/>
              </p:cNvSpPr>
              <p:nvPr/>
            </p:nvSpPr>
            <p:spPr bwMode="auto">
              <a:xfrm>
                <a:off x="264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51" name="Rectangle 117"/>
              <p:cNvSpPr>
                <a:spLocks noChangeArrowheads="1"/>
              </p:cNvSpPr>
              <p:nvPr/>
            </p:nvSpPr>
            <p:spPr bwMode="auto">
              <a:xfrm>
                <a:off x="264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52" name="Line 118"/>
              <p:cNvSpPr>
                <a:spLocks noChangeShapeType="1"/>
              </p:cNvSpPr>
              <p:nvPr/>
            </p:nvSpPr>
            <p:spPr bwMode="auto">
              <a:xfrm flipH="1">
                <a:off x="2640" y="23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53" name="Line 119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4" name="Group 127"/>
            <p:cNvGrpSpPr>
              <a:grpSpLocks/>
            </p:cNvGrpSpPr>
            <p:nvPr/>
          </p:nvGrpSpPr>
          <p:grpSpPr bwMode="auto">
            <a:xfrm>
              <a:off x="3048000" y="3962400"/>
              <a:ext cx="838200" cy="457200"/>
              <a:chOff x="1920" y="2496"/>
              <a:chExt cx="528" cy="288"/>
            </a:xfrm>
          </p:grpSpPr>
          <p:sp>
            <p:nvSpPr>
              <p:cNvPr id="47" name="Rectangle 122"/>
              <p:cNvSpPr>
                <a:spLocks noChangeArrowheads="1"/>
              </p:cNvSpPr>
              <p:nvPr/>
            </p:nvSpPr>
            <p:spPr bwMode="auto">
              <a:xfrm>
                <a:off x="192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48" name="Line 123"/>
              <p:cNvSpPr>
                <a:spLocks noChangeShapeType="1"/>
              </p:cNvSpPr>
              <p:nvPr/>
            </p:nvSpPr>
            <p:spPr bwMode="auto">
              <a:xfrm flipH="1">
                <a:off x="1920" y="249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49" name="Line 124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5" name="Group 128"/>
            <p:cNvGrpSpPr>
              <a:grpSpLocks/>
            </p:cNvGrpSpPr>
            <p:nvPr/>
          </p:nvGrpSpPr>
          <p:grpSpPr bwMode="auto">
            <a:xfrm>
              <a:off x="3048000" y="4572002"/>
              <a:ext cx="838200" cy="1295401"/>
              <a:chOff x="4080" y="1968"/>
              <a:chExt cx="528" cy="816"/>
            </a:xfrm>
          </p:grpSpPr>
          <p:sp>
            <p:nvSpPr>
              <p:cNvPr id="41" name="Rectangle 129"/>
              <p:cNvSpPr>
                <a:spLocks noChangeArrowheads="1"/>
              </p:cNvSpPr>
              <p:nvPr/>
            </p:nvSpPr>
            <p:spPr bwMode="auto">
              <a:xfrm>
                <a:off x="4080" y="2063"/>
                <a:ext cx="528" cy="1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42" name="Rectangle 130"/>
              <p:cNvSpPr>
                <a:spLocks noChangeArrowheads="1"/>
              </p:cNvSpPr>
              <p:nvPr/>
            </p:nvSpPr>
            <p:spPr bwMode="auto">
              <a:xfrm>
                <a:off x="4080" y="224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43" name="Rectangle 131"/>
              <p:cNvSpPr>
                <a:spLocks noChangeArrowheads="1"/>
              </p:cNvSpPr>
              <p:nvPr/>
            </p:nvSpPr>
            <p:spPr bwMode="auto">
              <a:xfrm>
                <a:off x="408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44" name="Rectangle 132"/>
              <p:cNvSpPr>
                <a:spLocks noChangeArrowheads="1"/>
              </p:cNvSpPr>
              <p:nvPr/>
            </p:nvSpPr>
            <p:spPr bwMode="auto">
              <a:xfrm>
                <a:off x="408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45" name="Line 133"/>
              <p:cNvSpPr>
                <a:spLocks noChangeShapeType="1"/>
              </p:cNvSpPr>
              <p:nvPr/>
            </p:nvSpPr>
            <p:spPr bwMode="auto">
              <a:xfrm flipH="1">
                <a:off x="4080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46" name="Line 134"/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6" name="Group 135"/>
            <p:cNvGrpSpPr>
              <a:grpSpLocks/>
            </p:cNvGrpSpPr>
            <p:nvPr/>
          </p:nvGrpSpPr>
          <p:grpSpPr bwMode="auto">
            <a:xfrm>
              <a:off x="4191000" y="4876800"/>
              <a:ext cx="838200" cy="990600"/>
              <a:chOff x="3360" y="2160"/>
              <a:chExt cx="528" cy="624"/>
            </a:xfrm>
          </p:grpSpPr>
          <p:sp>
            <p:nvSpPr>
              <p:cNvPr id="36" name="Rectangle 136"/>
              <p:cNvSpPr>
                <a:spLocks noChangeArrowheads="1"/>
              </p:cNvSpPr>
              <p:nvPr/>
            </p:nvSpPr>
            <p:spPr bwMode="auto">
              <a:xfrm>
                <a:off x="3360" y="224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37" name="Rectangle 137"/>
              <p:cNvSpPr>
                <a:spLocks noChangeArrowheads="1"/>
              </p:cNvSpPr>
              <p:nvPr/>
            </p:nvSpPr>
            <p:spPr bwMode="auto">
              <a:xfrm>
                <a:off x="336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38" name="Rectangle 138"/>
              <p:cNvSpPr>
                <a:spLocks noChangeArrowheads="1"/>
              </p:cNvSpPr>
              <p:nvPr/>
            </p:nvSpPr>
            <p:spPr bwMode="auto">
              <a:xfrm>
                <a:off x="336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39" name="Line 139"/>
              <p:cNvSpPr>
                <a:spLocks noChangeShapeType="1"/>
              </p:cNvSpPr>
              <p:nvPr/>
            </p:nvSpPr>
            <p:spPr bwMode="auto">
              <a:xfrm flipH="1">
                <a:off x="3360" y="2160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40" name="Line 140"/>
              <p:cNvSpPr>
                <a:spLocks noChangeShapeType="1"/>
              </p:cNvSpPr>
              <p:nvPr/>
            </p:nvSpPr>
            <p:spPr bwMode="auto">
              <a:xfrm>
                <a:off x="3888" y="2160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7" name="Group 141"/>
            <p:cNvGrpSpPr>
              <a:grpSpLocks/>
            </p:cNvGrpSpPr>
            <p:nvPr/>
          </p:nvGrpSpPr>
          <p:grpSpPr bwMode="auto">
            <a:xfrm>
              <a:off x="5334000" y="5105400"/>
              <a:ext cx="838200" cy="762000"/>
              <a:chOff x="2640" y="2304"/>
              <a:chExt cx="528" cy="480"/>
            </a:xfrm>
          </p:grpSpPr>
          <p:sp>
            <p:nvSpPr>
              <p:cNvPr id="32" name="Rectangle 142"/>
              <p:cNvSpPr>
                <a:spLocks noChangeArrowheads="1"/>
              </p:cNvSpPr>
              <p:nvPr/>
            </p:nvSpPr>
            <p:spPr bwMode="auto">
              <a:xfrm>
                <a:off x="264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33" name="Rectangle 143"/>
              <p:cNvSpPr>
                <a:spLocks noChangeArrowheads="1"/>
              </p:cNvSpPr>
              <p:nvPr/>
            </p:nvSpPr>
            <p:spPr bwMode="auto">
              <a:xfrm>
                <a:off x="264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34" name="Line 144"/>
              <p:cNvSpPr>
                <a:spLocks noChangeShapeType="1"/>
              </p:cNvSpPr>
              <p:nvPr/>
            </p:nvSpPr>
            <p:spPr bwMode="auto">
              <a:xfrm flipH="1">
                <a:off x="2640" y="23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35" name="Line 145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8" name="Group 146"/>
            <p:cNvGrpSpPr>
              <a:grpSpLocks/>
            </p:cNvGrpSpPr>
            <p:nvPr/>
          </p:nvGrpSpPr>
          <p:grpSpPr bwMode="auto">
            <a:xfrm>
              <a:off x="6477000" y="5410200"/>
              <a:ext cx="838200" cy="457200"/>
              <a:chOff x="1920" y="2496"/>
              <a:chExt cx="528" cy="288"/>
            </a:xfrm>
          </p:grpSpPr>
          <p:sp>
            <p:nvSpPr>
              <p:cNvPr id="29" name="Rectangle 147"/>
              <p:cNvSpPr>
                <a:spLocks noChangeArrowheads="1"/>
              </p:cNvSpPr>
              <p:nvPr/>
            </p:nvSpPr>
            <p:spPr bwMode="auto">
              <a:xfrm>
                <a:off x="192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0</a:t>
                </a:r>
              </a:p>
            </p:txBody>
          </p:sp>
          <p:sp>
            <p:nvSpPr>
              <p:cNvPr id="30" name="Line 148"/>
              <p:cNvSpPr>
                <a:spLocks noChangeShapeType="1"/>
              </p:cNvSpPr>
              <p:nvPr/>
            </p:nvSpPr>
            <p:spPr bwMode="auto">
              <a:xfrm flipH="1">
                <a:off x="1920" y="249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31" name="Line 149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19" name="Rectangle 151"/>
            <p:cNvSpPr>
              <a:spLocks noChangeArrowheads="1"/>
            </p:cNvSpPr>
            <p:nvPr/>
          </p:nvSpPr>
          <p:spPr bwMode="auto">
            <a:xfrm>
              <a:off x="7620000" y="5334000"/>
              <a:ext cx="838200" cy="533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endParaRPr lang="en-US" sz="2000"/>
            </a:p>
          </p:txBody>
        </p:sp>
        <p:sp>
          <p:nvSpPr>
            <p:cNvPr id="20" name="Rectangle 156"/>
            <p:cNvSpPr>
              <a:spLocks noChangeArrowheads="1"/>
            </p:cNvSpPr>
            <p:nvPr/>
          </p:nvSpPr>
          <p:spPr bwMode="auto">
            <a:xfrm>
              <a:off x="3048000" y="60198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r>
                <a:rPr lang="en-US" sz="2000" b="1"/>
                <a:t>1</a:t>
              </a:r>
            </a:p>
          </p:txBody>
        </p:sp>
        <p:sp>
          <p:nvSpPr>
            <p:cNvPr id="21" name="Rectangle 157"/>
            <p:cNvSpPr>
              <a:spLocks noChangeArrowheads="1"/>
            </p:cNvSpPr>
            <p:nvPr/>
          </p:nvSpPr>
          <p:spPr bwMode="auto">
            <a:xfrm>
              <a:off x="4191000" y="60198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r>
                <a:rPr lang="en-US" sz="2000" b="1"/>
                <a:t>1</a:t>
              </a:r>
            </a:p>
          </p:txBody>
        </p:sp>
        <p:sp>
          <p:nvSpPr>
            <p:cNvPr id="22" name="Rectangle 158"/>
            <p:cNvSpPr>
              <a:spLocks noChangeArrowheads="1"/>
            </p:cNvSpPr>
            <p:nvPr/>
          </p:nvSpPr>
          <p:spPr bwMode="auto">
            <a:xfrm>
              <a:off x="6477000" y="60198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r>
                <a:rPr lang="en-US" sz="2000" b="1"/>
                <a:t>1</a:t>
              </a:r>
            </a:p>
          </p:txBody>
        </p:sp>
        <p:sp>
          <p:nvSpPr>
            <p:cNvPr id="23" name="Rectangle 159"/>
            <p:cNvSpPr>
              <a:spLocks noChangeArrowheads="1"/>
            </p:cNvSpPr>
            <p:nvPr/>
          </p:nvSpPr>
          <p:spPr bwMode="auto">
            <a:xfrm>
              <a:off x="5334000" y="60198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r>
                <a:rPr lang="en-US" sz="2000" b="1"/>
                <a:t>0</a:t>
              </a:r>
            </a:p>
          </p:txBody>
        </p:sp>
        <p:sp>
          <p:nvSpPr>
            <p:cNvPr id="24" name="Rectangle 160"/>
            <p:cNvSpPr>
              <a:spLocks noChangeArrowheads="1"/>
            </p:cNvSpPr>
            <p:nvPr/>
          </p:nvSpPr>
          <p:spPr bwMode="auto">
            <a:xfrm>
              <a:off x="7620000" y="60198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r>
                <a:rPr lang="en-US" sz="2000" b="1"/>
                <a:t>0</a:t>
              </a:r>
            </a:p>
          </p:txBody>
        </p:sp>
        <p:sp>
          <p:nvSpPr>
            <p:cNvPr id="25" name="Rectangle 161"/>
            <p:cNvSpPr>
              <a:spLocks noChangeArrowheads="1"/>
            </p:cNvSpPr>
            <p:nvPr/>
          </p:nvSpPr>
          <p:spPr bwMode="auto">
            <a:xfrm>
              <a:off x="990600" y="3733800"/>
              <a:ext cx="1143000" cy="1905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26" name="Line 162"/>
            <p:cNvSpPr>
              <a:spLocks noChangeShapeType="1"/>
            </p:cNvSpPr>
            <p:nvPr/>
          </p:nvSpPr>
          <p:spPr bwMode="auto">
            <a:xfrm>
              <a:off x="2209800" y="50292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163"/>
            <p:cNvSpPr>
              <a:spLocks noChangeArrowheads="1"/>
            </p:cNvSpPr>
            <p:nvPr/>
          </p:nvSpPr>
          <p:spPr bwMode="auto">
            <a:xfrm>
              <a:off x="1295400" y="49530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POP</a:t>
              </a:r>
            </a:p>
          </p:txBody>
        </p:sp>
        <p:sp>
          <p:nvSpPr>
            <p:cNvPr id="28" name="Rectangle 165"/>
            <p:cNvSpPr>
              <a:spLocks noChangeArrowheads="1"/>
            </p:cNvSpPr>
            <p:nvPr/>
          </p:nvSpPr>
          <p:spPr bwMode="auto">
            <a:xfrm>
              <a:off x="1295400" y="2971800"/>
              <a:ext cx="4343400" cy="3048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b="1"/>
                <a:t>Số 26 cơ số 10 chuyển sang cơ số 2</a:t>
              </a:r>
            </a:p>
          </p:txBody>
        </p:sp>
      </p:grpSp>
      <p:sp>
        <p:nvSpPr>
          <p:cNvPr id="72" name="Rectangle 71"/>
          <p:cNvSpPr>
            <a:spLocks noChangeArrowheads="1"/>
          </p:cNvSpPr>
          <p:nvPr/>
        </p:nvSpPr>
        <p:spPr bwMode="auto">
          <a:xfrm>
            <a:off x="698500" y="2450181"/>
            <a:ext cx="7861300" cy="37719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912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Đổi</a:t>
            </a:r>
            <a:r>
              <a:rPr lang="en-US" b="1"/>
              <a:t> </a:t>
            </a:r>
            <a:r>
              <a:rPr lang="en-US" b="1" err="1"/>
              <a:t>cơ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từ</a:t>
            </a:r>
            <a:r>
              <a:rPr lang="en-US" b="1"/>
              <a:t> </a:t>
            </a:r>
            <a:r>
              <a:rPr lang="en-US" b="1" err="1"/>
              <a:t>thập</a:t>
            </a:r>
            <a:r>
              <a:rPr lang="en-US" b="1"/>
              <a:t> </a:t>
            </a:r>
            <a:r>
              <a:rPr lang="en-US" b="1" err="1"/>
              <a:t>phân</a:t>
            </a:r>
            <a:r>
              <a:rPr lang="en-US" b="1"/>
              <a:t> sang </a:t>
            </a:r>
            <a:r>
              <a:rPr lang="en-US" b="1" err="1"/>
              <a:t>nhị</a:t>
            </a:r>
            <a:r>
              <a:rPr lang="en-US" b="1"/>
              <a:t> </a:t>
            </a:r>
            <a:r>
              <a:rPr lang="en-US" b="1" err="1"/>
              <a:t>phân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Procedure </a:t>
            </a:r>
            <a:r>
              <a:rPr lang="en-US"/>
              <a:t>CHANGE(N)</a:t>
            </a:r>
          </a:p>
          <a:p>
            <a:pPr marL="0" indent="0">
              <a:buNone/>
            </a:pPr>
            <a:r>
              <a:rPr lang="en-US"/>
              <a:t>m = N;</a:t>
            </a:r>
          </a:p>
          <a:p>
            <a:pPr marL="0" indent="0">
              <a:buNone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en-US" err="1">
                <a:solidFill>
                  <a:schemeClr val="bg1">
                    <a:lumMod val="65000"/>
                  </a:schemeClr>
                </a:solidFill>
              </a:rPr>
              <a:t>tính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65000"/>
                  </a:schemeClr>
                </a:solidFill>
              </a:rPr>
              <a:t>số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65000"/>
                  </a:schemeClr>
                </a:solidFill>
              </a:rPr>
              <a:t>dư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65000"/>
                  </a:schemeClr>
                </a:solidFill>
              </a:rPr>
              <a:t>và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65000"/>
                  </a:schemeClr>
                </a:solidFill>
              </a:rPr>
              <a:t>nạp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65000"/>
                  </a:schemeClr>
                </a:solidFill>
              </a:rPr>
              <a:t>vào</a:t>
            </a:r>
            <a:r>
              <a:rPr lang="en-US">
                <a:solidFill>
                  <a:schemeClr val="bg1">
                    <a:lumMod val="65000"/>
                  </a:schemeClr>
                </a:solidFill>
              </a:rPr>
              <a:t> Stack S</a:t>
            </a:r>
          </a:p>
          <a:p>
            <a:pPr marL="0" indent="0">
              <a:buNone/>
            </a:pPr>
            <a:r>
              <a:rPr lang="en-US"/>
              <a:t>While m != 0 do begin </a:t>
            </a:r>
          </a:p>
          <a:p>
            <a:pPr marL="0" indent="0">
              <a:buNone/>
            </a:pPr>
            <a:r>
              <a:rPr lang="en-US"/>
              <a:t>R = m mod 2</a:t>
            </a:r>
          </a:p>
          <a:p>
            <a:pPr marL="0" indent="0">
              <a:buNone/>
            </a:pPr>
            <a:r>
              <a:rPr lang="en-US"/>
              <a:t>Call Push(S,T,R)</a:t>
            </a:r>
          </a:p>
          <a:p>
            <a:pPr marL="0" indent="0">
              <a:buNone/>
            </a:pPr>
            <a:r>
              <a:rPr lang="en-US"/>
              <a:t>m = m div 2</a:t>
            </a:r>
          </a:p>
          <a:p>
            <a:pPr marL="0" indent="0">
              <a:buNone/>
            </a:pPr>
            <a:r>
              <a:rPr lang="en-US">
                <a:solidFill>
                  <a:srgbClr val="A6A6A6"/>
                </a:solidFill>
              </a:rPr>
              <a:t>// </a:t>
            </a:r>
            <a:r>
              <a:rPr lang="en-US" err="1">
                <a:solidFill>
                  <a:srgbClr val="A6A6A6"/>
                </a:solidFill>
              </a:rPr>
              <a:t>hiển</a:t>
            </a:r>
            <a:r>
              <a:rPr lang="en-US">
                <a:solidFill>
                  <a:srgbClr val="A6A6A6"/>
                </a:solidFill>
              </a:rPr>
              <a:t> </a:t>
            </a:r>
            <a:r>
              <a:rPr lang="en-US" err="1">
                <a:solidFill>
                  <a:srgbClr val="A6A6A6"/>
                </a:solidFill>
              </a:rPr>
              <a:t>thị</a:t>
            </a:r>
            <a:r>
              <a:rPr lang="en-US">
                <a:solidFill>
                  <a:srgbClr val="A6A6A6"/>
                </a:solidFill>
              </a:rPr>
              <a:t> </a:t>
            </a:r>
            <a:r>
              <a:rPr lang="en-US" err="1">
                <a:solidFill>
                  <a:srgbClr val="A6A6A6"/>
                </a:solidFill>
              </a:rPr>
              <a:t>chữ</a:t>
            </a:r>
            <a:r>
              <a:rPr lang="en-US">
                <a:solidFill>
                  <a:srgbClr val="A6A6A6"/>
                </a:solidFill>
              </a:rPr>
              <a:t> </a:t>
            </a:r>
            <a:r>
              <a:rPr lang="en-US" err="1">
                <a:solidFill>
                  <a:srgbClr val="A6A6A6"/>
                </a:solidFill>
              </a:rPr>
              <a:t>số</a:t>
            </a:r>
            <a:r>
              <a:rPr lang="en-US">
                <a:solidFill>
                  <a:srgbClr val="A6A6A6"/>
                </a:solidFill>
              </a:rPr>
              <a:t> </a:t>
            </a:r>
            <a:r>
              <a:rPr lang="en-US" err="1">
                <a:solidFill>
                  <a:srgbClr val="A6A6A6"/>
                </a:solidFill>
              </a:rPr>
              <a:t>nhị</a:t>
            </a:r>
            <a:r>
              <a:rPr lang="en-US">
                <a:solidFill>
                  <a:srgbClr val="A6A6A6"/>
                </a:solidFill>
              </a:rPr>
              <a:t> </a:t>
            </a:r>
            <a:r>
              <a:rPr lang="en-US" err="1">
                <a:solidFill>
                  <a:srgbClr val="A6A6A6"/>
                </a:solidFill>
              </a:rPr>
              <a:t>phân</a:t>
            </a:r>
            <a:endParaRPr lang="en-US">
              <a:solidFill>
                <a:srgbClr val="A6A6A6"/>
              </a:solidFill>
            </a:endParaRPr>
          </a:p>
          <a:p>
            <a:pPr marL="0" indent="0">
              <a:buNone/>
            </a:pPr>
            <a:r>
              <a:rPr lang="en-US"/>
              <a:t>While T != 0</a:t>
            </a:r>
          </a:p>
          <a:p>
            <a:pPr marL="0" indent="0">
              <a:buNone/>
            </a:pPr>
            <a:r>
              <a:rPr lang="en-US"/>
              <a:t>Call Pop(S,T,X) </a:t>
            </a:r>
          </a:p>
          <a:p>
            <a:pPr marL="0" indent="0">
              <a:buNone/>
            </a:pPr>
            <a:r>
              <a:rPr lang="en-US"/>
              <a:t>Write (X) </a:t>
            </a:r>
          </a:p>
          <a:p>
            <a:pPr marL="0" indent="0">
              <a:buNone/>
            </a:pPr>
            <a:r>
              <a:rPr lang="en-US"/>
              <a:t>End.</a:t>
            </a:r>
          </a:p>
        </p:txBody>
      </p:sp>
    </p:spTree>
    <p:extLst>
      <p:ext uri="{BB962C8B-B14F-4D97-AF65-F5344CB8AC3E}">
        <p14:creationId xmlns:p14="http://schemas.microsoft.com/office/powerpoint/2010/main" val="2568474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</a:t>
            </a:r>
            <a:r>
              <a:rPr lang="en-US" b="1" err="1"/>
              <a:t>ký</a:t>
            </a:r>
            <a:r>
              <a:rPr lang="en-US" b="1"/>
              <a:t> </a:t>
            </a:r>
            <a:r>
              <a:rPr lang="en-US" b="1" err="1"/>
              <a:t>pháp</a:t>
            </a:r>
            <a:r>
              <a:rPr lang="en-US" b="1"/>
              <a:t> BA - 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2912395"/>
          </a:xfrm>
        </p:spPr>
        <p:txBody>
          <a:bodyPr/>
          <a:lstStyle/>
          <a:p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ngôi</a:t>
            </a:r>
            <a:r>
              <a:rPr lang="en-US"/>
              <a:t> : +, -, *, /, ^. </a:t>
            </a:r>
          </a:p>
          <a:p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dạng</a:t>
            </a:r>
            <a:r>
              <a:rPr lang="en-US"/>
              <a:t> </a:t>
            </a:r>
            <a:r>
              <a:rPr lang="en-US" err="1"/>
              <a:t>trung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r>
              <a:rPr lang="en-US" err="1"/>
              <a:t>cần</a:t>
            </a:r>
            <a:r>
              <a:rPr lang="en-US"/>
              <a:t> </a:t>
            </a:r>
            <a:r>
              <a:rPr lang="en-US" err="1"/>
              <a:t>ngoặc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thứ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ưu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các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. </a:t>
            </a:r>
          </a:p>
          <a:p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dạng</a:t>
            </a:r>
            <a:r>
              <a:rPr lang="en-US"/>
              <a:t> </a:t>
            </a:r>
            <a:r>
              <a:rPr lang="en-US" err="1"/>
              <a:t>tiền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, </a:t>
            </a:r>
            <a:r>
              <a:rPr lang="en-US" err="1"/>
              <a:t>hậu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r>
              <a:rPr lang="en-US" err="1"/>
              <a:t>gọi</a:t>
            </a:r>
            <a:r>
              <a:rPr lang="en-US"/>
              <a:t> </a:t>
            </a:r>
            <a:r>
              <a:rPr lang="en-US" err="1"/>
              <a:t>chung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ký</a:t>
            </a:r>
            <a:r>
              <a:rPr lang="en-US"/>
              <a:t> </a:t>
            </a:r>
            <a:r>
              <a:rPr lang="en-US" err="1"/>
              <a:t>pháp</a:t>
            </a:r>
            <a:r>
              <a:rPr lang="en-US"/>
              <a:t> </a:t>
            </a:r>
            <a:r>
              <a:rPr lang="en-US" err="1"/>
              <a:t>Balan</a:t>
            </a:r>
            <a:r>
              <a:rPr lang="en-US"/>
              <a:t> (Polish notation)</a:t>
            </a:r>
          </a:p>
          <a:p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5387" y="3734926"/>
            <a:ext cx="2058737" cy="5882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1</a:t>
            </a:r>
          </a:p>
        </p:txBody>
      </p:sp>
      <p:sp>
        <p:nvSpPr>
          <p:cNvPr id="8" name="Oval 7"/>
          <p:cNvSpPr/>
          <p:nvPr/>
        </p:nvSpPr>
        <p:spPr>
          <a:xfrm>
            <a:off x="5863724" y="3753642"/>
            <a:ext cx="2058737" cy="5882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2</a:t>
            </a:r>
          </a:p>
        </p:txBody>
      </p:sp>
      <p:sp>
        <p:nvSpPr>
          <p:cNvPr id="9" name="Oval 8"/>
          <p:cNvSpPr/>
          <p:nvPr/>
        </p:nvSpPr>
        <p:spPr>
          <a:xfrm>
            <a:off x="494966" y="4706478"/>
            <a:ext cx="2058737" cy="5882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1</a:t>
            </a:r>
          </a:p>
        </p:txBody>
      </p:sp>
      <p:sp>
        <p:nvSpPr>
          <p:cNvPr id="10" name="Oval 9"/>
          <p:cNvSpPr/>
          <p:nvPr/>
        </p:nvSpPr>
        <p:spPr>
          <a:xfrm>
            <a:off x="3306344" y="4706478"/>
            <a:ext cx="2058737" cy="58821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650" y="3753642"/>
            <a:ext cx="1621590" cy="502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15050" y="4792037"/>
            <a:ext cx="1621590" cy="5026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01124" y="4496926"/>
            <a:ext cx="8579853" cy="534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2461" y="3886962"/>
            <a:ext cx="9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Tiền</a:t>
            </a:r>
            <a:r>
              <a:rPr lang="en-US"/>
              <a:t> </a:t>
            </a:r>
            <a:r>
              <a:rPr lang="en-US" err="1"/>
              <a:t>tố</a:t>
            </a:r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7922461" y="4706843"/>
            <a:ext cx="958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err="1"/>
              <a:t>Hậu</a:t>
            </a:r>
            <a:r>
              <a:rPr lang="en-US"/>
              <a:t> </a:t>
            </a:r>
            <a:r>
              <a:rPr lang="en-US" err="1"/>
              <a:t>tố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57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14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</a:t>
            </a:r>
            <a:r>
              <a:rPr lang="en-US" b="1" err="1"/>
              <a:t>ký</a:t>
            </a:r>
            <a:r>
              <a:rPr lang="en-US" b="1"/>
              <a:t> </a:t>
            </a:r>
            <a:r>
              <a:rPr lang="en-US" b="1" err="1"/>
              <a:t>pháp</a:t>
            </a:r>
            <a:r>
              <a:rPr lang="en-US" b="1"/>
              <a:t> BA - LAN</a:t>
            </a:r>
            <a:endParaRPr lang="en-US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8028907"/>
              </p:ext>
            </p:extLst>
          </p:nvPr>
        </p:nvGraphicFramePr>
        <p:xfrm>
          <a:off x="250685" y="1078075"/>
          <a:ext cx="8674098" cy="1854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1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1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1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Trung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tố</a:t>
                      </a:r>
                      <a:endParaRPr lang="en-US" b="1"/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Tiền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tố</a:t>
                      </a:r>
                      <a:endParaRPr lang="en-US" b="1"/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err="1"/>
                        <a:t>Hậu</a:t>
                      </a:r>
                      <a:r>
                        <a:rPr lang="en-US" b="1"/>
                        <a:t> </a:t>
                      </a:r>
                      <a:r>
                        <a:rPr lang="en-US" b="1" err="1"/>
                        <a:t>tố</a:t>
                      </a:r>
                      <a:r>
                        <a:rPr lang="en-US" b="1"/>
                        <a:t> 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 + B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+ A B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AB+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(A+B)*C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*+ABC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AB+C*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(A+B)/(C-D)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/+AB-CD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AB+CD-/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A+B/C-D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-+A/BCD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ABC/+D-</a:t>
                      </a:r>
                    </a:p>
                  </a:txBody>
                  <a:tcPr marL="65454" marR="65454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sz="half" idx="4294967295"/>
          </p:nvPr>
        </p:nvSpPr>
        <p:spPr>
          <a:xfrm>
            <a:off x="369092" y="3319187"/>
            <a:ext cx="8405813" cy="2938462"/>
          </a:xfrm>
        </p:spPr>
        <p:txBody>
          <a:bodyPr>
            <a:normAutofit fontScale="92500" lnSpcReduction="20000"/>
          </a:bodyPr>
          <a:lstStyle/>
          <a:p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hâu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: AB+C-DE*/  </a:t>
            </a:r>
          </a:p>
          <a:p>
            <a:r>
              <a:rPr lang="en-US"/>
              <a:t>Theo </a:t>
            </a:r>
            <a:r>
              <a:rPr lang="en-US" err="1"/>
              <a:t>kiểu</a:t>
            </a:r>
            <a:r>
              <a:rPr lang="en-US"/>
              <a:t> </a:t>
            </a:r>
            <a:r>
              <a:rPr lang="en-US" err="1"/>
              <a:t>trung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: (A+B-C)/(D*E)</a:t>
            </a:r>
          </a:p>
          <a:p>
            <a:r>
              <a:rPr lang="en-US" err="1"/>
              <a:t>Cách</a:t>
            </a:r>
            <a:r>
              <a:rPr lang="en-US"/>
              <a:t> </a:t>
            </a:r>
            <a:r>
              <a:rPr lang="en-US" err="1"/>
              <a:t>đọc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  <a:r>
              <a:rPr lang="en-US" err="1"/>
              <a:t>hậu</a:t>
            </a:r>
            <a:r>
              <a:rPr lang="en-US"/>
              <a:t> </a:t>
            </a:r>
            <a:r>
              <a:rPr lang="en-US" err="1"/>
              <a:t>tố</a:t>
            </a:r>
            <a:r>
              <a:rPr lang="en-US"/>
              <a:t> </a:t>
            </a:r>
            <a:r>
              <a:rPr lang="en-US" err="1"/>
              <a:t>như</a:t>
            </a:r>
            <a:r>
              <a:rPr lang="en-US"/>
              <a:t> </a:t>
            </a:r>
            <a:r>
              <a:rPr lang="en-US" err="1"/>
              <a:t>sau</a:t>
            </a:r>
            <a:r>
              <a:rPr lang="en-US"/>
              <a:t>: </a:t>
            </a:r>
          </a:p>
          <a:p>
            <a:pPr lvl="1"/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kí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đọc</a:t>
            </a:r>
            <a:r>
              <a:rPr lang="en-US"/>
              <a:t> X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</a:t>
            </a:r>
            <a:r>
              <a:rPr lang="en-US" err="1"/>
              <a:t>thì</a:t>
            </a:r>
            <a:r>
              <a:rPr lang="en-US"/>
              <a:t> </a:t>
            </a:r>
            <a:r>
              <a:rPr lang="en-US" err="1"/>
              <a:t>nạp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X </a:t>
            </a:r>
            <a:r>
              <a:rPr lang="en-US" err="1"/>
              <a:t>và</a:t>
            </a:r>
            <a:r>
              <a:rPr lang="en-US"/>
              <a:t> Stack</a:t>
            </a:r>
          </a:p>
          <a:p>
            <a:pPr lvl="1"/>
            <a:r>
              <a:rPr lang="en-US" err="1"/>
              <a:t>Nếu</a:t>
            </a:r>
            <a:r>
              <a:rPr lang="en-US"/>
              <a:t> </a:t>
            </a:r>
            <a:r>
              <a:rPr lang="en-US" err="1"/>
              <a:t>kí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X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thì</a:t>
            </a:r>
            <a:r>
              <a:rPr lang="en-US"/>
              <a:t> </a:t>
            </a:r>
            <a:r>
              <a:rPr lang="en-US" err="1"/>
              <a:t>lấy</a:t>
            </a:r>
            <a:r>
              <a:rPr lang="en-US"/>
              <a:t> 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từ</a:t>
            </a:r>
            <a:r>
              <a:rPr lang="en-US"/>
              <a:t> stack 2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lần</a:t>
            </a:r>
            <a:r>
              <a:rPr lang="en-US"/>
              <a:t> </a:t>
            </a:r>
            <a:r>
              <a:rPr lang="en-US" err="1"/>
              <a:t>lượt</a:t>
            </a:r>
            <a:endParaRPr lang="en-US"/>
          </a:p>
          <a:p>
            <a:pPr lvl="1"/>
            <a:r>
              <a:rPr lang="en-US" err="1"/>
              <a:t>Tác</a:t>
            </a:r>
            <a:r>
              <a:rPr lang="en-US"/>
              <a:t> </a:t>
            </a:r>
            <a:r>
              <a:rPr lang="en-US" err="1"/>
              <a:t>động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X </a:t>
            </a:r>
            <a:r>
              <a:rPr lang="en-US" err="1"/>
              <a:t>giữa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lấy</a:t>
            </a:r>
            <a:r>
              <a:rPr lang="en-US"/>
              <a:t> 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sau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lấy</a:t>
            </a:r>
            <a:r>
              <a:rPr lang="en-US"/>
              <a:t> 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trước</a:t>
            </a:r>
            <a:r>
              <a:rPr lang="en-US"/>
              <a:t> </a:t>
            </a:r>
            <a:r>
              <a:rPr lang="en-US" err="1"/>
              <a:t>rồi</a:t>
            </a:r>
            <a:r>
              <a:rPr lang="en-US"/>
              <a:t> </a:t>
            </a:r>
            <a:r>
              <a:rPr lang="en-US" err="1"/>
              <a:t>nạp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stack  </a:t>
            </a:r>
          </a:p>
          <a:p>
            <a:pPr lvl="1"/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tục</a:t>
            </a:r>
            <a:r>
              <a:rPr lang="en-US"/>
              <a:t> </a:t>
            </a:r>
            <a:r>
              <a:rPr lang="en-US" err="1"/>
              <a:t>cho</a:t>
            </a:r>
            <a:r>
              <a:rPr lang="en-US"/>
              <a:t>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thúc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,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stack </a:t>
            </a:r>
            <a:r>
              <a:rPr lang="en-US" err="1"/>
              <a:t>chính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giá</a:t>
            </a:r>
            <a:r>
              <a:rPr lang="en-US"/>
              <a:t> </a:t>
            </a:r>
            <a:r>
              <a:rPr lang="en-US" err="1"/>
              <a:t>trị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57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F92E8-93D1-4246-9203-88234E64793C}" type="datetime1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</a:t>
            </a:r>
            <a:r>
              <a:rPr lang="en-US" b="1" err="1"/>
              <a:t>ký</a:t>
            </a:r>
            <a:r>
              <a:rPr lang="en-US" b="1"/>
              <a:t> </a:t>
            </a:r>
            <a:r>
              <a:rPr lang="en-US" b="1" err="1"/>
              <a:t>pháp</a:t>
            </a:r>
            <a:r>
              <a:rPr lang="en-US" b="1"/>
              <a:t> BA - LAN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1" indent="-342900">
              <a:buFont typeface="Arial"/>
              <a:buChar char="•"/>
            </a:pPr>
            <a:r>
              <a:rPr lang="en-US" err="1">
                <a:cs typeface="Times New Roman" pitchFamily="18" charset="0"/>
              </a:rPr>
              <a:t>Định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giá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trị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biểu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thức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theo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phương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pháp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nghịch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đảo</a:t>
            </a:r>
            <a:r>
              <a:rPr lang="en-US">
                <a:cs typeface="Times New Roman" pitchFamily="18" charset="0"/>
              </a:rPr>
              <a:t> </a:t>
            </a:r>
            <a:r>
              <a:rPr lang="en-US" err="1">
                <a:cs typeface="Times New Roman" pitchFamily="18" charset="0"/>
              </a:rPr>
              <a:t>Balan</a:t>
            </a:r>
            <a:endParaRPr lang="vi-VN">
              <a:cs typeface="Times New Roman" pitchFamily="18" charset="0"/>
            </a:endParaRPr>
          </a:p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25557" y="1684078"/>
            <a:ext cx="7912100" cy="39735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Aft>
                <a:spcPct val="50000"/>
              </a:spcAft>
              <a:defRPr/>
            </a:pPr>
            <a:r>
              <a:rPr lang="en-US" b="1" err="1">
                <a:latin typeface="Arial" pitchFamily="34" charset="0"/>
                <a:cs typeface="+mn-cs"/>
              </a:rPr>
              <a:t>Ví</a:t>
            </a:r>
            <a:r>
              <a:rPr lang="en-US" b="1">
                <a:latin typeface="Arial" pitchFamily="34" charset="0"/>
                <a:cs typeface="+mn-cs"/>
              </a:rPr>
              <a:t> </a:t>
            </a:r>
            <a:r>
              <a:rPr lang="en-US" b="1" err="1">
                <a:latin typeface="Arial" pitchFamily="34" charset="0"/>
                <a:cs typeface="+mn-cs"/>
              </a:rPr>
              <a:t>dụ</a:t>
            </a:r>
            <a:r>
              <a:rPr lang="en-US" b="1">
                <a:latin typeface="Arial" pitchFamily="34" charset="0"/>
                <a:cs typeface="+mn-cs"/>
              </a:rPr>
              <a:t>: </a:t>
            </a:r>
            <a:r>
              <a:rPr lang="en-US" b="1" err="1">
                <a:latin typeface="Arial" pitchFamily="34" charset="0"/>
                <a:cs typeface="+mn-cs"/>
              </a:rPr>
              <a:t>tính</a:t>
            </a:r>
            <a:r>
              <a:rPr lang="en-US" b="1">
                <a:latin typeface="Arial" pitchFamily="34" charset="0"/>
                <a:cs typeface="+mn-cs"/>
              </a:rPr>
              <a:t> </a:t>
            </a:r>
            <a:r>
              <a:rPr lang="en-US" b="1" err="1">
                <a:latin typeface="Arial" pitchFamily="34" charset="0"/>
                <a:cs typeface="+mn-cs"/>
              </a:rPr>
              <a:t>biểu</a:t>
            </a:r>
            <a:r>
              <a:rPr lang="en-US" b="1">
                <a:latin typeface="Arial" pitchFamily="34" charset="0"/>
                <a:cs typeface="+mn-cs"/>
              </a:rPr>
              <a:t> </a:t>
            </a:r>
            <a:r>
              <a:rPr lang="en-US" b="1" err="1">
                <a:latin typeface="Arial" pitchFamily="34" charset="0"/>
                <a:cs typeface="+mn-cs"/>
              </a:rPr>
              <a:t>thức</a:t>
            </a:r>
            <a:r>
              <a:rPr lang="en-US" b="1">
                <a:latin typeface="Arial" pitchFamily="34" charset="0"/>
                <a:cs typeface="+mn-cs"/>
              </a:rPr>
              <a:t> </a:t>
            </a:r>
            <a:r>
              <a:rPr lang="en-GB" b="1">
                <a:solidFill>
                  <a:srgbClr val="000000"/>
                </a:solidFill>
                <a:latin typeface="Arial" pitchFamily="34" charset="0"/>
                <a:cs typeface="+mn-cs"/>
              </a:rPr>
              <a:t>13 – 2 * (5 * 2 – 4)</a:t>
            </a:r>
          </a:p>
          <a:p>
            <a:pPr>
              <a:buFontTx/>
              <a:buChar char="•"/>
              <a:defRPr/>
            </a:pP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Khái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niệm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b="1" i="1">
                <a:solidFill>
                  <a:srgbClr val="000000"/>
                </a:solidFill>
                <a:latin typeface="+mn-lt"/>
                <a:cs typeface="+mn-cs"/>
              </a:rPr>
              <a:t>infix, postfix, prefix</a:t>
            </a:r>
          </a:p>
          <a:p>
            <a:pPr lvl="1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GB" sz="2000">
                <a:latin typeface="+mn-lt"/>
                <a:cs typeface="+mn-cs"/>
              </a:rPr>
              <a:t>infix:3 + 4	</a:t>
            </a:r>
            <a:r>
              <a:rPr lang="vi-VN" sz="2000">
                <a:latin typeface="+mn-lt"/>
                <a:cs typeface="+mn-cs"/>
              </a:rPr>
              <a:t>	</a:t>
            </a:r>
            <a:r>
              <a:rPr lang="en-GB" sz="2000" b="1" i="1">
                <a:latin typeface="+mn-lt"/>
                <a:cs typeface="+mn-cs"/>
              </a:rPr>
              <a:t>postfix:</a:t>
            </a:r>
            <a:r>
              <a:rPr lang="vi-VN" sz="2000" b="1" i="1">
                <a:latin typeface="+mn-lt"/>
                <a:cs typeface="+mn-cs"/>
              </a:rPr>
              <a:t> </a:t>
            </a:r>
            <a:r>
              <a:rPr lang="en-GB" sz="2000" b="1" i="1">
                <a:latin typeface="+mn-lt"/>
                <a:cs typeface="+mn-cs"/>
              </a:rPr>
              <a:t>3 4 +</a:t>
            </a:r>
            <a:r>
              <a:rPr lang="en-GB" sz="2000">
                <a:latin typeface="+mn-lt"/>
                <a:cs typeface="+mn-cs"/>
              </a:rPr>
              <a:t>		prefix: + 3 4</a:t>
            </a:r>
          </a:p>
          <a:p>
            <a:pPr lvl="1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GB" sz="2000">
                <a:latin typeface="+mn-lt"/>
                <a:cs typeface="+mn-cs"/>
              </a:rPr>
              <a:t>infix:2 + 3 * 4	</a:t>
            </a:r>
            <a:r>
              <a:rPr lang="en-GB" sz="2000" b="1" i="1">
                <a:latin typeface="+mn-lt"/>
                <a:cs typeface="+mn-cs"/>
              </a:rPr>
              <a:t>postfix:</a:t>
            </a:r>
            <a:r>
              <a:rPr lang="vi-VN" sz="2000" b="1" i="1">
                <a:latin typeface="+mn-lt"/>
                <a:cs typeface="+mn-cs"/>
              </a:rPr>
              <a:t> </a:t>
            </a:r>
            <a:r>
              <a:rPr lang="en-GB" sz="2000" b="1" i="1">
                <a:latin typeface="+mn-lt"/>
                <a:cs typeface="+mn-cs"/>
              </a:rPr>
              <a:t>2 3 4 * +</a:t>
            </a:r>
            <a:r>
              <a:rPr lang="en-GB" sz="2000">
                <a:latin typeface="+mn-lt"/>
                <a:cs typeface="+mn-cs"/>
              </a:rPr>
              <a:t>	prefix: + 2 * 3 4</a:t>
            </a:r>
          </a:p>
          <a:p>
            <a:pPr lvl="1" eaLnBrk="0" hangingPunct="0">
              <a:spcBef>
                <a:spcPct val="20000"/>
              </a:spcBef>
              <a:buFontTx/>
              <a:buChar char="–"/>
              <a:defRPr/>
            </a:pPr>
            <a:r>
              <a:rPr lang="en-GB" sz="2000">
                <a:latin typeface="+mn-lt"/>
                <a:cs typeface="+mn-cs"/>
              </a:rPr>
              <a:t>infix:2 * 3 + 4	</a:t>
            </a:r>
            <a:r>
              <a:rPr lang="en-GB" sz="2000" b="1" i="1">
                <a:latin typeface="+mn-lt"/>
                <a:cs typeface="+mn-cs"/>
              </a:rPr>
              <a:t>postfix:</a:t>
            </a:r>
            <a:r>
              <a:rPr lang="vi-VN" sz="2000" b="1" i="1">
                <a:latin typeface="+mn-lt"/>
                <a:cs typeface="+mn-cs"/>
              </a:rPr>
              <a:t> </a:t>
            </a:r>
            <a:r>
              <a:rPr lang="en-GB" sz="2000" b="1" i="1">
                <a:latin typeface="+mn-lt"/>
                <a:cs typeface="+mn-cs"/>
              </a:rPr>
              <a:t>2 3 * 4 +</a:t>
            </a:r>
            <a:r>
              <a:rPr lang="en-GB" sz="2000">
                <a:latin typeface="+mn-lt"/>
                <a:cs typeface="+mn-cs"/>
              </a:rPr>
              <a:t>	prefix: + * 2 3 4</a:t>
            </a:r>
          </a:p>
          <a:p>
            <a:pPr>
              <a:spcBef>
                <a:spcPct val="40000"/>
              </a:spcBef>
              <a:buFontTx/>
              <a:buChar char="•"/>
              <a:defRPr/>
            </a:pP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Ứng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dụng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hậu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tố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(</a:t>
            </a:r>
            <a:r>
              <a:rPr lang="en-US" b="1" i="1">
                <a:solidFill>
                  <a:srgbClr val="000000"/>
                </a:solidFill>
                <a:latin typeface="+mn-lt"/>
                <a:cs typeface="+mn-cs"/>
              </a:rPr>
              <a:t>postfix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)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vào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ví</a:t>
            </a:r>
            <a:r>
              <a:rPr lang="en-US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err="1">
                <a:solidFill>
                  <a:srgbClr val="000000"/>
                </a:solidFill>
                <a:latin typeface="+mn-lt"/>
                <a:cs typeface="+mn-cs"/>
              </a:rPr>
              <a:t>dụ</a:t>
            </a:r>
            <a:endParaRPr lang="en-US">
              <a:solidFill>
                <a:srgbClr val="000000"/>
              </a:solidFill>
              <a:latin typeface="+mn-lt"/>
              <a:cs typeface="+mn-cs"/>
            </a:endParaRPr>
          </a:p>
          <a:p>
            <a:pPr lvl="1">
              <a:lnSpc>
                <a:spcPct val="110000"/>
              </a:lnSpc>
              <a:buFontTx/>
              <a:buChar char="•"/>
              <a:defRPr/>
            </a:pPr>
            <a:r>
              <a:rPr lang="en-US" sz="2000" b="1" i="1">
                <a:solidFill>
                  <a:srgbClr val="000000"/>
                </a:solidFill>
                <a:latin typeface="+mn-lt"/>
                <a:cs typeface="+mn-cs"/>
              </a:rPr>
              <a:t>13 2 5 2 * 4 -* -</a:t>
            </a:r>
          </a:p>
          <a:p>
            <a:pPr lvl="1">
              <a:lnSpc>
                <a:spcPct val="110000"/>
              </a:lnSpc>
              <a:buFontTx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Đọc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từ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trái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qua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phải</a:t>
            </a:r>
            <a:endParaRPr lang="en-US" sz="2000">
              <a:solidFill>
                <a:srgbClr val="000000"/>
              </a:solidFill>
              <a:latin typeface="+mn-lt"/>
              <a:cs typeface="+mn-cs"/>
            </a:endParaRPr>
          </a:p>
          <a:p>
            <a:pPr lvl="1">
              <a:lnSpc>
                <a:spcPct val="110000"/>
              </a:lnSpc>
              <a:buFontTx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Nếu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là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số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: PUSH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vào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Stack</a:t>
            </a:r>
          </a:p>
          <a:p>
            <a:pPr lvl="1">
              <a:lnSpc>
                <a:spcPct val="110000"/>
              </a:lnSpc>
              <a:buFontTx/>
              <a:buChar char="•"/>
              <a:defRPr/>
            </a:pP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Nếu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là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phép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tính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(operator)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thì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lấy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số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(POP)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trong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Stack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ra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,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tính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toán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rồi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lại</a:t>
            </a:r>
            <a:r>
              <a:rPr lang="en-US" sz="2000">
                <a:solidFill>
                  <a:srgbClr val="000000"/>
                </a:solidFill>
                <a:latin typeface="+mn-lt"/>
                <a:cs typeface="+mn-cs"/>
              </a:rPr>
              <a:t> PUSH </a:t>
            </a:r>
            <a:r>
              <a:rPr lang="en-US" sz="2000" err="1">
                <a:solidFill>
                  <a:srgbClr val="000000"/>
                </a:solidFill>
                <a:latin typeface="+mn-lt"/>
                <a:cs typeface="+mn-cs"/>
              </a:rPr>
              <a:t>vào</a:t>
            </a:r>
            <a:endParaRPr lang="en-US" sz="2000">
              <a:solidFill>
                <a:srgbClr val="000000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17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</a:t>
            </a:r>
            <a:r>
              <a:rPr lang="en-US" b="1" err="1"/>
              <a:t>ký</a:t>
            </a:r>
            <a:r>
              <a:rPr lang="en-US" b="1"/>
              <a:t> </a:t>
            </a:r>
            <a:r>
              <a:rPr lang="en-US" b="1" err="1"/>
              <a:t>pháp</a:t>
            </a:r>
            <a:r>
              <a:rPr lang="en-US" b="1"/>
              <a:t> BA - LAN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/>
              <a:buChar char="•"/>
            </a:pPr>
            <a:r>
              <a:rPr lang="en-US" b="1" err="1"/>
              <a:t>Ví</a:t>
            </a:r>
            <a:r>
              <a:rPr lang="en-US" b="1"/>
              <a:t> </a:t>
            </a:r>
            <a:r>
              <a:rPr lang="en-US" b="1" err="1"/>
              <a:t>dụ</a:t>
            </a:r>
            <a:r>
              <a:rPr lang="en-US" b="1"/>
              <a:t>: </a:t>
            </a:r>
            <a:r>
              <a:rPr lang="en-US" b="1" err="1"/>
              <a:t>tính</a:t>
            </a:r>
            <a:r>
              <a:rPr lang="en-US" b="1"/>
              <a:t> </a:t>
            </a:r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GB" b="1">
                <a:solidFill>
                  <a:srgbClr val="000000"/>
                </a:solidFill>
              </a:rPr>
              <a:t>13 – 2 * (5 * 2 – 4)</a:t>
            </a:r>
          </a:p>
          <a:p>
            <a:pPr marL="342900" lvl="1" indent="-342900">
              <a:buFont typeface="Arial"/>
              <a:buChar char="•"/>
            </a:pPr>
            <a:r>
              <a:rPr lang="en-GB" b="1" err="1">
                <a:solidFill>
                  <a:srgbClr val="000000"/>
                </a:solidFill>
              </a:rPr>
              <a:t>Biểu</a:t>
            </a:r>
            <a:r>
              <a:rPr lang="en-GB" b="1">
                <a:solidFill>
                  <a:srgbClr val="000000"/>
                </a:solidFill>
              </a:rPr>
              <a:t> </a:t>
            </a:r>
            <a:r>
              <a:rPr lang="en-GB" b="1" err="1">
                <a:solidFill>
                  <a:srgbClr val="000000"/>
                </a:solidFill>
              </a:rPr>
              <a:t>diễn</a:t>
            </a:r>
            <a:r>
              <a:rPr lang="en-GB" b="1">
                <a:solidFill>
                  <a:srgbClr val="000000"/>
                </a:solidFill>
              </a:rPr>
              <a:t> </a:t>
            </a:r>
            <a:r>
              <a:rPr lang="en-GB" b="1" err="1">
                <a:solidFill>
                  <a:srgbClr val="000000"/>
                </a:solidFill>
              </a:rPr>
              <a:t>dưới</a:t>
            </a:r>
            <a:r>
              <a:rPr lang="en-GB" b="1">
                <a:solidFill>
                  <a:srgbClr val="000000"/>
                </a:solidFill>
              </a:rPr>
              <a:t> </a:t>
            </a:r>
            <a:r>
              <a:rPr lang="en-GB" b="1" err="1">
                <a:solidFill>
                  <a:srgbClr val="000000"/>
                </a:solidFill>
              </a:rPr>
              <a:t>dạng</a:t>
            </a:r>
            <a:r>
              <a:rPr lang="en-GB" b="1">
                <a:solidFill>
                  <a:srgbClr val="000000"/>
                </a:solidFill>
              </a:rPr>
              <a:t> </a:t>
            </a:r>
            <a:r>
              <a:rPr lang="en-GB" b="1" err="1">
                <a:solidFill>
                  <a:srgbClr val="000000"/>
                </a:solidFill>
              </a:rPr>
              <a:t>hậu</a:t>
            </a:r>
            <a:r>
              <a:rPr lang="en-GB" b="1">
                <a:solidFill>
                  <a:srgbClr val="000000"/>
                </a:solidFill>
              </a:rPr>
              <a:t> </a:t>
            </a:r>
            <a:r>
              <a:rPr lang="en-GB" b="1" err="1">
                <a:solidFill>
                  <a:srgbClr val="000000"/>
                </a:solidFill>
              </a:rPr>
              <a:t>tố</a:t>
            </a:r>
            <a:r>
              <a:rPr lang="en-GB" b="1">
                <a:solidFill>
                  <a:srgbClr val="000000"/>
                </a:solidFill>
              </a:rPr>
              <a:t>: 13 2 5 2 * 4 - * -</a:t>
            </a:r>
          </a:p>
          <a:p>
            <a:endParaRPr lang="en-US"/>
          </a:p>
        </p:txBody>
      </p:sp>
      <p:grpSp>
        <p:nvGrpSpPr>
          <p:cNvPr id="9" name="Group 6"/>
          <p:cNvGrpSpPr>
            <a:grpSpLocks/>
          </p:cNvGrpSpPr>
          <p:nvPr/>
        </p:nvGrpSpPr>
        <p:grpSpPr bwMode="auto">
          <a:xfrm>
            <a:off x="774700" y="2470150"/>
            <a:ext cx="7834313" cy="3886200"/>
            <a:chOff x="1295400" y="2133600"/>
            <a:chExt cx="7313613" cy="3886200"/>
          </a:xfrm>
        </p:grpSpPr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3810000" y="24384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Group 14"/>
            <p:cNvGrpSpPr>
              <a:grpSpLocks/>
            </p:cNvGrpSpPr>
            <p:nvPr/>
          </p:nvGrpSpPr>
          <p:grpSpPr bwMode="auto">
            <a:xfrm>
              <a:off x="4876800" y="3581402"/>
              <a:ext cx="838200" cy="1295401"/>
              <a:chOff x="4080" y="1968"/>
              <a:chExt cx="528" cy="81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4080" y="2063"/>
                <a:ext cx="528" cy="1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41" name="Rectangle 16"/>
              <p:cNvSpPr>
                <a:spLocks noChangeArrowheads="1"/>
              </p:cNvSpPr>
              <p:nvPr/>
            </p:nvSpPr>
            <p:spPr bwMode="auto">
              <a:xfrm>
                <a:off x="4080" y="224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5</a:t>
                </a:r>
              </a:p>
            </p:txBody>
          </p:sp>
          <p:sp>
            <p:nvSpPr>
              <p:cNvPr id="42" name="Rectangle 17"/>
              <p:cNvSpPr>
                <a:spLocks noChangeArrowheads="1"/>
              </p:cNvSpPr>
              <p:nvPr/>
            </p:nvSpPr>
            <p:spPr bwMode="auto">
              <a:xfrm>
                <a:off x="408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43" name="Rectangle 18"/>
              <p:cNvSpPr>
                <a:spLocks noChangeArrowheads="1"/>
              </p:cNvSpPr>
              <p:nvPr/>
            </p:nvSpPr>
            <p:spPr bwMode="auto">
              <a:xfrm>
                <a:off x="408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44" name="Line 19"/>
              <p:cNvSpPr>
                <a:spLocks noChangeShapeType="1"/>
              </p:cNvSpPr>
              <p:nvPr/>
            </p:nvSpPr>
            <p:spPr bwMode="auto">
              <a:xfrm flipH="1">
                <a:off x="4080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45" name="Line 20"/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2" name="Group 27"/>
            <p:cNvGrpSpPr>
              <a:grpSpLocks/>
            </p:cNvGrpSpPr>
            <p:nvPr/>
          </p:nvGrpSpPr>
          <p:grpSpPr bwMode="auto">
            <a:xfrm>
              <a:off x="4876800" y="2667000"/>
              <a:ext cx="838200" cy="762000"/>
              <a:chOff x="2640" y="2304"/>
              <a:chExt cx="528" cy="480"/>
            </a:xfrm>
          </p:grpSpPr>
          <p:sp>
            <p:nvSpPr>
              <p:cNvPr id="36" name="Rectangle 28"/>
              <p:cNvSpPr>
                <a:spLocks noChangeArrowheads="1"/>
              </p:cNvSpPr>
              <p:nvPr/>
            </p:nvSpPr>
            <p:spPr bwMode="auto">
              <a:xfrm>
                <a:off x="264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37" name="Rectangle 29"/>
              <p:cNvSpPr>
                <a:spLocks noChangeArrowheads="1"/>
              </p:cNvSpPr>
              <p:nvPr/>
            </p:nvSpPr>
            <p:spPr bwMode="auto">
              <a:xfrm>
                <a:off x="264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38" name="Line 30"/>
              <p:cNvSpPr>
                <a:spLocks noChangeShapeType="1"/>
              </p:cNvSpPr>
              <p:nvPr/>
            </p:nvSpPr>
            <p:spPr bwMode="auto">
              <a:xfrm flipH="1">
                <a:off x="2640" y="23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39" name="Line 31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3" name="Group 32"/>
            <p:cNvGrpSpPr>
              <a:grpSpLocks/>
            </p:cNvGrpSpPr>
            <p:nvPr/>
          </p:nvGrpSpPr>
          <p:grpSpPr bwMode="auto">
            <a:xfrm>
              <a:off x="4876800" y="2133600"/>
              <a:ext cx="838200" cy="457200"/>
              <a:chOff x="1920" y="2496"/>
              <a:chExt cx="528" cy="288"/>
            </a:xfrm>
          </p:grpSpPr>
          <p:sp>
            <p:nvSpPr>
              <p:cNvPr id="33" name="Rectangle 33"/>
              <p:cNvSpPr>
                <a:spLocks noChangeArrowheads="1"/>
              </p:cNvSpPr>
              <p:nvPr/>
            </p:nvSpPr>
            <p:spPr bwMode="auto">
              <a:xfrm>
                <a:off x="192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34" name="Line 34"/>
              <p:cNvSpPr>
                <a:spLocks noChangeShapeType="1"/>
              </p:cNvSpPr>
              <p:nvPr/>
            </p:nvSpPr>
            <p:spPr bwMode="auto">
              <a:xfrm flipH="1">
                <a:off x="1920" y="249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35" name="Line 35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14" name="Rectangle 62"/>
            <p:cNvSpPr>
              <a:spLocks noChangeArrowheads="1"/>
            </p:cNvSpPr>
            <p:nvPr/>
          </p:nvSpPr>
          <p:spPr bwMode="auto">
            <a:xfrm>
              <a:off x="5867400" y="3200400"/>
              <a:ext cx="228600" cy="5334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 anchorCtr="1"/>
            <a:lstStyle/>
            <a:p>
              <a:pPr algn="ctr" eaLnBrk="0" hangingPunct="0"/>
              <a:r>
                <a:rPr lang="en-US" sz="2000" b="1"/>
                <a:t>...</a:t>
              </a:r>
            </a:p>
          </p:txBody>
        </p:sp>
        <p:sp>
          <p:nvSpPr>
            <p:cNvPr id="15" name="Rectangle 67"/>
            <p:cNvSpPr>
              <a:spLocks noChangeArrowheads="1"/>
            </p:cNvSpPr>
            <p:nvPr/>
          </p:nvSpPr>
          <p:spPr bwMode="auto">
            <a:xfrm>
              <a:off x="2895600" y="23622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16" name="Rectangle 71"/>
            <p:cNvSpPr>
              <a:spLocks noChangeArrowheads="1"/>
            </p:cNvSpPr>
            <p:nvPr/>
          </p:nvSpPr>
          <p:spPr bwMode="auto">
            <a:xfrm>
              <a:off x="1295400" y="2286000"/>
              <a:ext cx="14954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2 5 2 * 4 -* -</a:t>
              </a:r>
            </a:p>
          </p:txBody>
        </p:sp>
        <p:sp>
          <p:nvSpPr>
            <p:cNvPr id="17" name="Rectangle 72"/>
            <p:cNvSpPr>
              <a:spLocks noChangeArrowheads="1"/>
            </p:cNvSpPr>
            <p:nvPr/>
          </p:nvSpPr>
          <p:spPr bwMode="auto">
            <a:xfrm>
              <a:off x="1295400" y="2895600"/>
              <a:ext cx="13049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5 2 * 4 -* -</a:t>
              </a:r>
            </a:p>
          </p:txBody>
        </p:sp>
        <p:sp>
          <p:nvSpPr>
            <p:cNvPr id="18" name="Line 73"/>
            <p:cNvSpPr>
              <a:spLocks noChangeShapeType="1"/>
            </p:cNvSpPr>
            <p:nvPr/>
          </p:nvSpPr>
          <p:spPr bwMode="auto">
            <a:xfrm>
              <a:off x="3810000" y="30480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74"/>
            <p:cNvSpPr>
              <a:spLocks noChangeArrowheads="1"/>
            </p:cNvSpPr>
            <p:nvPr/>
          </p:nvSpPr>
          <p:spPr bwMode="auto">
            <a:xfrm>
              <a:off x="2895600" y="29718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20" name="Rectangle 75"/>
            <p:cNvSpPr>
              <a:spLocks noChangeArrowheads="1"/>
            </p:cNvSpPr>
            <p:nvPr/>
          </p:nvSpPr>
          <p:spPr bwMode="auto">
            <a:xfrm>
              <a:off x="1295400" y="3794125"/>
              <a:ext cx="9239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* 4 -* -</a:t>
              </a:r>
            </a:p>
          </p:txBody>
        </p:sp>
        <p:sp>
          <p:nvSpPr>
            <p:cNvPr id="21" name="Line 76"/>
            <p:cNvSpPr>
              <a:spLocks noChangeShapeType="1"/>
            </p:cNvSpPr>
            <p:nvPr/>
          </p:nvSpPr>
          <p:spPr bwMode="auto">
            <a:xfrm>
              <a:off x="6705600" y="40386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77"/>
            <p:cNvSpPr>
              <a:spLocks noChangeArrowheads="1"/>
            </p:cNvSpPr>
            <p:nvPr/>
          </p:nvSpPr>
          <p:spPr bwMode="auto">
            <a:xfrm>
              <a:off x="6019800" y="3962400"/>
              <a:ext cx="6858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POP</a:t>
              </a:r>
            </a:p>
          </p:txBody>
        </p:sp>
        <p:sp>
          <p:nvSpPr>
            <p:cNvPr id="23" name="Rectangle 78"/>
            <p:cNvSpPr>
              <a:spLocks noChangeArrowheads="1"/>
            </p:cNvSpPr>
            <p:nvPr/>
          </p:nvSpPr>
          <p:spPr bwMode="auto">
            <a:xfrm>
              <a:off x="7391400" y="3870325"/>
              <a:ext cx="121761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5 * 2 = 10</a:t>
              </a:r>
            </a:p>
          </p:txBody>
        </p:sp>
        <p:sp>
          <p:nvSpPr>
            <p:cNvPr id="24" name="Rectangle 79"/>
            <p:cNvSpPr>
              <a:spLocks noChangeArrowheads="1"/>
            </p:cNvSpPr>
            <p:nvPr/>
          </p:nvSpPr>
          <p:spPr bwMode="auto">
            <a:xfrm>
              <a:off x="7467600" y="54102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25" name="Line 80"/>
            <p:cNvSpPr>
              <a:spLocks noChangeShapeType="1"/>
            </p:cNvSpPr>
            <p:nvPr/>
          </p:nvSpPr>
          <p:spPr bwMode="auto">
            <a:xfrm flipH="1">
              <a:off x="6705600" y="55626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oup 88"/>
            <p:cNvGrpSpPr>
              <a:grpSpLocks/>
            </p:cNvGrpSpPr>
            <p:nvPr/>
          </p:nvGrpSpPr>
          <p:grpSpPr bwMode="auto">
            <a:xfrm>
              <a:off x="4876800" y="5029200"/>
              <a:ext cx="838200" cy="990600"/>
              <a:chOff x="3072" y="3264"/>
              <a:chExt cx="528" cy="624"/>
            </a:xfrm>
          </p:grpSpPr>
          <p:sp>
            <p:nvSpPr>
              <p:cNvPr id="28" name="Rectangle 83"/>
              <p:cNvSpPr>
                <a:spLocks noChangeArrowheads="1"/>
              </p:cNvSpPr>
              <p:nvPr/>
            </p:nvSpPr>
            <p:spPr bwMode="auto">
              <a:xfrm>
                <a:off x="3072" y="3348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10</a:t>
                </a:r>
              </a:p>
            </p:txBody>
          </p:sp>
          <p:sp>
            <p:nvSpPr>
              <p:cNvPr id="29" name="Rectangle 84"/>
              <p:cNvSpPr>
                <a:spLocks noChangeArrowheads="1"/>
              </p:cNvSpPr>
              <p:nvPr/>
            </p:nvSpPr>
            <p:spPr bwMode="auto">
              <a:xfrm>
                <a:off x="3072" y="3528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30" name="Rectangle 85"/>
              <p:cNvSpPr>
                <a:spLocks noChangeArrowheads="1"/>
              </p:cNvSpPr>
              <p:nvPr/>
            </p:nvSpPr>
            <p:spPr bwMode="auto">
              <a:xfrm>
                <a:off x="3072" y="3708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31" name="Line 86"/>
              <p:cNvSpPr>
                <a:spLocks noChangeShapeType="1"/>
              </p:cNvSpPr>
              <p:nvPr/>
            </p:nvSpPr>
            <p:spPr bwMode="auto">
              <a:xfrm flipH="1">
                <a:off x="3072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32" name="Line 87"/>
              <p:cNvSpPr>
                <a:spLocks noChangeShapeType="1"/>
              </p:cNvSpPr>
              <p:nvPr/>
            </p:nvSpPr>
            <p:spPr bwMode="auto">
              <a:xfrm>
                <a:off x="3600" y="3264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27" name="Rectangle 89"/>
            <p:cNvSpPr>
              <a:spLocks noChangeArrowheads="1"/>
            </p:cNvSpPr>
            <p:nvPr/>
          </p:nvSpPr>
          <p:spPr bwMode="auto">
            <a:xfrm>
              <a:off x="1295400" y="5241925"/>
              <a:ext cx="7334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4 -* 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281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US" b="1" err="1"/>
              <a:t>số</a:t>
            </a:r>
            <a:r>
              <a:rPr lang="en-US" b="1"/>
              <a:t> </a:t>
            </a:r>
            <a:r>
              <a:rPr lang="en-US" b="1" err="1"/>
              <a:t>học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</a:t>
            </a:r>
            <a:r>
              <a:rPr lang="en-US" b="1" err="1"/>
              <a:t>ký</a:t>
            </a:r>
            <a:r>
              <a:rPr lang="en-US" b="1"/>
              <a:t> </a:t>
            </a:r>
            <a:r>
              <a:rPr lang="en-US" b="1" err="1"/>
              <a:t>pháp</a:t>
            </a:r>
            <a:r>
              <a:rPr lang="en-US" b="1"/>
              <a:t> BA - LAN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/>
              <a:buChar char="•"/>
            </a:pPr>
            <a:r>
              <a:rPr lang="en-US" b="1" err="1"/>
              <a:t>Ví</a:t>
            </a:r>
            <a:r>
              <a:rPr lang="en-US" b="1"/>
              <a:t> </a:t>
            </a:r>
            <a:r>
              <a:rPr lang="en-US" b="1" err="1"/>
              <a:t>dụ</a:t>
            </a:r>
            <a:r>
              <a:rPr lang="en-US" b="1"/>
              <a:t>: </a:t>
            </a:r>
            <a:r>
              <a:rPr lang="en-US" b="1" err="1"/>
              <a:t>tính</a:t>
            </a:r>
            <a:r>
              <a:rPr lang="en-US" b="1"/>
              <a:t> </a:t>
            </a:r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GB" b="1">
                <a:solidFill>
                  <a:srgbClr val="000000"/>
                </a:solidFill>
              </a:rPr>
              <a:t>13 – 2 * (5 * 2 – 4)</a:t>
            </a:r>
            <a:r>
              <a:rPr lang="vi-VN" b="1">
                <a:solidFill>
                  <a:srgbClr val="000000"/>
                </a:solidFill>
              </a:rPr>
              <a:t> (tiếp...)</a:t>
            </a:r>
            <a:endParaRPr lang="en-US">
              <a:cs typeface="Times New Roman" pitchFamily="18" charset="0"/>
            </a:endParaRPr>
          </a:p>
          <a:p>
            <a:endParaRPr lang="en-US"/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736600" y="2133600"/>
            <a:ext cx="7956550" cy="4038600"/>
            <a:chOff x="1295400" y="2133600"/>
            <a:chExt cx="7397750" cy="4038600"/>
          </a:xfrm>
        </p:grpSpPr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3810000" y="24384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6"/>
            <p:cNvGrpSpPr>
              <a:grpSpLocks/>
            </p:cNvGrpSpPr>
            <p:nvPr/>
          </p:nvGrpSpPr>
          <p:grpSpPr bwMode="auto">
            <a:xfrm>
              <a:off x="4876800" y="2133602"/>
              <a:ext cx="838200" cy="1295401"/>
              <a:chOff x="4080" y="1968"/>
              <a:chExt cx="528" cy="816"/>
            </a:xfrm>
          </p:grpSpPr>
          <p:sp>
            <p:nvSpPr>
              <p:cNvPr id="47" name="Rectangle 7"/>
              <p:cNvSpPr>
                <a:spLocks noChangeArrowheads="1"/>
              </p:cNvSpPr>
              <p:nvPr/>
            </p:nvSpPr>
            <p:spPr bwMode="auto">
              <a:xfrm>
                <a:off x="4080" y="2063"/>
                <a:ext cx="528" cy="1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4</a:t>
                </a:r>
              </a:p>
            </p:txBody>
          </p:sp>
          <p:sp>
            <p:nvSpPr>
              <p:cNvPr id="48" name="Rectangle 8"/>
              <p:cNvSpPr>
                <a:spLocks noChangeArrowheads="1"/>
              </p:cNvSpPr>
              <p:nvPr/>
            </p:nvSpPr>
            <p:spPr bwMode="auto">
              <a:xfrm>
                <a:off x="4080" y="224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10</a:t>
                </a:r>
              </a:p>
            </p:txBody>
          </p:sp>
          <p:sp>
            <p:nvSpPr>
              <p:cNvPr id="49" name="Rectangle 9"/>
              <p:cNvSpPr>
                <a:spLocks noChangeArrowheads="1"/>
              </p:cNvSpPr>
              <p:nvPr/>
            </p:nvSpPr>
            <p:spPr bwMode="auto">
              <a:xfrm>
                <a:off x="408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50" name="Rectangle 10"/>
              <p:cNvSpPr>
                <a:spLocks noChangeArrowheads="1"/>
              </p:cNvSpPr>
              <p:nvPr/>
            </p:nvSpPr>
            <p:spPr bwMode="auto">
              <a:xfrm>
                <a:off x="408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51" name="Line 11"/>
              <p:cNvSpPr>
                <a:spLocks noChangeShapeType="1"/>
              </p:cNvSpPr>
              <p:nvPr/>
            </p:nvSpPr>
            <p:spPr bwMode="auto">
              <a:xfrm flipH="1">
                <a:off x="4080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52" name="Line 12"/>
              <p:cNvSpPr>
                <a:spLocks noChangeShapeType="1"/>
              </p:cNvSpPr>
              <p:nvPr/>
            </p:nvSpPr>
            <p:spPr bwMode="auto">
              <a:xfrm>
                <a:off x="4608" y="1968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0" name="Group 13"/>
            <p:cNvGrpSpPr>
              <a:grpSpLocks/>
            </p:cNvGrpSpPr>
            <p:nvPr/>
          </p:nvGrpSpPr>
          <p:grpSpPr bwMode="auto">
            <a:xfrm>
              <a:off x="4876800" y="4724400"/>
              <a:ext cx="838200" cy="762000"/>
              <a:chOff x="2640" y="2304"/>
              <a:chExt cx="528" cy="480"/>
            </a:xfrm>
          </p:grpSpPr>
          <p:sp>
            <p:nvSpPr>
              <p:cNvPr id="43" name="Rectangle 14"/>
              <p:cNvSpPr>
                <a:spLocks noChangeArrowheads="1"/>
              </p:cNvSpPr>
              <p:nvPr/>
            </p:nvSpPr>
            <p:spPr bwMode="auto">
              <a:xfrm>
                <a:off x="2640" y="242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12</a:t>
                </a:r>
              </a:p>
            </p:txBody>
          </p:sp>
          <p:sp>
            <p:nvSpPr>
              <p:cNvPr id="44" name="Rectangle 15"/>
              <p:cNvSpPr>
                <a:spLocks noChangeArrowheads="1"/>
              </p:cNvSpPr>
              <p:nvPr/>
            </p:nvSpPr>
            <p:spPr bwMode="auto">
              <a:xfrm>
                <a:off x="264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45" name="Line 16"/>
              <p:cNvSpPr>
                <a:spLocks noChangeShapeType="1"/>
              </p:cNvSpPr>
              <p:nvPr/>
            </p:nvSpPr>
            <p:spPr bwMode="auto">
              <a:xfrm flipH="1">
                <a:off x="2640" y="230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46" name="Line 17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grpSp>
          <p:nvGrpSpPr>
            <p:cNvPr id="11" name="Group 18"/>
            <p:cNvGrpSpPr>
              <a:grpSpLocks/>
            </p:cNvGrpSpPr>
            <p:nvPr/>
          </p:nvGrpSpPr>
          <p:grpSpPr bwMode="auto">
            <a:xfrm>
              <a:off x="4876800" y="5638800"/>
              <a:ext cx="838200" cy="457200"/>
              <a:chOff x="1920" y="2496"/>
              <a:chExt cx="528" cy="288"/>
            </a:xfrm>
          </p:grpSpPr>
          <p:sp>
            <p:nvSpPr>
              <p:cNvPr id="40" name="Rectangle 19"/>
              <p:cNvSpPr>
                <a:spLocks noChangeArrowheads="1"/>
              </p:cNvSpPr>
              <p:nvPr/>
            </p:nvSpPr>
            <p:spPr bwMode="auto">
              <a:xfrm>
                <a:off x="1920" y="2604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</a:t>
                </a:r>
              </a:p>
            </p:txBody>
          </p:sp>
          <p:sp>
            <p:nvSpPr>
              <p:cNvPr id="41" name="Line 20"/>
              <p:cNvSpPr>
                <a:spLocks noChangeShapeType="1"/>
              </p:cNvSpPr>
              <p:nvPr/>
            </p:nvSpPr>
            <p:spPr bwMode="auto">
              <a:xfrm flipH="1">
                <a:off x="1920" y="2496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42" name="Line 21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2895600" y="23622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1295400" y="2286000"/>
              <a:ext cx="542925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-* -</a:t>
              </a:r>
            </a:p>
          </p:txBody>
        </p:sp>
        <p:sp>
          <p:nvSpPr>
            <p:cNvPr id="14" name="Rectangle 29"/>
            <p:cNvSpPr>
              <a:spLocks noChangeArrowheads="1"/>
            </p:cNvSpPr>
            <p:nvPr/>
          </p:nvSpPr>
          <p:spPr bwMode="auto">
            <a:xfrm>
              <a:off x="1295400" y="3794125"/>
              <a:ext cx="4587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* -</a:t>
              </a:r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6705600" y="26670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31"/>
            <p:cNvSpPr>
              <a:spLocks noChangeArrowheads="1"/>
            </p:cNvSpPr>
            <p:nvPr/>
          </p:nvSpPr>
          <p:spPr bwMode="auto">
            <a:xfrm>
              <a:off x="6019800" y="2514600"/>
              <a:ext cx="6858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POP</a:t>
              </a:r>
            </a:p>
          </p:txBody>
        </p:sp>
        <p:sp>
          <p:nvSpPr>
            <p:cNvPr id="17" name="Rectangle 32"/>
            <p:cNvSpPr>
              <a:spLocks noChangeArrowheads="1"/>
            </p:cNvSpPr>
            <p:nvPr/>
          </p:nvSpPr>
          <p:spPr bwMode="auto">
            <a:xfrm>
              <a:off x="7391400" y="2422525"/>
              <a:ext cx="11747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10 - 4 = 6</a:t>
              </a:r>
            </a:p>
          </p:txBody>
        </p:sp>
        <p:sp>
          <p:nvSpPr>
            <p:cNvPr id="18" name="Rectangle 33"/>
            <p:cNvSpPr>
              <a:spLocks noChangeArrowheads="1"/>
            </p:cNvSpPr>
            <p:nvPr/>
          </p:nvSpPr>
          <p:spPr bwMode="auto">
            <a:xfrm>
              <a:off x="7467600" y="35814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19" name="Line 34"/>
            <p:cNvSpPr>
              <a:spLocks noChangeShapeType="1"/>
            </p:cNvSpPr>
            <p:nvPr/>
          </p:nvSpPr>
          <p:spPr bwMode="auto">
            <a:xfrm flipH="1">
              <a:off x="6705600" y="37338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" name="Group 35"/>
            <p:cNvGrpSpPr>
              <a:grpSpLocks/>
            </p:cNvGrpSpPr>
            <p:nvPr/>
          </p:nvGrpSpPr>
          <p:grpSpPr bwMode="auto">
            <a:xfrm>
              <a:off x="4876800" y="3581400"/>
              <a:ext cx="838200" cy="990600"/>
              <a:chOff x="3072" y="3264"/>
              <a:chExt cx="528" cy="624"/>
            </a:xfrm>
          </p:grpSpPr>
          <p:sp>
            <p:nvSpPr>
              <p:cNvPr id="35" name="Rectangle 36"/>
              <p:cNvSpPr>
                <a:spLocks noChangeArrowheads="1"/>
              </p:cNvSpPr>
              <p:nvPr/>
            </p:nvSpPr>
            <p:spPr bwMode="auto">
              <a:xfrm>
                <a:off x="3072" y="3348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6</a:t>
                </a:r>
              </a:p>
            </p:txBody>
          </p:sp>
          <p:sp>
            <p:nvSpPr>
              <p:cNvPr id="36" name="Rectangle 37"/>
              <p:cNvSpPr>
                <a:spLocks noChangeArrowheads="1"/>
              </p:cNvSpPr>
              <p:nvPr/>
            </p:nvSpPr>
            <p:spPr bwMode="auto">
              <a:xfrm>
                <a:off x="3072" y="3528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2</a:t>
                </a:r>
              </a:p>
            </p:txBody>
          </p:sp>
          <p:sp>
            <p:nvSpPr>
              <p:cNvPr id="37" name="Rectangle 38"/>
              <p:cNvSpPr>
                <a:spLocks noChangeArrowheads="1"/>
              </p:cNvSpPr>
              <p:nvPr/>
            </p:nvSpPr>
            <p:spPr bwMode="auto">
              <a:xfrm>
                <a:off x="3072" y="3708"/>
                <a:ext cx="528" cy="18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tIns="0" bIns="0" anchor="ctr" anchorCtr="1"/>
              <a:lstStyle/>
              <a:p>
                <a:pPr algn="ctr" eaLnBrk="0" hangingPunct="0"/>
                <a:r>
                  <a:rPr lang="en-US" sz="2000"/>
                  <a:t>13</a:t>
                </a:r>
              </a:p>
            </p:txBody>
          </p:sp>
          <p:sp>
            <p:nvSpPr>
              <p:cNvPr id="38" name="Line 39"/>
              <p:cNvSpPr>
                <a:spLocks noChangeShapeType="1"/>
              </p:cNvSpPr>
              <p:nvPr/>
            </p:nvSpPr>
            <p:spPr bwMode="auto">
              <a:xfrm flipH="1">
                <a:off x="3072" y="3264"/>
                <a:ext cx="0" cy="14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  <p:sp>
            <p:nvSpPr>
              <p:cNvPr id="39" name="Line 40"/>
              <p:cNvSpPr>
                <a:spLocks noChangeShapeType="1"/>
              </p:cNvSpPr>
              <p:nvPr/>
            </p:nvSpPr>
            <p:spPr bwMode="auto">
              <a:xfrm>
                <a:off x="3600" y="3264"/>
                <a:ext cx="0" cy="10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tIns="0" bIns="0" anchor="ctr" anchorCtr="1"/>
              <a:lstStyle/>
              <a:p>
                <a:endParaRPr lang="en-US"/>
              </a:p>
            </p:txBody>
          </p:sp>
        </p:grpSp>
        <p:sp>
          <p:nvSpPr>
            <p:cNvPr id="21" name="Rectangle 41"/>
            <p:cNvSpPr>
              <a:spLocks noChangeArrowheads="1"/>
            </p:cNvSpPr>
            <p:nvPr/>
          </p:nvSpPr>
          <p:spPr bwMode="auto">
            <a:xfrm>
              <a:off x="1295400" y="4876800"/>
              <a:ext cx="268288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-</a:t>
              </a:r>
            </a:p>
          </p:txBody>
        </p:sp>
        <p:sp>
          <p:nvSpPr>
            <p:cNvPr id="22" name="Line 42"/>
            <p:cNvSpPr>
              <a:spLocks noChangeShapeType="1"/>
            </p:cNvSpPr>
            <p:nvPr/>
          </p:nvSpPr>
          <p:spPr bwMode="auto">
            <a:xfrm>
              <a:off x="6705600" y="43434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43"/>
            <p:cNvSpPr>
              <a:spLocks noChangeArrowheads="1"/>
            </p:cNvSpPr>
            <p:nvPr/>
          </p:nvSpPr>
          <p:spPr bwMode="auto">
            <a:xfrm>
              <a:off x="6019800" y="4191000"/>
              <a:ext cx="6858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POP</a:t>
              </a:r>
            </a:p>
          </p:txBody>
        </p:sp>
        <p:sp>
          <p:nvSpPr>
            <p:cNvPr id="24" name="Rectangle 44"/>
            <p:cNvSpPr>
              <a:spLocks noChangeArrowheads="1"/>
            </p:cNvSpPr>
            <p:nvPr/>
          </p:nvSpPr>
          <p:spPr bwMode="auto">
            <a:xfrm>
              <a:off x="7391400" y="4098925"/>
              <a:ext cx="121761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2 * 6 = 12</a:t>
              </a:r>
            </a:p>
          </p:txBody>
        </p:sp>
        <p:sp>
          <p:nvSpPr>
            <p:cNvPr id="25" name="Rectangle 45"/>
            <p:cNvSpPr>
              <a:spLocks noChangeArrowheads="1"/>
            </p:cNvSpPr>
            <p:nvPr/>
          </p:nvSpPr>
          <p:spPr bwMode="auto">
            <a:xfrm>
              <a:off x="7467600" y="46482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26" name="Line 46"/>
            <p:cNvSpPr>
              <a:spLocks noChangeShapeType="1"/>
            </p:cNvSpPr>
            <p:nvPr/>
          </p:nvSpPr>
          <p:spPr bwMode="auto">
            <a:xfrm flipH="1">
              <a:off x="6705600" y="48006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6705600" y="52578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48"/>
            <p:cNvSpPr>
              <a:spLocks noChangeArrowheads="1"/>
            </p:cNvSpPr>
            <p:nvPr/>
          </p:nvSpPr>
          <p:spPr bwMode="auto">
            <a:xfrm>
              <a:off x="6019800" y="5105400"/>
              <a:ext cx="6858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POP</a:t>
              </a:r>
            </a:p>
          </p:txBody>
        </p:sp>
        <p:sp>
          <p:nvSpPr>
            <p:cNvPr id="29" name="Rectangle 49"/>
            <p:cNvSpPr>
              <a:spLocks noChangeArrowheads="1"/>
            </p:cNvSpPr>
            <p:nvPr/>
          </p:nvSpPr>
          <p:spPr bwMode="auto">
            <a:xfrm>
              <a:off x="7391400" y="5013325"/>
              <a:ext cx="13017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13 - 12 = 1</a:t>
              </a:r>
            </a:p>
          </p:txBody>
        </p:sp>
        <p:sp>
          <p:nvSpPr>
            <p:cNvPr id="30" name="Rectangle 50"/>
            <p:cNvSpPr>
              <a:spLocks noChangeArrowheads="1"/>
            </p:cNvSpPr>
            <p:nvPr/>
          </p:nvSpPr>
          <p:spPr bwMode="auto">
            <a:xfrm>
              <a:off x="7467600" y="5562600"/>
              <a:ext cx="8382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PUSH</a:t>
              </a:r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 flipH="1">
              <a:off x="6705600" y="57150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52"/>
            <p:cNvSpPr>
              <a:spLocks noChangeShapeType="1"/>
            </p:cNvSpPr>
            <p:nvPr/>
          </p:nvSpPr>
          <p:spPr bwMode="auto">
            <a:xfrm>
              <a:off x="6705600" y="6019800"/>
              <a:ext cx="609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53"/>
            <p:cNvSpPr>
              <a:spLocks noChangeArrowheads="1"/>
            </p:cNvSpPr>
            <p:nvPr/>
          </p:nvSpPr>
          <p:spPr bwMode="auto">
            <a:xfrm>
              <a:off x="6019800" y="5867400"/>
              <a:ext cx="6858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tIns="0" bIns="0" anchor="ctr"/>
            <a:lstStyle/>
            <a:p>
              <a:pPr eaLnBrk="0" hangingPunct="0"/>
              <a:r>
                <a:rPr lang="en-US" sz="2000"/>
                <a:t>POP</a:t>
              </a:r>
            </a:p>
          </p:txBody>
        </p:sp>
        <p:sp>
          <p:nvSpPr>
            <p:cNvPr id="34" name="Rectangle 54"/>
            <p:cNvSpPr>
              <a:spLocks noChangeArrowheads="1"/>
            </p:cNvSpPr>
            <p:nvPr/>
          </p:nvSpPr>
          <p:spPr bwMode="auto">
            <a:xfrm>
              <a:off x="7391400" y="5775325"/>
              <a:ext cx="31115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i="1">
                  <a:solidFill>
                    <a:srgbClr val="00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908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18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Giải</a:t>
            </a:r>
            <a:r>
              <a:rPr lang="en-US" b="1"/>
              <a:t> </a:t>
            </a:r>
            <a:r>
              <a:rPr lang="en-US" b="1" err="1"/>
              <a:t>thuật</a:t>
            </a:r>
            <a:r>
              <a:rPr lang="en-US" b="1"/>
              <a:t> </a:t>
            </a:r>
            <a:r>
              <a:rPr lang="en-US" b="1" err="1"/>
              <a:t>tính</a:t>
            </a:r>
            <a:r>
              <a:rPr lang="en-US" b="1"/>
              <a:t> </a:t>
            </a:r>
            <a:r>
              <a:rPr lang="en-US" b="1" err="1"/>
              <a:t>giá</a:t>
            </a:r>
            <a:r>
              <a:rPr lang="en-US" b="1"/>
              <a:t> </a:t>
            </a:r>
            <a:r>
              <a:rPr lang="en-US" b="1" err="1"/>
              <a:t>trị</a:t>
            </a:r>
            <a:r>
              <a:rPr lang="en-US" b="1"/>
              <a:t> </a:t>
            </a:r>
            <a:r>
              <a:rPr lang="en-US" b="1" err="1"/>
              <a:t>của</a:t>
            </a:r>
            <a:r>
              <a:rPr lang="en-US" b="1"/>
              <a:t> </a:t>
            </a:r>
            <a:r>
              <a:rPr lang="en-US" b="1" err="1"/>
              <a:t>biểu</a:t>
            </a:r>
            <a:r>
              <a:rPr lang="en-US" b="1"/>
              <a:t> </a:t>
            </a:r>
            <a:r>
              <a:rPr lang="en-US" b="1" err="1"/>
              <a:t>thức</a:t>
            </a:r>
            <a:r>
              <a:rPr lang="en-US" b="1"/>
              <a:t> </a:t>
            </a:r>
            <a:r>
              <a:rPr lang="en-US" b="1" err="1"/>
              <a:t>hậu</a:t>
            </a:r>
            <a:r>
              <a:rPr lang="en-US" b="1"/>
              <a:t> </a:t>
            </a:r>
            <a:r>
              <a:rPr lang="en-US" b="1" err="1"/>
              <a:t>tố</a:t>
            </a:r>
            <a:r>
              <a:rPr lang="en-US" b="1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/>
              <a:t>Procedure</a:t>
            </a:r>
            <a:r>
              <a:rPr lang="en-US"/>
              <a:t> EVAL(P,VAL)</a:t>
            </a:r>
          </a:p>
          <a:p>
            <a:pPr marL="0" indent="0">
              <a:buNone/>
            </a:pPr>
            <a:r>
              <a:rPr lang="en-US" err="1"/>
              <a:t>Ghi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dấu</a:t>
            </a:r>
            <a:r>
              <a:rPr lang="en-US"/>
              <a:t> ‘)’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xâu</a:t>
            </a:r>
            <a:r>
              <a:rPr lang="en-US"/>
              <a:t> P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làm</a:t>
            </a:r>
            <a:r>
              <a:rPr lang="en-US"/>
              <a:t> </a:t>
            </a:r>
            <a:r>
              <a:rPr lang="en-US" err="1"/>
              <a:t>dấu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thúc</a:t>
            </a:r>
            <a:r>
              <a:rPr lang="en-US"/>
              <a:t> </a:t>
            </a:r>
            <a:r>
              <a:rPr lang="en-US" err="1"/>
              <a:t>xâu</a:t>
            </a:r>
            <a:endParaRPr lang="en-US"/>
          </a:p>
          <a:p>
            <a:pPr marL="0" indent="0">
              <a:buNone/>
            </a:pPr>
            <a:r>
              <a:rPr lang="en-US"/>
              <a:t>Repeat </a:t>
            </a:r>
          </a:p>
          <a:p>
            <a:pPr marL="0" indent="0">
              <a:buNone/>
            </a:pPr>
            <a:r>
              <a:rPr lang="en-US" err="1"/>
              <a:t>Đọc</a:t>
            </a:r>
            <a:r>
              <a:rPr lang="en-US"/>
              <a:t> </a:t>
            </a:r>
            <a:r>
              <a:rPr lang="en-US" err="1"/>
              <a:t>ký</a:t>
            </a:r>
            <a:r>
              <a:rPr lang="en-US"/>
              <a:t> </a:t>
            </a:r>
            <a:r>
              <a:rPr lang="en-US" err="1"/>
              <a:t>tự</a:t>
            </a:r>
            <a:r>
              <a:rPr lang="en-US"/>
              <a:t> X </a:t>
            </a:r>
            <a:r>
              <a:rPr lang="en-US" err="1"/>
              <a:t>trong</a:t>
            </a:r>
            <a:r>
              <a:rPr lang="en-US"/>
              <a:t> P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duyệt</a:t>
            </a:r>
            <a:r>
              <a:rPr lang="en-US"/>
              <a:t> </a:t>
            </a:r>
            <a:r>
              <a:rPr lang="en-US" err="1"/>
              <a:t>từ</a:t>
            </a:r>
            <a:r>
              <a:rPr lang="en-US"/>
              <a:t> </a:t>
            </a:r>
            <a:r>
              <a:rPr lang="en-US" err="1"/>
              <a:t>trái</a:t>
            </a:r>
            <a:r>
              <a:rPr lang="en-US"/>
              <a:t> sang </a:t>
            </a:r>
            <a:r>
              <a:rPr lang="en-US" err="1"/>
              <a:t>phải</a:t>
            </a:r>
            <a:r>
              <a:rPr lang="en-US"/>
              <a:t>;</a:t>
            </a:r>
          </a:p>
          <a:p>
            <a:pPr marL="514350" indent="-514350">
              <a:buAutoNum type="arabicPeriod"/>
            </a:pPr>
            <a:r>
              <a:rPr lang="en-US"/>
              <a:t>If X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toán</a:t>
            </a:r>
            <a:r>
              <a:rPr lang="en-US"/>
              <a:t> </a:t>
            </a:r>
            <a:r>
              <a:rPr lang="en-US" err="1"/>
              <a:t>hạng</a:t>
            </a:r>
            <a:r>
              <a:rPr lang="en-US"/>
              <a:t> Call Push(S,T,X)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Else Call Pop(S,T,Y); Call Pop(S,T,Z); W = Z op Y;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Call Push(S,T,Z)</a:t>
            </a:r>
          </a:p>
          <a:p>
            <a:pPr marL="0" indent="0">
              <a:buNone/>
            </a:pPr>
            <a:r>
              <a:rPr lang="en-US"/>
              <a:t>Until </a:t>
            </a:r>
            <a:r>
              <a:rPr lang="en-US" err="1"/>
              <a:t>đến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gặp</a:t>
            </a:r>
            <a:r>
              <a:rPr lang="en-US"/>
              <a:t> </a:t>
            </a:r>
            <a:r>
              <a:rPr lang="en-US" err="1"/>
              <a:t>dấu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thúc</a:t>
            </a:r>
            <a:r>
              <a:rPr lang="en-US"/>
              <a:t> </a:t>
            </a:r>
            <a:r>
              <a:rPr lang="en-US" err="1"/>
              <a:t>sâu</a:t>
            </a:r>
            <a:r>
              <a:rPr lang="en-US"/>
              <a:t> ‘)’</a:t>
            </a:r>
          </a:p>
          <a:p>
            <a:pPr marL="0" indent="0">
              <a:buNone/>
            </a:pPr>
            <a:r>
              <a:rPr lang="en-US"/>
              <a:t>Call Pop(S,T,VAL);</a:t>
            </a:r>
          </a:p>
          <a:p>
            <a:pPr marL="0" indent="0">
              <a:buNone/>
            </a:pPr>
            <a:r>
              <a:rPr lang="en-US"/>
              <a:t>Return;</a:t>
            </a:r>
          </a:p>
        </p:txBody>
      </p:sp>
    </p:spTree>
    <p:extLst>
      <p:ext uri="{BB962C8B-B14F-4D97-AF65-F5344CB8AC3E}">
        <p14:creationId xmlns:p14="http://schemas.microsoft.com/office/powerpoint/2010/main" val="316850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19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Định</a:t>
            </a:r>
            <a:r>
              <a:rPr lang="en-US" b="1"/>
              <a:t> </a:t>
            </a:r>
            <a:r>
              <a:rPr lang="en-US" b="1" err="1"/>
              <a:t>nghĩa</a:t>
            </a:r>
            <a:r>
              <a:rPr lang="en-US" b="1"/>
              <a:t> </a:t>
            </a:r>
            <a:r>
              <a:rPr lang="en-US" b="1" err="1"/>
              <a:t>hàng</a:t>
            </a:r>
            <a:r>
              <a:rPr lang="en-US" b="1"/>
              <a:t> </a:t>
            </a:r>
            <a:r>
              <a:rPr lang="en-US" b="1" err="1"/>
              <a:t>đợi</a:t>
            </a:r>
            <a:r>
              <a:rPr lang="en-US" b="1"/>
              <a:t> (Queue)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Queue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kiểu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mà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(</a:t>
            </a:r>
            <a:r>
              <a:rPr lang="en-US" err="1"/>
              <a:t>lối</a:t>
            </a:r>
            <a:r>
              <a:rPr lang="en-US"/>
              <a:t> </a:t>
            </a:r>
            <a:r>
              <a:rPr lang="en-US" err="1"/>
              <a:t>sau</a:t>
            </a:r>
            <a:r>
              <a:rPr lang="en-US"/>
              <a:t> – rear),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khác</a:t>
            </a:r>
            <a:r>
              <a:rPr lang="en-US"/>
              <a:t> (</a:t>
            </a:r>
            <a:r>
              <a:rPr lang="en-US" err="1"/>
              <a:t>lối</a:t>
            </a:r>
            <a:r>
              <a:rPr lang="en-US"/>
              <a:t> </a:t>
            </a:r>
            <a:r>
              <a:rPr lang="en-US" err="1"/>
              <a:t>trước</a:t>
            </a:r>
            <a:r>
              <a:rPr lang="en-US"/>
              <a:t> - front) – FIFO. </a:t>
            </a:r>
          </a:p>
          <a:p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: Vector </a:t>
            </a:r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Q </a:t>
            </a:r>
            <a:r>
              <a:rPr lang="en-US" err="1"/>
              <a:t>có</a:t>
            </a:r>
            <a:r>
              <a:rPr lang="en-US"/>
              <a:t> n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</a:p>
          <a:p>
            <a:r>
              <a:rPr lang="en-US" err="1"/>
              <a:t>Sử</a:t>
            </a:r>
            <a:r>
              <a:rPr lang="en-US"/>
              <a:t> </a:t>
            </a:r>
            <a:r>
              <a:rPr lang="en-US" err="1"/>
              <a:t>dụng</a:t>
            </a:r>
            <a:r>
              <a:rPr lang="en-US"/>
              <a:t> 2 con </a:t>
            </a:r>
            <a:r>
              <a:rPr lang="en-US" err="1"/>
              <a:t>trỏ</a:t>
            </a:r>
            <a:r>
              <a:rPr lang="en-US"/>
              <a:t> : R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lối</a:t>
            </a:r>
            <a:r>
              <a:rPr lang="en-US"/>
              <a:t> </a:t>
            </a:r>
            <a:r>
              <a:rPr lang="en-US" err="1"/>
              <a:t>sau</a:t>
            </a:r>
            <a:r>
              <a:rPr lang="en-US"/>
              <a:t>, F </a:t>
            </a:r>
            <a:r>
              <a:rPr lang="en-US" err="1"/>
              <a:t>trỏ</a:t>
            </a:r>
            <a:r>
              <a:rPr lang="en-US"/>
              <a:t>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lối</a:t>
            </a:r>
            <a:r>
              <a:rPr lang="en-US"/>
              <a:t> </a:t>
            </a:r>
            <a:r>
              <a:rPr lang="en-US" err="1"/>
              <a:t>trước</a:t>
            </a:r>
            <a:r>
              <a:rPr lang="en-US"/>
              <a:t>   </a:t>
            </a:r>
          </a:p>
          <a:p>
            <a:r>
              <a:rPr lang="en-US"/>
              <a:t>F = R = 0 : </a:t>
            </a:r>
            <a:r>
              <a:rPr lang="en-US" err="1"/>
              <a:t>hàng</a:t>
            </a:r>
            <a:r>
              <a:rPr lang="en-US"/>
              <a:t> </a:t>
            </a:r>
            <a:r>
              <a:rPr lang="en-US" err="1"/>
              <a:t>đợi</a:t>
            </a:r>
            <a:r>
              <a:rPr lang="en-US"/>
              <a:t> </a:t>
            </a:r>
            <a:r>
              <a:rPr lang="en-US" err="1"/>
              <a:t>rỗng</a:t>
            </a:r>
            <a:endParaRPr lang="en-US"/>
          </a:p>
          <a:p>
            <a:r>
              <a:rPr lang="en-US"/>
              <a:t>F&lt; 0, R &gt; n : </a:t>
            </a:r>
            <a:r>
              <a:rPr lang="en-US" err="1"/>
              <a:t>hàng</a:t>
            </a:r>
            <a:r>
              <a:rPr lang="en-US"/>
              <a:t> </a:t>
            </a:r>
            <a:r>
              <a:rPr lang="en-US" err="1"/>
              <a:t>đợi</a:t>
            </a:r>
            <a:r>
              <a:rPr lang="en-US"/>
              <a:t> </a:t>
            </a:r>
            <a:r>
              <a:rPr lang="en-US" err="1"/>
              <a:t>tràn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96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D91B9-CAA6-E54D-A2DE-B3CC787D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05B0E-E2BB-5B46-A35C-DB72117C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A5EA3-7007-0341-96EE-37821A2A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20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CB7AC-BEC7-F345-8C2A-0ACE85BF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Lưu</a:t>
            </a:r>
            <a:r>
              <a:rPr lang="en-US"/>
              <a:t> </a:t>
            </a:r>
            <a:r>
              <a:rPr lang="en-US" err="1"/>
              <a:t>trữ</a:t>
            </a:r>
            <a:r>
              <a:rPr lang="en-US"/>
              <a:t> </a:t>
            </a:r>
            <a:r>
              <a:rPr lang="en-US" err="1"/>
              <a:t>kế</a:t>
            </a:r>
            <a:r>
              <a:rPr lang="en-US"/>
              <a:t> </a:t>
            </a:r>
            <a:r>
              <a:rPr lang="en-US" err="1"/>
              <a:t>tiếp</a:t>
            </a:r>
            <a:r>
              <a:rPr lang="en-US"/>
              <a:t> </a:t>
            </a:r>
            <a:r>
              <a:rPr lang="en-US" err="1"/>
              <a:t>đối</a:t>
            </a:r>
            <a:r>
              <a:rPr lang="en-US"/>
              <a:t> </a:t>
            </a:r>
            <a:r>
              <a:rPr lang="en-US" err="1"/>
              <a:t>với</a:t>
            </a:r>
            <a:r>
              <a:rPr lang="en-US"/>
              <a:t>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CB71B-7B44-4A4A-9678-2FF775A80F5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1929958"/>
          </a:xfrm>
        </p:spPr>
        <p:txBody>
          <a:bodyPr>
            <a:noAutofit/>
          </a:bodyPr>
          <a:lstStyle/>
          <a:p>
            <a:r>
              <a:rPr lang="en-US" sz="2400"/>
              <a:t>Vector Q </a:t>
            </a:r>
            <a:r>
              <a:rPr lang="en-US" sz="2400" err="1"/>
              <a:t>có</a:t>
            </a:r>
            <a:r>
              <a:rPr lang="en-US" sz="2400"/>
              <a:t> n </a:t>
            </a:r>
            <a:r>
              <a:rPr lang="en-US" sz="2400" err="1"/>
              <a:t>phần</a:t>
            </a:r>
            <a:r>
              <a:rPr lang="en-US" sz="2400"/>
              <a:t> </a:t>
            </a:r>
            <a:r>
              <a:rPr lang="en-US" sz="2400" err="1"/>
              <a:t>tử</a:t>
            </a:r>
            <a:r>
              <a:rPr lang="en-US" sz="2400"/>
              <a:t>, R,F </a:t>
            </a:r>
            <a:r>
              <a:rPr lang="en-US" sz="2400" err="1"/>
              <a:t>là</a:t>
            </a:r>
            <a:r>
              <a:rPr lang="en-US" sz="2400"/>
              <a:t> </a:t>
            </a:r>
            <a:r>
              <a:rPr lang="en-US" sz="2400" err="1"/>
              <a:t>hai</a:t>
            </a:r>
            <a:r>
              <a:rPr lang="en-US" sz="2400"/>
              <a:t> </a:t>
            </a:r>
            <a:r>
              <a:rPr lang="en-US" sz="2400" err="1"/>
              <a:t>biến</a:t>
            </a:r>
            <a:r>
              <a:rPr lang="en-US" sz="2400"/>
              <a:t> </a:t>
            </a:r>
            <a:r>
              <a:rPr lang="en-US" sz="2400" err="1"/>
              <a:t>trỏ</a:t>
            </a:r>
            <a:r>
              <a:rPr lang="en-US" sz="2400"/>
              <a:t> </a:t>
            </a:r>
            <a:r>
              <a:rPr lang="en-US" sz="2400" err="1"/>
              <a:t>lối</a:t>
            </a:r>
            <a:r>
              <a:rPr lang="en-US" sz="2400"/>
              <a:t> </a:t>
            </a:r>
            <a:r>
              <a:rPr lang="en-US" sz="2400" err="1"/>
              <a:t>trước</a:t>
            </a:r>
            <a:r>
              <a:rPr lang="en-US" sz="2400"/>
              <a:t> </a:t>
            </a:r>
            <a:r>
              <a:rPr lang="en-US" sz="2400" err="1"/>
              <a:t>và</a:t>
            </a:r>
            <a:r>
              <a:rPr lang="en-US" sz="2400"/>
              <a:t> </a:t>
            </a:r>
            <a:r>
              <a:rPr lang="en-US" sz="2400" err="1"/>
              <a:t>sau</a:t>
            </a:r>
            <a:r>
              <a:rPr lang="en-US" sz="2400"/>
              <a:t> </a:t>
            </a:r>
            <a:r>
              <a:rPr lang="en-US" sz="2400" err="1"/>
              <a:t>tương</a:t>
            </a:r>
            <a:r>
              <a:rPr lang="en-US" sz="2400"/>
              <a:t> </a:t>
            </a:r>
            <a:r>
              <a:rPr lang="en-US" sz="2400" err="1"/>
              <a:t>ứng</a:t>
            </a:r>
            <a:r>
              <a:rPr lang="en-US" sz="2400"/>
              <a:t> </a:t>
            </a:r>
          </a:p>
          <a:p>
            <a:r>
              <a:rPr lang="en-US" sz="2400"/>
              <a:t>F = R = 0: Queue </a:t>
            </a:r>
            <a:r>
              <a:rPr lang="en-US" sz="2400" err="1"/>
              <a:t>rỗng</a:t>
            </a:r>
            <a:r>
              <a:rPr lang="en-US" sz="2400"/>
              <a:t> </a:t>
            </a:r>
          </a:p>
          <a:p>
            <a:r>
              <a:rPr lang="en-US" sz="2400" err="1"/>
              <a:t>Khi</a:t>
            </a:r>
            <a:r>
              <a:rPr lang="en-US" sz="2400"/>
              <a:t> </a:t>
            </a:r>
            <a:r>
              <a:rPr lang="en-US" sz="2400" err="1"/>
              <a:t>bổ</a:t>
            </a:r>
            <a:r>
              <a:rPr lang="en-US" sz="2400"/>
              <a:t> sung </a:t>
            </a:r>
            <a:r>
              <a:rPr lang="en-US" sz="2400" err="1"/>
              <a:t>phần</a:t>
            </a:r>
            <a:r>
              <a:rPr lang="en-US" sz="2400"/>
              <a:t> </a:t>
            </a:r>
            <a:r>
              <a:rPr lang="en-US" sz="2400" err="1"/>
              <a:t>tử</a:t>
            </a:r>
            <a:r>
              <a:rPr lang="en-US" sz="2400"/>
              <a:t> </a:t>
            </a:r>
            <a:r>
              <a:rPr lang="en-US" sz="2400" err="1"/>
              <a:t>thì</a:t>
            </a:r>
            <a:r>
              <a:rPr lang="en-US" sz="2400"/>
              <a:t> R </a:t>
            </a:r>
            <a:r>
              <a:rPr lang="en-US" sz="2400" err="1"/>
              <a:t>tăng</a:t>
            </a:r>
            <a:r>
              <a:rPr lang="en-US" sz="2400"/>
              <a:t>, </a:t>
            </a:r>
            <a:r>
              <a:rPr lang="en-US" sz="2400" err="1"/>
              <a:t>khi</a:t>
            </a:r>
            <a:r>
              <a:rPr lang="en-US" sz="2400"/>
              <a:t> </a:t>
            </a:r>
            <a:r>
              <a:rPr lang="en-US" sz="2400" err="1"/>
              <a:t>loại</a:t>
            </a:r>
            <a:r>
              <a:rPr lang="en-US" sz="2400"/>
              <a:t> </a:t>
            </a:r>
            <a:r>
              <a:rPr lang="en-US" sz="2400" err="1"/>
              <a:t>bỏ</a:t>
            </a:r>
            <a:r>
              <a:rPr lang="en-US" sz="2400"/>
              <a:t> </a:t>
            </a:r>
            <a:r>
              <a:rPr lang="en-US" sz="2400" err="1"/>
              <a:t>phần</a:t>
            </a:r>
            <a:r>
              <a:rPr lang="en-US" sz="2400"/>
              <a:t> </a:t>
            </a:r>
            <a:r>
              <a:rPr lang="en-US" sz="2400" err="1"/>
              <a:t>tử</a:t>
            </a:r>
            <a:r>
              <a:rPr lang="en-US" sz="2400"/>
              <a:t> F </a:t>
            </a:r>
            <a:r>
              <a:rPr lang="en-US" sz="2400" err="1"/>
              <a:t>tăng</a:t>
            </a:r>
            <a:r>
              <a:rPr lang="en-US" sz="2400"/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21DEE9-4703-0F46-B176-F31C210CDA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622707"/>
              </p:ext>
            </p:extLst>
          </p:nvPr>
        </p:nvGraphicFramePr>
        <p:xfrm>
          <a:off x="1244835" y="313442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96461059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179861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688062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516033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4139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70732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2C25C1-E791-4C4C-875E-8450402854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728963"/>
              </p:ext>
            </p:extLst>
          </p:nvPr>
        </p:nvGraphicFramePr>
        <p:xfrm>
          <a:off x="1244835" y="3963058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96461059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179861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688062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516033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4139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170732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05B95B-E1DA-A54E-9FB6-9EF56682B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015267"/>
              </p:ext>
            </p:extLst>
          </p:nvPr>
        </p:nvGraphicFramePr>
        <p:xfrm>
          <a:off x="1244835" y="4686166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96461059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179861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688062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516033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4139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70732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FB2C36D-479E-6841-B95F-E3B8717EE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831670"/>
              </p:ext>
            </p:extLst>
          </p:nvPr>
        </p:nvGraphicFramePr>
        <p:xfrm>
          <a:off x="1239838" y="5409274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96461059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179861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96880621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5160331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541391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17073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972427-83EB-534C-AA48-211B048BAFF2}"/>
              </a:ext>
            </a:extLst>
          </p:cNvPr>
          <p:cNvSpPr txBox="1"/>
          <p:nvPr/>
        </p:nvSpPr>
        <p:spPr>
          <a:xfrm>
            <a:off x="1239838" y="2799089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 =1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EB01CC-C802-5143-BB3B-FBF91B5FAC98}"/>
              </a:ext>
            </a:extLst>
          </p:cNvPr>
          <p:cNvSpPr txBox="1"/>
          <p:nvPr/>
        </p:nvSpPr>
        <p:spPr>
          <a:xfrm>
            <a:off x="3993032" y="2773624"/>
            <a:ext cx="86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 =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85F76C-ACFF-A14E-AFC2-310E8A91FDB4}"/>
              </a:ext>
            </a:extLst>
          </p:cNvPr>
          <p:cNvSpPr txBox="1"/>
          <p:nvPr/>
        </p:nvSpPr>
        <p:spPr>
          <a:xfrm>
            <a:off x="2516500" y="3593726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 =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800691-21DE-C440-B6C8-6B8D6EC01C2A}"/>
              </a:ext>
            </a:extLst>
          </p:cNvPr>
          <p:cNvSpPr txBox="1"/>
          <p:nvPr/>
        </p:nvSpPr>
        <p:spPr>
          <a:xfrm>
            <a:off x="3779421" y="3550249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 =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498065-4075-6848-8877-28D6F2900B7F}"/>
              </a:ext>
            </a:extLst>
          </p:cNvPr>
          <p:cNvSpPr txBox="1"/>
          <p:nvPr/>
        </p:nvSpPr>
        <p:spPr>
          <a:xfrm>
            <a:off x="2516500" y="4348664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 =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9FD04-9207-7447-9298-3F430DAB860E}"/>
              </a:ext>
            </a:extLst>
          </p:cNvPr>
          <p:cNvSpPr txBox="1"/>
          <p:nvPr/>
        </p:nvSpPr>
        <p:spPr>
          <a:xfrm>
            <a:off x="6245304" y="4302068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 = 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1CE7D-2F70-8141-BFE7-56BDC90A44AF}"/>
              </a:ext>
            </a:extLst>
          </p:cNvPr>
          <p:cNvSpPr txBox="1"/>
          <p:nvPr/>
        </p:nvSpPr>
        <p:spPr>
          <a:xfrm>
            <a:off x="5021107" y="5063305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 = 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ACFB6F-C643-D149-8A4B-DCD58EC68E7E}"/>
              </a:ext>
            </a:extLst>
          </p:cNvPr>
          <p:cNvSpPr txBox="1"/>
          <p:nvPr/>
        </p:nvSpPr>
        <p:spPr>
          <a:xfrm>
            <a:off x="6245304" y="5063305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 = 5</a:t>
            </a:r>
          </a:p>
        </p:txBody>
      </p:sp>
    </p:spTree>
    <p:extLst>
      <p:ext uri="{BB962C8B-B14F-4D97-AF65-F5344CB8AC3E}">
        <p14:creationId xmlns:p14="http://schemas.microsoft.com/office/powerpoint/2010/main" val="21340826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err="1"/>
              <a:t>Bổ</a:t>
            </a:r>
            <a:r>
              <a:rPr lang="en-US" sz="3600" b="1"/>
              <a:t> sung </a:t>
            </a:r>
            <a:r>
              <a:rPr lang="en-US" sz="3600" b="1" err="1"/>
              <a:t>và</a:t>
            </a:r>
            <a:r>
              <a:rPr lang="en-US" sz="3600" b="1"/>
              <a:t> </a:t>
            </a:r>
            <a:r>
              <a:rPr lang="en-US" sz="3600" b="1" err="1"/>
              <a:t>xóa</a:t>
            </a:r>
            <a:r>
              <a:rPr lang="en-US" sz="3600" b="1"/>
              <a:t> </a:t>
            </a:r>
            <a:r>
              <a:rPr lang="en-US" sz="3600" b="1" err="1"/>
              <a:t>phần</a:t>
            </a:r>
            <a:r>
              <a:rPr lang="en-US" sz="3600" b="1"/>
              <a:t> </a:t>
            </a:r>
            <a:r>
              <a:rPr lang="en-US" sz="3600" b="1" err="1"/>
              <a:t>tử</a:t>
            </a:r>
            <a:r>
              <a:rPr lang="en-US" sz="3600" b="1"/>
              <a:t> </a:t>
            </a:r>
            <a:r>
              <a:rPr lang="en-US" sz="3600" b="1" err="1"/>
              <a:t>trong</a:t>
            </a:r>
            <a:r>
              <a:rPr lang="en-US" sz="3600" b="1"/>
              <a:t> </a:t>
            </a:r>
            <a:r>
              <a:rPr lang="en-US" sz="3600" b="1" err="1"/>
              <a:t>hàng</a:t>
            </a:r>
            <a:r>
              <a:rPr lang="en-US" sz="3600" b="1"/>
              <a:t> </a:t>
            </a:r>
            <a:r>
              <a:rPr lang="en-US" sz="3600" b="1" err="1"/>
              <a:t>đợi</a:t>
            </a:r>
            <a:r>
              <a:rPr lang="en-US" sz="3600" b="1"/>
              <a:t> 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87031789"/>
              </p:ext>
            </p:extLst>
          </p:nvPr>
        </p:nvGraphicFramePr>
        <p:xfrm>
          <a:off x="234952" y="1093118"/>
          <a:ext cx="867409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4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4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8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348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5" name="Group 74">
            <a:extLst>
              <a:ext uri="{FF2B5EF4-FFF2-40B4-BE49-F238E27FC236}">
                <a16:creationId xmlns:a16="http://schemas.microsoft.com/office/drawing/2014/main" id="{30148172-3F54-A64C-95CE-0F6866129D18}"/>
              </a:ext>
            </a:extLst>
          </p:cNvPr>
          <p:cNvGrpSpPr/>
          <p:nvPr/>
        </p:nvGrpSpPr>
        <p:grpSpPr>
          <a:xfrm>
            <a:off x="4674471" y="1382556"/>
            <a:ext cx="4414093" cy="2481645"/>
            <a:chOff x="2222166" y="2339100"/>
            <a:chExt cx="4414093" cy="2481645"/>
          </a:xfrm>
        </p:grpSpPr>
        <p:sp>
          <p:nvSpPr>
            <p:cNvPr id="8" name="Oval 7"/>
            <p:cNvSpPr/>
            <p:nvPr/>
          </p:nvSpPr>
          <p:spPr>
            <a:xfrm>
              <a:off x="2612917" y="2746782"/>
              <a:ext cx="3062585" cy="1738430"/>
            </a:xfrm>
            <a:prstGeom prst="ellips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124200" y="3114842"/>
              <a:ext cx="1996756" cy="878903"/>
            </a:xfrm>
            <a:prstGeom prst="ellips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cxnSpLocks/>
              <a:stCxn id="8" idx="1"/>
              <a:endCxn id="9" idx="1"/>
            </p:cNvCxnSpPr>
            <p:nvPr/>
          </p:nvCxnSpPr>
          <p:spPr>
            <a:xfrm>
              <a:off x="3061422" y="3001369"/>
              <a:ext cx="355196" cy="242185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cxnSpLocks/>
              <a:stCxn id="8" idx="7"/>
              <a:endCxn id="9" idx="7"/>
            </p:cNvCxnSpPr>
            <p:nvPr/>
          </p:nvCxnSpPr>
          <p:spPr>
            <a:xfrm flipH="1">
              <a:off x="4828538" y="3001369"/>
              <a:ext cx="398459" cy="242185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cxnSpLocks/>
              <a:stCxn id="8" idx="5"/>
              <a:endCxn id="9" idx="5"/>
            </p:cNvCxnSpPr>
            <p:nvPr/>
          </p:nvCxnSpPr>
          <p:spPr>
            <a:xfrm flipH="1" flipV="1">
              <a:off x="4828538" y="3865033"/>
              <a:ext cx="398459" cy="365592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cxnSpLocks/>
              <a:stCxn id="9" idx="4"/>
              <a:endCxn id="8" idx="4"/>
            </p:cNvCxnSpPr>
            <p:nvPr/>
          </p:nvCxnSpPr>
          <p:spPr>
            <a:xfrm>
              <a:off x="4122578" y="3993745"/>
              <a:ext cx="21632" cy="491467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cxnSpLocks/>
              <a:stCxn id="9" idx="3"/>
              <a:endCxn id="8" idx="3"/>
            </p:cNvCxnSpPr>
            <p:nvPr/>
          </p:nvCxnSpPr>
          <p:spPr>
            <a:xfrm flipH="1">
              <a:off x="3061422" y="3865033"/>
              <a:ext cx="355196" cy="365592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2744590" y="3429000"/>
              <a:ext cx="316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815032" y="2746146"/>
              <a:ext cx="705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124859" y="3465008"/>
              <a:ext cx="5506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M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53943" y="3482288"/>
              <a:ext cx="88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520992" y="4451413"/>
              <a:ext cx="88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299536" y="4451413"/>
              <a:ext cx="88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222166" y="3316683"/>
              <a:ext cx="88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777914" y="2339100"/>
              <a:ext cx="8823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99213" y="2077735"/>
            <a:ext cx="88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1237" y="2077735"/>
            <a:ext cx="88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25800" y="2117840"/>
            <a:ext cx="88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08116" y="2119541"/>
            <a:ext cx="88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5066" y="2091103"/>
            <a:ext cx="88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C51080-F845-D24A-AC0A-04498D25ABB0}"/>
              </a:ext>
            </a:extLst>
          </p:cNvPr>
          <p:cNvSpPr txBox="1"/>
          <p:nvPr/>
        </p:nvSpPr>
        <p:spPr>
          <a:xfrm>
            <a:off x="470825" y="2871120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 = 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24D506-50B3-3F4E-BEBB-46B29F4128AF}"/>
              </a:ext>
            </a:extLst>
          </p:cNvPr>
          <p:cNvSpPr txBox="1"/>
          <p:nvPr/>
        </p:nvSpPr>
        <p:spPr>
          <a:xfrm>
            <a:off x="2875679" y="2865809"/>
            <a:ext cx="1149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 = 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03E367-57C1-664A-9F6B-DED4FB92DBBD}"/>
              </a:ext>
            </a:extLst>
          </p:cNvPr>
          <p:cNvSpPr txBox="1"/>
          <p:nvPr/>
        </p:nvSpPr>
        <p:spPr>
          <a:xfrm>
            <a:off x="358544" y="4199117"/>
            <a:ext cx="84269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§"/>
            </a:pPr>
            <a:r>
              <a:rPr lang="en-US" sz="2800" err="1"/>
              <a:t>Khi</a:t>
            </a:r>
            <a:r>
              <a:rPr lang="en-US" sz="2800"/>
              <a:t> </a:t>
            </a:r>
            <a:r>
              <a:rPr lang="en-US" sz="2800" err="1"/>
              <a:t>bổ</a:t>
            </a:r>
            <a:r>
              <a:rPr lang="en-US" sz="2800"/>
              <a:t> sung </a:t>
            </a:r>
            <a:r>
              <a:rPr lang="en-US" sz="2800" err="1"/>
              <a:t>phần</a:t>
            </a:r>
            <a:r>
              <a:rPr lang="en-US" sz="2800"/>
              <a:t> </a:t>
            </a:r>
            <a:r>
              <a:rPr lang="en-US" sz="2800" err="1"/>
              <a:t>tử</a:t>
            </a:r>
            <a:r>
              <a:rPr lang="en-US" sz="2800"/>
              <a:t> </a:t>
            </a:r>
            <a:r>
              <a:rPr lang="en-US" sz="2800" err="1"/>
              <a:t>mới</a:t>
            </a:r>
            <a:r>
              <a:rPr lang="en-US" sz="2800"/>
              <a:t>: R = 6 -&gt; </a:t>
            </a:r>
            <a:r>
              <a:rPr lang="en-US" sz="2800" err="1"/>
              <a:t>tràn</a:t>
            </a:r>
            <a:r>
              <a:rPr lang="en-US" sz="2800"/>
              <a:t>, </a:t>
            </a:r>
            <a:r>
              <a:rPr lang="en-US" sz="2800" err="1"/>
              <a:t>trong</a:t>
            </a:r>
            <a:r>
              <a:rPr lang="en-US" sz="2800"/>
              <a:t> </a:t>
            </a:r>
            <a:r>
              <a:rPr lang="en-US" sz="2800" err="1"/>
              <a:t>khi</a:t>
            </a:r>
            <a:r>
              <a:rPr lang="en-US" sz="2800"/>
              <a:t> Q </a:t>
            </a:r>
            <a:r>
              <a:rPr lang="en-US" sz="2800" err="1"/>
              <a:t>vẫn</a:t>
            </a:r>
            <a:r>
              <a:rPr lang="en-US" sz="2800"/>
              <a:t> </a:t>
            </a:r>
            <a:r>
              <a:rPr lang="en-US" sz="2800" err="1"/>
              <a:t>còn</a:t>
            </a:r>
            <a:r>
              <a:rPr lang="en-US" sz="2800"/>
              <a:t> 3 </a:t>
            </a:r>
            <a:r>
              <a:rPr lang="en-US" sz="2800" err="1"/>
              <a:t>chỗ</a:t>
            </a:r>
            <a:r>
              <a:rPr lang="en-US" sz="2800"/>
              <a:t> </a:t>
            </a:r>
            <a:r>
              <a:rPr lang="en-US" sz="2800" err="1"/>
              <a:t>trống</a:t>
            </a:r>
            <a:endParaRPr lang="en-US" sz="2800"/>
          </a:p>
          <a:p>
            <a:pPr marL="285750" indent="-285750">
              <a:buFont typeface="Wingdings" pitchFamily="2" charset="2"/>
              <a:buChar char="§"/>
            </a:pPr>
            <a:r>
              <a:rPr lang="en-US" sz="2800"/>
              <a:t>Q </a:t>
            </a:r>
            <a:r>
              <a:rPr lang="en-US" sz="2800" err="1"/>
              <a:t>có</a:t>
            </a:r>
            <a:r>
              <a:rPr lang="en-US" sz="2800"/>
              <a:t> </a:t>
            </a:r>
            <a:r>
              <a:rPr lang="en-US" sz="2800" err="1"/>
              <a:t>cấu</a:t>
            </a:r>
            <a:r>
              <a:rPr lang="en-US" sz="2800"/>
              <a:t> </a:t>
            </a:r>
            <a:r>
              <a:rPr lang="en-US" sz="2800" err="1"/>
              <a:t>trúc</a:t>
            </a:r>
            <a:r>
              <a:rPr lang="en-US" sz="2800"/>
              <a:t> </a:t>
            </a:r>
            <a:r>
              <a:rPr lang="en-US" sz="2800" err="1"/>
              <a:t>tròn</a:t>
            </a:r>
            <a:r>
              <a:rPr lang="en-US" sz="2800"/>
              <a:t>, Q[1] </a:t>
            </a:r>
            <a:r>
              <a:rPr lang="en-US" sz="2800" err="1"/>
              <a:t>được</a:t>
            </a:r>
            <a:r>
              <a:rPr lang="en-US" sz="2800"/>
              <a:t> </a:t>
            </a:r>
            <a:r>
              <a:rPr lang="en-US" sz="2800" err="1"/>
              <a:t>coi</a:t>
            </a:r>
            <a:r>
              <a:rPr lang="en-US" sz="2800"/>
              <a:t> </a:t>
            </a:r>
            <a:r>
              <a:rPr lang="en-US" sz="2800" err="1"/>
              <a:t>như</a:t>
            </a:r>
            <a:r>
              <a:rPr lang="en-US" sz="2800"/>
              <a:t> </a:t>
            </a:r>
            <a:r>
              <a:rPr lang="en-US" sz="2800" err="1"/>
              <a:t>đứng</a:t>
            </a:r>
            <a:r>
              <a:rPr lang="en-US" sz="2800"/>
              <a:t> </a:t>
            </a:r>
            <a:r>
              <a:rPr lang="en-US" sz="2800" err="1"/>
              <a:t>sau</a:t>
            </a:r>
            <a:r>
              <a:rPr lang="en-US" sz="2800"/>
              <a:t> Q[5], </a:t>
            </a:r>
            <a:r>
              <a:rPr lang="en-US" sz="2800" err="1"/>
              <a:t>phần</a:t>
            </a:r>
            <a:r>
              <a:rPr lang="en-US" sz="2800"/>
              <a:t> </a:t>
            </a:r>
            <a:r>
              <a:rPr lang="en-US" sz="2800" err="1"/>
              <a:t>tử</a:t>
            </a:r>
            <a:r>
              <a:rPr lang="en-US" sz="2800"/>
              <a:t> </a:t>
            </a:r>
            <a:r>
              <a:rPr lang="en-US" sz="2800" err="1"/>
              <a:t>mới</a:t>
            </a:r>
            <a:r>
              <a:rPr lang="en-US" sz="2800"/>
              <a:t> </a:t>
            </a:r>
            <a:r>
              <a:rPr lang="en-US" sz="2800" err="1"/>
              <a:t>bổ</a:t>
            </a:r>
            <a:r>
              <a:rPr lang="en-US" sz="2800"/>
              <a:t> sung </a:t>
            </a:r>
            <a:r>
              <a:rPr lang="en-US" sz="2800" err="1"/>
              <a:t>vào</a:t>
            </a:r>
            <a:r>
              <a:rPr lang="en-US" sz="2800"/>
              <a:t> Q[1].</a:t>
            </a:r>
          </a:p>
        </p:txBody>
      </p:sp>
    </p:spTree>
    <p:extLst>
      <p:ext uri="{BB962C8B-B14F-4D97-AF65-F5344CB8AC3E}">
        <p14:creationId xmlns:p14="http://schemas.microsoft.com/office/powerpoint/2010/main" val="2672788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err="1"/>
              <a:t>Bổ</a:t>
            </a:r>
            <a:r>
              <a:rPr lang="en-US" sz="3600" b="1"/>
              <a:t> sung </a:t>
            </a:r>
            <a:r>
              <a:rPr lang="en-US" sz="3600" b="1" err="1"/>
              <a:t>phần</a:t>
            </a:r>
            <a:r>
              <a:rPr lang="en-US" sz="3600" b="1"/>
              <a:t> </a:t>
            </a:r>
            <a:r>
              <a:rPr lang="en-US" sz="3600" b="1" err="1"/>
              <a:t>tử</a:t>
            </a:r>
            <a:r>
              <a:rPr lang="en-US" sz="3600" b="1"/>
              <a:t> </a:t>
            </a:r>
            <a:r>
              <a:rPr lang="en-US" sz="3600" b="1" err="1"/>
              <a:t>trong</a:t>
            </a:r>
            <a:r>
              <a:rPr lang="en-US" sz="3600" b="1"/>
              <a:t> </a:t>
            </a:r>
            <a:r>
              <a:rPr lang="en-US" sz="3600" b="1" err="1"/>
              <a:t>hàng</a:t>
            </a:r>
            <a:r>
              <a:rPr lang="en-US" sz="3600" b="1"/>
              <a:t> </a:t>
            </a:r>
            <a:r>
              <a:rPr lang="en-US" sz="3600" b="1" err="1"/>
              <a:t>đợi</a:t>
            </a:r>
            <a:r>
              <a:rPr lang="en-US" sz="3600" b="1"/>
              <a:t> 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Procedure QINSERT(Q,F,R,X)</a:t>
            </a:r>
          </a:p>
          <a:p>
            <a:pPr marL="514350" indent="-514350">
              <a:buAutoNum type="arabicPeriod"/>
            </a:pPr>
            <a:r>
              <a:rPr lang="en-US"/>
              <a:t>If F = 1 and R = n or F = R+1</a:t>
            </a:r>
          </a:p>
          <a:p>
            <a:pPr marL="0" indent="0">
              <a:buNone/>
            </a:pPr>
            <a:r>
              <a:rPr lang="en-US"/>
              <a:t>Write : Queue </a:t>
            </a:r>
            <a:r>
              <a:rPr lang="en-US" err="1"/>
              <a:t>tràn</a:t>
            </a:r>
            <a:r>
              <a:rPr lang="en-US"/>
              <a:t> ;</a:t>
            </a:r>
          </a:p>
          <a:p>
            <a:pPr marL="0" indent="0">
              <a:buNone/>
            </a:pPr>
            <a:r>
              <a:rPr lang="en-US"/>
              <a:t>2. If F = 0 then F = R = 1;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\\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chuyển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con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trỏ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R</a:t>
            </a:r>
          </a:p>
          <a:p>
            <a:pPr marL="0" indent="0">
              <a:buNone/>
            </a:pPr>
            <a:r>
              <a:rPr lang="en-US"/>
              <a:t>Else if R=n then R = 1; R = R+1;</a:t>
            </a:r>
          </a:p>
          <a:p>
            <a:pPr marL="0" indent="0">
              <a:buNone/>
            </a:pPr>
            <a:r>
              <a:rPr lang="en-US"/>
              <a:t>3. Q[R] = X;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\\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bổ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xung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x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vào</a:t>
            </a:r>
            <a:endParaRPr lang="en-US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/>
              <a:t>4. Return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744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err="1"/>
              <a:t>Xóa</a:t>
            </a:r>
            <a:r>
              <a:rPr lang="en-US" sz="3600" b="1"/>
              <a:t> </a:t>
            </a:r>
            <a:r>
              <a:rPr lang="en-US" sz="3600" b="1" err="1"/>
              <a:t>phần</a:t>
            </a:r>
            <a:r>
              <a:rPr lang="en-US" sz="3600" b="1"/>
              <a:t> </a:t>
            </a:r>
            <a:r>
              <a:rPr lang="en-US" sz="3600" b="1" err="1"/>
              <a:t>tử</a:t>
            </a:r>
            <a:r>
              <a:rPr lang="en-US" sz="3600" b="1"/>
              <a:t> </a:t>
            </a:r>
            <a:r>
              <a:rPr lang="en-US" sz="3600" b="1" err="1"/>
              <a:t>trong</a:t>
            </a:r>
            <a:r>
              <a:rPr lang="en-US" sz="3600" b="1"/>
              <a:t> </a:t>
            </a:r>
            <a:r>
              <a:rPr lang="en-US" sz="3600" b="1" err="1"/>
              <a:t>hàng</a:t>
            </a:r>
            <a:r>
              <a:rPr lang="en-US" sz="3600" b="1"/>
              <a:t> </a:t>
            </a:r>
            <a:r>
              <a:rPr lang="en-US" sz="3600" b="1" err="1"/>
              <a:t>đợi</a:t>
            </a:r>
            <a:r>
              <a:rPr lang="en-US" sz="3600" b="1"/>
              <a:t> </a:t>
            </a:r>
            <a:endParaRPr lang="en-US" sz="360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Procedure QDEL(Q,F,R,Y)</a:t>
            </a:r>
          </a:p>
          <a:p>
            <a:pPr marL="514350" indent="-514350">
              <a:buAutoNum type="arabicPeriod"/>
            </a:pPr>
            <a:r>
              <a:rPr lang="en-US"/>
              <a:t>If F = 0 Write : Queue </a:t>
            </a:r>
            <a:r>
              <a:rPr lang="en-US" err="1"/>
              <a:t>cạn</a:t>
            </a:r>
            <a:r>
              <a:rPr lang="en-US"/>
              <a:t>;</a:t>
            </a:r>
          </a:p>
          <a:p>
            <a:pPr marL="0" indent="0">
              <a:buNone/>
            </a:pPr>
            <a:r>
              <a:rPr lang="en-US"/>
              <a:t>2. Y = Q[F];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lưu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phần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tử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bị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loại</a:t>
            </a:r>
            <a:endParaRPr lang="en-US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/>
              <a:t>3. If F = R then F = R = 0; 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//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chuyển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con </a:t>
            </a:r>
            <a:r>
              <a:rPr lang="en-US" err="1">
                <a:solidFill>
                  <a:schemeClr val="bg1">
                    <a:lumMod val="75000"/>
                  </a:schemeClr>
                </a:solidFill>
              </a:rPr>
              <a:t>trỏ</a:t>
            </a:r>
            <a:r>
              <a:rPr lang="en-US">
                <a:solidFill>
                  <a:schemeClr val="bg1">
                    <a:lumMod val="75000"/>
                  </a:schemeClr>
                </a:solidFill>
              </a:rPr>
              <a:t> F</a:t>
            </a:r>
          </a:p>
          <a:p>
            <a:pPr marL="0" indent="0">
              <a:buNone/>
            </a:pPr>
            <a:r>
              <a:rPr lang="en-US"/>
              <a:t>Else if F = n then F =1; else F = F +1;</a:t>
            </a:r>
          </a:p>
          <a:p>
            <a:pPr marL="0" indent="0">
              <a:buNone/>
            </a:pPr>
            <a:r>
              <a:rPr lang="en-US"/>
              <a:t>4. Return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942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C6681-E7C9-F2CF-8DF4-2E541263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E1ACD-57E2-5DC3-6D9E-92FD9D28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06110-0369-D7EC-0EAF-5A91E7874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89D929-774C-8657-E471-EB7ACF2A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>
                <a:latin typeface="Calibri" panose="020F0502020204030204" pitchFamily="34" charset="0"/>
                <a:cs typeface="Calibri" panose="020F0502020204030204" pitchFamily="34" charset="0"/>
              </a:rPr>
              <a:t>Ví dụ </a:t>
            </a: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B7AAA-6706-0D78-6CB9-6739DFC76A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54997-A5C2-8AE4-F051-0BCA89350D84}"/>
              </a:ext>
            </a:extLst>
          </p:cNvPr>
          <p:cNvSpPr txBox="1"/>
          <p:nvPr/>
        </p:nvSpPr>
        <p:spPr>
          <a:xfrm>
            <a:off x="1066800" y="1997839"/>
            <a:ext cx="7505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for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lang="en-US" sz="1800" b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int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= 0; 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&lt; 10; 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++) {</a:t>
            </a:r>
          </a:p>
          <a:p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lang="en-US" sz="1800" b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(A[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] &lt; A[0] &amp;&amp; A[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] % 2 == 0) {</a:t>
            </a:r>
          </a:p>
          <a:p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lang="en-US" sz="1800" b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(!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queue_is_empty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()) dequeue();</a:t>
            </a:r>
          </a:p>
          <a:p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   } </a:t>
            </a:r>
            <a:r>
              <a:rPr lang="en-US" sz="1800" b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lang="en-US" sz="1800" b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(!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queue_is_full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()) 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endqueue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(A[</a:t>
            </a:r>
            <a:r>
              <a:rPr lang="en-US" sz="1800" err="1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]);</a:t>
            </a:r>
          </a:p>
          <a:p>
            <a:r>
              <a:rPr lang="en-US" sz="1800" baseline="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r>
              <a:rPr lang="en-US" sz="1800">
                <a:solidFill>
                  <a:schemeClr val="dk1"/>
                </a:solidFill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41A7647-118D-D154-6979-C855A4AC9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86531"/>
              </p:ext>
            </p:extLst>
          </p:nvPr>
        </p:nvGraphicFramePr>
        <p:xfrm>
          <a:off x="457200" y="1488704"/>
          <a:ext cx="8229600" cy="2743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71532056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261352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67366302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1046244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127249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9762434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04233502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89676575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931967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399495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73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89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96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99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60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55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52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66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67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effectLst/>
                          <a:latin typeface="Helvetica" pitchFamily="2" charset="0"/>
                        </a:rPr>
                        <a:t>79</a:t>
                      </a:r>
                    </a:p>
                  </a:txBody>
                  <a:tcPr marL="47625" marR="47625" marT="0" marB="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08593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601E7A64-7375-EA89-ADDE-49D795B65F5C}"/>
              </a:ext>
            </a:extLst>
          </p:cNvPr>
          <p:cNvSpPr txBox="1"/>
          <p:nvPr/>
        </p:nvSpPr>
        <p:spPr>
          <a:xfrm>
            <a:off x="749300" y="4269427"/>
            <a:ext cx="7937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/>
              <a:t>Điền trạng thái của queue lưu trữ bằng mảng vòng sau khi chạy đoạn thuật toán trên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48882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25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Lưu</a:t>
            </a:r>
            <a:r>
              <a:rPr lang="en-US" b="1"/>
              <a:t> </a:t>
            </a:r>
            <a:r>
              <a:rPr lang="en-US" b="1" err="1"/>
              <a:t>trữ</a:t>
            </a:r>
            <a:r>
              <a:rPr lang="en-US" b="1"/>
              <a:t> </a:t>
            </a:r>
            <a:r>
              <a:rPr lang="en-US" b="1" err="1"/>
              <a:t>móc</a:t>
            </a:r>
            <a:r>
              <a:rPr lang="en-US" b="1"/>
              <a:t> </a:t>
            </a:r>
            <a:r>
              <a:rPr lang="en-US" b="1" err="1"/>
              <a:t>nối</a:t>
            </a:r>
            <a:r>
              <a:rPr lang="en-US" b="1"/>
              <a:t> </a:t>
            </a:r>
            <a:r>
              <a:rPr lang="en-US" b="1" err="1"/>
              <a:t>với</a:t>
            </a:r>
            <a:r>
              <a:rPr lang="en-US" b="1"/>
              <a:t> Stack </a:t>
            </a:r>
            <a:r>
              <a:rPr lang="en-US" b="1" err="1"/>
              <a:t>và</a:t>
            </a:r>
            <a:r>
              <a:rPr lang="en-US" b="1"/>
              <a:t>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Stack </a:t>
            </a:r>
            <a:r>
              <a:rPr lang="en-US" err="1"/>
              <a:t>chỉ</a:t>
            </a:r>
            <a:r>
              <a:rPr lang="en-US"/>
              <a:t> </a:t>
            </a:r>
            <a:r>
              <a:rPr lang="en-US" err="1"/>
              <a:t>truy</a:t>
            </a:r>
            <a:r>
              <a:rPr lang="en-US"/>
              <a:t> </a:t>
            </a:r>
            <a:r>
              <a:rPr lang="en-US" err="1"/>
              <a:t>cập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(</a:t>
            </a:r>
            <a:r>
              <a:rPr lang="en-US" err="1"/>
              <a:t>đỉnh</a:t>
            </a:r>
            <a:r>
              <a:rPr lang="en-US"/>
              <a:t>)</a:t>
            </a:r>
          </a:p>
          <a:p>
            <a:pPr lvl="1"/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/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stack </a:t>
            </a:r>
            <a:r>
              <a:rPr lang="en-US" err="1"/>
              <a:t>chính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việc</a:t>
            </a:r>
            <a:r>
              <a:rPr lang="en-US"/>
              <a:t> </a:t>
            </a:r>
            <a:r>
              <a:rPr lang="en-US" err="1"/>
              <a:t>thêm</a:t>
            </a:r>
            <a:r>
              <a:rPr lang="en-US"/>
              <a:t>/ </a:t>
            </a:r>
            <a:r>
              <a:rPr lang="en-US" err="1"/>
              <a:t>loại</a:t>
            </a:r>
            <a:r>
              <a:rPr lang="en-US"/>
              <a:t> </a:t>
            </a:r>
            <a:r>
              <a:rPr lang="en-US" err="1"/>
              <a:t>bỏ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tiên</a:t>
            </a:r>
            <a:r>
              <a:rPr lang="en-US"/>
              <a:t> </a:t>
            </a:r>
            <a:r>
              <a:rPr lang="en-US" err="1"/>
              <a:t>trong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đơn</a:t>
            </a:r>
            <a:endParaRPr lang="en-US"/>
          </a:p>
          <a:p>
            <a:r>
              <a:rPr lang="en-US"/>
              <a:t>Queue </a:t>
            </a:r>
            <a:r>
              <a:rPr lang="en-US" err="1"/>
              <a:t>vào</a:t>
            </a:r>
            <a:r>
              <a:rPr lang="en-US"/>
              <a:t>/</a:t>
            </a:r>
            <a:r>
              <a:rPr lang="en-US" err="1"/>
              <a:t>ra</a:t>
            </a:r>
            <a:r>
              <a:rPr lang="en-US"/>
              <a:t> </a:t>
            </a:r>
            <a:r>
              <a:rPr lang="en-US" err="1"/>
              <a:t>ở</a:t>
            </a:r>
            <a:r>
              <a:rPr lang="en-US"/>
              <a:t> </a:t>
            </a:r>
            <a:r>
              <a:rPr lang="en-US" err="1"/>
              <a:t>hai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</a:t>
            </a:r>
            <a:r>
              <a:rPr lang="en-US" err="1"/>
              <a:t>khác</a:t>
            </a:r>
            <a:r>
              <a:rPr lang="en-US"/>
              <a:t> </a:t>
            </a:r>
            <a:r>
              <a:rPr lang="en-US" err="1"/>
              <a:t>nhau</a:t>
            </a:r>
            <a:r>
              <a:rPr lang="en-US"/>
              <a:t> </a:t>
            </a:r>
          </a:p>
          <a:p>
            <a:pPr lvl="1"/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 </a:t>
            </a:r>
            <a:r>
              <a:rPr lang="en-US" err="1"/>
              <a:t>đợi</a:t>
            </a:r>
            <a:r>
              <a:rPr lang="en-US"/>
              <a:t> </a:t>
            </a:r>
            <a:r>
              <a:rPr lang="en-US" err="1"/>
              <a:t>chính</a:t>
            </a:r>
            <a:r>
              <a:rPr lang="en-US"/>
              <a:t> </a:t>
            </a:r>
            <a:r>
              <a:rPr lang="en-US" err="1"/>
              <a:t>là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bổ</a:t>
            </a:r>
            <a:r>
              <a:rPr lang="en-US"/>
              <a:t> sung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mới</a:t>
            </a:r>
            <a:r>
              <a:rPr lang="en-US"/>
              <a:t> </a:t>
            </a:r>
            <a:r>
              <a:rPr lang="en-US" err="1"/>
              <a:t>thành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  <a:r>
              <a:rPr lang="en-US" err="1"/>
              <a:t>đơn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480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9B829-0FCB-40F5-BF1B-051309EB5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737FF-11D4-4D56-A355-6B39229E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78D8F-F5A1-4306-AEC3-BBA9BDA68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31D2DF-F7CD-4242-94CD-0A1A3C31A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Stack/Queue </a:t>
            </a:r>
            <a:r>
              <a:rPr lang="en-US" err="1"/>
              <a:t>theo</a:t>
            </a:r>
            <a:r>
              <a:rPr lang="en-US"/>
              <a:t>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danh</a:t>
            </a:r>
            <a:r>
              <a:rPr lang="en-US"/>
              <a:t> </a:t>
            </a:r>
            <a:r>
              <a:rPr lang="en-US" err="1"/>
              <a:t>sách</a:t>
            </a:r>
            <a:r>
              <a:rPr lang="en-US"/>
              <a:t> </a:t>
            </a:r>
            <a:r>
              <a:rPr lang="en-US" err="1"/>
              <a:t>liên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219152-869B-4DE7-B573-192EAF66DA4D}"/>
              </a:ext>
            </a:extLst>
          </p:cNvPr>
          <p:cNvSpPr txBox="1"/>
          <p:nvPr/>
        </p:nvSpPr>
        <p:spPr>
          <a:xfrm>
            <a:off x="496956" y="1008648"/>
            <a:ext cx="6193499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NodeSK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data; 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Giả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sử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stack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chứa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các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số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nguyên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NodeSK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link;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NodeSK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top;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Khởi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tạo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stack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Init(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-&gt;top 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Kiểm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tra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stack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rỗng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 Empty(</a:t>
            </a:r>
            <a:r>
              <a:rPr lang="en-US" sz="1800">
                <a:solidFill>
                  <a:srgbClr val="2B91AF"/>
                </a:solidFill>
                <a:latin typeface="Consolas" panose="020B0609020204030204" pitchFamily="49" charset="0"/>
              </a:rPr>
              <a:t>stack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80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? 1 : 0; 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 stack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rỗng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7125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27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Thêm</a:t>
            </a:r>
            <a:r>
              <a:rPr lang="en-US" b="1"/>
              <a:t>/</a:t>
            </a:r>
            <a:r>
              <a:rPr lang="en-US" b="1" err="1"/>
              <a:t>loại</a:t>
            </a:r>
            <a:r>
              <a:rPr lang="en-US" b="1"/>
              <a:t> </a:t>
            </a:r>
            <a:r>
              <a:rPr lang="en-US" b="1" err="1"/>
              <a:t>bỏ</a:t>
            </a:r>
            <a:r>
              <a:rPr lang="en-US" b="1"/>
              <a:t> </a:t>
            </a:r>
            <a:r>
              <a:rPr lang="en-US" b="1" err="1"/>
              <a:t>nút</a:t>
            </a:r>
            <a:r>
              <a:rPr lang="en-US" b="1"/>
              <a:t> </a:t>
            </a:r>
            <a:r>
              <a:rPr lang="en-US" b="1" err="1"/>
              <a:t>mới</a:t>
            </a:r>
            <a:r>
              <a:rPr lang="en-US" b="1"/>
              <a:t> </a:t>
            </a:r>
            <a:r>
              <a:rPr lang="en-US" b="1" err="1"/>
              <a:t>vào</a:t>
            </a:r>
            <a:r>
              <a:rPr lang="en-US" b="1"/>
              <a:t> </a:t>
            </a:r>
            <a:r>
              <a:rPr lang="en-US" b="1" err="1"/>
              <a:t>đỉnh</a:t>
            </a:r>
            <a:r>
              <a:rPr lang="en-US" b="1"/>
              <a:t> stack </a:t>
            </a:r>
            <a:r>
              <a:rPr lang="en-US" b="1" err="1"/>
              <a:t>móc</a:t>
            </a:r>
            <a:r>
              <a:rPr lang="en-US" b="1"/>
              <a:t> </a:t>
            </a:r>
            <a:r>
              <a:rPr lang="en-US" b="1" err="1"/>
              <a:t>nối</a:t>
            </a:r>
            <a:r>
              <a:rPr lang="en-US" b="1"/>
              <a:t> 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Procedure </a:t>
            </a:r>
            <a:r>
              <a:rPr lang="en-US" b="1" err="1"/>
              <a:t>Push_stack</a:t>
            </a:r>
            <a:r>
              <a:rPr lang="en-US" b="1"/>
              <a:t>(L,X)</a:t>
            </a:r>
          </a:p>
          <a:p>
            <a:pPr marL="514350" indent="-514350">
              <a:buAutoNum type="arabicPeriod"/>
            </a:pPr>
            <a:r>
              <a:rPr lang="en-US"/>
              <a:t>Call new(p); Info(p) = X;</a:t>
            </a:r>
          </a:p>
          <a:p>
            <a:pPr marL="514350" indent="-514350">
              <a:buAutoNum type="arabicPeriod"/>
            </a:pPr>
            <a:r>
              <a:rPr lang="en-US"/>
              <a:t>Link(p) =  L; L = p;</a:t>
            </a:r>
          </a:p>
          <a:p>
            <a:pPr marL="514350" indent="-514350">
              <a:buAutoNum type="arabicPeriod"/>
            </a:pPr>
            <a:r>
              <a:rPr lang="en-US"/>
              <a:t>Return </a:t>
            </a:r>
          </a:p>
          <a:p>
            <a:pPr marL="514350" indent="-514350">
              <a:buAutoNum type="arabicPeriod"/>
            </a:pP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4294967295"/>
          </p:nvPr>
        </p:nvSpPr>
        <p:spPr>
          <a:xfrm>
            <a:off x="4886183" y="841247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Procedure </a:t>
            </a:r>
            <a:r>
              <a:rPr lang="en-US" b="1" err="1"/>
              <a:t>Pop_stack</a:t>
            </a:r>
            <a:r>
              <a:rPr lang="en-US" b="1"/>
              <a:t>(L,Y)</a:t>
            </a:r>
          </a:p>
          <a:p>
            <a:pPr marL="514350" indent="-514350">
              <a:buAutoNum type="arabicPeriod"/>
            </a:pPr>
            <a:r>
              <a:rPr lang="en-US"/>
              <a:t>If L = null Write stack </a:t>
            </a:r>
            <a:r>
              <a:rPr lang="en-US" err="1"/>
              <a:t>rỗng</a:t>
            </a:r>
            <a:r>
              <a:rPr lang="en-US"/>
              <a:t>; </a:t>
            </a:r>
          </a:p>
          <a:p>
            <a:pPr marL="514350" indent="-514350">
              <a:buAutoNum type="arabicPeriod"/>
            </a:pPr>
            <a:r>
              <a:rPr lang="en-US"/>
              <a:t>Y = Info(T) ;</a:t>
            </a:r>
          </a:p>
          <a:p>
            <a:pPr marL="514350" indent="-514350">
              <a:buAutoNum type="arabicPeriod"/>
            </a:pPr>
            <a:r>
              <a:rPr lang="en-US"/>
              <a:t>T = L;  L = Link(L); </a:t>
            </a:r>
          </a:p>
          <a:p>
            <a:pPr marL="514350" indent="-514350">
              <a:buAutoNum type="arabicPeriod"/>
            </a:pPr>
            <a:r>
              <a:rPr lang="en-US"/>
              <a:t>Call dispose(T); </a:t>
            </a:r>
          </a:p>
          <a:p>
            <a:pPr marL="514350" indent="-514350">
              <a:buAutoNum type="arabicPeriod"/>
            </a:pPr>
            <a:r>
              <a:rPr lang="en-US"/>
              <a:t>Return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32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7D02E-7838-4E9E-9A4B-9F854809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D684D-A49E-4950-AB99-13B07493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553B2-F86C-46B7-BDFF-408EFBFF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28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933F511-A74E-85A4-0FA4-E106D1B7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err="1"/>
              <a:t>Thêm</a:t>
            </a:r>
            <a:r>
              <a:rPr lang="en-US" b="1"/>
              <a:t>/</a:t>
            </a:r>
            <a:r>
              <a:rPr lang="en-US" b="1" err="1"/>
              <a:t>loại</a:t>
            </a:r>
            <a:r>
              <a:rPr lang="en-US" b="1"/>
              <a:t> </a:t>
            </a:r>
            <a:r>
              <a:rPr lang="en-US" b="1" err="1"/>
              <a:t>bỏ</a:t>
            </a:r>
            <a:r>
              <a:rPr lang="en-US" b="1"/>
              <a:t> </a:t>
            </a:r>
            <a:r>
              <a:rPr lang="en-US" b="1" err="1"/>
              <a:t>nút</a:t>
            </a:r>
            <a:r>
              <a:rPr lang="en-US" b="1"/>
              <a:t> </a:t>
            </a:r>
            <a:r>
              <a:rPr lang="en-US" b="1" err="1"/>
              <a:t>mới</a:t>
            </a:r>
            <a:r>
              <a:rPr lang="en-US" b="1"/>
              <a:t> </a:t>
            </a:r>
            <a:r>
              <a:rPr lang="en-US" b="1" err="1"/>
              <a:t>vào</a:t>
            </a:r>
            <a:r>
              <a:rPr lang="en-US" b="1"/>
              <a:t> </a:t>
            </a:r>
            <a:r>
              <a:rPr lang="en-US" b="1" err="1"/>
              <a:t>đỉnh</a:t>
            </a:r>
            <a:r>
              <a:rPr lang="en-US" b="1"/>
              <a:t> stack </a:t>
            </a:r>
            <a:r>
              <a:rPr lang="en-US" b="1" err="1"/>
              <a:t>móc</a:t>
            </a:r>
            <a:r>
              <a:rPr lang="en-US" b="1"/>
              <a:t> </a:t>
            </a:r>
            <a:r>
              <a:rPr lang="en-US" b="1" err="1"/>
              <a:t>nối</a:t>
            </a:r>
            <a:r>
              <a:rPr lang="en-US" b="1"/>
              <a:t> 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814E08-43A7-4CD0-9B52-BB0686883E8E}"/>
              </a:ext>
            </a:extLst>
          </p:cNvPr>
          <p:cNvSpPr txBox="1"/>
          <p:nvPr/>
        </p:nvSpPr>
        <p:spPr>
          <a:xfrm>
            <a:off x="4072205" y="3152243"/>
            <a:ext cx="4753744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Trích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thông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tin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và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huỷ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phần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tử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ở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đỉnh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stack 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PopT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stackT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(!Empty(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lvl="2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 err="1">
                <a:solidFill>
                  <a:srgbClr val="2B91AF"/>
                </a:solidFill>
                <a:latin typeface="Consolas" panose="020B0609020204030204" pitchFamily="49" charset="0"/>
              </a:rPr>
              <a:t>NodeSK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 p = </a:t>
            </a:r>
            <a:r>
              <a:rPr lang="en-US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3"/>
            <a:r>
              <a:rPr lang="en-US" err="1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err="1">
                <a:solidFill>
                  <a:srgbClr val="000000"/>
                </a:solidFill>
                <a:latin typeface="Consolas" panose="020B0609020204030204" pitchFamily="49" charset="0"/>
              </a:rPr>
              <a:t>.top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= p-&gt;link;</a:t>
            </a:r>
          </a:p>
          <a:p>
            <a:pPr lvl="3"/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(p);</a:t>
            </a:r>
          </a:p>
          <a:p>
            <a:pPr lvl="3"/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p-&gt;data;</a:t>
            </a:r>
          </a:p>
          <a:p>
            <a:pPr lvl="2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5602B-0582-427B-9378-63814C298580}"/>
              </a:ext>
            </a:extLst>
          </p:cNvPr>
          <p:cNvSpPr txBox="1"/>
          <p:nvPr/>
        </p:nvSpPr>
        <p:spPr>
          <a:xfrm>
            <a:off x="235077" y="934317"/>
            <a:ext cx="4475450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Thêm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một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phần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tử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 x </a:t>
            </a:r>
            <a:r>
              <a:rPr lang="en-US" sz="1800" err="1">
                <a:solidFill>
                  <a:srgbClr val="008000"/>
                </a:solidFill>
                <a:latin typeface="Consolas" panose="020B0609020204030204" pitchFamily="49" charset="0"/>
              </a:rPr>
              <a:t>vào</a:t>
            </a:r>
            <a:r>
              <a:rPr lang="en-US" sz="1800">
                <a:solidFill>
                  <a:srgbClr val="008000"/>
                </a:solidFill>
                <a:latin typeface="Consolas" panose="020B0609020204030204" pitchFamily="49" charset="0"/>
              </a:rPr>
              <a:t> stack S</a:t>
            </a:r>
            <a:endParaRPr lang="en-US" sz="18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Consolas" panose="020B0609020204030204" pitchFamily="49" charset="0"/>
              </a:rPr>
              <a:t>PushT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err="1">
                <a:solidFill>
                  <a:srgbClr val="2B91AF"/>
                </a:solidFill>
                <a:latin typeface="Consolas" panose="020B0609020204030204" pitchFamily="49" charset="0"/>
              </a:rPr>
              <a:t>stackT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80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err="1">
                <a:solidFill>
                  <a:srgbClr val="2B91AF"/>
                </a:solidFill>
                <a:latin typeface="Consolas" panose="020B0609020204030204" pitchFamily="49" charset="0"/>
              </a:rPr>
              <a:t>NodeSK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* p;</a:t>
            </a:r>
          </a:p>
          <a:p>
            <a:pPr lvl="1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p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err="1">
                <a:solidFill>
                  <a:srgbClr val="2B91AF"/>
                </a:solidFill>
                <a:latin typeface="Consolas" panose="020B0609020204030204" pitchFamily="49" charset="0"/>
              </a:rPr>
              <a:t>NodeSK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 (p != </a:t>
            </a:r>
            <a:r>
              <a:rPr lang="en-US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3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p-&gt;data = 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x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3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p-&gt;link = </a:t>
            </a:r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-&gt;top;</a:t>
            </a:r>
          </a:p>
          <a:p>
            <a:pPr lvl="3"/>
            <a:r>
              <a:rPr lang="en-US">
                <a:solidFill>
                  <a:srgbClr val="808080"/>
                </a:solidFill>
                <a:latin typeface="Consolas" panose="020B0609020204030204" pitchFamily="49" charset="0"/>
              </a:rPr>
              <a:t>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-&gt;top = p;</a:t>
            </a:r>
          </a:p>
          <a:p>
            <a:pPr lvl="2"/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4744702-4556-4BEC-AB5A-4BE7C149F5DF}"/>
                  </a:ext>
                </a:extLst>
              </p14:cNvPr>
              <p14:cNvContentPartPr/>
              <p14:nvPr/>
            </p14:nvContentPartPr>
            <p14:xfrm>
              <a:off x="3227400" y="4354200"/>
              <a:ext cx="18720" cy="5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4744702-4556-4BEC-AB5A-4BE7C149F5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18040" y="4344840"/>
                <a:ext cx="37440" cy="2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3332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29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err="1"/>
              <a:t>Thêm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vào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 </a:t>
            </a:r>
            <a:r>
              <a:rPr lang="en-US" err="1"/>
              <a:t>đợi</a:t>
            </a:r>
            <a:r>
              <a:rPr lang="en-US"/>
              <a:t> </a:t>
            </a:r>
            <a:r>
              <a:rPr lang="en-US" err="1"/>
              <a:t>móc</a:t>
            </a:r>
            <a:r>
              <a:rPr lang="en-US"/>
              <a:t> </a:t>
            </a:r>
            <a:r>
              <a:rPr lang="en-US" err="1"/>
              <a:t>nối</a:t>
            </a:r>
            <a:r>
              <a:rPr lang="en-US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3187414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Procedure </a:t>
            </a:r>
            <a:r>
              <a:rPr lang="en-US" b="1" err="1"/>
              <a:t>Insert_queue</a:t>
            </a:r>
            <a:r>
              <a:rPr lang="en-US" b="1"/>
              <a:t> (L,R,X)</a:t>
            </a:r>
          </a:p>
          <a:p>
            <a:pPr marL="514350" indent="-514350">
              <a:buAutoNum type="arabicPeriod"/>
            </a:pPr>
            <a:r>
              <a:rPr lang="en-US"/>
              <a:t>Call new(p); Info(p) = X; Link(p) = null // </a:t>
            </a:r>
            <a:r>
              <a:rPr lang="en-US" err="1"/>
              <a:t>tạo</a:t>
            </a:r>
            <a:r>
              <a:rPr lang="en-US"/>
              <a:t> </a:t>
            </a:r>
            <a:r>
              <a:rPr lang="en-US" err="1"/>
              <a:t>nút</a:t>
            </a:r>
            <a:r>
              <a:rPr lang="en-US"/>
              <a:t> </a:t>
            </a:r>
            <a:r>
              <a:rPr lang="en-US" err="1"/>
              <a:t>mới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If F = null and R = null then F = R = p;</a:t>
            </a:r>
          </a:p>
          <a:p>
            <a:pPr marL="514350" indent="-514350">
              <a:buAutoNum type="arabicPeriod"/>
            </a:pPr>
            <a:r>
              <a:rPr lang="en-US"/>
              <a:t>Link(R) = p; R = p;</a:t>
            </a:r>
          </a:p>
          <a:p>
            <a:pPr marL="514350" indent="-514350">
              <a:buAutoNum type="arabicPeriod"/>
            </a:pPr>
            <a:r>
              <a:rPr lang="en-US"/>
              <a:t>Return </a:t>
            </a:r>
          </a:p>
          <a:p>
            <a:pPr marL="514350" indent="-514350">
              <a:buAutoNum type="arabicPeriod"/>
            </a:pPr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96CB8CB-25D3-7346-9C64-8D2984414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597455"/>
              </p:ext>
            </p:extLst>
          </p:nvPr>
        </p:nvGraphicFramePr>
        <p:xfrm>
          <a:off x="1652605" y="4339559"/>
          <a:ext cx="636481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B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0C13C85-30AA-674D-9FAD-3413BB65E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547722"/>
              </p:ext>
            </p:extLst>
          </p:nvPr>
        </p:nvGraphicFramePr>
        <p:xfrm>
          <a:off x="2896624" y="4339559"/>
          <a:ext cx="554613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C072F3F-14B5-7947-802F-BCF43C792F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505769"/>
              </p:ext>
            </p:extLst>
          </p:nvPr>
        </p:nvGraphicFramePr>
        <p:xfrm>
          <a:off x="3937581" y="4339558"/>
          <a:ext cx="54597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C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91A6192-30BB-BA4C-A93B-D85F5E40F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217800"/>
              </p:ext>
            </p:extLst>
          </p:nvPr>
        </p:nvGraphicFramePr>
        <p:xfrm>
          <a:off x="6121912" y="4339559"/>
          <a:ext cx="704272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0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448E3D-AA21-3B40-AC18-A56B05EFDA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4449058"/>
              </p:ext>
            </p:extLst>
          </p:nvPr>
        </p:nvGraphicFramePr>
        <p:xfrm>
          <a:off x="4975097" y="4339559"/>
          <a:ext cx="63648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2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O  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0D75C7-39BC-7247-97CF-7852243F376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289086" y="4524979"/>
            <a:ext cx="607538" cy="0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CBDEC4-B5DC-9547-8203-A11102C1AF88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3451237" y="4524978"/>
            <a:ext cx="486344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AF839B-4D85-AC48-9DC7-60427AEE9131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4483556" y="4524978"/>
            <a:ext cx="491541" cy="1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0C2CD5-E035-574B-BA8A-675DA8CF49AF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5611577" y="4524979"/>
            <a:ext cx="510335" cy="0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B6F427-F791-B24F-B384-7C72204E845B}"/>
              </a:ext>
            </a:extLst>
          </p:cNvPr>
          <p:cNvCxnSpPr/>
          <p:nvPr/>
        </p:nvCxnSpPr>
        <p:spPr>
          <a:xfrm flipV="1">
            <a:off x="6474048" y="4710398"/>
            <a:ext cx="0" cy="448269"/>
          </a:xfrm>
          <a:prstGeom prst="line">
            <a:avLst/>
          </a:prstGeom>
          <a:ln>
            <a:solidFill>
              <a:srgbClr val="000000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FE01988-D6E1-5148-8CB8-10F5A371BE3A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1970845" y="4710399"/>
            <a:ext cx="0" cy="388483"/>
          </a:xfrm>
          <a:prstGeom prst="straightConnector1">
            <a:avLst/>
          </a:prstGeom>
          <a:ln>
            <a:solidFill>
              <a:schemeClr val="tx1"/>
            </a:solidFill>
            <a:headEnd type="oval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6C15D5-B8B5-A542-85F8-947442A90685}"/>
              </a:ext>
            </a:extLst>
          </p:cNvPr>
          <p:cNvSpPr txBox="1"/>
          <p:nvPr/>
        </p:nvSpPr>
        <p:spPr>
          <a:xfrm>
            <a:off x="1791433" y="5144403"/>
            <a:ext cx="44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31BF1F-D7BD-7F4F-A44B-D183C9568CFC}"/>
              </a:ext>
            </a:extLst>
          </p:cNvPr>
          <p:cNvSpPr txBox="1"/>
          <p:nvPr/>
        </p:nvSpPr>
        <p:spPr>
          <a:xfrm>
            <a:off x="6325624" y="5173215"/>
            <a:ext cx="649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638952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30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err="1"/>
              <a:t>Câu</a:t>
            </a:r>
            <a:r>
              <a:rPr lang="en-US"/>
              <a:t> 1: Cho </a:t>
            </a:r>
            <a:r>
              <a:rPr lang="en-US" err="1"/>
              <a:t>một</a:t>
            </a:r>
            <a:r>
              <a:rPr lang="en-US"/>
              <a:t> stack </a:t>
            </a:r>
            <a:r>
              <a:rPr lang="en-US" err="1"/>
              <a:t>được</a:t>
            </a:r>
            <a:r>
              <a:rPr lang="en-US"/>
              <a:t> </a:t>
            </a:r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</a:t>
            </a:r>
            <a:r>
              <a:rPr lang="en-US" err="1"/>
              <a:t>một</a:t>
            </a:r>
            <a:r>
              <a:rPr lang="en-US"/>
              <a:t> vector S </a:t>
            </a:r>
            <a:r>
              <a:rPr lang="en-US" err="1"/>
              <a:t>có</a:t>
            </a:r>
            <a:r>
              <a:rPr lang="en-US"/>
              <a:t> n = 6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và</a:t>
            </a:r>
            <a:r>
              <a:rPr lang="en-US"/>
              <a:t> </a:t>
            </a:r>
            <a:r>
              <a:rPr lang="en-US" err="1"/>
              <a:t>có</a:t>
            </a:r>
            <a:r>
              <a:rPr lang="en-US"/>
              <a:t> con </a:t>
            </a:r>
            <a:r>
              <a:rPr lang="en-US" err="1"/>
              <a:t>trỏ</a:t>
            </a:r>
            <a:r>
              <a:rPr lang="en-US"/>
              <a:t> T </a:t>
            </a:r>
            <a:r>
              <a:rPr lang="en-US" err="1"/>
              <a:t>tới</a:t>
            </a:r>
            <a:r>
              <a:rPr lang="en-US"/>
              <a:t> </a:t>
            </a:r>
            <a:r>
              <a:rPr lang="en-US" err="1"/>
              <a:t>đỉnh</a:t>
            </a:r>
            <a:r>
              <a:rPr lang="en-US"/>
              <a:t>. </a:t>
            </a:r>
            <a:r>
              <a:rPr lang="en-US" err="1"/>
              <a:t>Thoạt</a:t>
            </a:r>
            <a:r>
              <a:rPr lang="en-US"/>
              <a:t> </a:t>
            </a:r>
            <a:r>
              <a:rPr lang="en-US" err="1"/>
              <a:t>đầu</a:t>
            </a:r>
            <a:r>
              <a:rPr lang="en-US"/>
              <a:t> stack </a:t>
            </a:r>
            <a:r>
              <a:rPr lang="en-US" err="1"/>
              <a:t>rỗng</a:t>
            </a:r>
            <a:r>
              <a:rPr lang="en-US"/>
              <a:t> T = 0. </a:t>
            </a:r>
            <a:r>
              <a:rPr lang="en-US" err="1"/>
              <a:t>Hãy</a:t>
            </a:r>
            <a:r>
              <a:rPr lang="en-US"/>
              <a:t> </a:t>
            </a:r>
            <a:r>
              <a:rPr lang="en-US" err="1"/>
              <a:t>xác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kết</a:t>
            </a:r>
            <a:r>
              <a:rPr lang="en-US"/>
              <a:t> </a:t>
            </a:r>
            <a:r>
              <a:rPr lang="en-US" err="1"/>
              <a:t>quả</a:t>
            </a:r>
            <a:r>
              <a:rPr lang="en-US"/>
              <a:t> </a:t>
            </a:r>
            <a:r>
              <a:rPr lang="en-US" err="1"/>
              <a:t>cuối</a:t>
            </a:r>
            <a:r>
              <a:rPr lang="en-US"/>
              <a:t> </a:t>
            </a:r>
            <a:r>
              <a:rPr lang="en-US" err="1"/>
              <a:t>cùng</a:t>
            </a:r>
            <a:r>
              <a:rPr lang="en-US"/>
              <a:t> </a:t>
            </a:r>
            <a:r>
              <a:rPr lang="en-US" err="1"/>
              <a:t>khi</a:t>
            </a:r>
            <a:r>
              <a:rPr lang="en-US"/>
              <a:t> </a:t>
            </a:r>
            <a:r>
              <a:rPr lang="en-US" err="1"/>
              <a:t>thực</a:t>
            </a:r>
            <a:r>
              <a:rPr lang="en-US"/>
              <a:t> </a:t>
            </a:r>
            <a:r>
              <a:rPr lang="en-US" err="1"/>
              <a:t>hiện</a:t>
            </a:r>
            <a:r>
              <a:rPr lang="en-US"/>
              <a:t> </a:t>
            </a:r>
            <a:r>
              <a:rPr lang="en-US" err="1"/>
              <a:t>phép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</a:t>
            </a:r>
            <a:r>
              <a:rPr lang="en-US" err="1"/>
              <a:t>sau</a:t>
            </a:r>
            <a:endParaRPr lang="en-US"/>
          </a:p>
          <a:p>
            <a:pPr marL="514350" indent="-514350">
              <a:buAutoNum type="arabicPeriod"/>
            </a:pPr>
            <a:r>
              <a:rPr lang="en-US"/>
              <a:t>A = 2, B =5;</a:t>
            </a:r>
          </a:p>
          <a:p>
            <a:pPr marL="514350" indent="-514350">
              <a:buAutoNum type="arabicPeriod"/>
            </a:pPr>
            <a:r>
              <a:rPr lang="en-US"/>
              <a:t>Call push(S,T,A);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Call push(S,T,4);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Call push(S,T,B+2);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Call push(S,T,9);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Call push(S,T,A+B);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While T != 0 call Pop(S,T,X); write(X);</a:t>
            </a:r>
          </a:p>
          <a:p>
            <a:pPr marL="514350" indent="-514350">
              <a:buFont typeface="Arial"/>
              <a:buAutoNum type="arabicPeriod"/>
            </a:pPr>
            <a:r>
              <a:rPr lang="en-US"/>
              <a:t>Return </a:t>
            </a:r>
          </a:p>
          <a:p>
            <a:pPr marL="514350" indent="-514350">
              <a:buFont typeface="Arial"/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endParaRPr lang="en-US"/>
          </a:p>
          <a:p>
            <a:pPr marL="514350" indent="-51435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5029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31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Bài</a:t>
            </a:r>
            <a:r>
              <a:rPr lang="en-US"/>
              <a:t> </a:t>
            </a:r>
            <a:r>
              <a:rPr lang="en-US" err="1"/>
              <a:t>tập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err="1"/>
              <a:t>Câu</a:t>
            </a:r>
            <a:r>
              <a:rPr lang="en-US"/>
              <a:t> 2: Cho </a:t>
            </a:r>
            <a:r>
              <a:rPr lang="en-US" err="1"/>
              <a:t>biểu</a:t>
            </a:r>
            <a:r>
              <a:rPr lang="en-US"/>
              <a:t> </a:t>
            </a:r>
            <a:r>
              <a:rPr lang="en-US" err="1"/>
              <a:t>thức</a:t>
            </a:r>
            <a:r>
              <a:rPr lang="en-US"/>
              <a:t> P: ABC-/DEF+*+</a:t>
            </a:r>
          </a:p>
          <a:p>
            <a:pPr marL="0" indent="0">
              <a:buNone/>
            </a:pPr>
            <a:r>
              <a:rPr lang="en-US"/>
              <a:t>Minh </a:t>
            </a:r>
            <a:r>
              <a:rPr lang="en-US" err="1"/>
              <a:t>họa</a:t>
            </a:r>
            <a:r>
              <a:rPr lang="en-US"/>
              <a:t> </a:t>
            </a:r>
            <a:r>
              <a:rPr lang="en-US" err="1"/>
              <a:t>trạng</a:t>
            </a:r>
            <a:r>
              <a:rPr lang="en-US"/>
              <a:t> </a:t>
            </a:r>
            <a:r>
              <a:rPr lang="en-US" err="1"/>
              <a:t>thái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Stack </a:t>
            </a:r>
            <a:r>
              <a:rPr lang="en-US" err="1"/>
              <a:t>thông</a:t>
            </a:r>
            <a:r>
              <a:rPr lang="en-US"/>
              <a:t> qua </a:t>
            </a:r>
            <a:r>
              <a:rPr lang="en-US" err="1"/>
              <a:t>giải</a:t>
            </a:r>
            <a:r>
              <a:rPr lang="en-US"/>
              <a:t> </a:t>
            </a:r>
            <a:r>
              <a:rPr lang="en-US" err="1"/>
              <a:t>thuật</a:t>
            </a:r>
            <a:r>
              <a:rPr lang="en-US"/>
              <a:t> EVAL </a:t>
            </a:r>
            <a:r>
              <a:rPr lang="en-US" err="1"/>
              <a:t>để</a:t>
            </a:r>
            <a:r>
              <a:rPr lang="en-US"/>
              <a:t> </a:t>
            </a:r>
            <a:r>
              <a:rPr lang="en-US" err="1"/>
              <a:t>tính</a:t>
            </a:r>
            <a:r>
              <a:rPr lang="en-US"/>
              <a:t> P </a:t>
            </a:r>
            <a:r>
              <a:rPr lang="en-US" err="1"/>
              <a:t>biết</a:t>
            </a:r>
            <a:r>
              <a:rPr lang="en-US"/>
              <a:t> A = 8, B = 5, C = 3, D = 2, E = 7, F = 1.</a:t>
            </a:r>
          </a:p>
          <a:p>
            <a:pPr marL="0" indent="0">
              <a:buNone/>
            </a:pPr>
            <a:r>
              <a:rPr lang="en-US" err="1"/>
              <a:t>Câu</a:t>
            </a:r>
            <a:r>
              <a:rPr lang="en-US"/>
              <a:t> 3: Cho </a:t>
            </a:r>
            <a:r>
              <a:rPr lang="en-US" err="1"/>
              <a:t>một</a:t>
            </a:r>
            <a:r>
              <a:rPr lang="en-US"/>
              <a:t> Queue </a:t>
            </a:r>
            <a:r>
              <a:rPr lang="en-US" err="1"/>
              <a:t>cấu</a:t>
            </a:r>
            <a:r>
              <a:rPr lang="en-US"/>
              <a:t> </a:t>
            </a:r>
            <a:r>
              <a:rPr lang="en-US" err="1"/>
              <a:t>trúc</a:t>
            </a:r>
            <a:r>
              <a:rPr lang="en-US"/>
              <a:t> </a:t>
            </a:r>
            <a:r>
              <a:rPr lang="en-US" err="1"/>
              <a:t>tròn</a:t>
            </a:r>
            <a:r>
              <a:rPr lang="en-US"/>
              <a:t> </a:t>
            </a:r>
            <a:r>
              <a:rPr lang="en-US" err="1"/>
              <a:t>cài</a:t>
            </a:r>
            <a:r>
              <a:rPr lang="en-US"/>
              <a:t> </a:t>
            </a:r>
            <a:r>
              <a:rPr lang="en-US" err="1"/>
              <a:t>đặt</a:t>
            </a:r>
            <a:r>
              <a:rPr lang="en-US"/>
              <a:t> </a:t>
            </a:r>
            <a:r>
              <a:rPr lang="en-US" err="1"/>
              <a:t>bởi</a:t>
            </a:r>
            <a:r>
              <a:rPr lang="en-US"/>
              <a:t> vector Q  </a:t>
            </a:r>
            <a:r>
              <a:rPr lang="en-US" err="1"/>
              <a:t>có</a:t>
            </a:r>
            <a:r>
              <a:rPr lang="en-US"/>
              <a:t> n = 12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. </a:t>
            </a:r>
            <a:r>
              <a:rPr lang="en-US" err="1"/>
              <a:t>Xác</a:t>
            </a:r>
            <a:r>
              <a:rPr lang="en-US"/>
              <a:t> </a:t>
            </a:r>
            <a:r>
              <a:rPr lang="en-US" err="1"/>
              <a:t>định</a:t>
            </a:r>
            <a:r>
              <a:rPr lang="en-US"/>
              <a:t> </a:t>
            </a:r>
            <a:r>
              <a:rPr lang="en-US" err="1"/>
              <a:t>số</a:t>
            </a:r>
            <a:r>
              <a:rPr lang="en-US"/>
              <a:t> </a:t>
            </a:r>
            <a:r>
              <a:rPr lang="en-US" err="1"/>
              <a:t>phần</a:t>
            </a:r>
            <a:r>
              <a:rPr lang="en-US"/>
              <a:t> </a:t>
            </a:r>
            <a:r>
              <a:rPr lang="en-US" err="1"/>
              <a:t>tử</a:t>
            </a:r>
            <a:r>
              <a:rPr lang="en-US"/>
              <a:t> </a:t>
            </a:r>
            <a:r>
              <a:rPr lang="en-US" err="1"/>
              <a:t>của</a:t>
            </a:r>
            <a:r>
              <a:rPr lang="en-US"/>
              <a:t> </a:t>
            </a:r>
            <a:r>
              <a:rPr lang="en-US" err="1"/>
              <a:t>hàng</a:t>
            </a:r>
            <a:r>
              <a:rPr lang="en-US"/>
              <a:t> </a:t>
            </a:r>
            <a:r>
              <a:rPr lang="en-US" err="1"/>
              <a:t>đợi</a:t>
            </a:r>
            <a:r>
              <a:rPr lang="en-US"/>
              <a:t> </a:t>
            </a:r>
            <a:r>
              <a:rPr lang="en-US" err="1"/>
              <a:t>nếu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a/ F = 4; R = 8;</a:t>
            </a:r>
          </a:p>
          <a:p>
            <a:pPr marL="0" indent="0">
              <a:buNone/>
            </a:pPr>
            <a:r>
              <a:rPr lang="en-US"/>
              <a:t>b/ F = 10; R = 3;</a:t>
            </a:r>
          </a:p>
          <a:p>
            <a:pPr marL="0" indent="0">
              <a:buNone/>
            </a:pPr>
            <a:r>
              <a:rPr lang="en-US"/>
              <a:t>c/ F = 5; R = 6;</a:t>
            </a:r>
          </a:p>
        </p:txBody>
      </p:sp>
    </p:spTree>
    <p:extLst>
      <p:ext uri="{BB962C8B-B14F-4D97-AF65-F5344CB8AC3E}">
        <p14:creationId xmlns:p14="http://schemas.microsoft.com/office/powerpoint/2010/main" val="1493769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73029-7E4F-4586-A015-5F60B6E5D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E5C5-CD7A-324E-8253-59FE8125D6E4}" type="datetime1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28A23-A227-45A8-B151-1AC52D810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s-IS"/>
              <a:t>Cấu trúc dữ liệu và giải thuật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98D5B-EC90-49C9-A339-7696F77A9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BC09B-FE30-A349-B1D2-5A364F511F98}" type="slidenum">
              <a:rPr lang="en-US" smtClean="0"/>
              <a:t>32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C2E026-965F-49B1-B243-8794F8698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Bonus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FED56-2F8D-4B25-9246-D53FDDA521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sz="3200" b="1">
                <a:solidFill>
                  <a:srgbClr val="0036A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Thư viện STL</a:t>
            </a:r>
            <a:r>
              <a:rPr lang="en-US" sz="3200" b="1">
                <a:solidFill>
                  <a:srgbClr val="0036A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>
                <a:solidFill>
                  <a:srgbClr val="0036A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(Standard Template Library) </a:t>
            </a:r>
          </a:p>
          <a:p>
            <a:pPr marL="0" indent="0">
              <a:buNone/>
            </a:pPr>
            <a:r>
              <a:rPr lang="vi-VN" sz="3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607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21FEF-1324-47DB-9CC0-5D4BA9F5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err="1"/>
              <a:t>Khái</a:t>
            </a:r>
            <a:r>
              <a:rPr lang="en-US" b="1"/>
              <a:t> </a:t>
            </a:r>
            <a:r>
              <a:rPr lang="en-US" b="1" err="1"/>
              <a:t>niệm</a:t>
            </a:r>
            <a:r>
              <a:rPr lang="en-US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8AD7A-C950-4C87-9768-752CD3B488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vi-VN" sz="2000">
                <a:solidFill>
                  <a:srgbClr val="000000"/>
                </a:solidFill>
                <a:latin typeface="ArialMT"/>
              </a:rPr>
              <a:t>STL là thư viện chuẩn của C++, được xây dựng sẵn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Cài đặt các cấu trúc dữ liệu và thuật toán thông dụn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g</a:t>
            </a: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Bao gồm các lớp và hàm khuôn mẫu, cho phép làm việc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với dữ liệu tổng quát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sz="2000">
                <a:solidFill>
                  <a:srgbClr val="000000"/>
                </a:solidFill>
                <a:latin typeface="ArialMT"/>
              </a:rPr>
              <a:t>Nằm trong một namespace có tên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std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sz="2000">
                <a:solidFill>
                  <a:srgbClr val="000000"/>
                </a:solidFill>
                <a:latin typeface="ArialMT"/>
              </a:rPr>
              <a:t>Các phần chính: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sz="2000">
                <a:solidFill>
                  <a:srgbClr val="000000"/>
                </a:solidFill>
                <a:latin typeface="ArialMT"/>
              </a:rPr>
              <a:t>Các lớp dữ liệu cơ bản: </a:t>
            </a:r>
            <a:r>
              <a:rPr lang="vi-VN" sz="2000">
                <a:solidFill>
                  <a:srgbClr val="FF0000"/>
                </a:solidFill>
                <a:latin typeface="CourierNewPSMT"/>
              </a:rPr>
              <a:t>string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,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comple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sz="2000">
                <a:solidFill>
                  <a:srgbClr val="9FB8CD"/>
                </a:solidFill>
                <a:latin typeface="Wingdings3"/>
              </a:rPr>
              <a:t> </a:t>
            </a:r>
            <a:r>
              <a:rPr lang="vi-VN" sz="2000">
                <a:solidFill>
                  <a:srgbClr val="FF0000"/>
                </a:solidFill>
                <a:latin typeface="ArialMT"/>
              </a:rPr>
              <a:t>Xuất nhập (IO)</a:t>
            </a:r>
            <a:endParaRPr lang="en-US" sz="2000">
              <a:solidFill>
                <a:srgbClr val="FF0000"/>
              </a:solidFill>
              <a:latin typeface="ArialM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sz="2000">
                <a:solidFill>
                  <a:srgbClr val="000000"/>
                </a:solidFill>
                <a:latin typeface="ArialMT"/>
              </a:rPr>
              <a:t>Các lớp chứa (containers): </a:t>
            </a:r>
            <a:r>
              <a:rPr lang="vi-VN" sz="2000">
                <a:solidFill>
                  <a:srgbClr val="FF0000"/>
                </a:solidFill>
                <a:latin typeface="CourierNewPSMT"/>
              </a:rPr>
              <a:t>list</a:t>
            </a:r>
            <a:r>
              <a:rPr lang="vi-VN" sz="2000">
                <a:solidFill>
                  <a:srgbClr val="FF0000"/>
                </a:solidFill>
                <a:latin typeface="ArialMT"/>
              </a:rPr>
              <a:t>, </a:t>
            </a:r>
            <a:r>
              <a:rPr lang="vi-VN" sz="2000">
                <a:solidFill>
                  <a:srgbClr val="FF0000"/>
                </a:solidFill>
                <a:latin typeface="CourierNewPSMT"/>
              </a:rPr>
              <a:t>vector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,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deque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,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stack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,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map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,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set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,…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vi-VN" sz="2000">
                <a:solidFill>
                  <a:srgbClr val="FF0000"/>
                </a:solidFill>
                <a:latin typeface="ArialMT"/>
              </a:rPr>
              <a:t>Duyệt phần tử của các lớp chứa (iterators)</a:t>
            </a:r>
            <a:endParaRPr lang="en-US" sz="2000">
              <a:solidFill>
                <a:srgbClr val="FF0000"/>
              </a:solidFill>
              <a:latin typeface="ArialMT"/>
            </a:endParaRPr>
          </a:p>
          <a:p>
            <a:r>
              <a:rPr lang="vi-VN" sz="2000">
                <a:solidFill>
                  <a:srgbClr val="FF0000"/>
                </a:solidFill>
                <a:latin typeface="ArialMT"/>
              </a:rPr>
              <a:t>Một số thuật toán thông dụng: tìm kiếm, so sánh, sắp xếp,…</a:t>
            </a:r>
            <a:endParaRPr lang="en-US" sz="2000">
              <a:solidFill>
                <a:srgbClr val="FF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Quản lý bộ nhớ, con trỏ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Xử lý ngoại lệ (exception handling)</a:t>
            </a:r>
            <a:r>
              <a:rPr lang="vi-VN" sz="2000"/>
              <a:t> </a:t>
            </a:r>
            <a:endParaRPr lang="en-US" sz="2000"/>
          </a:p>
          <a:p>
            <a:pPr marL="0" indent="0">
              <a:buNone/>
            </a:pPr>
            <a:endParaRPr lang="en-US" sz="2000">
              <a:solidFill>
                <a:srgbClr val="FF000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3324917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25850-15FE-4435-81CF-1FA86DAC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err="1"/>
              <a:t>Xử</a:t>
            </a:r>
            <a:r>
              <a:rPr lang="en-US"/>
              <a:t> </a:t>
            </a:r>
            <a:r>
              <a:rPr lang="en-US" err="1"/>
              <a:t>lý</a:t>
            </a:r>
            <a:r>
              <a:rPr lang="en-US"/>
              <a:t> </a:t>
            </a:r>
            <a:r>
              <a:rPr lang="en-US" err="1"/>
              <a:t>chuỗi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8EAC3-5845-43AD-9F84-52A0A2A578B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vi-VN" sz="1800">
                <a:solidFill>
                  <a:srgbClr val="000000"/>
                </a:solidFill>
                <a:latin typeface="CourierNewPSMT"/>
              </a:rPr>
              <a:t>#include &lt;string&gt;</a:t>
            </a:r>
            <a:endParaRPr lang="en-US" sz="1800">
              <a:solidFill>
                <a:srgbClr val="000000"/>
              </a:solidFill>
              <a:latin typeface="CourierNewPSMT"/>
            </a:endParaRP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Lớp </a:t>
            </a:r>
            <a:r>
              <a:rPr lang="vi-VN" sz="1800">
                <a:solidFill>
                  <a:srgbClr val="FF0000"/>
                </a:solidFill>
                <a:latin typeface="CourierNewPSMT"/>
              </a:rPr>
              <a:t>string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cho chuỗi ASCII và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wstring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cho Unicode</a:t>
            </a:r>
            <a:endParaRPr lang="en-US" sz="1800">
              <a:solidFill>
                <a:srgbClr val="000000"/>
              </a:solidFill>
              <a:latin typeface="ArialMT"/>
            </a:endParaRP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Các thao tác cơ bản: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+, +=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(nối chuỗi);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==, !=, &gt;, &lt;, &gt;=,&lt;=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(so sánh);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&lt;&lt;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(xuất),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&gt;&gt;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(nhập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)</a:t>
            </a: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Độ dài chuỗi: </a:t>
            </a:r>
            <a:endParaRPr lang="en-US" sz="1800">
              <a:solidFill>
                <a:srgbClr val="000000"/>
              </a:solidFill>
              <a:latin typeface="ArialMT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int string::length() const</a:t>
            </a:r>
            <a:endParaRPr lang="en-US" sz="1800">
              <a:solidFill>
                <a:srgbClr val="000000"/>
              </a:solidFill>
              <a:latin typeface="CourierNewPSMT"/>
            </a:endParaRP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Chuỗi con: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string string::substr(int off, int count) const</a:t>
            </a:r>
            <a:endParaRPr lang="en-US" sz="1800">
              <a:solidFill>
                <a:srgbClr val="000000"/>
              </a:solidFill>
              <a:latin typeface="CourierNewPSMT"/>
            </a:endParaRP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Tìm chuỗi con: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int string::find(const char* str, int pos) const</a:t>
            </a:r>
            <a:endParaRPr lang="en-US" sz="1800">
              <a:solidFill>
                <a:srgbClr val="000000"/>
              </a:solidFill>
              <a:latin typeface="CourierNewPSMT"/>
            </a:endParaRP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Đổi sang chuỗi của C: </a:t>
            </a:r>
            <a:endParaRPr lang="en-US" sz="1800">
              <a:solidFill>
                <a:srgbClr val="000000"/>
              </a:solidFill>
              <a:latin typeface="ArialMT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Arial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const char* string::c_str() const</a:t>
            </a:r>
            <a:endParaRPr lang="en-US" sz="1800">
              <a:solidFill>
                <a:srgbClr val="000000"/>
              </a:solidFill>
              <a:latin typeface="CourierNewPSMT"/>
            </a:endParaRP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Đổi sang số và ngược lại (C++11):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int|long|float|double] sto[i|l|f|d](const string&amp; s);</a:t>
            </a:r>
            <a:r>
              <a:rPr lang="en-US" sz="1800">
                <a:solidFill>
                  <a:srgbClr val="000000"/>
                </a:solidFill>
                <a:latin typeface="CourierNewPSMT"/>
              </a:rPr>
              <a:t> 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string to_string([int|long|float|double] n);</a:t>
            </a:r>
            <a:endParaRPr lang="en-US" sz="1800">
              <a:solidFill>
                <a:srgbClr val="000000"/>
              </a:solidFill>
              <a:latin typeface="CourierNewPSMT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wstring to_wstring([int|long|float|double] n);</a:t>
            </a:r>
            <a:r>
              <a:rPr lang="vi-VN" sz="1800"/>
              <a:t> </a:t>
            </a:r>
            <a:br>
              <a:rPr lang="vi-VN" sz="1800"/>
            </a:b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972983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F0706-0539-4EAF-8946-D88647E03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err="1"/>
              <a:t>Ví</a:t>
            </a:r>
            <a:r>
              <a:rPr lang="en-US" b="1"/>
              <a:t> </a:t>
            </a:r>
            <a:r>
              <a:rPr lang="en-US" b="1" err="1"/>
              <a:t>dụ</a:t>
            </a:r>
            <a:r>
              <a:rPr lang="en-US" b="1"/>
              <a:t>: </a:t>
            </a:r>
            <a:r>
              <a:rPr lang="en-US" b="1" err="1"/>
              <a:t>Xử</a:t>
            </a:r>
            <a:r>
              <a:rPr lang="en-US" b="1"/>
              <a:t> </a:t>
            </a:r>
            <a:r>
              <a:rPr lang="en-US" b="1" err="1"/>
              <a:t>lý</a:t>
            </a:r>
            <a:r>
              <a:rPr lang="en-US" b="1"/>
              <a:t> </a:t>
            </a:r>
            <a:r>
              <a:rPr lang="en-US" b="1" err="1"/>
              <a:t>chuỗi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71F37-4FB0-4DDF-BEBE-B2D79DC93C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string s1, s2("test123");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cin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 &gt;&gt; s1;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s1 += </a:t>
            </a: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to_string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(123);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cout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 &lt;&lt; (s2==s1 ? "same" :"different") &lt;&lt; </a:t>
            </a: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endl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int pos = s2.find("</a:t>
            </a: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est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");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string s3 = s2.substr(pos, 4);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char s4[100];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strcpy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(s4, s3.c_str());</a:t>
            </a:r>
            <a:br>
              <a:rPr lang="en-US" b="0" i="0">
                <a:solidFill>
                  <a:srgbClr val="000000"/>
                </a:solidFill>
                <a:effectLst/>
                <a:latin typeface="CourierNewPSMT"/>
              </a:rPr>
            </a:b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cout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 &lt;&lt; s4 &lt;&lt; </a:t>
            </a:r>
            <a:r>
              <a:rPr lang="en-US" b="0" i="0" err="1">
                <a:solidFill>
                  <a:srgbClr val="000000"/>
                </a:solidFill>
                <a:effectLst/>
                <a:latin typeface="CourierNewPSMT"/>
              </a:rPr>
              <a:t>endl</a:t>
            </a:r>
            <a:r>
              <a:rPr lang="en-US" b="0" i="0">
                <a:solidFill>
                  <a:srgbClr val="000000"/>
                </a:solidFill>
                <a:effectLst/>
                <a:latin typeface="CourierNewPSMT"/>
              </a:rPr>
              <a:t>;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5841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D6132-926B-47C8-AF2A-8B0C3705C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err="1"/>
              <a:t>Các</a:t>
            </a:r>
            <a:r>
              <a:rPr lang="en-US" b="1"/>
              <a:t> </a:t>
            </a:r>
            <a:r>
              <a:rPr lang="en-US" b="1" err="1"/>
              <a:t>lớp</a:t>
            </a:r>
            <a:r>
              <a:rPr lang="en-US" b="1"/>
              <a:t> </a:t>
            </a:r>
            <a:r>
              <a:rPr lang="en-US" b="1" err="1"/>
              <a:t>chứa</a:t>
            </a:r>
            <a:r>
              <a:rPr lang="en-US" b="1"/>
              <a:t> (Container) : </a:t>
            </a:r>
            <a:r>
              <a:rPr lang="en-US" b="1" err="1"/>
              <a:t>Mảng</a:t>
            </a:r>
            <a:r>
              <a:rPr lang="en-US" b="1"/>
              <a:t> Vector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919EE-267C-45CA-9140-E4EA0DC82D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mảng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2000">
              <a:solidFill>
                <a:srgbClr val="000000"/>
              </a:solidFill>
              <a:latin typeface="Arial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kỳ</a:t>
            </a:r>
            <a:r>
              <a:rPr lang="en-US" sz="2000">
                <a:solidFill>
                  <a:srgbClr val="000000"/>
                </a:solidFill>
                <a:latin typeface="ArialMT"/>
                <a:ea typeface="Times New Roman" panose="02020603050405020304" pitchFamily="18" charset="0"/>
                <a:cs typeface="Times New Roman" panose="02020603050405020304" pitchFamily="18" charset="0"/>
              </a:rPr>
              <a:t> (template): </a:t>
            </a:r>
            <a:r>
              <a:rPr lang="en-US" sz="2000">
                <a:solidFill>
                  <a:srgbClr val="FF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vector&lt;type&gt;</a:t>
            </a: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#include &lt;vector&gt;	</a:t>
            </a:r>
            <a:endParaRPr lang="en-US" sz="200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ECC0F20-3FAF-402D-A65E-0B6A915A6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7937113"/>
              </p:ext>
            </p:extLst>
          </p:nvPr>
        </p:nvGraphicFramePr>
        <p:xfrm>
          <a:off x="661504" y="2052885"/>
          <a:ext cx="8300752" cy="2339340"/>
        </p:xfrm>
        <a:graphic>
          <a:graphicData uri="http://schemas.openxmlformats.org/drawingml/2006/table">
            <a:tbl>
              <a:tblPr/>
              <a:tblGrid>
                <a:gridCol w="3949904">
                  <a:extLst>
                    <a:ext uri="{9D8B030D-6E8A-4147-A177-3AD203B41FA5}">
                      <a16:colId xmlns:a16="http://schemas.microsoft.com/office/drawing/2014/main" val="1829812259"/>
                    </a:ext>
                  </a:extLst>
                </a:gridCol>
                <a:gridCol w="4350848">
                  <a:extLst>
                    <a:ext uri="{9D8B030D-6E8A-4147-A177-3AD203B41FA5}">
                      <a16:colId xmlns:a16="http://schemas.microsoft.com/office/drawing/2014/main" val="393985066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int p[] = {4, 2, 6};</a:t>
                      </a:r>
                      <a:b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</a:b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vector&lt;int&gt; a(p, p+3); </a:t>
                      </a:r>
                      <a:b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</a:br>
                      <a:r>
                        <a:rPr lang="en-US" sz="2000" b="0" i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a.push_back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(1); 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000" b="0" i="0">
                        <a:solidFill>
                          <a:srgbClr val="000099"/>
                        </a:solidFill>
                        <a:effectLst/>
                        <a:latin typeface="CourierNewPSMT"/>
                      </a:endParaRPr>
                    </a:p>
                    <a:p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//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khởi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tạo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từ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mảng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p</a:t>
                      </a:r>
                      <a:b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</a:b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//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thêm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vào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cuối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56939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2000" b="0" i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a.insert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en-US" sz="2000" b="0" i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a.begin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() + 2, 3); 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//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thêm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ở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vị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trí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2</a:t>
                      </a:r>
                      <a:endParaRPr lang="en-US" sz="2000"/>
                    </a:p>
                  </a:txBody>
                  <a:tcPr marL="68580" marR="68580" marT="34290" marB="3429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189504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2000" b="0" i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a.insert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(</a:t>
                      </a:r>
                      <a:r>
                        <a:rPr lang="en-US" sz="2000" b="0" i="0" err="1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a.end</a:t>
                      </a: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() - 1, 5); </a:t>
                      </a:r>
                      <a:b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</a:b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ourierNewPSMT"/>
                        </a:rPr>
                        <a:t>a[3] = 10; 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//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thêm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ở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vị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trí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1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từ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cuối</a:t>
                      </a:r>
                      <a:b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</a:b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//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phần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tử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</a:t>
                      </a:r>
                      <a:r>
                        <a:rPr lang="en-US" sz="2000" b="0" i="0" err="1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thứ</a:t>
                      </a:r>
                      <a:r>
                        <a:rPr lang="en-US" sz="2000" b="0" i="0">
                          <a:solidFill>
                            <a:srgbClr val="000099"/>
                          </a:solidFill>
                          <a:effectLst/>
                          <a:latin typeface="CourierNewPSMT"/>
                        </a:rPr>
                        <a:t> 4</a:t>
                      </a:r>
                      <a:endParaRPr lang="en-US" sz="2000">
                        <a:effectLst/>
                      </a:endParaRPr>
                    </a:p>
                  </a:txBody>
                  <a:tcPr marL="68580" marR="68580" marT="34290" marB="3429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358238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A8CE534-521D-4D31-A766-38A58035E40B}"/>
              </a:ext>
            </a:extLst>
          </p:cNvPr>
          <p:cNvSpPr txBox="1"/>
          <p:nvPr/>
        </p:nvSpPr>
        <p:spPr>
          <a:xfrm>
            <a:off x="661504" y="5331181"/>
            <a:ext cx="6216374" cy="132343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vi-VN" sz="2000">
                <a:solidFill>
                  <a:srgbClr val="000000"/>
                </a:solidFill>
                <a:latin typeface="CourierNewPSMT"/>
              </a:rPr>
              <a:t>vector&lt;int&gt;::reverse_iterator j; </a:t>
            </a:r>
            <a:r>
              <a:rPr lang="vi-VN" sz="2000">
                <a:solidFill>
                  <a:srgbClr val="000099"/>
                </a:solidFill>
                <a:latin typeface="CourierNewPSMT"/>
              </a:rPr>
              <a:t>// duyệt ngược</a:t>
            </a:r>
            <a:br>
              <a:rPr lang="vi-VN" sz="2000">
                <a:solidFill>
                  <a:srgbClr val="000099"/>
                </a:solidFill>
                <a:latin typeface="CourierNewPSMT"/>
              </a:rPr>
            </a:br>
            <a:r>
              <a:rPr lang="vi-VN" sz="2000">
                <a:solidFill>
                  <a:srgbClr val="000000"/>
                </a:solidFill>
                <a:latin typeface="CourierNewPSMT"/>
              </a:rPr>
              <a:t>for (j = a.rbegin(); j != a.rend(); j++)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cout &lt;&lt; *j &lt;&lt; ' ';</a:t>
            </a:r>
            <a:r>
              <a:rPr lang="vi-VN" sz="2000"/>
              <a:t> </a:t>
            </a:r>
            <a:endParaRPr 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C5C756-F6E2-4A82-B1DA-B392DF09D5A2}"/>
              </a:ext>
            </a:extLst>
          </p:cNvPr>
          <p:cNvSpPr txBox="1"/>
          <p:nvPr/>
        </p:nvSpPr>
        <p:spPr>
          <a:xfrm>
            <a:off x="661504" y="4466889"/>
            <a:ext cx="7919310" cy="70788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en-US" sz="2000">
                <a:solidFill>
                  <a:srgbClr val="000000"/>
                </a:solidFill>
                <a:latin typeface="CourierNewPSMT"/>
              </a:rPr>
              <a:t>vector&lt;int&gt;::iterator </a:t>
            </a:r>
            <a:r>
              <a:rPr lang="en-US" sz="2000" err="1">
                <a:solidFill>
                  <a:srgbClr val="000000"/>
                </a:solidFill>
                <a:latin typeface="CourierNewPSMT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; </a:t>
            </a:r>
            <a:r>
              <a:rPr lang="en-US" sz="2000">
                <a:solidFill>
                  <a:srgbClr val="000099"/>
                </a:solidFill>
                <a:latin typeface="CourierNewPSMT"/>
              </a:rPr>
              <a:t>// </a:t>
            </a:r>
            <a:r>
              <a:rPr lang="en-US" sz="2000" err="1">
                <a:solidFill>
                  <a:srgbClr val="000099"/>
                </a:solidFill>
                <a:latin typeface="CourierNewPSMT"/>
              </a:rPr>
              <a:t>duyệt</a:t>
            </a:r>
            <a:r>
              <a:rPr lang="en-US" sz="20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2000" err="1">
                <a:solidFill>
                  <a:srgbClr val="000099"/>
                </a:solidFill>
                <a:latin typeface="CourierNewPSMT"/>
              </a:rPr>
              <a:t>xuôi</a:t>
            </a:r>
            <a:endParaRPr lang="en-US" sz="2000"/>
          </a:p>
          <a:p>
            <a:pPr defTabSz="685800">
              <a:defRPr/>
            </a:pPr>
            <a:r>
              <a:rPr lang="en-US" sz="2000">
                <a:solidFill>
                  <a:srgbClr val="000000"/>
                </a:solidFill>
                <a:latin typeface="CourierNewPSMT"/>
              </a:rPr>
              <a:t>for (</a:t>
            </a:r>
            <a:r>
              <a:rPr lang="en-US" sz="2000" err="1">
                <a:solidFill>
                  <a:srgbClr val="000000"/>
                </a:solidFill>
                <a:latin typeface="CourierNewPSMT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 = </a:t>
            </a:r>
            <a:r>
              <a:rPr lang="en-US" sz="2000" err="1">
                <a:solidFill>
                  <a:srgbClr val="000000"/>
                </a:solidFill>
                <a:latin typeface="CourierNewPSMT"/>
              </a:rPr>
              <a:t>a.begin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(); </a:t>
            </a:r>
            <a:r>
              <a:rPr lang="en-US" sz="2000" err="1">
                <a:solidFill>
                  <a:srgbClr val="000000"/>
                </a:solidFill>
                <a:latin typeface="CourierNewPSMT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 </a:t>
            </a:r>
            <a:r>
              <a:rPr lang="nn-NO" sz="2000">
                <a:solidFill>
                  <a:srgbClr val="000000"/>
                </a:solidFill>
                <a:latin typeface="CourierNewPSMT"/>
              </a:rPr>
              <a:t>!= a.end(); i++) *i += 5;</a:t>
            </a:r>
            <a:endParaRPr lang="nn-NO" sz="2000"/>
          </a:p>
        </p:txBody>
      </p:sp>
    </p:spTree>
    <p:extLst>
      <p:ext uri="{BB962C8B-B14F-4D97-AF65-F5344CB8AC3E}">
        <p14:creationId xmlns:p14="http://schemas.microsoft.com/office/powerpoint/2010/main" val="42740165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FFF8-C66E-425B-BB38-AAFCFC530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err="1"/>
              <a:t>Kiểu</a:t>
            </a:r>
            <a:r>
              <a:rPr lang="en-US" b="1"/>
              <a:t> </a:t>
            </a:r>
            <a:r>
              <a:rPr lang="en-US" b="1" err="1"/>
              <a:t>phần</a:t>
            </a:r>
            <a:r>
              <a:rPr lang="en-US" b="1"/>
              <a:t> </a:t>
            </a:r>
            <a:r>
              <a:rPr lang="en-US" b="1" err="1"/>
              <a:t>tử</a:t>
            </a:r>
            <a:r>
              <a:rPr lang="en-US" b="1"/>
              <a:t> </a:t>
            </a:r>
            <a:r>
              <a:rPr lang="en-US" b="1" err="1"/>
              <a:t>duyệt</a:t>
            </a:r>
            <a:r>
              <a:rPr lang="en-US" b="1"/>
              <a:t>: iterator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4B69C-C182-44A9-8285-F1491B42DD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vi-VN" sz="2000">
                <a:solidFill>
                  <a:srgbClr val="000000"/>
                </a:solidFill>
                <a:latin typeface="ArialMT"/>
              </a:rPr>
              <a:t>Các lớp chứa của STL (vector, list,…) có định nghĩa kiểu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iterator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tương ứng để duyệt các phần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tử (theo thứ tự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xuôi)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Mỗi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iterator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chứa vị trí của một phần tử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Các hàm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begin()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và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end()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trả về một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iterator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tương ứng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với các vị trí đầu và cuối</a:t>
            </a:r>
            <a:r>
              <a:rPr lang="vi-VN" sz="2000"/>
              <a:t> </a:t>
            </a:r>
            <a:endParaRPr lang="en-US" sz="2000"/>
          </a:p>
          <a:p>
            <a:r>
              <a:rPr lang="en-US" sz="2000" err="1">
                <a:solidFill>
                  <a:srgbClr val="000000"/>
                </a:solidFill>
                <a:latin typeface="ArialMT"/>
              </a:rPr>
              <a:t>Các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</a:rPr>
              <a:t>toán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</a:rPr>
              <a:t>tử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ArialMT"/>
              </a:rPr>
              <a:t>với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iterator</a:t>
            </a:r>
            <a:br>
              <a:rPr lang="en-US" sz="2000"/>
            </a:b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++ :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b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-- :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liền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b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-&gt; :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20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Tương tự, có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reverse_iterator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để duyệt theo thứ tự</a:t>
            </a:r>
            <a:r>
              <a:rPr lang="en-US" sz="2000">
                <a:solidFill>
                  <a:srgbClr val="000000"/>
                </a:solidFill>
                <a:latin typeface="ArialMT"/>
              </a:rPr>
              <a:t>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ngược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Các hàm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rbegin()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và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rend()</a:t>
            </a:r>
            <a:r>
              <a:rPr lang="vi-VN" sz="2000"/>
              <a:t> </a:t>
            </a:r>
            <a:br>
              <a:rPr lang="vi-VN" sz="2000"/>
            </a:br>
            <a:endParaRPr lang="en-US" sz="2000">
              <a:solidFill>
                <a:srgbClr val="000000"/>
              </a:solidFill>
              <a:latin typeface="ArialMT"/>
            </a:endParaRPr>
          </a:p>
        </p:txBody>
      </p:sp>
    </p:spTree>
    <p:extLst>
      <p:ext uri="{BB962C8B-B14F-4D97-AF65-F5344CB8AC3E}">
        <p14:creationId xmlns:p14="http://schemas.microsoft.com/office/powerpoint/2010/main" val="1895571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7019-94F0-4EC3-8C21-A90593F6E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err="1"/>
              <a:t>Danh</a:t>
            </a:r>
            <a:r>
              <a:rPr lang="en-US" b="1"/>
              <a:t> </a:t>
            </a:r>
            <a:r>
              <a:rPr lang="en-US" b="1" err="1"/>
              <a:t>sách</a:t>
            </a:r>
            <a:r>
              <a:rPr lang="en-US" b="1"/>
              <a:t> </a:t>
            </a:r>
            <a:r>
              <a:rPr lang="en-US" b="1" err="1"/>
              <a:t>liên</a:t>
            </a:r>
            <a:r>
              <a:rPr lang="en-US" b="1"/>
              <a:t> </a:t>
            </a:r>
            <a:r>
              <a:rPr lang="en-US" b="1" err="1"/>
              <a:t>kết</a:t>
            </a:r>
            <a:r>
              <a:rPr lang="en-US" b="1"/>
              <a:t> : List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182E0-84F3-4741-8C19-54CEB3D14E4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en-US" sz="1800" err="1">
                <a:solidFill>
                  <a:srgbClr val="000000"/>
                </a:solidFill>
                <a:latin typeface="ArialMT"/>
              </a:rPr>
              <a:t>Có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thể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chứa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dữ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liệu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kiểu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bất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ArialMT"/>
              </a:rPr>
              <a:t>kỳ</a:t>
            </a:r>
            <a:r>
              <a:rPr lang="en-US" sz="1800">
                <a:solidFill>
                  <a:srgbClr val="000000"/>
                </a:solidFill>
                <a:latin typeface="ArialMT"/>
              </a:rPr>
              <a:t> (template): </a:t>
            </a:r>
            <a:r>
              <a:rPr lang="en-US" sz="1800">
                <a:solidFill>
                  <a:srgbClr val="FF0000"/>
                </a:solidFill>
                <a:latin typeface="CourierNewPSMT"/>
              </a:rPr>
              <a:t>list&lt;type&gt;</a:t>
            </a:r>
            <a:r>
              <a:rPr lang="en-US" sz="1800"/>
              <a:t> </a:t>
            </a:r>
            <a:br>
              <a:rPr lang="en-US" sz="1800"/>
            </a:br>
            <a:r>
              <a:rPr lang="en-US" sz="1800"/>
              <a:t>	</a:t>
            </a:r>
            <a:r>
              <a:rPr lang="en-US" sz="1800">
                <a:solidFill>
                  <a:srgbClr val="000000"/>
                </a:solidFill>
                <a:latin typeface="CourierNewPSMT"/>
              </a:rPr>
              <a:t>#include &lt;list&gt;</a:t>
            </a:r>
            <a:r>
              <a:rPr lang="en-US" sz="1800"/>
              <a:t> </a:t>
            </a:r>
          </a:p>
          <a:p>
            <a:r>
              <a:rPr lang="vi-VN" sz="1800">
                <a:solidFill>
                  <a:srgbClr val="000000"/>
                </a:solidFill>
                <a:latin typeface="ArialMT"/>
              </a:rPr>
              <a:t>Duyệt danh sách dùng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iterator </a:t>
            </a:r>
            <a:r>
              <a:rPr lang="vi-VN" sz="1800">
                <a:solidFill>
                  <a:srgbClr val="000000"/>
                </a:solidFill>
                <a:latin typeface="ArialMT"/>
              </a:rPr>
              <a:t>tương tự như với </a:t>
            </a:r>
            <a:r>
              <a:rPr lang="vi-VN" sz="1800">
                <a:solidFill>
                  <a:srgbClr val="000000"/>
                </a:solidFill>
                <a:latin typeface="CourierNewPSMT"/>
              </a:rPr>
              <a:t>vector</a:t>
            </a:r>
            <a:r>
              <a:rPr lang="vi-VN" sz="1800"/>
              <a:t> </a:t>
            </a:r>
            <a:br>
              <a:rPr lang="vi-VN" sz="1800"/>
            </a:br>
            <a:r>
              <a:rPr lang="en-US" sz="1800"/>
              <a:t>	</a:t>
            </a:r>
            <a:r>
              <a:rPr lang="en-US" sz="1800">
                <a:solidFill>
                  <a:srgbClr val="000000"/>
                </a:solidFill>
                <a:latin typeface="CourierNewPSMT"/>
              </a:rPr>
              <a:t>double p[] = {1.2, 0.7, 2.2, 3.21, 6.4};</a:t>
            </a:r>
            <a:br>
              <a:rPr lang="en-US" sz="1800">
                <a:solidFill>
                  <a:srgbClr val="000000"/>
                </a:solidFill>
                <a:latin typeface="CourierNewPSMT"/>
              </a:rPr>
            </a:br>
            <a:r>
              <a:rPr lang="en-US" sz="1800">
                <a:solidFill>
                  <a:srgbClr val="000000"/>
                </a:solidFill>
                <a:latin typeface="CourierNewPSMT"/>
              </a:rPr>
              <a:t>	list&lt;double&gt; l(p, p+5); 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khởi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tạo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từ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mảng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co so</a:t>
            </a:r>
            <a:br>
              <a:rPr lang="en-US" sz="1800">
                <a:solidFill>
                  <a:srgbClr val="000099"/>
                </a:solidFill>
                <a:latin typeface="CourierNewPSMT"/>
              </a:rPr>
            </a:br>
            <a:r>
              <a:rPr lang="en-US" sz="1800">
                <a:solidFill>
                  <a:srgbClr val="000099"/>
                </a:solidFill>
                <a:latin typeface="CourierNewPSMT"/>
              </a:rPr>
              <a:t>	</a:t>
            </a:r>
            <a:r>
              <a:rPr lang="en-US" sz="1800" err="1">
                <a:solidFill>
                  <a:srgbClr val="000000"/>
                </a:solidFill>
                <a:latin typeface="CourierNewPSMT"/>
              </a:rPr>
              <a:t>l.push_back</a:t>
            </a:r>
            <a:r>
              <a:rPr lang="en-US" sz="1800">
                <a:solidFill>
                  <a:srgbClr val="000000"/>
                </a:solidFill>
                <a:latin typeface="CourierNewPSMT"/>
              </a:rPr>
              <a:t>(3.4); 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thêm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vào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cuối</a:t>
            </a:r>
            <a:br>
              <a:rPr lang="en-US" sz="1800">
                <a:solidFill>
                  <a:srgbClr val="000099"/>
                </a:solidFill>
                <a:latin typeface="CourierNewPSMT"/>
              </a:rPr>
            </a:br>
            <a:r>
              <a:rPr lang="en-US" sz="1800">
                <a:solidFill>
                  <a:srgbClr val="000099"/>
                </a:solidFill>
                <a:latin typeface="CourierNewPSMT"/>
              </a:rPr>
              <a:t>	</a:t>
            </a:r>
            <a:r>
              <a:rPr lang="en-US" sz="1800" err="1">
                <a:solidFill>
                  <a:srgbClr val="000000"/>
                </a:solidFill>
                <a:latin typeface="CourierNewPSMT"/>
              </a:rPr>
              <a:t>l.pop_front</a:t>
            </a:r>
            <a:r>
              <a:rPr lang="en-US" sz="1800">
                <a:solidFill>
                  <a:srgbClr val="000000"/>
                </a:solidFill>
                <a:latin typeface="CourierNewPSMT"/>
              </a:rPr>
              <a:t>(); 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xoá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phần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tử</a:t>
            </a:r>
            <a:r>
              <a:rPr lang="en-US" sz="1800">
                <a:solidFill>
                  <a:srgbClr val="000099"/>
                </a:solidFill>
                <a:latin typeface="CourierNewPSMT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</a:rPr>
              <a:t>đầu</a:t>
            </a:r>
            <a:r>
              <a:rPr lang="en-US" sz="1800"/>
              <a:t> </a:t>
            </a: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list&lt;double&gt;::iterator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l.begin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sz="1800">
              <a:solidFill>
                <a:srgbClr val="000099"/>
              </a:solidFill>
              <a:latin typeface="CourierNewPS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= 4.122; 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gán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b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++; 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endParaRPr lang="en-US" sz="1800">
              <a:solidFill>
                <a:srgbClr val="000000"/>
              </a:solidFill>
              <a:latin typeface="CourierNewPS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l.insert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, 5.0); 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chèn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1800">
              <a:solidFill>
                <a:srgbClr val="000000"/>
              </a:solidFill>
              <a:latin typeface="CourierNewPS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l.erase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xoá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endParaRPr lang="en-US" sz="1800">
              <a:solidFill>
                <a:srgbClr val="000000"/>
              </a:solidFill>
              <a:latin typeface="CourierNewPS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l.sort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>
              <a:solidFill>
                <a:srgbClr val="000000"/>
              </a:solidFill>
              <a:latin typeface="CourierNewPSM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	for (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l.begin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!=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l.end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&lt;&lt; *</a:t>
            </a:r>
            <a:r>
              <a:rPr lang="en-US" sz="1800" err="1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>
                <a:solidFill>
                  <a:srgbClr val="000000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&lt;&lt; ' ';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800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err="1">
                <a:solidFill>
                  <a:srgbClr val="000099"/>
                </a:solidFill>
                <a:latin typeface="CourierNewPSMT"/>
                <a:ea typeface="Times New Roman" panose="02020603050405020304" pitchFamily="18" charset="0"/>
                <a:cs typeface="Times New Roman" panose="02020603050405020304" pitchFamily="18" charset="0"/>
              </a:rPr>
              <a:t>xuôi</a:t>
            </a:r>
            <a:endParaRPr lang="en-US" sz="1800">
              <a:solidFill>
                <a:srgbClr val="000000"/>
              </a:solidFill>
              <a:latin typeface="CourierNewPSM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98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BEF6B-7BF2-48D3-9F5A-E1EB60B0F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err="1"/>
              <a:t>Thuật</a:t>
            </a:r>
            <a:r>
              <a:rPr lang="en-US" b="1"/>
              <a:t> </a:t>
            </a:r>
            <a:r>
              <a:rPr lang="en-US" b="1" err="1"/>
              <a:t>toán</a:t>
            </a:r>
            <a:r>
              <a:rPr lang="en-US" b="1"/>
              <a:t>: </a:t>
            </a:r>
            <a:r>
              <a:rPr lang="en-US" b="1" err="1"/>
              <a:t>tìm</a:t>
            </a:r>
            <a:r>
              <a:rPr lang="en-US" b="1"/>
              <a:t> </a:t>
            </a:r>
            <a:r>
              <a:rPr lang="en-US" b="1" err="1"/>
              <a:t>kiếm</a:t>
            </a:r>
            <a:r>
              <a:rPr lang="en-US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55B2F-6A13-4B56-980E-A96565B884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vi-VN" sz="2000">
                <a:solidFill>
                  <a:srgbClr val="000000"/>
                </a:solidFill>
                <a:latin typeface="ArialMT"/>
              </a:rPr>
              <a:t>Phần tử lớn nhất, bé nhất: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vector&lt;float&gt;::iterator p =</a:t>
            </a:r>
            <a:r>
              <a:rPr lang="en-US" sz="2000" b="0" i="0">
                <a:solidFill>
                  <a:srgbClr val="000000"/>
                </a:solidFill>
                <a:effectLst/>
                <a:latin typeface="CourierNewPSMT"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max_element(a.begin()+2, a.end()-3);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list&lt;string&gt;::iterator p =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 </a:t>
            </a: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min_element(l.begin(), l.end());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Dựa trên các toán tử so sánh </a:t>
            </a:r>
            <a:r>
              <a:rPr lang="vi-VN" sz="2000">
                <a:solidFill>
                  <a:srgbClr val="000000"/>
                </a:solidFill>
                <a:latin typeface="Wingdings-Regular"/>
              </a:rPr>
              <a:t> </a:t>
            </a:r>
            <a:r>
              <a:rPr lang="vi-VN" sz="2000">
                <a:solidFill>
                  <a:srgbClr val="000000"/>
                </a:solidFill>
                <a:latin typeface="ArialMT"/>
              </a:rPr>
              <a:t>cần định nghĩa nếu chưa có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Tìm đúng giá trị: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list&lt;float&gt;::iterator p = find(p1, p2, 2.5f);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Tìm theo tiêu chuẩn: cần định nghĩa một hàm đánh giá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bool isOdd(int i) { return i%2 == 1; }</a:t>
            </a:r>
            <a:endParaRPr lang="en-US" sz="2000" b="0" i="0">
              <a:solidFill>
                <a:srgbClr val="000000"/>
              </a:solidFill>
              <a:effectLst/>
              <a:latin typeface="CourierNewPS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list&lt;int&gt;::iterator p = find_if(p1, p2, isOdd);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Tìm kiếm và thay thế, xoá: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replace_if(p1, p2, isOdd, 10);</a:t>
            </a:r>
            <a:endParaRPr lang="en-US" sz="2000" b="0" i="0">
              <a:solidFill>
                <a:srgbClr val="000000"/>
              </a:solidFill>
              <a:effectLst/>
              <a:latin typeface="CourierNewPSMT"/>
            </a:endParaRPr>
          </a:p>
          <a:p>
            <a:pPr marL="342900" lvl="1" indent="0">
              <a:buNone/>
            </a:pP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remove_if(p1, p2, isOdd);</a:t>
            </a:r>
            <a:r>
              <a:rPr lang="vi-VN" sz="2000"/>
              <a:t>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2126568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0E6E0-CCD4-4A78-9A6E-E945335B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err="1"/>
              <a:t>Thuật</a:t>
            </a:r>
            <a:r>
              <a:rPr lang="en-US" b="1"/>
              <a:t> </a:t>
            </a:r>
            <a:r>
              <a:rPr lang="en-US" b="1" err="1"/>
              <a:t>toán</a:t>
            </a:r>
            <a:r>
              <a:rPr lang="en-US" b="1"/>
              <a:t>: </a:t>
            </a:r>
            <a:r>
              <a:rPr lang="en-US" b="1" err="1"/>
              <a:t>sắp</a:t>
            </a:r>
            <a:r>
              <a:rPr lang="en-US" b="1"/>
              <a:t> </a:t>
            </a:r>
            <a:r>
              <a:rPr lang="en-US" b="1" err="1"/>
              <a:t>xếp</a:t>
            </a:r>
            <a:r>
              <a:rPr lang="en-US" b="1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25BEE-619A-477A-8F49-360C6C58965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Autofit/>
          </a:bodyPr>
          <a:lstStyle/>
          <a:p>
            <a:r>
              <a:rPr lang="vi-VN" sz="2000">
                <a:solidFill>
                  <a:srgbClr val="000000"/>
                </a:solidFill>
                <a:latin typeface="ArialMT"/>
              </a:rPr>
              <a:t>Sắp xếp mảng: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Dùng toán tử so sánh: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sort(a.begin(), a.end());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Phải định nghĩa toán tử “&lt;” cho kiểu dữ liệu được chứa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Dùng hàm so sánh tự định nghĩa: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bool compare(const table&amp; a, const table&amp; b)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{return a.c1 &lt; b.c1 ||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(a.c1 == b.c1 &amp;&amp; a.c2 &lt;</a:t>
            </a:r>
            <a:r>
              <a:rPr lang="en-US" sz="2000">
                <a:solidFill>
                  <a:srgbClr val="000000"/>
                </a:solidFill>
                <a:latin typeface="CourierNewPSMT"/>
              </a:rPr>
              <a:t> 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b.c2);}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0000"/>
                </a:solidFill>
                <a:latin typeface="CourierNewPSMT"/>
              </a:rPr>
              <a:t>	</a:t>
            </a:r>
            <a:r>
              <a:rPr lang="vi-VN" sz="2000">
                <a:solidFill>
                  <a:srgbClr val="000000"/>
                </a:solidFill>
                <a:latin typeface="CourierNewPSMT"/>
              </a:rPr>
              <a:t>sort(a.begin(), a.end(), compare);</a:t>
            </a:r>
            <a:endParaRPr lang="en-US" sz="2000">
              <a:solidFill>
                <a:srgbClr val="000000"/>
              </a:solidFill>
              <a:latin typeface="CourierNewPSMT"/>
            </a:endParaRPr>
          </a:p>
          <a:p>
            <a:r>
              <a:rPr lang="vi-VN" sz="2000">
                <a:solidFill>
                  <a:srgbClr val="000000"/>
                </a:solidFill>
                <a:latin typeface="ArialMT"/>
              </a:rPr>
              <a:t>Sắp xếp danh sách:</a:t>
            </a:r>
            <a:endParaRPr lang="en-US" sz="2000">
              <a:solidFill>
                <a:srgbClr val="000000"/>
              </a:solidFill>
              <a:latin typeface="ArialMT"/>
            </a:endParaRPr>
          </a:p>
          <a:p>
            <a:pPr marL="342900" lvl="1" indent="0">
              <a:buNone/>
            </a:pPr>
            <a:r>
              <a:rPr lang="en-US" sz="2000" b="0" i="0">
                <a:solidFill>
                  <a:srgbClr val="000000"/>
                </a:solidFill>
                <a:effectLst/>
                <a:latin typeface="CourierNewPSMT"/>
              </a:rPr>
              <a:t>	</a:t>
            </a: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l.sort();</a:t>
            </a:r>
            <a:endParaRPr lang="en-US" sz="2000" b="0" i="0">
              <a:solidFill>
                <a:srgbClr val="000000"/>
              </a:solidFill>
              <a:effectLst/>
              <a:latin typeface="CourierNewPSMT"/>
            </a:endParaRPr>
          </a:p>
          <a:p>
            <a:pPr marL="342900" lvl="1" indent="0">
              <a:buNone/>
            </a:pPr>
            <a:r>
              <a:rPr lang="en-US" sz="2000" b="0" i="0">
                <a:solidFill>
                  <a:srgbClr val="000000"/>
                </a:solidFill>
                <a:effectLst/>
                <a:latin typeface="CourierNewPSMT"/>
              </a:rPr>
              <a:t>	</a:t>
            </a:r>
            <a:r>
              <a:rPr lang="vi-VN" sz="2000" b="0" i="0">
                <a:solidFill>
                  <a:srgbClr val="000000"/>
                </a:solidFill>
                <a:effectLst/>
                <a:latin typeface="CourierNewPSMT"/>
              </a:rPr>
              <a:t>l.sort(compare);</a:t>
            </a:r>
            <a:r>
              <a:rPr lang="vi-VN" sz="2000"/>
              <a:t> </a:t>
            </a:r>
            <a:br>
              <a:rPr lang="vi-VN" sz="2000"/>
            </a:b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932470376"/>
      </p:ext>
    </p:extLst>
  </p:cSld>
  <p:clrMapOvr>
    <a:masterClrMapping/>
  </p:clrMapOvr>
</p:sld>
</file>

<file path=ppt/theme/theme1.xml><?xml version="1.0" encoding="utf-8"?>
<a:theme xmlns:a="http://schemas.openxmlformats.org/drawingml/2006/main" name="Writing - TechRepor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f04c0d-d18a-494f-a4ee-dc80d38be3a9">
      <Terms xmlns="http://schemas.microsoft.com/office/infopath/2007/PartnerControls"/>
    </lcf76f155ced4ddcb4097134ff3c332f>
    <TaxCatchAll xmlns="5314e54c-1065-4f91-8872-b5da09cc453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CD2320CD967DC4C936B5BE3B6686F0E" ma:contentTypeVersion="10" ma:contentTypeDescription="Create a new document." ma:contentTypeScope="" ma:versionID="67edf8b2c1824c1d66698f53ed17ca2d">
  <xsd:schema xmlns:xsd="http://www.w3.org/2001/XMLSchema" xmlns:xs="http://www.w3.org/2001/XMLSchema" xmlns:p="http://schemas.microsoft.com/office/2006/metadata/properties" xmlns:ns2="97f04c0d-d18a-494f-a4ee-dc80d38be3a9" xmlns:ns3="5314e54c-1065-4f91-8872-b5da09cc453e" targetNamespace="http://schemas.microsoft.com/office/2006/metadata/properties" ma:root="true" ma:fieldsID="a60e6e5b151f79a666e1d8fc5b354f58" ns2:_="" ns3:_="">
    <xsd:import namespace="97f04c0d-d18a-494f-a4ee-dc80d38be3a9"/>
    <xsd:import namespace="5314e54c-1065-4f91-8872-b5da09cc45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f04c0d-d18a-494f-a4ee-dc80d38be3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14e54c-1065-4f91-8872-b5da09cc453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e1d9f2f-845c-4015-84a0-220f7cf0710d}" ma:internalName="TaxCatchAll" ma:showField="CatchAllData" ma:web="5314e54c-1065-4f91-8872-b5da09cc45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0F3CC80-3F52-4354-929A-49A2EF61BD17}">
  <ds:schemaRefs>
    <ds:schemaRef ds:uri="5314e54c-1065-4f91-8872-b5da09cc453e"/>
    <ds:schemaRef ds:uri="97f04c0d-d18a-494f-a4ee-dc80d38be3a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86611C2-74FD-4465-8190-7B5C7622647C}"/>
</file>

<file path=customXml/itemProps3.xml><?xml version="1.0" encoding="utf-8"?>
<ds:datastoreItem xmlns:ds="http://schemas.openxmlformats.org/officeDocument/2006/customXml" ds:itemID="{B58B4DEE-3CE4-48C9-8594-26962D6C76B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Writing - TechReport</Template>
  <Application>Microsoft Office PowerPoint</Application>
  <PresentationFormat>On-screen Show (4:3)</PresentationFormat>
  <Slides>40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Writing - TechReport</vt:lpstr>
      <vt:lpstr>Chương 4: Ngăn xếp &amp; hàng đợi (Stack &amp; Queue) </vt:lpstr>
      <vt:lpstr>Định nghĩa ngăn xếp (Stack) </vt:lpstr>
      <vt:lpstr>Cài đặt STACK theo cấu trúc DS tuần tự  </vt:lpstr>
      <vt:lpstr>PowerPoint Presentation</vt:lpstr>
      <vt:lpstr>Lưu trữ kế tiếp đối với stack </vt:lpstr>
      <vt:lpstr>Cài đặt hàm Push, Pop</vt:lpstr>
      <vt:lpstr>Cài đặt hàm nhập/xuất ngăn xếp </vt:lpstr>
      <vt:lpstr>Sử dụng ngăn xếp </vt:lpstr>
      <vt:lpstr>Ví dụ </vt:lpstr>
      <vt:lpstr>Bài toán sử dụng ngăn xếp</vt:lpstr>
      <vt:lpstr>Đổi cơ số từ thập phân sang nhị phân </vt:lpstr>
      <vt:lpstr>Đổi cơ số từ thập phân sang nhị phân</vt:lpstr>
      <vt:lpstr>Biểu thức số học với ký pháp BA - LAN</vt:lpstr>
      <vt:lpstr>Biểu thức số học với ký pháp BA - LAN</vt:lpstr>
      <vt:lpstr>Biểu thức số học với ký pháp BA - LAN</vt:lpstr>
      <vt:lpstr>Biểu thức số học với ký pháp BA - LAN</vt:lpstr>
      <vt:lpstr>Biểu thức số học với ký pháp BA - LAN</vt:lpstr>
      <vt:lpstr>Giải thuật tính giá trị của biểu thức hậu tố </vt:lpstr>
      <vt:lpstr>Định nghĩa hàng đợi (Queue)</vt:lpstr>
      <vt:lpstr>Lưu trữ kế tiếp đối với queue</vt:lpstr>
      <vt:lpstr>Bổ sung và xóa phần tử trong hàng đợi </vt:lpstr>
      <vt:lpstr>Bổ sung phần tử trong hàng đợi </vt:lpstr>
      <vt:lpstr>Xóa phần tử trong hàng đợi </vt:lpstr>
      <vt:lpstr>Ví dụ </vt:lpstr>
      <vt:lpstr>Lưu trữ móc nối với Stack và Queue</vt:lpstr>
      <vt:lpstr>Cài đặt Stack/Queue theo cấu trúc danh sách liên kết </vt:lpstr>
      <vt:lpstr>Thêm/loại bỏ nút mới vào đỉnh stack móc nối </vt:lpstr>
      <vt:lpstr>Thêm/loại bỏ nút mới vào đỉnh stack móc nối </vt:lpstr>
      <vt:lpstr>Thêm nút cuối cùng vào hàng đợi móc nối </vt:lpstr>
      <vt:lpstr>Bài tập</vt:lpstr>
      <vt:lpstr>Bài tập</vt:lpstr>
      <vt:lpstr>Bonus </vt:lpstr>
      <vt:lpstr>Khái niệm </vt:lpstr>
      <vt:lpstr>Xử lý chuỗi </vt:lpstr>
      <vt:lpstr>Ví dụ: Xử lý chuỗi</vt:lpstr>
      <vt:lpstr>Các lớp chứa (Container) : Mảng Vector </vt:lpstr>
      <vt:lpstr>Kiểu phần tử duyệt: iterator </vt:lpstr>
      <vt:lpstr>Danh sách liên kết : List </vt:lpstr>
      <vt:lpstr>Thuật toán: tìm kiếm </vt:lpstr>
      <vt:lpstr>Thuật toán: sắp xếp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 Kim Hue</dc:creator>
  <cp:revision>3</cp:revision>
  <cp:lastPrinted>2018-08-30T07:08:42Z</cp:lastPrinted>
  <dcterms:created xsi:type="dcterms:W3CDTF">2018-08-28T09:50:26Z</dcterms:created>
  <dcterms:modified xsi:type="dcterms:W3CDTF">2025-11-28T07:18:50Z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0x0101005CD2320CD967DC4C936B5BE3B6686F0E</vt:lpwstr>
  </property>
  <property fmtid="{D5CDD505-2E9C-101B-9397-08002B2CF9AE}" pid="3" name="MediaServiceImageTags">
    <vt:lpwstr/>
  </property>
</Properties>
</file>